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79c5b465614469" /><Relationship Type="http://schemas.openxmlformats.org/officeDocument/2006/relationships/extended-properties" Target="/docProps/app.xml" Id="Rec59da705e7e4071" /><Relationship Type="http://schemas.openxmlformats.org/officeDocument/2006/relationships/officeDocument" Target="/ppt/presentation.xml" Id="R8273148f65ae4b5b" /></Relationships>
</file>

<file path=ppt/presentation.xml><?xml version="1.0" encoding="utf-8"?>
<p:presentation xmlns:p="http://schemas.openxmlformats.org/presentationml/2006/main">
  <p:sldMasterIdLst>
    <p:sldMasterId xmlns:r="http://schemas.openxmlformats.org/officeDocument/2006/relationships" id="2147483648" r:id="R675bdb4b1aba4d82"/>
  </p:sldMasterIdLst>
  <p:notesMasterIdLst>
    <p:notesMasterId xmlns:r="http://schemas.openxmlformats.org/officeDocument/2006/relationships" r:id="R56017c7133554c62"/>
  </p:notesMasterIdLst>
  <p:sldIdLst>
    <p:sldId xmlns:r="http://schemas.openxmlformats.org/officeDocument/2006/relationships" id="256" r:id="Rbe5fbdf5a48e4e11"/>
    <p:sldId xmlns:r="http://schemas.openxmlformats.org/officeDocument/2006/relationships" id="257" r:id="R56df27599af9482d"/>
    <p:sldId xmlns:r="http://schemas.openxmlformats.org/officeDocument/2006/relationships" id="258" r:id="Re63aa4e906e04545"/>
    <p:sldId xmlns:r="http://schemas.openxmlformats.org/officeDocument/2006/relationships" id="259" r:id="Raea84702ffee4e8b"/>
    <p:sldId xmlns:r="http://schemas.openxmlformats.org/officeDocument/2006/relationships" id="260" r:id="R9be312e530d741c0"/>
    <p:sldId xmlns:r="http://schemas.openxmlformats.org/officeDocument/2006/relationships" id="261" r:id="R3f53f116112142ef"/>
    <p:sldId xmlns:r="http://schemas.openxmlformats.org/officeDocument/2006/relationships" id="262" r:id="R8588ebc334fd4806"/>
    <p:sldId xmlns:r="http://schemas.openxmlformats.org/officeDocument/2006/relationships" id="263" r:id="Rad66d582b2f54de9"/>
    <p:sldId xmlns:r="http://schemas.openxmlformats.org/officeDocument/2006/relationships" id="264" r:id="R803c6514827f4029"/>
    <p:sldId xmlns:r="http://schemas.openxmlformats.org/officeDocument/2006/relationships" id="265" r:id="Rd6163a1c80334878"/>
    <p:sldId xmlns:r="http://schemas.openxmlformats.org/officeDocument/2006/relationships" id="266" r:id="R73d4ac0d8c4c4deb"/>
    <p:sldId xmlns:r="http://schemas.openxmlformats.org/officeDocument/2006/relationships" id="267" r:id="Ra0215ec669cf4150"/>
    <p:sldId xmlns:r="http://schemas.openxmlformats.org/officeDocument/2006/relationships" id="268" r:id="R84116ad35a4f4764"/>
    <p:sldId xmlns:r="http://schemas.openxmlformats.org/officeDocument/2006/relationships" id="269" r:id="Rc9851eb55737438a"/>
    <p:sldId xmlns:r="http://schemas.openxmlformats.org/officeDocument/2006/relationships" id="270" r:id="Rdc93570c6e594a50"/>
    <p:sldId xmlns:r="http://schemas.openxmlformats.org/officeDocument/2006/relationships" id="271" r:id="Rfa5ef80964cc4c18"/>
    <p:sldId xmlns:r="http://schemas.openxmlformats.org/officeDocument/2006/relationships" id="272" r:id="R8d8d3c73a1d044a7"/>
    <p:sldId xmlns:r="http://schemas.openxmlformats.org/officeDocument/2006/relationships" id="273" r:id="R446ce6b0dc8848b4"/>
    <p:sldId xmlns:r="http://schemas.openxmlformats.org/officeDocument/2006/relationships" id="274" r:id="Rbb5ec11d57e44ba4"/>
    <p:sldId xmlns:r="http://schemas.openxmlformats.org/officeDocument/2006/relationships" id="275" r:id="R32f71c933a834005"/>
    <p:sldId xmlns:r="http://schemas.openxmlformats.org/officeDocument/2006/relationships" id="276" r:id="R32ba80497a3a4c79"/>
    <p:sldId xmlns:r="http://schemas.openxmlformats.org/officeDocument/2006/relationships" id="277" r:id="R9b7b0e9f010f4ed4"/>
    <p:sldId xmlns:r="http://schemas.openxmlformats.org/officeDocument/2006/relationships" id="278" r:id="Rb7bd2599f57a4b34"/>
    <p:sldId xmlns:r="http://schemas.openxmlformats.org/officeDocument/2006/relationships" id="279" r:id="R3e032d4e2bdf408b"/>
    <p:sldId xmlns:r="http://schemas.openxmlformats.org/officeDocument/2006/relationships" id="280" r:id="R7cb93432411d42fe"/>
    <p:sldId xmlns:r="http://schemas.openxmlformats.org/officeDocument/2006/relationships" id="281" r:id="Rbebe995d39f840ea"/>
    <p:sldId xmlns:r="http://schemas.openxmlformats.org/officeDocument/2006/relationships" id="282" r:id="R3729f1880ed0447b"/>
    <p:sldId xmlns:r="http://schemas.openxmlformats.org/officeDocument/2006/relationships" id="283" r:id="R9f71753f45624fce"/>
    <p:sldId xmlns:r="http://schemas.openxmlformats.org/officeDocument/2006/relationships" id="284" r:id="R0837516e2be44c11"/>
    <p:sldId xmlns:r="http://schemas.openxmlformats.org/officeDocument/2006/relationships" id="285" r:id="R9a74459ade764cc5"/>
    <p:sldId xmlns:r="http://schemas.openxmlformats.org/officeDocument/2006/relationships" id="286" r:id="R948d2b47acca4ce5"/>
    <p:sldId xmlns:r="http://schemas.openxmlformats.org/officeDocument/2006/relationships" id="287" r:id="R05d4cc41287e4177"/>
    <p:sldId xmlns:r="http://schemas.openxmlformats.org/officeDocument/2006/relationships" id="288" r:id="Rc9d9bee8260a4389"/>
    <p:sldId xmlns:r="http://schemas.openxmlformats.org/officeDocument/2006/relationships" id="289" r:id="R247b07a20a7843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b9f7ca1af441a5" /><Relationship Type="http://schemas.openxmlformats.org/officeDocument/2006/relationships/slideMaster" Target="/ppt/slideMasters/slideMaster1.xml" Id="R675bdb4b1aba4d82" /><Relationship Type="http://schemas.openxmlformats.org/officeDocument/2006/relationships/notesMaster" Target="/ppt/notesMasters/notesMaster1.xml" Id="R56017c7133554c62" /><Relationship Type="http://schemas.openxmlformats.org/officeDocument/2006/relationships/presProps" Target="/ppt/presProps.xml" Id="R73cbfb5195ca4466" /><Relationship Type="http://schemas.openxmlformats.org/officeDocument/2006/relationships/viewProps" Target="/ppt/viewProps.xml" Id="R069eab7a4069438d" /><Relationship Type="http://schemas.openxmlformats.org/officeDocument/2006/relationships/tableStyles" Target="/ppt/tableStyles.xml" Id="Rf88f667c9fee4e68" /><Relationship Type="http://schemas.openxmlformats.org/officeDocument/2006/relationships/slide" Target="/ppt/slides/slide1.xml" Id="Rbe5fbdf5a48e4e11" /><Relationship Type="http://schemas.openxmlformats.org/officeDocument/2006/relationships/slide" Target="/ppt/slides/slide2.xml" Id="R56df27599af9482d" /><Relationship Type="http://schemas.openxmlformats.org/officeDocument/2006/relationships/slide" Target="/ppt/slides/slide3.xml" Id="Re63aa4e906e04545" /><Relationship Type="http://schemas.openxmlformats.org/officeDocument/2006/relationships/slide" Target="/ppt/slides/slide4.xml" Id="Raea84702ffee4e8b" /><Relationship Type="http://schemas.openxmlformats.org/officeDocument/2006/relationships/slide" Target="/ppt/slides/slide5.xml" Id="R9be312e530d741c0" /><Relationship Type="http://schemas.openxmlformats.org/officeDocument/2006/relationships/slide" Target="/ppt/slides/slide6.xml" Id="R3f53f116112142ef" /><Relationship Type="http://schemas.openxmlformats.org/officeDocument/2006/relationships/slide" Target="/ppt/slides/slide7.xml" Id="R8588ebc334fd4806" /><Relationship Type="http://schemas.openxmlformats.org/officeDocument/2006/relationships/slide" Target="/ppt/slides/slide8.xml" Id="Rad66d582b2f54de9" /><Relationship Type="http://schemas.openxmlformats.org/officeDocument/2006/relationships/slide" Target="/ppt/slides/slide9.xml" Id="R803c6514827f4029" /><Relationship Type="http://schemas.openxmlformats.org/officeDocument/2006/relationships/slide" Target="/ppt/slides/slide10.xml" Id="Rd6163a1c80334878" /><Relationship Type="http://schemas.openxmlformats.org/officeDocument/2006/relationships/slide" Target="/ppt/slides/slide11.xml" Id="R73d4ac0d8c4c4deb" /><Relationship Type="http://schemas.openxmlformats.org/officeDocument/2006/relationships/slide" Target="/ppt/slides/slide12.xml" Id="Ra0215ec669cf4150" /><Relationship Type="http://schemas.openxmlformats.org/officeDocument/2006/relationships/slide" Target="/ppt/slides/slide13.xml" Id="R84116ad35a4f4764" /><Relationship Type="http://schemas.openxmlformats.org/officeDocument/2006/relationships/slide" Target="/ppt/slides/slide14.xml" Id="Rc9851eb55737438a" /><Relationship Type="http://schemas.openxmlformats.org/officeDocument/2006/relationships/slide" Target="/ppt/slides/slide15.xml" Id="Rdc93570c6e594a50" /><Relationship Type="http://schemas.openxmlformats.org/officeDocument/2006/relationships/slide" Target="/ppt/slides/slide16.xml" Id="Rfa5ef80964cc4c18" /><Relationship Type="http://schemas.openxmlformats.org/officeDocument/2006/relationships/slide" Target="/ppt/slides/slide17.xml" Id="R8d8d3c73a1d044a7" /><Relationship Type="http://schemas.openxmlformats.org/officeDocument/2006/relationships/slide" Target="/ppt/slides/slide18.xml" Id="R446ce6b0dc8848b4" /><Relationship Type="http://schemas.openxmlformats.org/officeDocument/2006/relationships/slide" Target="/ppt/slides/slide19.xml" Id="Rbb5ec11d57e44ba4" /><Relationship Type="http://schemas.openxmlformats.org/officeDocument/2006/relationships/slide" Target="/ppt/slides/slide20.xml" Id="R32f71c933a834005" /><Relationship Type="http://schemas.openxmlformats.org/officeDocument/2006/relationships/slide" Target="/ppt/slides/slide21.xml" Id="R32ba80497a3a4c79" /><Relationship Type="http://schemas.openxmlformats.org/officeDocument/2006/relationships/slide" Target="/ppt/slides/slide22.xml" Id="R9b7b0e9f010f4ed4" /><Relationship Type="http://schemas.openxmlformats.org/officeDocument/2006/relationships/slide" Target="/ppt/slides/slide23.xml" Id="Rb7bd2599f57a4b34" /><Relationship Type="http://schemas.openxmlformats.org/officeDocument/2006/relationships/slide" Target="/ppt/slides/slide24.xml" Id="R3e032d4e2bdf408b" /><Relationship Type="http://schemas.openxmlformats.org/officeDocument/2006/relationships/slide" Target="/ppt/slides/slide25.xml" Id="R7cb93432411d42fe" /><Relationship Type="http://schemas.openxmlformats.org/officeDocument/2006/relationships/slide" Target="/ppt/slides/slide26.xml" Id="Rbebe995d39f840ea" /><Relationship Type="http://schemas.openxmlformats.org/officeDocument/2006/relationships/slide" Target="/ppt/slides/slide27.xml" Id="R3729f1880ed0447b" /><Relationship Type="http://schemas.openxmlformats.org/officeDocument/2006/relationships/slide" Target="/ppt/slides/slide28.xml" Id="R9f71753f45624fce" /><Relationship Type="http://schemas.openxmlformats.org/officeDocument/2006/relationships/slide" Target="/ppt/slides/slide29.xml" Id="R0837516e2be44c11" /><Relationship Type="http://schemas.openxmlformats.org/officeDocument/2006/relationships/slide" Target="/ppt/slides/slide30.xml" Id="R9a74459ade764cc5" /><Relationship Type="http://schemas.openxmlformats.org/officeDocument/2006/relationships/slide" Target="/ppt/slides/slide31.xml" Id="R948d2b47acca4ce5" /><Relationship Type="http://schemas.openxmlformats.org/officeDocument/2006/relationships/slide" Target="/ppt/slides/slide32.xml" Id="R05d4cc41287e4177" /><Relationship Type="http://schemas.openxmlformats.org/officeDocument/2006/relationships/slide" Target="/ppt/slides/slide33.xml" Id="Rc9d9bee8260a4389" /><Relationship Type="http://schemas.openxmlformats.org/officeDocument/2006/relationships/slide" Target="/ppt/slides/slide34.xml" Id="R247b07a20a7843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98513ef90941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5e5a2218a44a4" /><Relationship Type="http://schemas.openxmlformats.org/officeDocument/2006/relationships/notesMaster" Target="/ppt/notesMasters/notesMaster1.xml" Id="Rc3a6f454969044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5f96a50394329" /><Relationship Type="http://schemas.openxmlformats.org/officeDocument/2006/relationships/notesMaster" Target="/ppt/notesMasters/notesMaster1.xml" Id="R9aa4c34d21f84d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122c928b9a4b3e" /><Relationship Type="http://schemas.openxmlformats.org/officeDocument/2006/relationships/notesMaster" Target="/ppt/notesMasters/notesMaster1.xml" Id="Rb8673e4a509b48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86e559551a4b65" /><Relationship Type="http://schemas.openxmlformats.org/officeDocument/2006/relationships/notesMaster" Target="/ppt/notesMasters/notesMaster1.xml" Id="R5fc8c965c37c48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e4fed7f8534991" /><Relationship Type="http://schemas.openxmlformats.org/officeDocument/2006/relationships/notesMaster" Target="/ppt/notesMasters/notesMaster1.xml" Id="Rf291884f696044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eff45a43f64e7d" /><Relationship Type="http://schemas.openxmlformats.org/officeDocument/2006/relationships/notesMaster" Target="/ppt/notesMasters/notesMaster1.xml" Id="R88013df77db049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a3a50993294f8b" /><Relationship Type="http://schemas.openxmlformats.org/officeDocument/2006/relationships/notesMaster" Target="/ppt/notesMasters/notesMaster1.xml" Id="R245403e60e18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5eb0137ffb41e8" /><Relationship Type="http://schemas.openxmlformats.org/officeDocument/2006/relationships/notesMaster" Target="/ppt/notesMasters/notesMaster1.xml" Id="R4ee1b36584d045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0fba6047a2448d" /><Relationship Type="http://schemas.openxmlformats.org/officeDocument/2006/relationships/notesMaster" Target="/ppt/notesMasters/notesMaster1.xml" Id="Rc5569891a15c4e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ba7c845f884487" /><Relationship Type="http://schemas.openxmlformats.org/officeDocument/2006/relationships/notesMaster" Target="/ppt/notesMasters/notesMaster1.xml" Id="R7961c8e12ccb40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594b136f394b94" /><Relationship Type="http://schemas.openxmlformats.org/officeDocument/2006/relationships/notesMaster" Target="/ppt/notesMasters/notesMaster1.xml" Id="Rc58344c8e21f49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ce727b0e1f4eaa" /><Relationship Type="http://schemas.openxmlformats.org/officeDocument/2006/relationships/notesMaster" Target="/ppt/notesMasters/notesMaster1.xml" Id="Rcdeb4dddba2849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83bbe103ee4299" /><Relationship Type="http://schemas.openxmlformats.org/officeDocument/2006/relationships/notesMaster" Target="/ppt/notesMasters/notesMaster1.xml" Id="Rdbd792a4dce948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b8e53fa3ea4d07" /><Relationship Type="http://schemas.openxmlformats.org/officeDocument/2006/relationships/notesMaster" Target="/ppt/notesMasters/notesMaster1.xml" Id="Rfa89195df98043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115fe400eb4a86" /><Relationship Type="http://schemas.openxmlformats.org/officeDocument/2006/relationships/notesMaster" Target="/ppt/notesMasters/notesMaster1.xml" Id="Rf048f200d08749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7b5b7289a34539" /><Relationship Type="http://schemas.openxmlformats.org/officeDocument/2006/relationships/notesMaster" Target="/ppt/notesMasters/notesMaster1.xml" Id="R67c31b1bff3140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7f44d6c9184c15" /><Relationship Type="http://schemas.openxmlformats.org/officeDocument/2006/relationships/notesMaster" Target="/ppt/notesMasters/notesMaster1.xml" Id="R7c5b5087a48448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63e1390559478f" /><Relationship Type="http://schemas.openxmlformats.org/officeDocument/2006/relationships/notesMaster" Target="/ppt/notesMasters/notesMaster1.xml" Id="R60e7fb3d282849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0ed891124f4222" /><Relationship Type="http://schemas.openxmlformats.org/officeDocument/2006/relationships/notesMaster" Target="/ppt/notesMasters/notesMaster1.xml" Id="R8fa40cf2a88649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a56d4799a54b46" /><Relationship Type="http://schemas.openxmlformats.org/officeDocument/2006/relationships/notesMaster" Target="/ppt/notesMasters/notesMaster1.xml" Id="Rc5778b1f40064a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deea0bb49b4668" /><Relationship Type="http://schemas.openxmlformats.org/officeDocument/2006/relationships/notesMaster" Target="/ppt/notesMasters/notesMaster1.xml" Id="R284d7875477745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b2d1baa73724322" /><Relationship Type="http://schemas.openxmlformats.org/officeDocument/2006/relationships/notesMaster" Target="/ppt/notesMasters/notesMaster1.xml" Id="Rc540ea72383644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b142bc4cc6404b" /><Relationship Type="http://schemas.openxmlformats.org/officeDocument/2006/relationships/notesMaster" Target="/ppt/notesMasters/notesMaster1.xml" Id="Rec196279a2d24f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1ecf49e0814190" /><Relationship Type="http://schemas.openxmlformats.org/officeDocument/2006/relationships/notesMaster" Target="/ppt/notesMasters/notesMaster1.xml" Id="R6487e1eddbf04c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67e6a639e34688" /><Relationship Type="http://schemas.openxmlformats.org/officeDocument/2006/relationships/notesMaster" Target="/ppt/notesMasters/notesMaster1.xml" Id="R1629bd5945d44f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b9695b347d48ac" /><Relationship Type="http://schemas.openxmlformats.org/officeDocument/2006/relationships/notesMaster" Target="/ppt/notesMasters/notesMaster1.xml" Id="Rc72e96292d1b42c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4e509fff2d74053" /><Relationship Type="http://schemas.openxmlformats.org/officeDocument/2006/relationships/notesMaster" Target="/ppt/notesMasters/notesMaster1.xml" Id="Rd712bfd837af4b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3465ac90bfd407e" /><Relationship Type="http://schemas.openxmlformats.org/officeDocument/2006/relationships/notesMaster" Target="/ppt/notesMasters/notesMaster1.xml" Id="Rebbdc9be84b542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559fb173e044bbb" /><Relationship Type="http://schemas.openxmlformats.org/officeDocument/2006/relationships/notesMaster" Target="/ppt/notesMasters/notesMaster1.xml" Id="R788e1fa9b78540e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6279da836b4849" /><Relationship Type="http://schemas.openxmlformats.org/officeDocument/2006/relationships/notesMaster" Target="/ppt/notesMasters/notesMaster1.xml" Id="R46dd9d11cc02416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30db3e676e41bd" /><Relationship Type="http://schemas.openxmlformats.org/officeDocument/2006/relationships/notesMaster" Target="/ppt/notesMasters/notesMaster1.xml" Id="Rb8f0a141ff004b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5adaa5c4904b5f" /><Relationship Type="http://schemas.openxmlformats.org/officeDocument/2006/relationships/notesMaster" Target="/ppt/notesMasters/notesMaster1.xml" Id="Rd4e579624b7f44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6f410be5e864c4a" /><Relationship Type="http://schemas.openxmlformats.org/officeDocument/2006/relationships/notesMaster" Target="/ppt/notesMasters/notesMaster1.xml" Id="Rfc1e8d4aafe4429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27a29122f54c91" /><Relationship Type="http://schemas.openxmlformats.org/officeDocument/2006/relationships/notesMaster" Target="/ppt/notesMasters/notesMaster1.xml" Id="Rdb64fce979d547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br/>
            <a:r>
              <a:t>Angka utilisasi hardware lama dihapus karena bergantung workload dan metode pengukuran. Praktik menunjukkan VM berbagi hardware, container berbagi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br/>
            <a:r>
              <a:t>Dockerfile berisi instruksi build image; container adalah proses terisolasi yang dibuat saat image dijalankan. Waktu startup dan pemakaian memori container bergantung image, aplikasi, host, dan cache; hindari angka universal. Rujukan: https://docs.docker.com/get-started/docker-concepts/the-basics/what-is-a-container/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br/>
            <a:r>
              <a:t>Pada Docker modern, path cgroup dapat memakai cgroup v2. Contoh controller pids membatasi jumlah proses/threads; networking memerlukan mekanisme lain seperti tc, jadi tidak disajikan sebagai cgroup network. docker inspect --format mengeluarkan batas memory dalam byte dari konfigurasi container; contoh 512m menghasilkan 536870912 bila limit diterapkan. Rujukan: https://docs.docker.com/engine/containers/resource_constraints/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br/>
            <a:r>
              <a:t>Di Linux, docker pause memakai freezer cgroup; bukan SIGSTOP biasa. Rujukan: https://docs.docker.com/reference/cli/docker/container/pause/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endParaRPr/>
          </a:p>
          <a:p xmlns:a="http://schemas.openxmlformats.org/drawingml/2006/main">
            <a:r>
              <a:t/>
            </a:r>
            <a:endParaRPr/>
          </a:p>
          <a:p xmlns:a="http://schemas.openxmlformats.org/drawingml/2006/main">
            <a:r>
              <a:t>Contoh named volume PostgreSQL ini memakai tag17-alpine yang didukung agar target /var/lib/postgresql/data sesuai versi17. Image memerlukan POSTGRES_PASSWORD untuk initialization biasa. Nilai lab-demo adalah credential dummy kelas. Command berjalan foreground, tampilkan log startup lalu Ctrl+C untuk menghentikan; --rm membersihkan container sementara dan named volume db_data tetap ada. Variabel initialization tidak mereset password pada database yang sudah ada. PostgreSQL18 mengubah layout data dan target volume sehingga contoh ini tidak memakai floatinglatest. Ini penjelasan storage, bukan demo database lengkap pada Lab04. Sumber resmi: https://hub.docker.com/_/postgres https://github.com/docker-library/docs/blob/master/postgres/README.md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
            </a:r>
            <a:endParaRPr/>
          </a:p>
          <a:p xmlns:a="http://schemas.openxmlformats.org/drawingml/2006/main">
            <a:r>
              <a:t>Contoh bind mount ini memakai Bash pada Linux/Codespaces dengan daemon host yang dapat mengakses source. Tanda kutip mengirim source dan target sebagai satu argumen meskipun path host mengandung spasi. Slide26 memeriksa direktori app sebelum run. Opsi -v dapat membuat direktori source yang tidak ada, sehingga source perlu diperiksa lebih dahulu. Pada Windows PowerShell gunakan blok Resolve-Path/quoted --mount di slidepraktikum. GitBashWindows dapat membutuhkan konversi path/MSYS yang ditangani helper Lab04. Lokasi cwd adalah folder sebenarnya pada daemonhost, bukan suatu path tetap. Sumber: https://docs.docker.com/engine/storage/bind-mounts/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RPS PDF, sesi teori dan lab 4.</a:t>
            </a:r>
          </a:p>
          <a:p xmlns:a="http://schemas.openxmlformats.org/drawingml/2006/main">
            <a:br/>
            <a:r>
              <a:t>Lab resmi: https://github.com/SeedFlora/meet4CloudService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04 teori/GSLC menyiapkan praktik lifecycle Docker. Screenshot berasal dari hasil Lab 04 di lingkungan lokal. Bedakan image dan container; stop mempertahankan objek container, rm menghapusnya. Docker Desktop/Engine yang aktif diperlukan. Video Docker ditonton bagian Container 101 1:34–8:40. Sumber Docker Docs dibuka 8 Oktober 2026.</a:t>
            </a:r>
          </a:p>
          <a:p xmlns:a="http://schemas.openxmlformats.org/drawingml/2006/main">
            <a:r>
              <a:t>Screenshot: D:\cloud services\Lab04_Docker_Siap_Push\screenshots\04_lifecycle.png</a:t>
            </a:r>
          </a:p>
          <a:p xmlns:a="http://schemas.openxmlformats.org/drawingml/2006/main">
            <a:r>
              <a:t>Repo: https://github.com/SeedFlora/meet4CloudService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04 teori/GSLC menyiapkan praktik lifecycle Docker. Screenshot berasal dari hasil Lab 04 di lingkungan lokal. Bedakan image dan container; stop mempertahankan objek container, rm menghapusnya. Docker Desktop/Engine yang aktif diperlukan. Video Docker ditonton bagian Container 101 1:34–8:40. Sumber Docker Docs dibuka 8 Oktober 2026.</a:t>
            </a:r>
          </a:p>
          <a:p xmlns:a="http://schemas.openxmlformats.org/drawingml/2006/main">
            <a:r>
              <a:t>Video: https://www.docker.com/resources/docker-intro-and-overview-on-demand-training/</a:t>
            </a:r>
          </a:p>
          <a:p xmlns:a="http://schemas.openxmlformats.org/drawingml/2006/main">
            <a:r>
              <a:t>Artikel: https://docs.docker.com/get-started/docker-concepts/the-basics/what-is-a-container/</a:t>
            </a:r>
          </a:p>
          <a:p xmlns:a="http://schemas.openxmlformats.org/drawingml/2006/main">
            <a:r>
              <a:t>Rujukan tambahan: https://docs.docker.com/get-started/docker-concepts/running-containers/publishing-ports/</a:t>
            </a:r>
          </a:p>
          <a:p xmlns:a="http://schemas.openxmlformats.org/drawingml/2006/main">
            <a:r>
              <a:t>Repo lab: https://github.com/SeedFlora/meet4CloudService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ba1fdf44e044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a4695b5fbc49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60150569884aa7" /><Relationship Type="http://schemas.openxmlformats.org/officeDocument/2006/relationships/slideLayout" Target="/ppt/slideLayouts/slideLayout1.xml" Id="R59b7c98e1b7a4658" /><Relationship Type="http://schemas.openxmlformats.org/officeDocument/2006/relationships/slideLayout" Target="/ppt/slideLayouts/slideLayout2.xml" Id="Rb2fc0d2a2ac3425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b7c98e1b7a4658"/>
    <p:sldLayoutId xmlns:r="http://schemas.openxmlformats.org/officeDocument/2006/relationships" id="2147483650" r:id="Rb2fc0d2a2ac3425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5a1a7421864fe9" /><Relationship Type="http://schemas.openxmlformats.org/officeDocument/2006/relationships/image" Target="/ppt/media/image.jpeg" Id="R1b47397541054501" /><Relationship Type="http://schemas.openxmlformats.org/officeDocument/2006/relationships/image" Target="/ppt/media/image.png" Id="R8870ecf06eeb49ec" /><Relationship Type="http://schemas.openxmlformats.org/officeDocument/2006/relationships/image" Target="/ppt/media/image2.png" Id="R0622f9208846407d" /><Relationship Type="http://schemas.openxmlformats.org/officeDocument/2006/relationships/notesSlide" Target="/ppt/notesSlides/notesSlide1.xml" Id="R8e74ba7eded046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4278f4decf4609" /><Relationship Type="http://schemas.openxmlformats.org/officeDocument/2006/relationships/image" Target="/ppt/media/image.png" Id="Rfa53b4314df040b9" /><Relationship Type="http://schemas.openxmlformats.org/officeDocument/2006/relationships/image" Target="/ppt/media/image2.png" Id="R6a3ba44b8cf244cd" /><Relationship Type="http://schemas.openxmlformats.org/officeDocument/2006/relationships/image" Target="/ppt/media/image3.png" Id="Rf3eb6d69f0ad4424" /><Relationship Type="http://schemas.openxmlformats.org/officeDocument/2006/relationships/image" Target="/ppt/media/image4.png" Id="R1224fc170c674c4e" /><Relationship Type="http://schemas.openxmlformats.org/officeDocument/2006/relationships/image" Target="/ppt/media/image5.png" Id="R27eaaf0d65524489" /><Relationship Type="http://schemas.openxmlformats.org/officeDocument/2006/relationships/image" Target="/ppt/media/image6.png" Id="Rd6ed25ad37cc4a1f" /><Relationship Type="http://schemas.openxmlformats.org/officeDocument/2006/relationships/image" Target="/ppt/media/image7.png" Id="R679b77ff471c4598" /><Relationship Type="http://schemas.openxmlformats.org/officeDocument/2006/relationships/notesSlide" Target="/ppt/notesSlides/notesSlide2.xml" Id="Re6057ef9916047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b1a6f0a9104742" /><Relationship Type="http://schemas.openxmlformats.org/officeDocument/2006/relationships/image" Target="/ppt/media/image.png" Id="R9738bf9ed0a64960" /><Relationship Type="http://schemas.openxmlformats.org/officeDocument/2006/relationships/image" Target="/ppt/media/image2.png" Id="R156f78112a164c71" /><Relationship Type="http://schemas.openxmlformats.org/officeDocument/2006/relationships/image" Target="/ppt/media/image8.png" Id="R4b37137ce2064621" /><Relationship Type="http://schemas.openxmlformats.org/officeDocument/2006/relationships/image" Target="/ppt/media/image9.png" Id="Rb41a4d28fa5d41ea" /><Relationship Type="http://schemas.openxmlformats.org/officeDocument/2006/relationships/image" Target="/ppt/media/image10.png" Id="R14948c2ae0b6457d" /><Relationship Type="http://schemas.openxmlformats.org/officeDocument/2006/relationships/image" Target="/ppt/media/image11.png" Id="R06ad582e26594f6a" /><Relationship Type="http://schemas.openxmlformats.org/officeDocument/2006/relationships/notesSlide" Target="/ppt/notesSlides/notesSlide3.xml" Id="R9d4e7ea3da644f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2f1b4200ab4dbe" /><Relationship Type="http://schemas.openxmlformats.org/officeDocument/2006/relationships/image" Target="/ppt/media/image.png" Id="Rb3557d916e2546e0" /><Relationship Type="http://schemas.openxmlformats.org/officeDocument/2006/relationships/image" Target="/ppt/media/image2.png" Id="Raf4e1e276c154600" /><Relationship Type="http://schemas.openxmlformats.org/officeDocument/2006/relationships/notesSlide" Target="/ppt/notesSlides/notesSlide4.xml" Id="Rf29683c7a66340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3cfc7bf03e40ee" /><Relationship Type="http://schemas.openxmlformats.org/officeDocument/2006/relationships/image" Target="/ppt/media/image.png" Id="Rd06e58fa3a7c45a9" /><Relationship Type="http://schemas.openxmlformats.org/officeDocument/2006/relationships/image" Target="/ppt/media/image2.png" Id="Re2ce8c5dced64c5c" /><Relationship Type="http://schemas.openxmlformats.org/officeDocument/2006/relationships/image" Target="/ppt/media/image12.png" Id="R9d66504770bb4a4e" /><Relationship Type="http://schemas.openxmlformats.org/officeDocument/2006/relationships/image" Target="/ppt/media/image13.png" Id="R9d0cd79fc13c4c4b" /><Relationship Type="http://schemas.openxmlformats.org/officeDocument/2006/relationships/image" Target="/ppt/media/image14.png" Id="Rf5456312fed24919" /><Relationship Type="http://schemas.openxmlformats.org/officeDocument/2006/relationships/image" Target="/ppt/media/image15.png" Id="R0bd792206b2143d1" /><Relationship Type="http://schemas.openxmlformats.org/officeDocument/2006/relationships/notesSlide" Target="/ppt/notesSlides/notesSlide5.xml" Id="Rcb575740d4914d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790acef794005" /><Relationship Type="http://schemas.openxmlformats.org/officeDocument/2006/relationships/image" Target="/ppt/media/image.png" Id="R99a3c03fd07e4d41" /><Relationship Type="http://schemas.openxmlformats.org/officeDocument/2006/relationships/image" Target="/ppt/media/image2.png" Id="R80275f8198814b00" /><Relationship Type="http://schemas.openxmlformats.org/officeDocument/2006/relationships/notesSlide" Target="/ppt/notesSlides/notesSlide6.xml" Id="Ra7ce1790711c41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b8bbdd746e40d7" /><Relationship Type="http://schemas.openxmlformats.org/officeDocument/2006/relationships/image" Target="/ppt/media/image.png" Id="R66c6d33b60204c0f" /><Relationship Type="http://schemas.openxmlformats.org/officeDocument/2006/relationships/image" Target="/ppt/media/image2.png" Id="R4e755aad71cc480a" /><Relationship Type="http://schemas.openxmlformats.org/officeDocument/2006/relationships/notesSlide" Target="/ppt/notesSlides/notesSlide7.xml" Id="R10a0f9cab9b046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5fd129c00d4244" /><Relationship Type="http://schemas.openxmlformats.org/officeDocument/2006/relationships/image" Target="/ppt/media/image.png" Id="Rc4b1a1d2ad0e4910" /><Relationship Type="http://schemas.openxmlformats.org/officeDocument/2006/relationships/image" Target="/ppt/media/image2.png" Id="Rbe4a369f35a84451" /><Relationship Type="http://schemas.openxmlformats.org/officeDocument/2006/relationships/image" Target="/ppt/media/image16.png" Id="R098c2d9fbb8f4b57" /><Relationship Type="http://schemas.openxmlformats.org/officeDocument/2006/relationships/image" Target="/ppt/media/image17.png" Id="R2ea013fafd644ece" /><Relationship Type="http://schemas.openxmlformats.org/officeDocument/2006/relationships/image" Target="/ppt/media/image8.png" Id="Rbc92a6ed39e84446" /><Relationship Type="http://schemas.openxmlformats.org/officeDocument/2006/relationships/image" Target="/ppt/media/image12.png" Id="Re0ef7303f3c04c19" /><Relationship Type="http://schemas.openxmlformats.org/officeDocument/2006/relationships/notesSlide" Target="/ppt/notesSlides/notesSlide8.xml" Id="R399fe44bbf644e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4736dedf584ca0" /><Relationship Type="http://schemas.openxmlformats.org/officeDocument/2006/relationships/image" Target="/ppt/media/image.png" Id="Rf2343f9209ff4fe1" /><Relationship Type="http://schemas.openxmlformats.org/officeDocument/2006/relationships/image" Target="/ppt/media/image2.png" Id="R88a1518fa4284d56" /><Relationship Type="http://schemas.openxmlformats.org/officeDocument/2006/relationships/notesSlide" Target="/ppt/notesSlides/notesSlide9.xml" Id="R821e9e30ad5149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0a9e02eebf45c2" /><Relationship Type="http://schemas.openxmlformats.org/officeDocument/2006/relationships/image" Target="/ppt/media/image.png" Id="Rea0d77777f434f65" /><Relationship Type="http://schemas.openxmlformats.org/officeDocument/2006/relationships/image" Target="/ppt/media/image2.png" Id="R27c070bf0c174997" /><Relationship Type="http://schemas.openxmlformats.org/officeDocument/2006/relationships/image" Target="/ppt/media/image18.png" Id="Re301252b909c48ba" /><Relationship Type="http://schemas.openxmlformats.org/officeDocument/2006/relationships/image" Target="/ppt/media/image19.png" Id="Rac4e8b69deb34909" /><Relationship Type="http://schemas.openxmlformats.org/officeDocument/2006/relationships/image" Target="/ppt/media/image20.png" Id="Rf9796ad5496444eb" /><Relationship Type="http://schemas.openxmlformats.org/officeDocument/2006/relationships/image" Target="/ppt/media/image21.png" Id="R0285645673044bb8" /><Relationship Type="http://schemas.openxmlformats.org/officeDocument/2006/relationships/notesSlide" Target="/ppt/notesSlides/notesSlide10.xml" Id="Rae8abe74af3243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885408dc85441a" /><Relationship Type="http://schemas.openxmlformats.org/officeDocument/2006/relationships/image" Target="/ppt/media/image.png" Id="Rff66bb7772c64c03" /><Relationship Type="http://schemas.openxmlformats.org/officeDocument/2006/relationships/image" Target="/ppt/media/image2.png" Id="Rf493fead6dc9470e" /><Relationship Type="http://schemas.openxmlformats.org/officeDocument/2006/relationships/notesSlide" Target="/ppt/notesSlides/notesSlide11.xml" Id="R0184e7f1f71b43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41074a1c504577" /><Relationship Type="http://schemas.openxmlformats.org/officeDocument/2006/relationships/image" Target="/ppt/media/image.png" Id="R196a4abab5cd42b8" /><Relationship Type="http://schemas.openxmlformats.org/officeDocument/2006/relationships/image" Target="/ppt/media/image2.png" Id="R4e7eb315bfe840c6" /><Relationship Type="http://schemas.openxmlformats.org/officeDocument/2006/relationships/image" Target="/ppt/media/image22.png" Id="Rc1648b07f5784742" /><Relationship Type="http://schemas.openxmlformats.org/officeDocument/2006/relationships/image" Target="/ppt/media/image15.png" Id="Rc9da892f833246a5" /><Relationship Type="http://schemas.openxmlformats.org/officeDocument/2006/relationships/image" Target="/ppt/media/image12.png" Id="R141755efce0e409c" /><Relationship Type="http://schemas.openxmlformats.org/officeDocument/2006/relationships/image" Target="/ppt/media/image11.png" Id="R7d3a057c6d6348dd" /><Relationship Type="http://schemas.openxmlformats.org/officeDocument/2006/relationships/image" Target="/ppt/media/image13.png" Id="R82fba8a709d24972" /><Relationship Type="http://schemas.openxmlformats.org/officeDocument/2006/relationships/notesSlide" Target="/ppt/notesSlides/notesSlide12.xml" Id="R925631d3980249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7601e9f4ca46ce" /><Relationship Type="http://schemas.openxmlformats.org/officeDocument/2006/relationships/image" Target="/ppt/media/image.png" Id="R91c84805fd56439c" /><Relationship Type="http://schemas.openxmlformats.org/officeDocument/2006/relationships/image" Target="/ppt/media/image2.png" Id="Rf48123de65cf43ad" /><Relationship Type="http://schemas.openxmlformats.org/officeDocument/2006/relationships/notesSlide" Target="/ppt/notesSlides/notesSlide13.xml" Id="R6de402ed9df545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6c51b69c424b45" /><Relationship Type="http://schemas.openxmlformats.org/officeDocument/2006/relationships/image" Target="/ppt/media/image.png" Id="R2fc8120b24864bda" /><Relationship Type="http://schemas.openxmlformats.org/officeDocument/2006/relationships/image" Target="/ppt/media/image2.png" Id="R3172ac38601a426c" /><Relationship Type="http://schemas.openxmlformats.org/officeDocument/2006/relationships/notesSlide" Target="/ppt/notesSlides/notesSlide14.xml" Id="Rb3b50368aa444c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bfa83e9ffe4352" /><Relationship Type="http://schemas.openxmlformats.org/officeDocument/2006/relationships/image" Target="/ppt/media/image.png" Id="Rf7f883afc3d9443a" /><Relationship Type="http://schemas.openxmlformats.org/officeDocument/2006/relationships/image" Target="/ppt/media/image2.png" Id="R26285a177a9c4b7f" /><Relationship Type="http://schemas.openxmlformats.org/officeDocument/2006/relationships/image" Target="/ppt/media/image16.png" Id="R00167e370c914998" /><Relationship Type="http://schemas.openxmlformats.org/officeDocument/2006/relationships/image" Target="/ppt/media/image23.png" Id="R2541dc6c1c294f80" /><Relationship Type="http://schemas.openxmlformats.org/officeDocument/2006/relationships/image" Target="/ppt/media/image24.png" Id="R39919a0e91f94c39" /><Relationship Type="http://schemas.openxmlformats.org/officeDocument/2006/relationships/image" Target="/ppt/media/image3.png" Id="R06ec696c40f24c94" /><Relationship Type="http://schemas.openxmlformats.org/officeDocument/2006/relationships/notesSlide" Target="/ppt/notesSlides/notesSlide15.xml" Id="Rec7dcf2b838c44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062ad8cd624ea4" /><Relationship Type="http://schemas.openxmlformats.org/officeDocument/2006/relationships/image" Target="/ppt/media/image.png" Id="R69c91c6110744a08" /><Relationship Type="http://schemas.openxmlformats.org/officeDocument/2006/relationships/image" Target="/ppt/media/image2.png" Id="Rc7bbf12e79474928" /><Relationship Type="http://schemas.openxmlformats.org/officeDocument/2006/relationships/image" Target="/ppt/media/image10.png" Id="R05365ccac84949b2" /><Relationship Type="http://schemas.openxmlformats.org/officeDocument/2006/relationships/image" Target="/ppt/media/image25.png" Id="R4bda502dc875488f" /><Relationship Type="http://schemas.openxmlformats.org/officeDocument/2006/relationships/image" Target="/ppt/media/image26.png" Id="Ra076933eb89c46fd" /><Relationship Type="http://schemas.openxmlformats.org/officeDocument/2006/relationships/image" Target="/ppt/media/image27.png" Id="R79f52d8e8fe24959" /><Relationship Type="http://schemas.openxmlformats.org/officeDocument/2006/relationships/notesSlide" Target="/ppt/notesSlides/notesSlide16.xml" Id="R7205b5a0a03446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c0620ceb414db6" /><Relationship Type="http://schemas.openxmlformats.org/officeDocument/2006/relationships/image" Target="/ppt/media/image.png" Id="R16e51dbbf33846a9" /><Relationship Type="http://schemas.openxmlformats.org/officeDocument/2006/relationships/image" Target="/ppt/media/image2.png" Id="R343b4eceab37471f" /><Relationship Type="http://schemas.openxmlformats.org/officeDocument/2006/relationships/notesSlide" Target="/ppt/notesSlides/notesSlide17.xml" Id="R3563f66aaeac46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d2bad442c14f66" /><Relationship Type="http://schemas.openxmlformats.org/officeDocument/2006/relationships/image" Target="/ppt/media/image.png" Id="Ree144f3f6ac1475f" /><Relationship Type="http://schemas.openxmlformats.org/officeDocument/2006/relationships/image" Target="/ppt/media/image2.png" Id="Raad90d71407848c0" /><Relationship Type="http://schemas.openxmlformats.org/officeDocument/2006/relationships/image" Target="/ppt/media/image28.png" Id="R1b689b881d314ec2" /><Relationship Type="http://schemas.openxmlformats.org/officeDocument/2006/relationships/image" Target="/ppt/media/image29.png" Id="R4afccb6006104a26" /><Relationship Type="http://schemas.openxmlformats.org/officeDocument/2006/relationships/image" Target="/ppt/media/image30.png" Id="R634d4c4e26054ca7" /><Relationship Type="http://schemas.openxmlformats.org/officeDocument/2006/relationships/image" Target="/ppt/media/image11.png" Id="R80b7d610ecbd4609" /><Relationship Type="http://schemas.openxmlformats.org/officeDocument/2006/relationships/image" Target="/ppt/media/image31.png" Id="R0ca1907ddbb34915" /><Relationship Type="http://schemas.openxmlformats.org/officeDocument/2006/relationships/notesSlide" Target="/ppt/notesSlides/notesSlide18.xml" Id="R668f31462df84c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3ac0f7037445cf" /><Relationship Type="http://schemas.openxmlformats.org/officeDocument/2006/relationships/image" Target="/ppt/media/image.png" Id="R2fe14225dd854a11" /><Relationship Type="http://schemas.openxmlformats.org/officeDocument/2006/relationships/image" Target="/ppt/media/image2.png" Id="Rd95b8360a8494e5a" /><Relationship Type="http://schemas.openxmlformats.org/officeDocument/2006/relationships/image" Target="/ppt/media/image32.png" Id="R66ec7753c205460e" /><Relationship Type="http://schemas.openxmlformats.org/officeDocument/2006/relationships/image" Target="/ppt/media/image22.png" Id="Refd15b4b90cb463b" /><Relationship Type="http://schemas.openxmlformats.org/officeDocument/2006/relationships/notesSlide" Target="/ppt/notesSlides/notesSlide19.xml" Id="Rb999281626264e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8c8c9b988e64d81" /><Relationship Type="http://schemas.openxmlformats.org/officeDocument/2006/relationships/image" Target="/ppt/media/image.png" Id="R6ed07d5c456d47b3" /><Relationship Type="http://schemas.openxmlformats.org/officeDocument/2006/relationships/image" Target="/ppt/media/image2.png" Id="R26f3439ec2874011" /><Relationship Type="http://schemas.openxmlformats.org/officeDocument/2006/relationships/notesSlide" Target="/ppt/notesSlides/notesSlide20.xml" Id="Rd64019faafd64b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db2168005c4248" /><Relationship Type="http://schemas.openxmlformats.org/officeDocument/2006/relationships/image" Target="/ppt/media/image.png" Id="R941aeeef8fd64685" /><Relationship Type="http://schemas.openxmlformats.org/officeDocument/2006/relationships/image" Target="/ppt/media/image2.png" Id="R0aa992c5fd0a4246" /><Relationship Type="http://schemas.openxmlformats.org/officeDocument/2006/relationships/notesSlide" Target="/ppt/notesSlides/notesSlide21.xml" Id="R566e87ed7e18472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e93affccd264176" /><Relationship Type="http://schemas.openxmlformats.org/officeDocument/2006/relationships/image" Target="/ppt/media/image.png" Id="Ref4eeff74ebf4431" /><Relationship Type="http://schemas.openxmlformats.org/officeDocument/2006/relationships/image" Target="/ppt/media/image2.png" Id="Rd36d055a2abe4773" /><Relationship Type="http://schemas.openxmlformats.org/officeDocument/2006/relationships/notesSlide" Target="/ppt/notesSlides/notesSlide22.xml" Id="R25d9af353c2e40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121c6bbce2c498a" /><Relationship Type="http://schemas.openxmlformats.org/officeDocument/2006/relationships/image" Target="/ppt/media/image.png" Id="Rac21f8651fc5441c" /><Relationship Type="http://schemas.openxmlformats.org/officeDocument/2006/relationships/image" Target="/ppt/media/image2.png" Id="Rdffa843062e84459" /><Relationship Type="http://schemas.openxmlformats.org/officeDocument/2006/relationships/notesSlide" Target="/ppt/notesSlides/notesSlide23.xml" Id="R9fa6fe10fa9248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093939d47184054" /><Relationship Type="http://schemas.openxmlformats.org/officeDocument/2006/relationships/image" Target="/ppt/media/image.png" Id="R771fa2703d194e0e" /><Relationship Type="http://schemas.openxmlformats.org/officeDocument/2006/relationships/image" Target="/ppt/media/image2.png" Id="R535f265f3f32408a" /><Relationship Type="http://schemas.openxmlformats.org/officeDocument/2006/relationships/notesSlide" Target="/ppt/notesSlides/notesSlide24.xml" Id="Rdf30f9bde9fc40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9267020fd4481d" /><Relationship Type="http://schemas.openxmlformats.org/officeDocument/2006/relationships/image" Target="/ppt/media/image.png" Id="R47b61ddc24b2443e" /><Relationship Type="http://schemas.openxmlformats.org/officeDocument/2006/relationships/image" Target="/ppt/media/image2.png" Id="R963eeb521dc44df5" /><Relationship Type="http://schemas.openxmlformats.org/officeDocument/2006/relationships/image" Target="/ppt/media/image12.png" Id="R28c5c7eaeba84051" /><Relationship Type="http://schemas.openxmlformats.org/officeDocument/2006/relationships/image" Target="/ppt/media/image15.png" Id="R1a222643113144a9" /><Relationship Type="http://schemas.openxmlformats.org/officeDocument/2006/relationships/image" Target="/ppt/media/image11.png" Id="R7993167f895041a4" /><Relationship Type="http://schemas.openxmlformats.org/officeDocument/2006/relationships/image" Target="/ppt/media/image33.png" Id="Rd43392d82dfc454b" /><Relationship Type="http://schemas.openxmlformats.org/officeDocument/2006/relationships/notesSlide" Target="/ppt/notesSlides/notesSlide25.xml" Id="R223f1699650d4c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d47f0409ac44dcc" /><Relationship Type="http://schemas.openxmlformats.org/officeDocument/2006/relationships/image" Target="/ppt/media/image.png" Id="Ra8c4670af1bd4ebb" /><Relationship Type="http://schemas.openxmlformats.org/officeDocument/2006/relationships/image" Target="/ppt/media/image2.png" Id="R83552aa861194e9c" /><Relationship Type="http://schemas.openxmlformats.org/officeDocument/2006/relationships/image" Target="/ppt/media/image13.png" Id="R09d1ce36e5294f6f" /><Relationship Type="http://schemas.openxmlformats.org/officeDocument/2006/relationships/notesSlide" Target="/ppt/notesSlides/notesSlide26.xml" Id="Rcdf2fc63425342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1a5d1bfa4484a0d" /><Relationship Type="http://schemas.openxmlformats.org/officeDocument/2006/relationships/image" Target="/ppt/media/image.png" Id="R02dd787ddc304da3" /><Relationship Type="http://schemas.openxmlformats.org/officeDocument/2006/relationships/image" Target="/ppt/media/image2.png" Id="R3751b33c466d46dd" /><Relationship Type="http://schemas.openxmlformats.org/officeDocument/2006/relationships/notesSlide" Target="/ppt/notesSlides/notesSlide27.xml" Id="R3e83b5411ddd47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6243eb1f0d24896" /><Relationship Type="http://schemas.openxmlformats.org/officeDocument/2006/relationships/image" Target="/ppt/media/image.png" Id="R18cf9c4ec19c45b4" /><Relationship Type="http://schemas.openxmlformats.org/officeDocument/2006/relationships/image" Target="/ppt/media/image2.png" Id="R5684039a329a4228" /><Relationship Type="http://schemas.openxmlformats.org/officeDocument/2006/relationships/image" Target="/ppt/media/image34.png" Id="Ra8545d3846194cb7" /><Relationship Type="http://schemas.openxmlformats.org/officeDocument/2006/relationships/image" Target="/ppt/media/image20.png" Id="R7fd3cda8fba34982" /><Relationship Type="http://schemas.openxmlformats.org/officeDocument/2006/relationships/image" Target="/ppt/media/image22.png" Id="R4d71d36439c54d5f" /><Relationship Type="http://schemas.openxmlformats.org/officeDocument/2006/relationships/notesSlide" Target="/ppt/notesSlides/notesSlide28.xml" Id="R6818f51815684e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587c588dbb244b7" /><Relationship Type="http://schemas.openxmlformats.org/officeDocument/2006/relationships/image" Target="/ppt/media/image.png" Id="R5c47d838643e4fcc" /><Relationship Type="http://schemas.openxmlformats.org/officeDocument/2006/relationships/image" Target="/ppt/media/image2.png" Id="Rcae0311ebc4a4c7d" /><Relationship Type="http://schemas.openxmlformats.org/officeDocument/2006/relationships/notesSlide" Target="/ppt/notesSlides/notesSlide29.xml" Id="Rf1f1260e4df4469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3b215499f594fb4" /><Relationship Type="http://schemas.openxmlformats.org/officeDocument/2006/relationships/image" Target="/ppt/media/image.png" Id="Rdfb47511b1c44a2f" /><Relationship Type="http://schemas.openxmlformats.org/officeDocument/2006/relationships/image" Target="/ppt/media/image2.png" Id="Rae7f6d8945914362" /><Relationship Type="http://schemas.openxmlformats.org/officeDocument/2006/relationships/notesSlide" Target="/ppt/notesSlides/notesSlide30.xml" Id="R82bead0aa46a430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dd6de4cebcd416d" /><Relationship Type="http://schemas.openxmlformats.org/officeDocument/2006/relationships/image" Target="/ppt/media/image.png" Id="Raadf94d12533430c" /><Relationship Type="http://schemas.openxmlformats.org/officeDocument/2006/relationships/image" Target="/ppt/media/image2.png" Id="R49f83d175cad4610" /><Relationship Type="http://schemas.openxmlformats.org/officeDocument/2006/relationships/image" Target="/ppt/media/image35.png" Id="R4da343b4f809482d" /><Relationship Type="http://schemas.openxmlformats.org/officeDocument/2006/relationships/image" Target="/ppt/media/image36.png" Id="Ra90b4d01b05f4de2" /><Relationship Type="http://schemas.openxmlformats.org/officeDocument/2006/relationships/image" Target="/ppt/media/image37.png" Id="Rfe23ba870f724ff5" /><Relationship Type="http://schemas.openxmlformats.org/officeDocument/2006/relationships/notesSlide" Target="/ppt/notesSlides/notesSlide31.xml" Id="R1969feaff8654a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31d4269a2e8415f" /><Relationship Type="http://schemas.openxmlformats.org/officeDocument/2006/relationships/notesSlide" Target="/ppt/notesSlides/notesSlide32.xml" Id="R40bba521a9b64f8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ed843c1edcc4986" /><Relationship Type="http://schemas.openxmlformats.org/officeDocument/2006/relationships/image" Target="/ppt/media/image38.png" Id="R66af7269cc1a4f19" /><Relationship Type="http://schemas.openxmlformats.org/officeDocument/2006/relationships/notesSlide" Target="/ppt/notesSlides/notesSlide33.xml" Id="Rda738c39ace842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eaa5d2535324a60" /><Relationship Type="http://schemas.openxmlformats.org/officeDocument/2006/relationships/hyperlink" Target="https://www.docker.com/resources/docker-intro-and-overview-on-demand-training/" TargetMode="External" Id="Raeb9f1b5fcdf4ede" /><Relationship Type="http://schemas.openxmlformats.org/officeDocument/2006/relationships/hyperlink" Target="https://docs.docker.com/get-started/docker-concepts/the-basics/what-is-a-container/" TargetMode="External" Id="R08315f07851f4fe4" /><Relationship Type="http://schemas.openxmlformats.org/officeDocument/2006/relationships/hyperlink" Target="https://docs.docker.com/get-started/docker-concepts/running-containers/publishing-ports/" TargetMode="External" Id="Rb47537bc83b94a0b" /><Relationship Type="http://schemas.openxmlformats.org/officeDocument/2006/relationships/hyperlink" Target="https://github.com/SeedFlora/meet4CloudService" TargetMode="External" Id="Rbfd8a892411246f3" /><Relationship Type="http://schemas.openxmlformats.org/officeDocument/2006/relationships/notesSlide" Target="/ppt/notesSlides/notesSlide34.xml" Id="R5ff9599e76854185"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1b47397541054501">
            <a:lum/>
          </a:blip>
          <a:srcRect l="0" t="0" r="0" b="0"/>
          <a:stretch>
            <a:fillRect l="0" t="0" r="0" b="0"/>
          </a:stretch>
        </a:blipFill>
      </p:bgPr>
    </p:bg>
    <p:spTree>
      <p:nvGrpSpPr>
        <p:cNvPr id="1" name=""/>
        <p:cNvGrpSpPr/>
        <p:nvPr/>
      </p:nvGrpSpPr>
      <p:grpSpPr>
        <a:xfrm xmlns:a="http://schemas.openxmlformats.org/drawingml/2006/main"/>
      </p:grpSpPr>
      <p:pic>
        <p:nvPicPr>
          <p:cNvPr id="13" name="Image 0">
            <a:extLst xmlns:a="http://schemas.openxmlformats.org/drawingml/2006/main">
              <a:ext uri="{FF2B5EF4-FFF2-40B4-BE49-F238E27FC236}">
                <a16:creationId xmlns:a16="http://schemas.microsoft.com/office/drawing/2014/main" id="{BDDC7E56-E289-48AF-B7E4-E300B2FF4A81}"/>
              </a:ext>
            </a:extLst>
          </p:cNvPr>
          <p:cNvPicPr>
            <a:picLocks xmlns:a="http://schemas.openxmlformats.org/drawingml/2006/main" noChangeAspect="1"/>
          </p:cNvPicPr>
          <p:nvPr/>
        </p:nvPicPr>
        <p:blipFill>
          <a:blip xmlns:r="http://schemas.openxmlformats.org/officeDocument/2006/relationships" xmlns:a="http://schemas.openxmlformats.org/drawingml/2006/main" r:embed="R8870ecf06eeb49ec"/>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14" name="Image 1">
            <a:extLst xmlns:a="http://schemas.openxmlformats.org/drawingml/2006/main">
              <a:ext uri="{FF2B5EF4-FFF2-40B4-BE49-F238E27FC236}">
                <a16:creationId xmlns:a16="http://schemas.microsoft.com/office/drawing/2014/main" id="{4014AF9E-A92A-439C-A090-675F46620628}"/>
              </a:ext>
            </a:extLst>
          </p:cNvPr>
          <p:cNvPicPr>
            <a:picLocks xmlns:a="http://schemas.openxmlformats.org/drawingml/2006/main" noChangeAspect="1"/>
          </p:cNvPicPr>
          <p:nvPr/>
        </p:nvPicPr>
        <p:blipFill>
          <a:blip xmlns:r="http://schemas.openxmlformats.org/officeDocument/2006/relationships" xmlns:a="http://schemas.openxmlformats.org/drawingml/2006/main" r:embed="R0622f9208846407d"/>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0CD56043-5F9A-4EEB-B1C0-52F9908940EC}"/>
              </a:ext>
            </a:extLst>
          </p:cNvPr>
          <p:cNvSpPr>
            <a:spLocks xmlns:a="http://schemas.openxmlformats.org/drawingml/2006/main" noGrp="1"/>
          </p:cNvSpPr>
          <p:nvPr/>
        </p:nvSpPr>
        <p:spPr>
          <a:xfrm xmlns:a="http://schemas.openxmlformats.org/drawingml/2006/main">
            <a:off x="457200" y="24688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400">
                <a:solidFill>
                  <a:srgbClr val="FFE0B2"/>
                </a:solidFill>
                <a:latin typeface="Calibri"/>
                <a:ea typeface="Calibri"/>
                <a:cs typeface="Calibri"/>
              </a:rPr>
              <a:t>COMP6991031   |   2 SKS</a:t>
            </a:r>
            <a:endParaRPr sz="1400"/>
          </a:p>
        </p:txBody>
      </p:sp>
      <p:sp>
        <p:nvSpPr>
          <p:cNvPr id="5" name="Text 1">
            <a:extLst xmlns:a="http://schemas.openxmlformats.org/drawingml/2006/main">
              <a:ext uri="{FF2B5EF4-FFF2-40B4-BE49-F238E27FC236}">
                <a16:creationId xmlns:a16="http://schemas.microsoft.com/office/drawing/2014/main" id="{723EF4A2-0378-4754-A7FC-CBCE31175BFB}"/>
              </a:ext>
            </a:extLst>
          </p:cNvPr>
          <p:cNvSpPr>
            <a:spLocks xmlns:a="http://schemas.openxmlformats.org/drawingml/2006/main" noGrp="1"/>
          </p:cNvSpPr>
          <p:nvPr/>
        </p:nvSpPr>
        <p:spPr>
          <a:xfrm xmlns:a="http://schemas.openxmlformats.org/drawingml/2006/main">
            <a:off x="457200" y="2926080"/>
            <a:ext cx="11247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800" b="1">
                <a:solidFill>
                  <a:srgbClr val="FFFFFF"/>
                </a:solidFill>
                <a:latin typeface="Calibri"/>
                <a:ea typeface="Calibri"/>
                <a:cs typeface="Calibri"/>
              </a:rPr>
              <a:t>VIRTUALISASI &amp; CONTAINER</a:t>
            </a:r>
            <a:endParaRPr sz="4800"/>
          </a:p>
        </p:txBody>
      </p:sp>
      <p:sp>
        <p:nvSpPr>
          <p:cNvPr id="6" name="Text 2">
            <a:extLst xmlns:a="http://schemas.openxmlformats.org/drawingml/2006/main">
              <a:ext uri="{FF2B5EF4-FFF2-40B4-BE49-F238E27FC236}">
                <a16:creationId xmlns:a16="http://schemas.microsoft.com/office/drawing/2014/main" id="{2E3EC975-F559-4F9A-98B8-13CB81C59A67}"/>
              </a:ext>
            </a:extLst>
          </p:cNvPr>
          <p:cNvSpPr>
            <a:spLocks xmlns:a="http://schemas.openxmlformats.org/drawingml/2006/main" noGrp="1"/>
          </p:cNvSpPr>
          <p:nvPr/>
        </p:nvSpPr>
        <p:spPr>
          <a:xfrm xmlns:a="http://schemas.openxmlformats.org/drawingml/2006/main">
            <a:off x="457200" y="3886200"/>
            <a:ext cx="11247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a:solidFill>
                  <a:srgbClr val="FFFFFF"/>
                </a:solidFill>
                <a:latin typeface="Calibri"/>
                <a:ea typeface="Calibri"/>
                <a:cs typeface="Calibri"/>
              </a:rPr>
              <a:t>VM, Hypervisor, Docker, Image Layer</a:t>
            </a:r>
            <a:endParaRPr sz="2400"/>
          </a:p>
        </p:txBody>
      </p:sp>
      <p:sp>
        <p:nvSpPr>
          <p:cNvPr id="7" name="Shape 3">
            <a:extLst xmlns:a="http://schemas.openxmlformats.org/drawingml/2006/main">
              <a:ext uri="{FF2B5EF4-FFF2-40B4-BE49-F238E27FC236}">
                <a16:creationId xmlns:a16="http://schemas.microsoft.com/office/drawing/2014/main" id="{C3B76394-C722-4949-85B0-EAD055BB36DB}"/>
              </a:ext>
            </a:extLst>
          </p:cNvPr>
          <p:cNvSpPr>
            <a:spLocks xmlns:a="http://schemas.openxmlformats.org/drawingml/2006/main" noGrp="1"/>
          </p:cNvSpPr>
          <p:nvPr/>
        </p:nvSpPr>
        <p:spPr>
          <a:xfrm xmlns:a="http://schemas.openxmlformats.org/drawingml/2006/main">
            <a:off x="5715000" y="45720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8" name="Text 4">
            <a:extLst xmlns:a="http://schemas.openxmlformats.org/drawingml/2006/main">
              <a:ext uri="{FF2B5EF4-FFF2-40B4-BE49-F238E27FC236}">
                <a16:creationId xmlns:a16="http://schemas.microsoft.com/office/drawing/2014/main" id="{6ECCAF72-FF7C-44B1-8BC4-50BC672EC6BF}"/>
              </a:ext>
            </a:extLst>
          </p:cNvPr>
          <p:cNvSpPr>
            <a:spLocks xmlns:a="http://schemas.openxmlformats.org/drawingml/2006/main" noGrp="1"/>
          </p:cNvSpPr>
          <p:nvPr/>
        </p:nvSpPr>
        <p:spPr>
          <a:xfrm xmlns:a="http://schemas.openxmlformats.org/drawingml/2006/main">
            <a:off x="457200" y="4709160"/>
            <a:ext cx="112471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spc="300">
                <a:solidFill>
                  <a:srgbClr val="FFE0B2"/>
                </a:solidFill>
                <a:latin typeface="Calibri"/>
                <a:ea typeface="Calibri"/>
                <a:cs typeface="Calibri"/>
              </a:rPr>
              <a:t>PERTEMUAN 4  |  100 MENIT</a:t>
            </a:r>
            <a:endParaRPr sz="1200"/>
          </a:p>
        </p:txBody>
      </p:sp>
      <p:sp>
        <p:nvSpPr>
          <p:cNvPr id="9" name="Text 5">
            <a:extLst xmlns:a="http://schemas.openxmlformats.org/drawingml/2006/main">
              <a:ext uri="{FF2B5EF4-FFF2-40B4-BE49-F238E27FC236}">
                <a16:creationId xmlns:a16="http://schemas.microsoft.com/office/drawing/2014/main" id="{B3EDCCD0-9C2F-4D69-8EF5-59A18A6BC18B}"/>
              </a:ext>
            </a:extLst>
          </p:cNvPr>
          <p:cNvSpPr>
            <a:spLocks xmlns:a="http://schemas.openxmlformats.org/drawingml/2006/main" noGrp="1"/>
          </p:cNvSpPr>
          <p:nvPr/>
        </p:nvSpPr>
        <p:spPr>
          <a:xfrm xmlns:a="http://schemas.openxmlformats.org/drawingml/2006/main">
            <a:off x="457200" y="59436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Budi Juarto, S.T., M.Kom.</a:t>
            </a:r>
            <a:endParaRPr sz="1300"/>
          </a:p>
        </p:txBody>
      </p:sp>
      <p:sp>
        <p:nvSpPr>
          <p:cNvPr id="10" name="Text 6">
            <a:extLst xmlns:a="http://schemas.openxmlformats.org/drawingml/2006/main">
              <a:ext uri="{FF2B5EF4-FFF2-40B4-BE49-F238E27FC236}">
                <a16:creationId xmlns:a16="http://schemas.microsoft.com/office/drawing/2014/main" id="{E4A7A85B-76E5-425D-8FF2-28594AA28337}"/>
              </a:ext>
            </a:extLst>
          </p:cNvPr>
          <p:cNvSpPr>
            <a:spLocks xmlns:a="http://schemas.openxmlformats.org/drawingml/2006/main" noGrp="1"/>
          </p:cNvSpPr>
          <p:nvPr/>
        </p:nvSpPr>
        <p:spPr>
          <a:xfrm xmlns:a="http://schemas.openxmlformats.org/drawingml/2006/main">
            <a:off x="457200" y="621792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FE0B2"/>
                </a:solidFill>
                <a:latin typeface="Calibri"/>
                <a:ea typeface="Calibri"/>
                <a:cs typeface="Calibri"/>
              </a:rPr>
              <a:t>Departemen Informatika  -  BINUS @Bandung</a:t>
            </a:r>
            <a:endParaRPr sz="1100"/>
          </a:p>
        </p:txBody>
      </p:sp>
    </p:spTree>
    <p:extLst>
      <p:ext uri="{BB962C8B-B14F-4D97-AF65-F5344CB8AC3E}">
        <p14:creationId xmlns:p14="http://schemas.microsoft.com/office/powerpoint/2010/main" val="9975183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80AF57-0125-45B7-B237-17F9A9B37FA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785A8795-7289-4836-8B5D-8EAB9243FB9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5F4BC4B0-BC82-4BD6-B1A0-28DDCD51F3C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6" name="Image 0">
            <a:extLst xmlns:a="http://schemas.openxmlformats.org/drawingml/2006/main">
              <a:ext uri="{FF2B5EF4-FFF2-40B4-BE49-F238E27FC236}">
                <a16:creationId xmlns:a16="http://schemas.microsoft.com/office/drawing/2014/main" id="{891B04C1-B559-4105-8EAB-BB1202C69FBF}"/>
              </a:ext>
            </a:extLst>
          </p:cNvPr>
          <p:cNvPicPr>
            <a:picLocks xmlns:a="http://schemas.openxmlformats.org/drawingml/2006/main" noChangeAspect="1"/>
          </p:cNvPicPr>
          <p:nvPr/>
        </p:nvPicPr>
        <p:blipFill>
          <a:blip xmlns:r="http://schemas.openxmlformats.org/officeDocument/2006/relationships" xmlns:a="http://schemas.openxmlformats.org/drawingml/2006/main" r:embed="Rfa53b4314df040b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7" name="Image 1">
            <a:extLst xmlns:a="http://schemas.openxmlformats.org/drawingml/2006/main">
              <a:ext uri="{FF2B5EF4-FFF2-40B4-BE49-F238E27FC236}">
                <a16:creationId xmlns:a16="http://schemas.microsoft.com/office/drawing/2014/main" id="{2EAA1AE8-1FF3-480C-9E70-27FEA17A3328}"/>
              </a:ext>
            </a:extLst>
          </p:cNvPr>
          <p:cNvPicPr>
            <a:picLocks xmlns:a="http://schemas.openxmlformats.org/drawingml/2006/main" noChangeAspect="1"/>
          </p:cNvPicPr>
          <p:nvPr/>
        </p:nvPicPr>
        <p:blipFill>
          <a:blip xmlns:r="http://schemas.openxmlformats.org/officeDocument/2006/relationships" xmlns:a="http://schemas.openxmlformats.org/drawingml/2006/main" r:embed="R6a3ba44b8cf244c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79F0FF18-063F-4B25-B3DF-7CE0BF173912}"/>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D770590C-14CC-4D7D-9B98-82075D9D8A84}"/>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Recap Pertemuan 3 &amp; Agenda Hari Ini</a:t>
            </a:r>
            <a:endParaRPr sz="2200"/>
          </a:p>
        </p:txBody>
      </p:sp>
      <p:sp>
        <p:nvSpPr>
          <p:cNvPr id="9" name="Text 5">
            <a:extLst xmlns:a="http://schemas.openxmlformats.org/drawingml/2006/main">
              <a:ext uri="{FF2B5EF4-FFF2-40B4-BE49-F238E27FC236}">
                <a16:creationId xmlns:a16="http://schemas.microsoft.com/office/drawing/2014/main" id="{BDF80C4C-4888-4D72-B7C2-8DEC911EDC9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Dari networking ke isolasi proses</a:t>
            </a:r>
            <a:endParaRPr sz="1200"/>
          </a:p>
        </p:txBody>
      </p:sp>
      <p:sp>
        <p:nvSpPr>
          <p:cNvPr id="10" name="Shape 6">
            <a:extLst xmlns:a="http://schemas.openxmlformats.org/drawingml/2006/main">
              <a:ext uri="{FF2B5EF4-FFF2-40B4-BE49-F238E27FC236}">
                <a16:creationId xmlns:a16="http://schemas.microsoft.com/office/drawing/2014/main" id="{2CE7076D-0DC4-4FF3-B567-386D3769EA6A}"/>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2AFFAE78-3BF4-4C49-8A6D-EBD4907BD3A0}"/>
              </a:ext>
            </a:extLst>
          </p:cNvPr>
          <p:cNvSpPr>
            <a:spLocks xmlns:a="http://schemas.openxmlformats.org/drawingml/2006/main" noGrp="1"/>
          </p:cNvSpPr>
          <p:nvPr/>
        </p:nvSpPr>
        <p:spPr>
          <a:xfrm xmlns:a="http://schemas.openxmlformats.org/drawingml/2006/main">
            <a:off x="68580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DI PERTEMUAN 3, KITA SUDAH:</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002677"/>
                </a:solidFill>
                <a:latin typeface="Calibri"/>
                <a:ea typeface="Calibri"/>
                <a:cs typeface="Calibri"/>
              </a:rPr>
              <a:t>Networking &amp; Web</a:t>
            </a:r>
            <a:endParaRPr sz="1100"/>
          </a:p>
        </p:txBody>
      </p:sp>
      <p:pic>
        <p:nvPicPr>
          <p:cNvPr id="43" name="Image 2">
            <a:extLst xmlns:a="http://schemas.openxmlformats.org/drawingml/2006/main">
              <a:ext uri="{FF2B5EF4-FFF2-40B4-BE49-F238E27FC236}">
                <a16:creationId xmlns:a16="http://schemas.microsoft.com/office/drawing/2014/main" id="{3F695FB0-326F-4F28-8C1E-817603E176D2}"/>
              </a:ext>
            </a:extLst>
          </p:cNvPr>
          <p:cNvPicPr>
            <a:picLocks xmlns:a="http://schemas.openxmlformats.org/drawingml/2006/main" noChangeAspect="1"/>
          </p:cNvPicPr>
          <p:nvPr/>
        </p:nvPicPr>
        <p:blipFill>
          <a:blip xmlns:r="http://schemas.openxmlformats.org/officeDocument/2006/relationships" xmlns:a="http://schemas.openxmlformats.org/drawingml/2006/main" r:embed="Rf3eb6d69f0ad4424"/>
          <a:stretch xmlns:a="http://schemas.openxmlformats.org/drawingml/2006/main">
            <a:fillRect l="0" t="0" r="0" b="0"/>
          </a:stretch>
        </p:blipFill>
        <p:spPr>
          <a:xfrm xmlns:a="http://schemas.openxmlformats.org/drawingml/2006/main">
            <a:off x="777240" y="2697480"/>
            <a:ext cx="320040" cy="32004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B485C39-F13D-4028-A058-3D88C07D035D}"/>
              </a:ext>
            </a:extLst>
          </p:cNvPr>
          <p:cNvSpPr>
            <a:spLocks xmlns:a="http://schemas.openxmlformats.org/drawingml/2006/main" noGrp="1"/>
          </p:cNvSpPr>
          <p:nvPr/>
        </p:nvSpPr>
        <p:spPr>
          <a:xfrm xmlns:a="http://schemas.openxmlformats.org/drawingml/2006/main">
            <a:off x="1234440" y="260604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TCP/IP 4-layer, IP + port concept</a:t>
            </a:r>
            <a:endParaRPr sz="1200"/>
          </a:p>
        </p:txBody>
      </p:sp>
      <p:pic>
        <p:nvPicPr>
          <p:cNvPr id="45" name="Image 3">
            <a:extLst xmlns:a="http://schemas.openxmlformats.org/drawingml/2006/main">
              <a:ext uri="{FF2B5EF4-FFF2-40B4-BE49-F238E27FC236}">
                <a16:creationId xmlns:a16="http://schemas.microsoft.com/office/drawing/2014/main" id="{F79C55F7-4E53-4C16-84A6-3326B6F5F607}"/>
              </a:ext>
            </a:extLst>
          </p:cNvPr>
          <p:cNvPicPr>
            <a:picLocks xmlns:a="http://schemas.openxmlformats.org/drawingml/2006/main" noChangeAspect="1"/>
          </p:cNvPicPr>
          <p:nvPr/>
        </p:nvPicPr>
        <p:blipFill>
          <a:blip xmlns:r="http://schemas.openxmlformats.org/officeDocument/2006/relationships" xmlns:a="http://schemas.openxmlformats.org/drawingml/2006/main" r:embed="R1224fc170c674c4e"/>
          <a:stretch xmlns:a="http://schemas.openxmlformats.org/drawingml/2006/main">
            <a:fillRect l="0" t="0" r="0" b="0"/>
          </a:stretch>
        </p:blipFill>
        <p:spPr>
          <a:xfrm xmlns:a="http://schemas.openxmlformats.org/drawingml/2006/main">
            <a:off x="777240" y="3337560"/>
            <a:ext cx="320040" cy="32004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30372194-5900-4DE2-B396-53B390AA2DE0}"/>
              </a:ext>
            </a:extLst>
          </p:cNvPr>
          <p:cNvSpPr>
            <a:spLocks xmlns:a="http://schemas.openxmlformats.org/drawingml/2006/main" noGrp="1"/>
          </p:cNvSpPr>
          <p:nvPr/>
        </p:nvSpPr>
        <p:spPr>
          <a:xfrm xmlns:a="http://schemas.openxmlformats.org/drawingml/2006/main">
            <a:off x="1234440" y="324612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HTTP methods, status codes (2xx/4xx/5xx)</a:t>
            </a:r>
            <a:endParaRPr sz="1200"/>
          </a:p>
        </p:txBody>
      </p:sp>
      <p:pic>
        <p:nvPicPr>
          <p:cNvPr id="47" name="Image 4">
            <a:extLst xmlns:a="http://schemas.openxmlformats.org/drawingml/2006/main">
              <a:ext uri="{FF2B5EF4-FFF2-40B4-BE49-F238E27FC236}">
                <a16:creationId xmlns:a16="http://schemas.microsoft.com/office/drawing/2014/main" id="{4CE56D92-F276-4CFF-B6BF-CC9BB569955C}"/>
              </a:ext>
            </a:extLst>
          </p:cNvPr>
          <p:cNvPicPr>
            <a:picLocks xmlns:a="http://schemas.openxmlformats.org/drawingml/2006/main" noChangeAspect="1"/>
          </p:cNvPicPr>
          <p:nvPr/>
        </p:nvPicPr>
        <p:blipFill>
          <a:blip xmlns:r="http://schemas.openxmlformats.org/officeDocument/2006/relationships" xmlns:a="http://schemas.openxmlformats.org/drawingml/2006/main" r:embed="R27eaaf0d65524489"/>
          <a:stretch xmlns:a="http://schemas.openxmlformats.org/drawingml/2006/main">
            <a:fillRect l="0" t="0" r="0" b="0"/>
          </a:stretch>
        </p:blipFill>
        <p:spPr>
          <a:xfrm xmlns:a="http://schemas.openxmlformats.org/drawingml/2006/main">
            <a:off x="777240" y="3977640"/>
            <a:ext cx="320040" cy="320040"/>
          </a:xfrm>
          <a:prstGeom xmlns:a="http://schemas.openxmlformats.org/drawingml/2006/main" prst="rect">
            <a:avLst/>
          </a:prstGeom>
        </p:spPr>
      </p:pic>
      <p:sp>
        <p:nvSpPr>
          <p:cNvPr id="17" name="Text 10">
            <a:extLst xmlns:a="http://schemas.openxmlformats.org/drawingml/2006/main">
              <a:ext uri="{FF2B5EF4-FFF2-40B4-BE49-F238E27FC236}">
                <a16:creationId xmlns:a16="http://schemas.microsoft.com/office/drawing/2014/main" id="{F6009383-A0CE-4F90-9CC9-27EBDFE633AC}"/>
              </a:ext>
            </a:extLst>
          </p:cNvPr>
          <p:cNvSpPr>
            <a:spLocks xmlns:a="http://schemas.openxmlformats.org/drawingml/2006/main" noGrp="1"/>
          </p:cNvSpPr>
          <p:nvPr/>
        </p:nvSpPr>
        <p:spPr>
          <a:xfrm xmlns:a="http://schemas.openxmlformats.org/drawingml/2006/main">
            <a:off x="1234440" y="388620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DNS resolution + record types (A, CNAME, MX)</a:t>
            </a:r>
            <a:endParaRPr sz="1200"/>
          </a:p>
        </p:txBody>
      </p:sp>
      <p:pic>
        <p:nvPicPr>
          <p:cNvPr id="49" name="Image 5">
            <a:extLst xmlns:a="http://schemas.openxmlformats.org/drawingml/2006/main">
              <a:ext uri="{FF2B5EF4-FFF2-40B4-BE49-F238E27FC236}">
                <a16:creationId xmlns:a16="http://schemas.microsoft.com/office/drawing/2014/main" id="{DB46A91A-3031-4572-82B5-2BC26B6D02E0}"/>
              </a:ext>
            </a:extLst>
          </p:cNvPr>
          <p:cNvPicPr>
            <a:picLocks xmlns:a="http://schemas.openxmlformats.org/drawingml/2006/main" noChangeAspect="1"/>
          </p:cNvPicPr>
          <p:nvPr/>
        </p:nvPicPr>
        <p:blipFill>
          <a:blip xmlns:r="http://schemas.openxmlformats.org/officeDocument/2006/relationships" xmlns:a="http://schemas.openxmlformats.org/drawingml/2006/main" r:embed="Rd6ed25ad37cc4a1f"/>
          <a:stretch xmlns:a="http://schemas.openxmlformats.org/drawingml/2006/main">
            <a:fillRect l="0" t="0" r="0" b="0"/>
          </a:stretch>
        </p:blipFill>
        <p:spPr>
          <a:xfrm xmlns:a="http://schemas.openxmlformats.org/drawingml/2006/main">
            <a:off x="777240" y="4617720"/>
            <a:ext cx="320040" cy="320040"/>
          </a:xfrm>
          <a:prstGeom xmlns:a="http://schemas.openxmlformats.org/drawingml/2006/main" prst="rect">
            <a:avLst/>
          </a:prstGeom>
        </p:spPr>
      </p:pic>
      <p:sp>
        <p:nvSpPr>
          <p:cNvPr id="19" name="Text 11">
            <a:extLst xmlns:a="http://schemas.openxmlformats.org/drawingml/2006/main">
              <a:ext uri="{FF2B5EF4-FFF2-40B4-BE49-F238E27FC236}">
                <a16:creationId xmlns:a16="http://schemas.microsoft.com/office/drawing/2014/main" id="{FAFCAA5D-CFF3-45B8-AD51-8194DE971932}"/>
              </a:ext>
            </a:extLst>
          </p:cNvPr>
          <p:cNvSpPr>
            <a:spLocks xmlns:a="http://schemas.openxmlformats.org/drawingml/2006/main" noGrp="1"/>
          </p:cNvSpPr>
          <p:nvPr/>
        </p:nvSpPr>
        <p:spPr>
          <a:xfrm xmlns:a="http://schemas.openxmlformats.org/drawingml/2006/main">
            <a:off x="1234440" y="452628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Nginx reverse proxy + HTTPS dengan certbot</a:t>
            </a:r>
            <a:endParaRPr sz="1200"/>
          </a:p>
        </p:txBody>
      </p:sp>
      <p:pic>
        <p:nvPicPr>
          <p:cNvPr id="51" name="Image 6">
            <a:extLst xmlns:a="http://schemas.openxmlformats.org/drawingml/2006/main">
              <a:ext uri="{FF2B5EF4-FFF2-40B4-BE49-F238E27FC236}">
                <a16:creationId xmlns:a16="http://schemas.microsoft.com/office/drawing/2014/main" id="{F5C881E5-ADB3-4B19-BFA3-D47D01788142}"/>
              </a:ext>
            </a:extLst>
          </p:cNvPr>
          <p:cNvPicPr>
            <a:picLocks xmlns:a="http://schemas.openxmlformats.org/drawingml/2006/main" noChangeAspect="1"/>
          </p:cNvPicPr>
          <p:nvPr/>
        </p:nvPicPr>
        <p:blipFill>
          <a:blip xmlns:r="http://schemas.openxmlformats.org/officeDocument/2006/relationships" xmlns:a="http://schemas.openxmlformats.org/drawingml/2006/main" r:embed="R679b77ff471c4598"/>
          <a:stretch xmlns:a="http://schemas.openxmlformats.org/drawingml/2006/main">
            <a:fillRect l="0" t="0" r="0" b="0"/>
          </a:stretch>
        </p:blipFill>
        <p:spPr>
          <a:xfrm xmlns:a="http://schemas.openxmlformats.org/drawingml/2006/main">
            <a:off x="777240" y="5257800"/>
            <a:ext cx="320040" cy="320040"/>
          </a:xfrm>
          <a:prstGeom xmlns:a="http://schemas.openxmlformats.org/drawingml/2006/main" prst="rect">
            <a:avLst/>
          </a:prstGeom>
        </p:spPr>
      </p:pic>
      <p:sp>
        <p:nvSpPr>
          <p:cNvPr id="21" name="Text 12">
            <a:extLst xmlns:a="http://schemas.openxmlformats.org/drawingml/2006/main">
              <a:ext uri="{FF2B5EF4-FFF2-40B4-BE49-F238E27FC236}">
                <a16:creationId xmlns:a16="http://schemas.microsoft.com/office/drawing/2014/main" id="{753C0858-DFCD-446B-B043-641283618619}"/>
              </a:ext>
            </a:extLst>
          </p:cNvPr>
          <p:cNvSpPr>
            <a:spLocks xmlns:a="http://schemas.openxmlformats.org/drawingml/2006/main" noGrp="1"/>
          </p:cNvSpPr>
          <p:nvPr/>
        </p:nvSpPr>
        <p:spPr>
          <a:xfrm xmlns:a="http://schemas.openxmlformats.org/drawingml/2006/main">
            <a:off x="1234440" y="516636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SSH tunneling (-L, -R, -D) untuk akses private</a:t>
            </a:r>
            <a:endParaRPr sz="1200"/>
          </a:p>
        </p:txBody>
      </p:sp>
      <p:sp>
        <p:nvSpPr>
          <p:cNvPr id="22" name="Shape 13">
            <a:extLst xmlns:a="http://schemas.openxmlformats.org/drawingml/2006/main">
              <a:ext uri="{FF2B5EF4-FFF2-40B4-BE49-F238E27FC236}">
                <a16:creationId xmlns:a16="http://schemas.microsoft.com/office/drawing/2014/main" id="{12C26C93-ADE7-4113-9873-C64E23506D8D}"/>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3" name="Text 14">
            <a:extLst xmlns:a="http://schemas.openxmlformats.org/drawingml/2006/main">
              <a:ext uri="{FF2B5EF4-FFF2-40B4-BE49-F238E27FC236}">
                <a16:creationId xmlns:a16="http://schemas.microsoft.com/office/drawing/2014/main" id="{7B276123-DF87-42AB-A40D-EFBDB639ED11}"/>
              </a:ext>
            </a:extLst>
          </p:cNvPr>
          <p:cNvSpPr>
            <a:spLocks xmlns:a="http://schemas.openxmlformats.org/drawingml/2006/main" noGrp="1"/>
          </p:cNvSpPr>
          <p:nvPr/>
        </p:nvSpPr>
        <p:spPr>
          <a:xfrm xmlns:a="http://schemas.openxmlformats.org/drawingml/2006/main">
            <a:off x="644652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HARI INI, KITA AKAN:</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FFFFFF"/>
                </a:solidFill>
                <a:latin typeface="Calibri"/>
                <a:ea typeface="Calibri"/>
                <a:cs typeface="Calibri"/>
              </a:rPr>
              <a:t>Virt + Container</a:t>
            </a:r>
            <a:endParaRPr sz="1100"/>
          </a:p>
        </p:txBody>
      </p:sp>
      <p:sp>
        <p:nvSpPr>
          <p:cNvPr id="24" name="Text 15">
            <a:extLst xmlns:a="http://schemas.openxmlformats.org/drawingml/2006/main">
              <a:ext uri="{FF2B5EF4-FFF2-40B4-BE49-F238E27FC236}">
                <a16:creationId xmlns:a16="http://schemas.microsoft.com/office/drawing/2014/main" id="{FE957FE9-37B7-4048-A4E3-3B8B0F5E47CB}"/>
              </a:ext>
            </a:extLst>
          </p:cNvPr>
          <p:cNvSpPr>
            <a:spLocks xmlns:a="http://schemas.openxmlformats.org/drawingml/2006/main" noGrp="1"/>
          </p:cNvSpPr>
          <p:nvPr/>
        </p:nvSpPr>
        <p:spPr>
          <a:xfrm xmlns:a="http://schemas.openxmlformats.org/drawingml/2006/main">
            <a:off x="6446520" y="2606040"/>
            <a:ext cx="5029200" cy="3383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600"/>
              </a:spcAft>
              <a:buNone/>
            </a:pPr>
            <a:r>
              <a:rPr sz="1200">
                <a:solidFill>
                  <a:srgbClr val="FFFFFF"/>
                </a:solidFill>
                <a:latin typeface="Calibri"/>
                <a:ea typeface="Calibri"/>
                <a:cs typeface="Calibri"/>
              </a:rPr>
              <a:t>1. Kenapa butuh virtualisasi (cost, isolasi)</a:t>
            </a:r>
            <a:endParaRPr sz="1200"/>
          </a:p>
          <a:p xmlns:a="http://schemas.openxmlformats.org/drawingml/2006/main">
            <a:pPr marL="0" indent="0">
              <a:spcAft>
                <a:spcPts val="600"/>
              </a:spcAft>
              <a:buNone/>
            </a:pPr>
            <a:r>
              <a:rPr sz="1200">
                <a:solidFill>
                  <a:srgbClr val="FFFFFF"/>
                </a:solidFill>
                <a:latin typeface="Calibri"/>
                <a:ea typeface="Calibri"/>
                <a:cs typeface="Calibri"/>
              </a:rPr>
              <a:t>2. Virtual Machine + Hypervisor (Type 1 vs 2)</a:t>
            </a:r>
            <a:endParaRPr sz="1200"/>
          </a:p>
          <a:p xmlns:a="http://schemas.openxmlformats.org/drawingml/2006/main">
            <a:pPr marL="0" indent="0">
              <a:spcAft>
                <a:spcPts val="600"/>
              </a:spcAft>
              <a:buNone/>
            </a:pPr>
            <a:r>
              <a:rPr sz="1200">
                <a:solidFill>
                  <a:srgbClr val="FFFFFF"/>
                </a:solidFill>
                <a:latin typeface="Calibri"/>
                <a:ea typeface="Calibri"/>
                <a:cs typeface="Calibri"/>
              </a:rPr>
              <a:t>3. Container &amp; primitif Linux (namespace, cgroup)</a:t>
            </a:r>
            <a:endParaRPr sz="1200"/>
          </a:p>
          <a:p xmlns:a="http://schemas.openxmlformats.org/drawingml/2006/main">
            <a:pPr marL="0" indent="0">
              <a:spcAft>
                <a:spcPts val="600"/>
              </a:spcAft>
              <a:buNone/>
            </a:pPr>
            <a:r>
              <a:rPr sz="1200">
                <a:solidFill>
                  <a:srgbClr val="FFFFFF"/>
                </a:solidFill>
                <a:latin typeface="Calibri"/>
                <a:ea typeface="Calibri"/>
                <a:cs typeface="Calibri"/>
              </a:rPr>
              <a:t>4. VM vs Container - kapan pakai apa</a:t>
            </a:r>
            <a:endParaRPr sz="1200"/>
          </a:p>
          <a:p xmlns:a="http://schemas.openxmlformats.org/drawingml/2006/main">
            <a:pPr marL="0" indent="0">
              <a:spcAft>
                <a:spcPts val="600"/>
              </a:spcAft>
              <a:buNone/>
            </a:pPr>
            <a:r>
              <a:rPr sz="1200">
                <a:solidFill>
                  <a:srgbClr val="FFFFFF"/>
                </a:solidFill>
                <a:latin typeface="Calibri"/>
                <a:ea typeface="Calibri"/>
                <a:cs typeface="Calibri"/>
              </a:rPr>
              <a:t>5. Docker architecture + workflow dasar</a:t>
            </a:r>
            <a:endParaRPr sz="1200"/>
          </a:p>
          <a:p xmlns:a="http://schemas.openxmlformats.org/drawingml/2006/main">
            <a:pPr marL="0" indent="0">
              <a:spcAft>
                <a:spcPts val="600"/>
              </a:spcAft>
              <a:buNone/>
            </a:pPr>
            <a:r>
              <a:rPr sz="1200">
                <a:solidFill>
                  <a:srgbClr val="FFFFFF"/>
                </a:solidFill>
                <a:latin typeface="Calibri"/>
                <a:ea typeface="Calibri"/>
                <a:cs typeface="Calibri"/>
              </a:rPr>
              <a:t>6. Image, layer, dan persistent storage</a:t>
            </a:r>
            <a:endParaRPr sz="1200"/>
          </a:p>
        </p:txBody>
      </p:sp>
      <p:sp>
        <p:nvSpPr>
          <p:cNvPr id="25" name="Text 16">
            <a:extLst xmlns:a="http://schemas.openxmlformats.org/drawingml/2006/main">
              <a:ext uri="{FF2B5EF4-FFF2-40B4-BE49-F238E27FC236}">
                <a16:creationId xmlns:a16="http://schemas.microsoft.com/office/drawing/2014/main" id="{34F9B57B-2E39-431A-91C1-891D529C571A}"/>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Praktikum 3 (</a:t>
            </a:r>
            <a:r>
              <a:rPr sz="1100" b="1" i="1">
                <a:solidFill>
                  <a:srgbClr val="002677"/>
                </a:solidFill>
                <a:latin typeface="Calibri"/>
                <a:ea typeface="Calibri"/>
                <a:cs typeface="Calibri"/>
              </a:rPr>
              <a:t>Docker basics: pull, run, build</a:t>
            </a:r>
            <a:r>
              <a:rPr sz="1100" i="1">
                <a:solidFill>
                  <a:srgbClr val="64748B"/>
                </a:solidFill>
                <a:latin typeface="Calibri"/>
                <a:ea typeface="Calibri"/>
                <a:cs typeface="Calibri"/>
              </a:rPr>
              <a:t>) jalan setelah sesi ini.</a:t>
            </a:r>
            <a:endParaRPr sz="1100"/>
          </a:p>
        </p:txBody>
      </p:sp>
    </p:spTree>
    <p:extLst>
      <p:ext uri="{BB962C8B-B14F-4D97-AF65-F5344CB8AC3E}">
        <p14:creationId xmlns:p14="http://schemas.microsoft.com/office/powerpoint/2010/main" val="21283622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18746B-6EB2-4BAC-88D0-50119A49FA9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760F9741-EFD3-4F18-84BB-78F53043FF5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DECB76B8-731B-4504-AB45-9212E325EBE0}"/>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a:extLst xmlns:a="http://schemas.openxmlformats.org/drawingml/2006/main">
              <a:ext uri="{FF2B5EF4-FFF2-40B4-BE49-F238E27FC236}">
                <a16:creationId xmlns:a16="http://schemas.microsoft.com/office/drawing/2014/main" id="{25CDFBE4-E0B6-4633-B767-76A7869452AF}"/>
              </a:ext>
            </a:extLst>
          </p:cNvPr>
          <p:cNvPicPr>
            <a:picLocks xmlns:a="http://schemas.openxmlformats.org/drawingml/2006/main" noChangeAspect="1"/>
          </p:cNvPicPr>
          <p:nvPr/>
        </p:nvPicPr>
        <p:blipFill>
          <a:blip xmlns:r="http://schemas.openxmlformats.org/officeDocument/2006/relationships" xmlns:a="http://schemas.openxmlformats.org/drawingml/2006/main" r:embed="R9738bf9ed0a6496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a:extLst xmlns:a="http://schemas.openxmlformats.org/drawingml/2006/main">
              <a:ext uri="{FF2B5EF4-FFF2-40B4-BE49-F238E27FC236}">
                <a16:creationId xmlns:a16="http://schemas.microsoft.com/office/drawing/2014/main" id="{F41051B2-0E53-4DD1-9EA2-B079589219C1}"/>
              </a:ext>
            </a:extLst>
          </p:cNvPr>
          <p:cNvPicPr>
            <a:picLocks xmlns:a="http://schemas.openxmlformats.org/drawingml/2006/main" noChangeAspect="1"/>
          </p:cNvPicPr>
          <p:nvPr/>
        </p:nvPicPr>
        <p:blipFill>
          <a:blip xmlns:r="http://schemas.openxmlformats.org/officeDocument/2006/relationships" xmlns:a="http://schemas.openxmlformats.org/drawingml/2006/main" r:embed="R156f78112a164c7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B681A8E-5A7B-4AC2-96BC-8B9D94C1DCF1}"/>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81EE8A6-925B-4CBF-933C-A34D1543F22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Learning Outcomes - Pertemuan 4</a:t>
            </a:r>
            <a:endParaRPr sz="2200"/>
          </a:p>
        </p:txBody>
      </p:sp>
      <p:sp>
        <p:nvSpPr>
          <p:cNvPr id="9" name="Text 5">
            <a:extLst xmlns:a="http://schemas.openxmlformats.org/drawingml/2006/main">
              <a:ext uri="{FF2B5EF4-FFF2-40B4-BE49-F238E27FC236}">
                <a16:creationId xmlns:a16="http://schemas.microsoft.com/office/drawing/2014/main" id="{B1B3BB4D-5F79-41FA-9C40-CD72804C614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Capaian Sesi Hari Ini</a:t>
            </a:r>
            <a:endParaRPr sz="1200"/>
          </a:p>
        </p:txBody>
      </p:sp>
      <p:sp>
        <p:nvSpPr>
          <p:cNvPr id="10" name="Shape 6">
            <a:extLst xmlns:a="http://schemas.openxmlformats.org/drawingml/2006/main">
              <a:ext uri="{FF2B5EF4-FFF2-40B4-BE49-F238E27FC236}">
                <a16:creationId xmlns:a16="http://schemas.microsoft.com/office/drawing/2014/main" id="{BA8F3770-C505-4E01-9BA7-5EC53217B3CC}"/>
              </a:ext>
            </a:extLst>
          </p:cNvPr>
          <p:cNvSpPr>
            <a:spLocks xmlns:a="http://schemas.openxmlformats.org/drawingml/2006/main" noGrp="1"/>
          </p:cNvSpPr>
          <p:nvPr/>
        </p:nvSpPr>
        <p:spPr>
          <a:xfrm xmlns:a="http://schemas.openxmlformats.org/drawingml/2006/main">
            <a:off x="457200"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26AFAA22-30B2-4673-B09F-83F34B46130C}"/>
              </a:ext>
            </a:extLst>
          </p:cNvPr>
          <p:cNvSpPr>
            <a:spLocks xmlns:a="http://schemas.openxmlformats.org/drawingml/2006/main" noGrp="1"/>
          </p:cNvSpPr>
          <p:nvPr/>
        </p:nvSpPr>
        <p:spPr>
          <a:xfrm xmlns:a="http://schemas.openxmlformats.org/drawingml/2006/main">
            <a:off x="457200"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Shape 8">
            <a:extLst xmlns:a="http://schemas.openxmlformats.org/drawingml/2006/main">
              <a:ext uri="{FF2B5EF4-FFF2-40B4-BE49-F238E27FC236}">
                <a16:creationId xmlns:a16="http://schemas.microsoft.com/office/drawing/2014/main" id="{695CC579-1CFB-45F5-B56C-3764B065A26D}"/>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13" name="Text 9">
            <a:extLst xmlns:a="http://schemas.openxmlformats.org/drawingml/2006/main">
              <a:ext uri="{FF2B5EF4-FFF2-40B4-BE49-F238E27FC236}">
                <a16:creationId xmlns:a16="http://schemas.microsoft.com/office/drawing/2014/main" id="{8BF3C0EC-DA09-4D15-B172-8B47A54EF8A4}"/>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1</a:t>
            </a:r>
            <a:endParaRPr sz="2200"/>
          </a:p>
        </p:txBody>
      </p:sp>
      <p:pic>
        <p:nvPicPr>
          <p:cNvPr id="57" name="Image 2">
            <a:extLst xmlns:a="http://schemas.openxmlformats.org/drawingml/2006/main">
              <a:ext uri="{FF2B5EF4-FFF2-40B4-BE49-F238E27FC236}">
                <a16:creationId xmlns:a16="http://schemas.microsoft.com/office/drawing/2014/main" id="{49721855-8712-4DBE-A9F5-85A601DC8F56}"/>
              </a:ext>
            </a:extLst>
          </p:cNvPr>
          <p:cNvPicPr>
            <a:picLocks xmlns:a="http://schemas.openxmlformats.org/drawingml/2006/main" noChangeAspect="1"/>
          </p:cNvPicPr>
          <p:nvPr/>
        </p:nvPicPr>
        <p:blipFill>
          <a:blip xmlns:r="http://schemas.openxmlformats.org/officeDocument/2006/relationships" xmlns:a="http://schemas.openxmlformats.org/drawingml/2006/main" r:embed="R4b37137ce2064621"/>
          <a:stretch xmlns:a="http://schemas.openxmlformats.org/drawingml/2006/main">
            <a:fillRect l="0" t="0" r="0" b="0"/>
          </a:stretch>
        </p:blipFill>
        <p:spPr>
          <a:xfrm xmlns:a="http://schemas.openxmlformats.org/drawingml/2006/main">
            <a:off x="2286000" y="1828800"/>
            <a:ext cx="548640" cy="54864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B4969AB7-B5B8-466D-A806-C12858A33AD0}"/>
              </a:ext>
            </a:extLst>
          </p:cNvPr>
          <p:cNvSpPr>
            <a:spLocks xmlns:a="http://schemas.openxmlformats.org/drawingml/2006/main" noGrp="1"/>
          </p:cNvSpPr>
          <p:nvPr/>
        </p:nvSpPr>
        <p:spPr>
          <a:xfrm xmlns:a="http://schemas.openxmlformats.org/drawingml/2006/main">
            <a:off x="640080"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Membedakan</a:t>
            </a:r>
            <a:endParaRPr sz="1800"/>
          </a:p>
        </p:txBody>
      </p:sp>
      <p:sp>
        <p:nvSpPr>
          <p:cNvPr id="16" name="Text 11">
            <a:extLst xmlns:a="http://schemas.openxmlformats.org/drawingml/2006/main">
              <a:ext uri="{FF2B5EF4-FFF2-40B4-BE49-F238E27FC236}">
                <a16:creationId xmlns:a16="http://schemas.microsoft.com/office/drawing/2014/main" id="{6952C079-D191-4AF1-A794-3C76DAEB1720}"/>
              </a:ext>
            </a:extLst>
          </p:cNvPr>
          <p:cNvSpPr>
            <a:spLocks xmlns:a="http://schemas.openxmlformats.org/drawingml/2006/main" noGrp="1"/>
          </p:cNvSpPr>
          <p:nvPr/>
        </p:nvSpPr>
        <p:spPr>
          <a:xfrm xmlns:a="http://schemas.openxmlformats.org/drawingml/2006/main">
            <a:off x="640080"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virtualisasi level hardware (VM) vs OS-level (container) dengan trade-off masing-masing.</a:t>
            </a:r>
            <a:endParaRPr sz="1200"/>
          </a:p>
        </p:txBody>
      </p:sp>
      <p:sp>
        <p:nvSpPr>
          <p:cNvPr id="17" name="Shape 12">
            <a:extLst xmlns:a="http://schemas.openxmlformats.org/drawingml/2006/main">
              <a:ext uri="{FF2B5EF4-FFF2-40B4-BE49-F238E27FC236}">
                <a16:creationId xmlns:a16="http://schemas.microsoft.com/office/drawing/2014/main" id="{C874E443-56C1-4030-8450-754D48C7A5D2}"/>
              </a:ext>
            </a:extLst>
          </p:cNvPr>
          <p:cNvSpPr>
            <a:spLocks xmlns:a="http://schemas.openxmlformats.org/drawingml/2006/main" noGrp="1"/>
          </p:cNvSpPr>
          <p:nvPr/>
        </p:nvSpPr>
        <p:spPr>
          <a:xfrm xmlns:a="http://schemas.openxmlformats.org/drawingml/2006/main">
            <a:off x="3319272"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3">
            <a:extLst xmlns:a="http://schemas.openxmlformats.org/drawingml/2006/main">
              <a:ext uri="{FF2B5EF4-FFF2-40B4-BE49-F238E27FC236}">
                <a16:creationId xmlns:a16="http://schemas.microsoft.com/office/drawing/2014/main" id="{29C676F3-36F2-4880-8748-48608FB86521}"/>
              </a:ext>
            </a:extLst>
          </p:cNvPr>
          <p:cNvSpPr>
            <a:spLocks xmlns:a="http://schemas.openxmlformats.org/drawingml/2006/main" noGrp="1"/>
          </p:cNvSpPr>
          <p:nvPr/>
        </p:nvSpPr>
        <p:spPr>
          <a:xfrm xmlns:a="http://schemas.openxmlformats.org/drawingml/2006/main">
            <a:off x="3319272"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9" name="Shape 14">
            <a:extLst xmlns:a="http://schemas.openxmlformats.org/drawingml/2006/main">
              <a:ext uri="{FF2B5EF4-FFF2-40B4-BE49-F238E27FC236}">
                <a16:creationId xmlns:a16="http://schemas.microsoft.com/office/drawing/2014/main" id="{FB93F80F-BDF7-427C-A32C-7AC19932FC34}"/>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0" name="Text 15">
            <a:extLst xmlns:a="http://schemas.openxmlformats.org/drawingml/2006/main">
              <a:ext uri="{FF2B5EF4-FFF2-40B4-BE49-F238E27FC236}">
                <a16:creationId xmlns:a16="http://schemas.microsoft.com/office/drawing/2014/main" id="{8F0DC653-90A3-4A24-9F10-4855DE899AB9}"/>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2</a:t>
            </a:r>
            <a:endParaRPr sz="2200"/>
          </a:p>
        </p:txBody>
      </p:sp>
      <p:pic>
        <p:nvPicPr>
          <p:cNvPr id="64" name="Image 3">
            <a:extLst xmlns:a="http://schemas.openxmlformats.org/drawingml/2006/main">
              <a:ext uri="{FF2B5EF4-FFF2-40B4-BE49-F238E27FC236}">
                <a16:creationId xmlns:a16="http://schemas.microsoft.com/office/drawing/2014/main" id="{80434C2C-655C-47BE-AB8F-17CD15488AB0}"/>
              </a:ext>
            </a:extLst>
          </p:cNvPr>
          <p:cNvPicPr>
            <a:picLocks xmlns:a="http://schemas.openxmlformats.org/drawingml/2006/main" noChangeAspect="1"/>
          </p:cNvPicPr>
          <p:nvPr/>
        </p:nvPicPr>
        <p:blipFill>
          <a:blip xmlns:r="http://schemas.openxmlformats.org/officeDocument/2006/relationships" xmlns:a="http://schemas.openxmlformats.org/drawingml/2006/main" r:embed="Rb41a4d28fa5d41ea"/>
          <a:stretch xmlns:a="http://schemas.openxmlformats.org/drawingml/2006/main">
            <a:fillRect l="0" t="0" r="0" b="0"/>
          </a:stretch>
        </p:blipFill>
        <p:spPr>
          <a:xfrm xmlns:a="http://schemas.openxmlformats.org/drawingml/2006/main">
            <a:off x="5148072" y="1828800"/>
            <a:ext cx="548640" cy="54864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118C615B-8885-4A9A-AFAE-9C07FC0D751D}"/>
              </a:ext>
            </a:extLst>
          </p:cNvPr>
          <p:cNvSpPr>
            <a:spLocks xmlns:a="http://schemas.openxmlformats.org/drawingml/2006/main" noGrp="1"/>
          </p:cNvSpPr>
          <p:nvPr/>
        </p:nvSpPr>
        <p:spPr>
          <a:xfrm xmlns:a="http://schemas.openxmlformats.org/drawingml/2006/main">
            <a:off x="3502152"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Menjelaskan</a:t>
            </a:r>
            <a:endParaRPr sz="1800"/>
          </a:p>
        </p:txBody>
      </p:sp>
      <p:sp>
        <p:nvSpPr>
          <p:cNvPr id="23" name="Text 17">
            <a:extLst xmlns:a="http://schemas.openxmlformats.org/drawingml/2006/main">
              <a:ext uri="{FF2B5EF4-FFF2-40B4-BE49-F238E27FC236}">
                <a16:creationId xmlns:a16="http://schemas.microsoft.com/office/drawing/2014/main" id="{E5CC8BE6-E53D-498E-A685-F41AC26BEC2C}"/>
              </a:ext>
            </a:extLst>
          </p:cNvPr>
          <p:cNvSpPr>
            <a:spLocks xmlns:a="http://schemas.openxmlformats.org/drawingml/2006/main" noGrp="1"/>
          </p:cNvSpPr>
          <p:nvPr/>
        </p:nvSpPr>
        <p:spPr>
          <a:xfrm xmlns:a="http://schemas.openxmlformats.org/drawingml/2006/main">
            <a:off x="3502152"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primitif Linux (namespace + cgroup) yang membuat container possible.</a:t>
            </a:r>
            <a:endParaRPr sz="1200"/>
          </a:p>
        </p:txBody>
      </p:sp>
      <p:sp>
        <p:nvSpPr>
          <p:cNvPr id="24" name="Shape 18">
            <a:extLst xmlns:a="http://schemas.openxmlformats.org/drawingml/2006/main">
              <a:ext uri="{FF2B5EF4-FFF2-40B4-BE49-F238E27FC236}">
                <a16:creationId xmlns:a16="http://schemas.microsoft.com/office/drawing/2014/main" id="{36750E32-EC0A-4593-AE47-3610CB98B4A3}"/>
              </a:ext>
            </a:extLst>
          </p:cNvPr>
          <p:cNvSpPr>
            <a:spLocks xmlns:a="http://schemas.openxmlformats.org/drawingml/2006/main" noGrp="1"/>
          </p:cNvSpPr>
          <p:nvPr/>
        </p:nvSpPr>
        <p:spPr>
          <a:xfrm xmlns:a="http://schemas.openxmlformats.org/drawingml/2006/main">
            <a:off x="6181344"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19">
            <a:extLst xmlns:a="http://schemas.openxmlformats.org/drawingml/2006/main">
              <a:ext uri="{FF2B5EF4-FFF2-40B4-BE49-F238E27FC236}">
                <a16:creationId xmlns:a16="http://schemas.microsoft.com/office/drawing/2014/main" id="{6BFAF543-D541-49BC-9180-E39D7A817C3C}"/>
              </a:ext>
            </a:extLst>
          </p:cNvPr>
          <p:cNvSpPr>
            <a:spLocks xmlns:a="http://schemas.openxmlformats.org/drawingml/2006/main" noGrp="1"/>
          </p:cNvSpPr>
          <p:nvPr/>
        </p:nvSpPr>
        <p:spPr>
          <a:xfrm xmlns:a="http://schemas.openxmlformats.org/drawingml/2006/main">
            <a:off x="6181344"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6" name="Shape 20">
            <a:extLst xmlns:a="http://schemas.openxmlformats.org/drawingml/2006/main">
              <a:ext uri="{FF2B5EF4-FFF2-40B4-BE49-F238E27FC236}">
                <a16:creationId xmlns:a16="http://schemas.microsoft.com/office/drawing/2014/main" id="{EBA5993B-FE36-4E67-95B1-DC0FF54ECEE9}"/>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7" name="Text 21">
            <a:extLst xmlns:a="http://schemas.openxmlformats.org/drawingml/2006/main">
              <a:ext uri="{FF2B5EF4-FFF2-40B4-BE49-F238E27FC236}">
                <a16:creationId xmlns:a16="http://schemas.microsoft.com/office/drawing/2014/main" id="{93380132-CC72-407E-833C-7BB19CC2D69B}"/>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3</a:t>
            </a:r>
            <a:endParaRPr sz="2200"/>
          </a:p>
        </p:txBody>
      </p:sp>
      <p:pic>
        <p:nvPicPr>
          <p:cNvPr id="71" name="Image 4">
            <a:extLst xmlns:a="http://schemas.openxmlformats.org/drawingml/2006/main">
              <a:ext uri="{FF2B5EF4-FFF2-40B4-BE49-F238E27FC236}">
                <a16:creationId xmlns:a16="http://schemas.microsoft.com/office/drawing/2014/main" id="{99F585FA-5E63-47C9-A5B1-8A7585CBC3B3}"/>
              </a:ext>
            </a:extLst>
          </p:cNvPr>
          <p:cNvPicPr>
            <a:picLocks xmlns:a="http://schemas.openxmlformats.org/drawingml/2006/main" noChangeAspect="1"/>
          </p:cNvPicPr>
          <p:nvPr/>
        </p:nvPicPr>
        <p:blipFill>
          <a:blip xmlns:r="http://schemas.openxmlformats.org/officeDocument/2006/relationships" xmlns:a="http://schemas.openxmlformats.org/drawingml/2006/main" r:embed="R14948c2ae0b6457d"/>
          <a:stretch xmlns:a="http://schemas.openxmlformats.org/drawingml/2006/main">
            <a:fillRect l="0" t="0" r="0" b="0"/>
          </a:stretch>
        </p:blipFill>
        <p:spPr>
          <a:xfrm xmlns:a="http://schemas.openxmlformats.org/drawingml/2006/main">
            <a:off x="8010144" y="1828800"/>
            <a:ext cx="548640" cy="54864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AB619B09-3D60-45D7-8903-392BBAAACD3C}"/>
              </a:ext>
            </a:extLst>
          </p:cNvPr>
          <p:cNvSpPr>
            <a:spLocks xmlns:a="http://schemas.openxmlformats.org/drawingml/2006/main" noGrp="1"/>
          </p:cNvSpPr>
          <p:nvPr/>
        </p:nvSpPr>
        <p:spPr>
          <a:xfrm xmlns:a="http://schemas.openxmlformats.org/drawingml/2006/main">
            <a:off x="6364224"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Mengoperasikan</a:t>
            </a:r>
            <a:endParaRPr sz="1800"/>
          </a:p>
        </p:txBody>
      </p:sp>
      <p:sp>
        <p:nvSpPr>
          <p:cNvPr id="30" name="Text 23">
            <a:extLst xmlns:a="http://schemas.openxmlformats.org/drawingml/2006/main">
              <a:ext uri="{FF2B5EF4-FFF2-40B4-BE49-F238E27FC236}">
                <a16:creationId xmlns:a16="http://schemas.microsoft.com/office/drawing/2014/main" id="{B0DEC605-893E-4A03-A2F8-7D46CF001EAB}"/>
              </a:ext>
            </a:extLst>
          </p:cNvPr>
          <p:cNvSpPr>
            <a:spLocks xmlns:a="http://schemas.openxmlformats.org/drawingml/2006/main" noGrp="1"/>
          </p:cNvSpPr>
          <p:nvPr/>
        </p:nvSpPr>
        <p:spPr>
          <a:xfrm xmlns:a="http://schemas.openxmlformats.org/drawingml/2006/main">
            <a:off x="6364224"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Docker daemon: pull image, run container, exec, logs, stop, rm.</a:t>
            </a:r>
            <a:endParaRPr sz="1200"/>
          </a:p>
        </p:txBody>
      </p:sp>
      <p:sp>
        <p:nvSpPr>
          <p:cNvPr id="31" name="Shape 24">
            <a:extLst xmlns:a="http://schemas.openxmlformats.org/drawingml/2006/main">
              <a:ext uri="{FF2B5EF4-FFF2-40B4-BE49-F238E27FC236}">
                <a16:creationId xmlns:a16="http://schemas.microsoft.com/office/drawing/2014/main" id="{9EB8D263-71F6-42B0-B49B-9B7288597658}"/>
              </a:ext>
            </a:extLst>
          </p:cNvPr>
          <p:cNvSpPr>
            <a:spLocks xmlns:a="http://schemas.openxmlformats.org/drawingml/2006/main" noGrp="1"/>
          </p:cNvSpPr>
          <p:nvPr/>
        </p:nvSpPr>
        <p:spPr>
          <a:xfrm xmlns:a="http://schemas.openxmlformats.org/drawingml/2006/main">
            <a:off x="9043416"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5">
            <a:extLst xmlns:a="http://schemas.openxmlformats.org/drawingml/2006/main">
              <a:ext uri="{FF2B5EF4-FFF2-40B4-BE49-F238E27FC236}">
                <a16:creationId xmlns:a16="http://schemas.microsoft.com/office/drawing/2014/main" id="{E4E367BF-E977-4097-ACD0-36DAE9783D3D}"/>
              </a:ext>
            </a:extLst>
          </p:cNvPr>
          <p:cNvSpPr>
            <a:spLocks xmlns:a="http://schemas.openxmlformats.org/drawingml/2006/main" noGrp="1"/>
          </p:cNvSpPr>
          <p:nvPr/>
        </p:nvSpPr>
        <p:spPr>
          <a:xfrm xmlns:a="http://schemas.openxmlformats.org/drawingml/2006/main">
            <a:off x="9043416"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Shape 26">
            <a:extLst xmlns:a="http://schemas.openxmlformats.org/drawingml/2006/main">
              <a:ext uri="{FF2B5EF4-FFF2-40B4-BE49-F238E27FC236}">
                <a16:creationId xmlns:a16="http://schemas.microsoft.com/office/drawing/2014/main" id="{9B7C58B4-758E-4897-9739-FECBC02400CF}"/>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34" name="Text 27">
            <a:extLst xmlns:a="http://schemas.openxmlformats.org/drawingml/2006/main">
              <a:ext uri="{FF2B5EF4-FFF2-40B4-BE49-F238E27FC236}">
                <a16:creationId xmlns:a16="http://schemas.microsoft.com/office/drawing/2014/main" id="{8CA0A65C-2609-466D-A8C3-D3908B01B343}"/>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4</a:t>
            </a:r>
            <a:endParaRPr sz="2200"/>
          </a:p>
        </p:txBody>
      </p:sp>
      <p:pic>
        <p:nvPicPr>
          <p:cNvPr id="78" name="Image 5">
            <a:extLst xmlns:a="http://schemas.openxmlformats.org/drawingml/2006/main">
              <a:ext uri="{FF2B5EF4-FFF2-40B4-BE49-F238E27FC236}">
                <a16:creationId xmlns:a16="http://schemas.microsoft.com/office/drawing/2014/main" id="{4B01ED78-C2E3-4EA5-9862-69AFEA12F951}"/>
              </a:ext>
            </a:extLst>
          </p:cNvPr>
          <p:cNvPicPr>
            <a:picLocks xmlns:a="http://schemas.openxmlformats.org/drawingml/2006/main" noChangeAspect="1"/>
          </p:cNvPicPr>
          <p:nvPr/>
        </p:nvPicPr>
        <p:blipFill>
          <a:blip xmlns:r="http://schemas.openxmlformats.org/officeDocument/2006/relationships" xmlns:a="http://schemas.openxmlformats.org/drawingml/2006/main" r:embed="R06ad582e26594f6a"/>
          <a:stretch xmlns:a="http://schemas.openxmlformats.org/drawingml/2006/main">
            <a:fillRect l="0" t="0" r="0" b="0"/>
          </a:stretch>
        </p:blipFill>
        <p:spPr>
          <a:xfrm xmlns:a="http://schemas.openxmlformats.org/drawingml/2006/main">
            <a:off x="10872216" y="1828800"/>
            <a:ext cx="548640" cy="54864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D914976D-3476-41B1-9520-BA42E7F092A8}"/>
              </a:ext>
            </a:extLst>
          </p:cNvPr>
          <p:cNvSpPr>
            <a:spLocks xmlns:a="http://schemas.openxmlformats.org/drawingml/2006/main" noGrp="1"/>
          </p:cNvSpPr>
          <p:nvPr/>
        </p:nvSpPr>
        <p:spPr>
          <a:xfrm xmlns:a="http://schemas.openxmlformats.org/drawingml/2006/main">
            <a:off x="9226296"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Memahami</a:t>
            </a:r>
            <a:endParaRPr sz="1800"/>
          </a:p>
        </p:txBody>
      </p:sp>
      <p:sp>
        <p:nvSpPr>
          <p:cNvPr id="37" name="Text 29">
            <a:extLst xmlns:a="http://schemas.openxmlformats.org/drawingml/2006/main">
              <a:ext uri="{FF2B5EF4-FFF2-40B4-BE49-F238E27FC236}">
                <a16:creationId xmlns:a16="http://schemas.microsoft.com/office/drawing/2014/main" id="{BFFDD637-050F-4041-8633-4EF26FFB814A}"/>
              </a:ext>
            </a:extLst>
          </p:cNvPr>
          <p:cNvSpPr>
            <a:spLocks xmlns:a="http://schemas.openxmlformats.org/drawingml/2006/main" noGrp="1"/>
          </p:cNvSpPr>
          <p:nvPr/>
        </p:nvSpPr>
        <p:spPr>
          <a:xfrm xmlns:a="http://schemas.openxmlformats.org/drawingml/2006/main">
            <a:off x="9226296"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konsep image layer + persistent storage dengan volume.</a:t>
            </a:r>
            <a:endParaRPr sz="1200"/>
          </a:p>
        </p:txBody>
      </p:sp>
      <p:sp>
        <p:nvSpPr>
          <p:cNvPr id="38" name="Text 30">
            <a:extLst xmlns:a="http://schemas.openxmlformats.org/drawingml/2006/main">
              <a:ext uri="{FF2B5EF4-FFF2-40B4-BE49-F238E27FC236}">
                <a16:creationId xmlns:a16="http://schemas.microsoft.com/office/drawing/2014/main" id="{34A44645-23A9-4CFC-AD1D-A32F7E063057}"/>
              </a:ext>
            </a:extLst>
          </p:cNvPr>
          <p:cNvSpPr>
            <a:spLocks xmlns:a="http://schemas.openxmlformats.org/drawingml/2006/main" noGrp="1"/>
          </p:cNvSpPr>
          <p:nvPr/>
        </p:nvSpPr>
        <p:spPr>
          <a:xfrm xmlns:a="http://schemas.openxmlformats.org/drawingml/2006/main">
            <a:off x="457200" y="60350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Sesi ini mendukung:  </a:t>
            </a:r>
            <a:r>
              <a:rPr sz="1100" b="1" i="1">
                <a:solidFill>
                  <a:srgbClr val="002677"/>
                </a:solidFill>
                <a:latin typeface="Calibri"/>
                <a:ea typeface="Calibri"/>
                <a:cs typeface="Calibri"/>
              </a:rPr>
              <a:t>LO2 (Apply – Docker fondasi untuk implementasi cloud-native)  +  LO1 (Analyze – pilih VM vs container)</a:t>
            </a:r>
            <a:endParaRPr sz="1100"/>
          </a:p>
        </p:txBody>
      </p:sp>
    </p:spTree>
    <p:extLst>
      <p:ext uri="{BB962C8B-B14F-4D97-AF65-F5344CB8AC3E}">
        <p14:creationId xmlns:p14="http://schemas.microsoft.com/office/powerpoint/2010/main" val="674807258"/>
      </p:ext>
    </p:extLst>
  </p:cSld>
</p:sld>
</file>

<file path=ppt/slides/slide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0031474-6159-4C9F-AD90-AE5DA123AFE0}"/>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1F6C43BF-EB1C-4179-B8ED-9BB6E0E877FC}"/>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13610F83-1F20-47E3-BA94-A191AA334F14}"/>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4A140DF4-5AF0-4536-B394-C78FB1643F4B}"/>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2CA43941-2ACA-4261-8A43-BF59DCF91860}"/>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CAABC27C-E218-48D0-9537-D47DCEAD225F}"/>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0351A960-4810-481B-BEE6-6B861B946BF1}"/>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8AFD7B55-17EF-4E3B-B69C-E7A5A59A9D3B}"/>
              </a:ext>
            </a:extLst>
          </p:cNvPr>
          <p:cNvPicPr>
            <a:picLocks xmlns:a="http://schemas.openxmlformats.org/drawingml/2006/main" noChangeAspect="1"/>
          </p:cNvPicPr>
          <p:nvPr/>
        </p:nvPicPr>
        <p:blipFill>
          <a:blip xmlns:r="http://schemas.openxmlformats.org/officeDocument/2006/relationships" xmlns:a="http://schemas.openxmlformats.org/drawingml/2006/main" r:embed="Rb3557d916e2546e0"/>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2FD8D840-1E5D-4174-B8CE-C4F3DC79A962}"/>
              </a:ext>
            </a:extLst>
          </p:cNvPr>
          <p:cNvPicPr>
            <a:picLocks xmlns:a="http://schemas.openxmlformats.org/drawingml/2006/main" noChangeAspect="1"/>
          </p:cNvPicPr>
          <p:nvPr/>
        </p:nvPicPr>
        <p:blipFill>
          <a:blip xmlns:r="http://schemas.openxmlformats.org/officeDocument/2006/relationships" xmlns:a="http://schemas.openxmlformats.org/drawingml/2006/main" r:embed="Raf4e1e276c154600"/>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7B0A0073-0BC4-4B4A-8404-98008CF81C7F}"/>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01</a:t>
            </a:r>
            <a:endParaRPr sz="1600"/>
          </a:p>
        </p:txBody>
      </p:sp>
      <p:sp>
        <p:nvSpPr>
          <p:cNvPr id="12" name="Text 8">
            <a:extLst xmlns:a="http://schemas.openxmlformats.org/drawingml/2006/main">
              <a:ext uri="{FF2B5EF4-FFF2-40B4-BE49-F238E27FC236}">
                <a16:creationId xmlns:a16="http://schemas.microsoft.com/office/drawing/2014/main" id="{FA69A7E6-C037-413F-977A-E7E16C895CD4}"/>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Kenapa Butuh</a:t>
            </a:r>
            <a:endParaRPr sz="5200"/>
          </a:p>
          <a:p xmlns:a="http://schemas.openxmlformats.org/drawingml/2006/main">
            <a:pPr marL="0" indent="0" algn="ctr">
              <a:buNone/>
            </a:pPr>
            <a:r>
              <a:rPr sz="5200" b="1">
                <a:solidFill>
                  <a:srgbClr val="FFFFFF"/>
                </a:solidFill>
                <a:latin typeface="Calibri"/>
                <a:ea typeface="Calibri"/>
                <a:cs typeface="Calibri"/>
              </a:rPr>
              <a:t>Virtualisasi?</a:t>
            </a:r>
            <a:endParaRPr sz="5200"/>
          </a:p>
        </p:txBody>
      </p:sp>
      <p:sp>
        <p:nvSpPr>
          <p:cNvPr id="13" name="Shape 9">
            <a:extLst xmlns:a="http://schemas.openxmlformats.org/drawingml/2006/main">
              <a:ext uri="{FF2B5EF4-FFF2-40B4-BE49-F238E27FC236}">
                <a16:creationId xmlns:a16="http://schemas.microsoft.com/office/drawing/2014/main" id="{49061396-E526-4FA6-9459-3006833AEA02}"/>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08D1C620-631F-4E1B-AF00-49B4DDD24B8C}"/>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Masalah bare-metal: cost, isolasi, dan utilisasi resource.</a:t>
            </a:r>
            <a:endParaRPr sz="1400"/>
          </a:p>
        </p:txBody>
      </p:sp>
    </p:spTree>
    <p:extLst>
      <p:ext uri="{BB962C8B-B14F-4D97-AF65-F5344CB8AC3E}">
        <p14:creationId xmlns:p14="http://schemas.microsoft.com/office/powerpoint/2010/main" val="4301282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650481-3A40-4384-B1DC-24370BE147A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CE18EFA6-BDCB-4211-B678-A9981BDD944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5</a:t>
            </a:r>
            <a:endParaRPr sz="900"/>
          </a:p>
        </p:txBody>
      </p:sp>
      <p:sp>
        <p:nvSpPr>
          <p:cNvPr id="4" name="Shape 2">
            <a:extLst xmlns:a="http://schemas.openxmlformats.org/drawingml/2006/main">
              <a:ext uri="{FF2B5EF4-FFF2-40B4-BE49-F238E27FC236}">
                <a16:creationId xmlns:a16="http://schemas.microsoft.com/office/drawing/2014/main" id="{B207949C-FF12-40A9-82E8-CB9320BC56E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9" name="Image 0">
            <a:extLst xmlns:a="http://schemas.openxmlformats.org/drawingml/2006/main">
              <a:ext uri="{FF2B5EF4-FFF2-40B4-BE49-F238E27FC236}">
                <a16:creationId xmlns:a16="http://schemas.microsoft.com/office/drawing/2014/main" id="{167C7FE8-8EFB-478D-B525-57AFC848C116}"/>
              </a:ext>
            </a:extLst>
          </p:cNvPr>
          <p:cNvPicPr>
            <a:picLocks xmlns:a="http://schemas.openxmlformats.org/drawingml/2006/main" noChangeAspect="1"/>
          </p:cNvPicPr>
          <p:nvPr/>
        </p:nvPicPr>
        <p:blipFill>
          <a:blip xmlns:r="http://schemas.openxmlformats.org/officeDocument/2006/relationships" xmlns:a="http://schemas.openxmlformats.org/drawingml/2006/main" r:embed="Rd06e58fa3a7c45a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0" name="Image 1">
            <a:extLst xmlns:a="http://schemas.openxmlformats.org/drawingml/2006/main">
              <a:ext uri="{FF2B5EF4-FFF2-40B4-BE49-F238E27FC236}">
                <a16:creationId xmlns:a16="http://schemas.microsoft.com/office/drawing/2014/main" id="{B8DF39BD-B4EF-4262-BA88-43645C222DE6}"/>
              </a:ext>
            </a:extLst>
          </p:cNvPr>
          <p:cNvPicPr>
            <a:picLocks xmlns:a="http://schemas.openxmlformats.org/drawingml/2006/main" noChangeAspect="1"/>
          </p:cNvPicPr>
          <p:nvPr/>
        </p:nvPicPr>
        <p:blipFill>
          <a:blip xmlns:r="http://schemas.openxmlformats.org/officeDocument/2006/relationships" xmlns:a="http://schemas.openxmlformats.org/drawingml/2006/main" r:embed="Re2ce8c5dced64c5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60FB719B-F4F5-4CA0-B75B-C68B1E4E6FB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609C020A-BE80-4C0E-B853-C48E3B1A42E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Masalah Bare-Metal Server</a:t>
            </a:r>
            <a:endParaRPr sz="2200"/>
          </a:p>
        </p:txBody>
      </p:sp>
      <p:sp>
        <p:nvSpPr>
          <p:cNvPr id="9" name="Text 5">
            <a:extLst xmlns:a="http://schemas.openxmlformats.org/drawingml/2006/main">
              <a:ext uri="{FF2B5EF4-FFF2-40B4-BE49-F238E27FC236}">
                <a16:creationId xmlns:a16="http://schemas.microsoft.com/office/drawing/2014/main" id="{52F67528-2496-49BD-8086-D772A150BBD9}"/>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Kenapa industri pindah dari 'satu server satu app'</a:t>
            </a:r>
            <a:endParaRPr sz="1200"/>
          </a:p>
        </p:txBody>
      </p:sp>
      <p:sp>
        <p:nvSpPr>
          <p:cNvPr id="10" name="Shape 6">
            <a:extLst xmlns:a="http://schemas.openxmlformats.org/drawingml/2006/main">
              <a:ext uri="{FF2B5EF4-FFF2-40B4-BE49-F238E27FC236}">
                <a16:creationId xmlns:a16="http://schemas.microsoft.com/office/drawing/2014/main" id="{19B734A5-D32E-4F0E-A854-FC2A71473661}"/>
              </a:ext>
            </a:extLst>
          </p:cNvPr>
          <p:cNvSpPr>
            <a:spLocks xmlns:a="http://schemas.openxmlformats.org/drawingml/2006/main" noGrp="1"/>
          </p:cNvSpPr>
          <p:nvPr/>
        </p:nvSpPr>
        <p:spPr>
          <a:xfrm xmlns:a="http://schemas.openxmlformats.org/drawingml/2006/main">
            <a:off x="457200" y="1417320"/>
            <a:ext cx="3657600" cy="25603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5A74D83C-0EE8-4F2E-B6E9-69E513C6D607}"/>
              </a:ext>
            </a:extLst>
          </p:cNvPr>
          <p:cNvSpPr>
            <a:spLocks xmlns:a="http://schemas.openxmlformats.org/drawingml/2006/main" noGrp="1"/>
          </p:cNvSpPr>
          <p:nvPr/>
        </p:nvSpPr>
        <p:spPr>
          <a:xfrm xmlns:a="http://schemas.openxmlformats.org/drawingml/2006/main">
            <a:off x="457200" y="1417320"/>
            <a:ext cx="3657600" cy="109728"/>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pic>
        <p:nvPicPr>
          <p:cNvPr id="46" name="Image 2">
            <a:extLst xmlns:a="http://schemas.openxmlformats.org/drawingml/2006/main">
              <a:ext uri="{FF2B5EF4-FFF2-40B4-BE49-F238E27FC236}">
                <a16:creationId xmlns:a16="http://schemas.microsoft.com/office/drawing/2014/main" id="{87FB954C-0542-43AF-96CB-B1728A27F35E}"/>
              </a:ext>
            </a:extLst>
          </p:cNvPr>
          <p:cNvPicPr>
            <a:picLocks xmlns:a="http://schemas.openxmlformats.org/drawingml/2006/main" noChangeAspect="1"/>
          </p:cNvPicPr>
          <p:nvPr/>
        </p:nvPicPr>
        <p:blipFill>
          <a:blip xmlns:r="http://schemas.openxmlformats.org/officeDocument/2006/relationships" xmlns:a="http://schemas.openxmlformats.org/drawingml/2006/main" r:embed="R9d66504770bb4a4e"/>
          <a:stretch xmlns:a="http://schemas.openxmlformats.org/drawingml/2006/main">
            <a:fillRect l="0" t="0" r="0" b="0"/>
          </a:stretch>
        </p:blipFill>
        <p:spPr>
          <a:xfrm xmlns:a="http://schemas.openxmlformats.org/drawingml/2006/main">
            <a:off x="1920240" y="1783080"/>
            <a:ext cx="731520" cy="7315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EC2991D9-49BF-40F0-A9B1-1A071BBE8456}"/>
              </a:ext>
            </a:extLst>
          </p:cNvPr>
          <p:cNvSpPr>
            <a:spLocks xmlns:a="http://schemas.openxmlformats.org/drawingml/2006/main" noGrp="1"/>
          </p:cNvSpPr>
          <p:nvPr/>
        </p:nvSpPr>
        <p:spPr>
          <a:xfrm xmlns:a="http://schemas.openxmlformats.org/drawingml/2006/main">
            <a:off x="457200" y="260604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Resource Boros</a:t>
            </a:r>
            <a:endParaRPr sz="1600"/>
          </a:p>
        </p:txBody>
      </p:sp>
      <p:sp>
        <p:nvSpPr>
          <p:cNvPr id="14" name="Text 9">
            <a:extLst xmlns:a="http://schemas.openxmlformats.org/drawingml/2006/main">
              <a:ext uri="{FF2B5EF4-FFF2-40B4-BE49-F238E27FC236}">
                <a16:creationId xmlns:a16="http://schemas.microsoft.com/office/drawing/2014/main" id="{221169DC-0883-40D2-9EC2-7F42C2737F57}"/>
              </a:ext>
            </a:extLst>
          </p:cNvPr>
          <p:cNvSpPr>
            <a:spLocks xmlns:a="http://schemas.openxmlformats.org/drawingml/2006/main" noGrp="1"/>
          </p:cNvSpPr>
          <p:nvPr/>
        </p:nvSpPr>
        <p:spPr>
          <a:xfrm xmlns:a="http://schemas.openxmlformats.org/drawingml/2006/main">
            <a:off x="640080" y="301752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Pada pola satu aplikasi per server, sebagian resource fisik sering menganggur.</a:t>
            </a:r>
            <a:endParaRPr sz="1100"/>
          </a:p>
        </p:txBody>
      </p:sp>
      <p:sp>
        <p:nvSpPr>
          <p:cNvPr id="15" name="Shape 10">
            <a:extLst xmlns:a="http://schemas.openxmlformats.org/drawingml/2006/main">
              <a:ext uri="{FF2B5EF4-FFF2-40B4-BE49-F238E27FC236}">
                <a16:creationId xmlns:a16="http://schemas.microsoft.com/office/drawing/2014/main" id="{AB8DAEC9-DC14-4ECC-8B61-2A501D797E2F}"/>
              </a:ext>
            </a:extLst>
          </p:cNvPr>
          <p:cNvSpPr>
            <a:spLocks xmlns:a="http://schemas.openxmlformats.org/drawingml/2006/main" noGrp="1"/>
          </p:cNvSpPr>
          <p:nvPr/>
        </p:nvSpPr>
        <p:spPr>
          <a:xfrm xmlns:a="http://schemas.openxmlformats.org/drawingml/2006/main">
            <a:off x="4297680" y="1417320"/>
            <a:ext cx="3657600" cy="25603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A016DE09-B8BE-4BC3-8673-BA9C1E6BA650}"/>
              </a:ext>
            </a:extLst>
          </p:cNvPr>
          <p:cNvSpPr>
            <a:spLocks xmlns:a="http://schemas.openxmlformats.org/drawingml/2006/main" noGrp="1"/>
          </p:cNvSpPr>
          <p:nvPr/>
        </p:nvSpPr>
        <p:spPr>
          <a:xfrm xmlns:a="http://schemas.openxmlformats.org/drawingml/2006/main">
            <a:off x="4297680" y="1417320"/>
            <a:ext cx="3657600" cy="109728"/>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pic>
        <p:nvPicPr>
          <p:cNvPr id="51" name="Image 3">
            <a:extLst xmlns:a="http://schemas.openxmlformats.org/drawingml/2006/main">
              <a:ext uri="{FF2B5EF4-FFF2-40B4-BE49-F238E27FC236}">
                <a16:creationId xmlns:a16="http://schemas.microsoft.com/office/drawing/2014/main" id="{373DA5BA-FAFC-40A1-9FD4-B60EB6FF7482}"/>
              </a:ext>
            </a:extLst>
          </p:cNvPr>
          <p:cNvPicPr>
            <a:picLocks xmlns:a="http://schemas.openxmlformats.org/drawingml/2006/main" noChangeAspect="1"/>
          </p:cNvPicPr>
          <p:nvPr/>
        </p:nvPicPr>
        <p:blipFill>
          <a:blip xmlns:r="http://schemas.openxmlformats.org/officeDocument/2006/relationships" xmlns:a="http://schemas.openxmlformats.org/drawingml/2006/main" r:embed="R9d0cd79fc13c4c4b"/>
          <a:stretch xmlns:a="http://schemas.openxmlformats.org/drawingml/2006/main">
            <a:fillRect l="0" t="0" r="0" b="0"/>
          </a:stretch>
        </p:blipFill>
        <p:spPr>
          <a:xfrm xmlns:a="http://schemas.openxmlformats.org/drawingml/2006/main">
            <a:off x="5760720" y="1783080"/>
            <a:ext cx="731520" cy="73152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8842B892-49AF-47E7-BC27-E5FAE68B1159}"/>
              </a:ext>
            </a:extLst>
          </p:cNvPr>
          <p:cNvSpPr>
            <a:spLocks xmlns:a="http://schemas.openxmlformats.org/drawingml/2006/main" noGrp="1"/>
          </p:cNvSpPr>
          <p:nvPr/>
        </p:nvSpPr>
        <p:spPr>
          <a:xfrm xmlns:a="http://schemas.openxmlformats.org/drawingml/2006/main">
            <a:off x="4297680" y="260604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Konflik Dependency</a:t>
            </a:r>
            <a:endParaRPr sz="1600"/>
          </a:p>
        </p:txBody>
      </p:sp>
      <p:sp>
        <p:nvSpPr>
          <p:cNvPr id="19" name="Text 13">
            <a:extLst xmlns:a="http://schemas.openxmlformats.org/drawingml/2006/main">
              <a:ext uri="{FF2B5EF4-FFF2-40B4-BE49-F238E27FC236}">
                <a16:creationId xmlns:a16="http://schemas.microsoft.com/office/drawing/2014/main" id="{50980D51-8637-48A0-BCDB-00FAB4F94762}"/>
              </a:ext>
            </a:extLst>
          </p:cNvPr>
          <p:cNvSpPr>
            <a:spLocks xmlns:a="http://schemas.openxmlformats.org/drawingml/2006/main" noGrp="1"/>
          </p:cNvSpPr>
          <p:nvPr/>
        </p:nvSpPr>
        <p:spPr>
          <a:xfrm xmlns:a="http://schemas.openxmlformats.org/drawingml/2006/main">
            <a:off x="4480560" y="301752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App A butuh Python 3.9, app B butuh 3.11. Library bentrok. 'Works on my machine' classic.</a:t>
            </a:r>
            <a:endParaRPr sz="1100"/>
          </a:p>
        </p:txBody>
      </p:sp>
      <p:sp>
        <p:nvSpPr>
          <p:cNvPr id="20" name="Shape 14">
            <a:extLst xmlns:a="http://schemas.openxmlformats.org/drawingml/2006/main">
              <a:ext uri="{FF2B5EF4-FFF2-40B4-BE49-F238E27FC236}">
                <a16:creationId xmlns:a16="http://schemas.microsoft.com/office/drawing/2014/main" id="{D9C1D435-3D4D-4539-B97A-26C04E604F58}"/>
              </a:ext>
            </a:extLst>
          </p:cNvPr>
          <p:cNvSpPr>
            <a:spLocks xmlns:a="http://schemas.openxmlformats.org/drawingml/2006/main" noGrp="1"/>
          </p:cNvSpPr>
          <p:nvPr/>
        </p:nvSpPr>
        <p:spPr>
          <a:xfrm xmlns:a="http://schemas.openxmlformats.org/drawingml/2006/main">
            <a:off x="8138160" y="1417320"/>
            <a:ext cx="3657600" cy="25603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5">
            <a:extLst xmlns:a="http://schemas.openxmlformats.org/drawingml/2006/main">
              <a:ext uri="{FF2B5EF4-FFF2-40B4-BE49-F238E27FC236}">
                <a16:creationId xmlns:a16="http://schemas.microsoft.com/office/drawing/2014/main" id="{C2859841-C6B1-4FB9-A7C4-EB52F63AD5C8}"/>
              </a:ext>
            </a:extLst>
          </p:cNvPr>
          <p:cNvSpPr>
            <a:spLocks xmlns:a="http://schemas.openxmlformats.org/drawingml/2006/main" noGrp="1"/>
          </p:cNvSpPr>
          <p:nvPr/>
        </p:nvSpPr>
        <p:spPr>
          <a:xfrm xmlns:a="http://schemas.openxmlformats.org/drawingml/2006/main">
            <a:off x="8138160" y="1417320"/>
            <a:ext cx="3657600" cy="109728"/>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pic>
        <p:nvPicPr>
          <p:cNvPr id="56" name="Image 4">
            <a:extLst xmlns:a="http://schemas.openxmlformats.org/drawingml/2006/main">
              <a:ext uri="{FF2B5EF4-FFF2-40B4-BE49-F238E27FC236}">
                <a16:creationId xmlns:a16="http://schemas.microsoft.com/office/drawing/2014/main" id="{755BAE26-2553-471C-9A04-C4B3C7A84A93}"/>
              </a:ext>
            </a:extLst>
          </p:cNvPr>
          <p:cNvPicPr>
            <a:picLocks xmlns:a="http://schemas.openxmlformats.org/drawingml/2006/main" noChangeAspect="1"/>
          </p:cNvPicPr>
          <p:nvPr/>
        </p:nvPicPr>
        <p:blipFill>
          <a:blip xmlns:r="http://schemas.openxmlformats.org/officeDocument/2006/relationships" xmlns:a="http://schemas.openxmlformats.org/drawingml/2006/main" r:embed="Rf5456312fed24919"/>
          <a:stretch xmlns:a="http://schemas.openxmlformats.org/drawingml/2006/main">
            <a:fillRect l="0" t="0" r="0" b="0"/>
          </a:stretch>
        </p:blipFill>
        <p:spPr>
          <a:xfrm xmlns:a="http://schemas.openxmlformats.org/drawingml/2006/main">
            <a:off x="9601200" y="1783080"/>
            <a:ext cx="731520" cy="73152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F6065DD2-22B3-4E80-BC76-D002B188774C}"/>
              </a:ext>
            </a:extLst>
          </p:cNvPr>
          <p:cNvSpPr>
            <a:spLocks xmlns:a="http://schemas.openxmlformats.org/drawingml/2006/main" noGrp="1"/>
          </p:cNvSpPr>
          <p:nvPr/>
        </p:nvSpPr>
        <p:spPr>
          <a:xfrm xmlns:a="http://schemas.openxmlformats.org/drawingml/2006/main">
            <a:off x="8138160" y="260604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Provision Lambat</a:t>
            </a:r>
            <a:endParaRPr sz="1600"/>
          </a:p>
        </p:txBody>
      </p:sp>
      <p:sp>
        <p:nvSpPr>
          <p:cNvPr id="24" name="Text 17">
            <a:extLst xmlns:a="http://schemas.openxmlformats.org/drawingml/2006/main">
              <a:ext uri="{FF2B5EF4-FFF2-40B4-BE49-F238E27FC236}">
                <a16:creationId xmlns:a16="http://schemas.microsoft.com/office/drawing/2014/main" id="{E10C73B2-8361-430E-A9D6-4A3490BAA075}"/>
              </a:ext>
            </a:extLst>
          </p:cNvPr>
          <p:cNvSpPr>
            <a:spLocks xmlns:a="http://schemas.openxmlformats.org/drawingml/2006/main" noGrp="1"/>
          </p:cNvSpPr>
          <p:nvPr/>
        </p:nvSpPr>
        <p:spPr>
          <a:xfrm xmlns:a="http://schemas.openxmlformats.org/drawingml/2006/main">
            <a:off x="8321040" y="3017520"/>
            <a:ext cx="32918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Pesan server fisik baru butuh minggu. Reproducibility susah - tiap server di-setup manual.</a:t>
            </a:r>
            <a:endParaRPr sz="1100"/>
          </a:p>
        </p:txBody>
      </p:sp>
      <p:sp>
        <p:nvSpPr>
          <p:cNvPr id="25" name="Shape 18">
            <a:extLst xmlns:a="http://schemas.openxmlformats.org/drawingml/2006/main">
              <a:ext uri="{FF2B5EF4-FFF2-40B4-BE49-F238E27FC236}">
                <a16:creationId xmlns:a16="http://schemas.microsoft.com/office/drawing/2014/main" id="{D69CA6EC-FDE1-40B9-9050-961A8AA294DE}"/>
              </a:ext>
            </a:extLst>
          </p:cNvPr>
          <p:cNvSpPr>
            <a:spLocks xmlns:a="http://schemas.openxmlformats.org/drawingml/2006/main" noGrp="1"/>
          </p:cNvSpPr>
          <p:nvPr/>
        </p:nvSpPr>
        <p:spPr>
          <a:xfrm xmlns:a="http://schemas.openxmlformats.org/drawingml/2006/main">
            <a:off x="457200" y="4297680"/>
            <a:ext cx="11247120" cy="20116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0" name="Image 5">
            <a:extLst xmlns:a="http://schemas.openxmlformats.org/drawingml/2006/main">
              <a:ext uri="{FF2B5EF4-FFF2-40B4-BE49-F238E27FC236}">
                <a16:creationId xmlns:a16="http://schemas.microsoft.com/office/drawing/2014/main" id="{526BFCC0-8DD6-4344-8A7D-3D5192ABAD16}"/>
              </a:ext>
            </a:extLst>
          </p:cNvPr>
          <p:cNvPicPr>
            <a:picLocks xmlns:a="http://schemas.openxmlformats.org/drawingml/2006/main" noChangeAspect="1"/>
          </p:cNvPicPr>
          <p:nvPr/>
        </p:nvPicPr>
        <p:blipFill>
          <a:blip xmlns:r="http://schemas.openxmlformats.org/officeDocument/2006/relationships" xmlns:a="http://schemas.openxmlformats.org/drawingml/2006/main" r:embed="R0bd792206b2143d1"/>
          <a:stretch xmlns:a="http://schemas.openxmlformats.org/drawingml/2006/main">
            <a:fillRect l="0" t="0" r="0" b="0"/>
          </a:stretch>
        </p:blipFill>
        <p:spPr>
          <a:xfrm xmlns:a="http://schemas.openxmlformats.org/drawingml/2006/main">
            <a:off x="777240" y="4526280"/>
            <a:ext cx="731520" cy="731520"/>
          </a:xfrm>
          <a:prstGeom xmlns:a="http://schemas.openxmlformats.org/drawingml/2006/main" prst="rect">
            <a:avLst/>
          </a:prstGeom>
        </p:spPr>
      </p:pic>
      <p:sp>
        <p:nvSpPr>
          <p:cNvPr id="27" name="Text 19">
            <a:extLst xmlns:a="http://schemas.openxmlformats.org/drawingml/2006/main">
              <a:ext uri="{FF2B5EF4-FFF2-40B4-BE49-F238E27FC236}">
                <a16:creationId xmlns:a16="http://schemas.microsoft.com/office/drawing/2014/main" id="{F77C2BE4-05A2-4DBC-BC52-09951175C0EC}"/>
              </a:ext>
            </a:extLst>
          </p:cNvPr>
          <p:cNvSpPr>
            <a:spLocks xmlns:a="http://schemas.openxmlformats.org/drawingml/2006/main" noGrp="1"/>
          </p:cNvSpPr>
          <p:nvPr/>
        </p:nvSpPr>
        <p:spPr>
          <a:xfrm xmlns:a="http://schemas.openxmlformats.org/drawingml/2006/main">
            <a:off x="1783080" y="443484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37021"/>
                </a:solidFill>
                <a:latin typeface="Calibri"/>
                <a:ea typeface="Calibri"/>
                <a:cs typeface="Calibri"/>
              </a:rPr>
              <a:t>Solusi: Virtualisasi</a:t>
            </a:r>
            <a:endParaRPr sz="1800"/>
          </a:p>
        </p:txBody>
      </p:sp>
      <p:sp>
        <p:nvSpPr>
          <p:cNvPr id="28" name="Text 20">
            <a:extLst xmlns:a="http://schemas.openxmlformats.org/drawingml/2006/main">
              <a:ext uri="{FF2B5EF4-FFF2-40B4-BE49-F238E27FC236}">
                <a16:creationId xmlns:a16="http://schemas.microsoft.com/office/drawing/2014/main" id="{6898C1B9-4B18-4682-9897-B07048566FC3}"/>
              </a:ext>
            </a:extLst>
          </p:cNvPr>
          <p:cNvSpPr>
            <a:spLocks xmlns:a="http://schemas.openxmlformats.org/drawingml/2006/main" noGrp="1"/>
          </p:cNvSpPr>
          <p:nvPr/>
        </p:nvSpPr>
        <p:spPr>
          <a:xfrm xmlns:a="http://schemas.openxmlformats.org/drawingml/2006/main">
            <a:off x="1783080" y="4937760"/>
            <a:ext cx="9601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FFFFFF"/>
                </a:solidFill>
                <a:latin typeface="Calibri"/>
                <a:ea typeface="Calibri"/>
                <a:cs typeface="Calibri"/>
              </a:rPr>
              <a:t>Bagi 1 server fisik jadi banyak environment terisolasi - setiap app punya OS / runtime sendiri.</a:t>
            </a:r>
            <a:endParaRPr sz="1200"/>
          </a:p>
        </p:txBody>
      </p:sp>
      <p:sp>
        <p:nvSpPr>
          <p:cNvPr id="29" name="Text 21">
            <a:extLst xmlns:a="http://schemas.openxmlformats.org/drawingml/2006/main">
              <a:ext uri="{FF2B5EF4-FFF2-40B4-BE49-F238E27FC236}">
                <a16:creationId xmlns:a16="http://schemas.microsoft.com/office/drawing/2014/main" id="{F2AF6264-C00F-4272-97CF-399577930274}"/>
              </a:ext>
            </a:extLst>
          </p:cNvPr>
          <p:cNvSpPr>
            <a:spLocks xmlns:a="http://schemas.openxmlformats.org/drawingml/2006/main" noGrp="1"/>
          </p:cNvSpPr>
          <p:nvPr/>
        </p:nvSpPr>
        <p:spPr>
          <a:xfrm xmlns:a="http://schemas.openxmlformats.org/drawingml/2006/main">
            <a:off x="1783080" y="5349240"/>
            <a:ext cx="96012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FFFFFF"/>
                </a:solidFill>
                <a:latin typeface="Calibri"/>
                <a:ea typeface="Calibri"/>
                <a:cs typeface="Calibri"/>
              </a:rPr>
              <a:t>Beberapa VM berbagi hardware agar kapasitas lebih mudah dimanfaatkan</a:t>
            </a:r>
            <a:endParaRPr sz="1100"/>
          </a:p>
          <a:p xmlns:a="http://schemas.openxmlformats.org/drawingml/2006/main">
            <a:pPr marL="342900" indent="-342900">
              <a:spcAft>
                <a:spcPts val="300"/>
              </a:spcAft>
              <a:buSzPct val="100000"/>
              <a:buChar char="▸"/>
            </a:pPr>
            <a:r>
              <a:rPr sz="1100">
                <a:solidFill>
                  <a:srgbClr val="FFFFFF"/>
                </a:solidFill>
                <a:latin typeface="Calibri"/>
                <a:ea typeface="Calibri"/>
                <a:cs typeface="Calibri"/>
              </a:rPr>
              <a:t>Setiap app dapat environment sendiri - tidak konflik</a:t>
            </a:r>
            <a:endParaRPr sz="1100"/>
          </a:p>
          <a:p xmlns:a="http://schemas.openxmlformats.org/drawingml/2006/main">
            <a:pPr marL="342900" indent="-342900">
              <a:spcAft>
                <a:spcPts val="300"/>
              </a:spcAft>
              <a:buSzPct val="100000"/>
              <a:buChar char="▸"/>
            </a:pPr>
            <a:r>
              <a:rPr sz="1100">
                <a:solidFill>
                  <a:srgbClr val="FFFFFF"/>
                </a:solidFill>
                <a:latin typeface="Calibri"/>
                <a:ea typeface="Calibri"/>
                <a:cs typeface="Calibri"/>
              </a:rPr>
              <a:t>Provision lebih cepat lewat template dan otomasi</a:t>
            </a:r>
            <a:endParaRPr sz="1100"/>
          </a:p>
          <a:p xmlns:a="http://schemas.openxmlformats.org/drawingml/2006/main">
            <a:pPr marL="342900" indent="-342900">
              <a:spcAft>
                <a:spcPts val="300"/>
              </a:spcAft>
              <a:buSzPct val="100000"/>
              <a:buChar char="▸"/>
            </a:pPr>
            <a:r>
              <a:rPr sz="1100">
                <a:solidFill>
                  <a:srgbClr val="FFFFFF"/>
                </a:solidFill>
                <a:latin typeface="Calibri"/>
                <a:ea typeface="Calibri"/>
                <a:cs typeface="Calibri"/>
              </a:rPr>
              <a:t>Snapshot, clone, dan migrasi gampang</a:t>
            </a:r>
            <a:endParaRPr sz="1100"/>
          </a:p>
        </p:txBody>
      </p:sp>
    </p:spTree>
    <p:extLst>
      <p:ext uri="{BB962C8B-B14F-4D97-AF65-F5344CB8AC3E}">
        <p14:creationId xmlns:p14="http://schemas.microsoft.com/office/powerpoint/2010/main" val="1657668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08E57E-FAF5-42E2-BE6D-DDD9009F18D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69433A0A-A865-4649-95D3-94484DE1E32F}"/>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E744A0D4-14C0-4ABB-962C-81A11605684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6" name="Image 0">
            <a:extLst xmlns:a="http://schemas.openxmlformats.org/drawingml/2006/main">
              <a:ext uri="{FF2B5EF4-FFF2-40B4-BE49-F238E27FC236}">
                <a16:creationId xmlns:a16="http://schemas.microsoft.com/office/drawing/2014/main" id="{67E88EAB-9665-4716-B2A7-11D000EA8B4F}"/>
              </a:ext>
            </a:extLst>
          </p:cNvPr>
          <p:cNvPicPr>
            <a:picLocks xmlns:a="http://schemas.openxmlformats.org/drawingml/2006/main" noChangeAspect="1"/>
          </p:cNvPicPr>
          <p:nvPr/>
        </p:nvPicPr>
        <p:blipFill>
          <a:blip xmlns:r="http://schemas.openxmlformats.org/officeDocument/2006/relationships" xmlns:a="http://schemas.openxmlformats.org/drawingml/2006/main" r:embed="R99a3c03fd07e4d4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77" name="Image 1">
            <a:extLst xmlns:a="http://schemas.openxmlformats.org/drawingml/2006/main">
              <a:ext uri="{FF2B5EF4-FFF2-40B4-BE49-F238E27FC236}">
                <a16:creationId xmlns:a16="http://schemas.microsoft.com/office/drawing/2014/main" id="{4B6BDF2F-4713-42D0-A62E-82CE40322EE8}"/>
              </a:ext>
            </a:extLst>
          </p:cNvPr>
          <p:cNvPicPr>
            <a:picLocks xmlns:a="http://schemas.openxmlformats.org/drawingml/2006/main" noChangeAspect="1"/>
          </p:cNvPicPr>
          <p:nvPr/>
        </p:nvPicPr>
        <p:blipFill>
          <a:blip xmlns:r="http://schemas.openxmlformats.org/officeDocument/2006/relationships" xmlns:a="http://schemas.openxmlformats.org/drawingml/2006/main" r:embed="R80275f8198814b00"/>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0552A6F4-1D47-49E3-BA24-3CD8D1F2C2D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0C1FFD0-DEE8-4163-B2F6-9BA6E22A0BE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Tingkat Abstraksi: Dari Bare Metal ke Serverless</a:t>
            </a:r>
            <a:endParaRPr sz="2200"/>
          </a:p>
        </p:txBody>
      </p:sp>
      <p:sp>
        <p:nvSpPr>
          <p:cNvPr id="9" name="Text 5">
            <a:extLst xmlns:a="http://schemas.openxmlformats.org/drawingml/2006/main">
              <a:ext uri="{FF2B5EF4-FFF2-40B4-BE49-F238E27FC236}">
                <a16:creationId xmlns:a16="http://schemas.microsoft.com/office/drawing/2014/main" id="{C85707A4-51D1-47F9-B790-4D1E17815C1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Setiap level meningkatkan kemudahan, mengurangi kontrol</a:t>
            </a:r>
            <a:endParaRPr sz="1200"/>
          </a:p>
        </p:txBody>
      </p:sp>
      <p:sp>
        <p:nvSpPr>
          <p:cNvPr id="10" name="Shape 6">
            <a:extLst xmlns:a="http://schemas.openxmlformats.org/drawingml/2006/main">
              <a:ext uri="{FF2B5EF4-FFF2-40B4-BE49-F238E27FC236}">
                <a16:creationId xmlns:a16="http://schemas.microsoft.com/office/drawing/2014/main" id="{F652EF47-E395-4634-A6FA-1F101D1652CB}"/>
              </a:ext>
            </a:extLst>
          </p:cNvPr>
          <p:cNvSpPr>
            <a:spLocks xmlns:a="http://schemas.openxmlformats.org/drawingml/2006/main" noGrp="1"/>
          </p:cNvSpPr>
          <p:nvPr/>
        </p:nvSpPr>
        <p:spPr>
          <a:xfrm xmlns:a="http://schemas.openxmlformats.org/drawingml/2006/main">
            <a:off x="457200" y="1417320"/>
            <a:ext cx="278892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E680DF29-30FC-46B3-90DC-DA0B07D217C5}"/>
              </a:ext>
            </a:extLst>
          </p:cNvPr>
          <p:cNvSpPr>
            <a:spLocks xmlns:a="http://schemas.openxmlformats.org/drawingml/2006/main" noGrp="1"/>
          </p:cNvSpPr>
          <p:nvPr/>
        </p:nvSpPr>
        <p:spPr>
          <a:xfrm xmlns:a="http://schemas.openxmlformats.org/drawingml/2006/main">
            <a:off x="457200" y="1417320"/>
            <a:ext cx="278892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982EC470-C42C-4C11-B660-B02204096AFA}"/>
              </a:ext>
            </a:extLst>
          </p:cNvPr>
          <p:cNvSpPr>
            <a:spLocks xmlns:a="http://schemas.openxmlformats.org/drawingml/2006/main" noGrp="1"/>
          </p:cNvSpPr>
          <p:nvPr/>
        </p:nvSpPr>
        <p:spPr>
          <a:xfrm xmlns:a="http://schemas.openxmlformats.org/drawingml/2006/main">
            <a:off x="457200" y="1463040"/>
            <a:ext cx="2788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spc="200">
                <a:solidFill>
                  <a:srgbClr val="FFFFFF"/>
                </a:solidFill>
                <a:latin typeface="Calibri"/>
                <a:ea typeface="Calibri"/>
                <a:cs typeface="Calibri"/>
              </a:rPr>
              <a:t>Level 1</a:t>
            </a:r>
            <a:endParaRPr sz="900"/>
          </a:p>
        </p:txBody>
      </p:sp>
      <p:sp>
        <p:nvSpPr>
          <p:cNvPr id="13" name="Text 9">
            <a:extLst xmlns:a="http://schemas.openxmlformats.org/drawingml/2006/main">
              <a:ext uri="{FF2B5EF4-FFF2-40B4-BE49-F238E27FC236}">
                <a16:creationId xmlns:a16="http://schemas.microsoft.com/office/drawing/2014/main" id="{22285F35-DE1D-4BBC-B9BD-EF785C0D42F6}"/>
              </a:ext>
            </a:extLst>
          </p:cNvPr>
          <p:cNvSpPr>
            <a:spLocks xmlns:a="http://schemas.openxmlformats.org/drawingml/2006/main" noGrp="1"/>
          </p:cNvSpPr>
          <p:nvPr/>
        </p:nvSpPr>
        <p:spPr>
          <a:xfrm xmlns:a="http://schemas.openxmlformats.org/drawingml/2006/main">
            <a:off x="457200" y="169164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Bare Metal</a:t>
            </a:r>
            <a:endParaRPr sz="1400"/>
          </a:p>
        </p:txBody>
      </p:sp>
      <p:sp>
        <p:nvSpPr>
          <p:cNvPr id="14" name="Shape 10">
            <a:extLst xmlns:a="http://schemas.openxmlformats.org/drawingml/2006/main">
              <a:ext uri="{FF2B5EF4-FFF2-40B4-BE49-F238E27FC236}">
                <a16:creationId xmlns:a16="http://schemas.microsoft.com/office/drawing/2014/main" id="{A988D4CC-8223-4FC7-89BB-BD1E2D52CA36}"/>
              </a:ext>
            </a:extLst>
          </p:cNvPr>
          <p:cNvSpPr>
            <a:spLocks xmlns:a="http://schemas.openxmlformats.org/drawingml/2006/main" noGrp="1"/>
          </p:cNvSpPr>
          <p:nvPr/>
        </p:nvSpPr>
        <p:spPr>
          <a:xfrm xmlns:a="http://schemas.openxmlformats.org/drawingml/2006/main">
            <a:off x="731520" y="21945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5" name="Text 11">
            <a:extLst xmlns:a="http://schemas.openxmlformats.org/drawingml/2006/main">
              <a:ext uri="{FF2B5EF4-FFF2-40B4-BE49-F238E27FC236}">
                <a16:creationId xmlns:a16="http://schemas.microsoft.com/office/drawing/2014/main" id="{43612796-A835-4F43-8484-ABF6A51AA35B}"/>
              </a:ext>
            </a:extLst>
          </p:cNvPr>
          <p:cNvSpPr>
            <a:spLocks xmlns:a="http://schemas.openxmlformats.org/drawingml/2006/main" noGrp="1"/>
          </p:cNvSpPr>
          <p:nvPr/>
        </p:nvSpPr>
        <p:spPr>
          <a:xfrm xmlns:a="http://schemas.openxmlformats.org/drawingml/2006/main">
            <a:off x="731520" y="21945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Hardware</a:t>
            </a:r>
            <a:endParaRPr sz="1000"/>
          </a:p>
        </p:txBody>
      </p:sp>
      <p:sp>
        <p:nvSpPr>
          <p:cNvPr id="16" name="Shape 12">
            <a:extLst xmlns:a="http://schemas.openxmlformats.org/drawingml/2006/main">
              <a:ext uri="{FF2B5EF4-FFF2-40B4-BE49-F238E27FC236}">
                <a16:creationId xmlns:a16="http://schemas.microsoft.com/office/drawing/2014/main" id="{F82A2445-5E9A-4842-ABE3-D52FC708B9BC}"/>
              </a:ext>
            </a:extLst>
          </p:cNvPr>
          <p:cNvSpPr>
            <a:spLocks xmlns:a="http://schemas.openxmlformats.org/drawingml/2006/main" noGrp="1"/>
          </p:cNvSpPr>
          <p:nvPr/>
        </p:nvSpPr>
        <p:spPr>
          <a:xfrm xmlns:a="http://schemas.openxmlformats.org/drawingml/2006/main">
            <a:off x="731520" y="26517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7" name="Text 13">
            <a:extLst xmlns:a="http://schemas.openxmlformats.org/drawingml/2006/main">
              <a:ext uri="{FF2B5EF4-FFF2-40B4-BE49-F238E27FC236}">
                <a16:creationId xmlns:a16="http://schemas.microsoft.com/office/drawing/2014/main" id="{56BCECB0-00E6-40B9-BAD6-90FD249B4BB5}"/>
              </a:ext>
            </a:extLst>
          </p:cNvPr>
          <p:cNvSpPr>
            <a:spLocks xmlns:a="http://schemas.openxmlformats.org/drawingml/2006/main" noGrp="1"/>
          </p:cNvSpPr>
          <p:nvPr/>
        </p:nvSpPr>
        <p:spPr>
          <a:xfrm xmlns:a="http://schemas.openxmlformats.org/drawingml/2006/main">
            <a:off x="731520" y="26517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OS</a:t>
            </a:r>
            <a:endParaRPr sz="1000"/>
          </a:p>
        </p:txBody>
      </p:sp>
      <p:sp>
        <p:nvSpPr>
          <p:cNvPr id="18" name="Shape 14">
            <a:extLst xmlns:a="http://schemas.openxmlformats.org/drawingml/2006/main">
              <a:ext uri="{FF2B5EF4-FFF2-40B4-BE49-F238E27FC236}">
                <a16:creationId xmlns:a16="http://schemas.microsoft.com/office/drawing/2014/main" id="{A5EDAEDF-428E-46EF-B021-40FF49AFC553}"/>
              </a:ext>
            </a:extLst>
          </p:cNvPr>
          <p:cNvSpPr>
            <a:spLocks xmlns:a="http://schemas.openxmlformats.org/drawingml/2006/main" noGrp="1"/>
          </p:cNvSpPr>
          <p:nvPr/>
        </p:nvSpPr>
        <p:spPr>
          <a:xfrm xmlns:a="http://schemas.openxmlformats.org/drawingml/2006/main">
            <a:off x="731520" y="31089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9" name="Text 15">
            <a:extLst xmlns:a="http://schemas.openxmlformats.org/drawingml/2006/main">
              <a:ext uri="{FF2B5EF4-FFF2-40B4-BE49-F238E27FC236}">
                <a16:creationId xmlns:a16="http://schemas.microsoft.com/office/drawing/2014/main" id="{68C57301-43A7-43DA-BCA2-018663B01BAB}"/>
              </a:ext>
            </a:extLst>
          </p:cNvPr>
          <p:cNvSpPr>
            <a:spLocks xmlns:a="http://schemas.openxmlformats.org/drawingml/2006/main" noGrp="1"/>
          </p:cNvSpPr>
          <p:nvPr/>
        </p:nvSpPr>
        <p:spPr>
          <a:xfrm xmlns:a="http://schemas.openxmlformats.org/drawingml/2006/main">
            <a:off x="731520" y="31089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Runtime</a:t>
            </a:r>
            <a:endParaRPr sz="1000"/>
          </a:p>
        </p:txBody>
      </p:sp>
      <p:sp>
        <p:nvSpPr>
          <p:cNvPr id="20" name="Shape 16">
            <a:extLst xmlns:a="http://schemas.openxmlformats.org/drawingml/2006/main">
              <a:ext uri="{FF2B5EF4-FFF2-40B4-BE49-F238E27FC236}">
                <a16:creationId xmlns:a16="http://schemas.microsoft.com/office/drawing/2014/main" id="{0BC4DB50-1D00-4396-83F5-754550A77580}"/>
              </a:ext>
            </a:extLst>
          </p:cNvPr>
          <p:cNvSpPr>
            <a:spLocks xmlns:a="http://schemas.openxmlformats.org/drawingml/2006/main" noGrp="1"/>
          </p:cNvSpPr>
          <p:nvPr/>
        </p:nvSpPr>
        <p:spPr>
          <a:xfrm xmlns:a="http://schemas.openxmlformats.org/drawingml/2006/main">
            <a:off x="731520" y="3566160"/>
            <a:ext cx="224028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E2E8F0"/>
            </a:solidFill>
            <a:prstDash val="solid"/>
          </a:ln>
        </p:spPr>
      </p:sp>
      <p:sp>
        <p:nvSpPr>
          <p:cNvPr id="21" name="Text 17">
            <a:extLst xmlns:a="http://schemas.openxmlformats.org/drawingml/2006/main">
              <a:ext uri="{FF2B5EF4-FFF2-40B4-BE49-F238E27FC236}">
                <a16:creationId xmlns:a16="http://schemas.microsoft.com/office/drawing/2014/main" id="{D77755E1-B2AC-4B7F-9F15-1A4B89AFCD3D}"/>
              </a:ext>
            </a:extLst>
          </p:cNvPr>
          <p:cNvSpPr>
            <a:spLocks xmlns:a="http://schemas.openxmlformats.org/drawingml/2006/main" noGrp="1"/>
          </p:cNvSpPr>
          <p:nvPr/>
        </p:nvSpPr>
        <p:spPr>
          <a:xfrm xmlns:a="http://schemas.openxmlformats.org/drawingml/2006/main">
            <a:off x="731520" y="3566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App</a:t>
            </a:r>
            <a:endParaRPr sz="1000"/>
          </a:p>
        </p:txBody>
      </p:sp>
      <p:sp>
        <p:nvSpPr>
          <p:cNvPr id="22" name="Shape 18">
            <a:extLst xmlns:a="http://schemas.openxmlformats.org/drawingml/2006/main">
              <a:ext uri="{FF2B5EF4-FFF2-40B4-BE49-F238E27FC236}">
                <a16:creationId xmlns:a16="http://schemas.microsoft.com/office/drawing/2014/main" id="{025E6647-412F-43E6-A967-F2EDE7145B65}"/>
              </a:ext>
            </a:extLst>
          </p:cNvPr>
          <p:cNvSpPr>
            <a:spLocks xmlns:a="http://schemas.openxmlformats.org/drawingml/2006/main" noGrp="1"/>
          </p:cNvSpPr>
          <p:nvPr/>
        </p:nvSpPr>
        <p:spPr>
          <a:xfrm xmlns:a="http://schemas.openxmlformats.org/drawingml/2006/main">
            <a:off x="640080" y="45262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23" name="Text 19">
            <a:extLst xmlns:a="http://schemas.openxmlformats.org/drawingml/2006/main">
              <a:ext uri="{FF2B5EF4-FFF2-40B4-BE49-F238E27FC236}">
                <a16:creationId xmlns:a16="http://schemas.microsoft.com/office/drawing/2014/main" id="{17911149-AB21-4160-89B0-0C40A0B80D82}"/>
              </a:ext>
            </a:extLst>
          </p:cNvPr>
          <p:cNvSpPr>
            <a:spLocks xmlns:a="http://schemas.openxmlformats.org/drawingml/2006/main" noGrp="1"/>
          </p:cNvSpPr>
          <p:nvPr/>
        </p:nvSpPr>
        <p:spPr>
          <a:xfrm xmlns:a="http://schemas.openxmlformats.org/drawingml/2006/main">
            <a:off x="640080" y="4617720"/>
            <a:ext cx="242316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Server fisik. Anda kelola semua: hardware, OS, runtime, app.</a:t>
            </a:r>
            <a:endParaRPr sz="1000"/>
          </a:p>
        </p:txBody>
      </p:sp>
      <p:sp>
        <p:nvSpPr>
          <p:cNvPr id="24" name="Text 20">
            <a:extLst xmlns:a="http://schemas.openxmlformats.org/drawingml/2006/main">
              <a:ext uri="{FF2B5EF4-FFF2-40B4-BE49-F238E27FC236}">
                <a16:creationId xmlns:a16="http://schemas.microsoft.com/office/drawing/2014/main" id="{CBD599B8-B384-4EEE-969E-E6CBD2A28745}"/>
              </a:ext>
            </a:extLst>
          </p:cNvPr>
          <p:cNvSpPr>
            <a:spLocks xmlns:a="http://schemas.openxmlformats.org/drawingml/2006/main" noGrp="1"/>
          </p:cNvSpPr>
          <p:nvPr/>
        </p:nvSpPr>
        <p:spPr>
          <a:xfrm xmlns:a="http://schemas.openxmlformats.org/drawingml/2006/main">
            <a:off x="640080" y="5715000"/>
            <a:ext cx="24231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Contoh:</a:t>
            </a:r>
            <a:endParaRPr sz="900"/>
          </a:p>
        </p:txBody>
      </p:sp>
      <p:sp>
        <p:nvSpPr>
          <p:cNvPr id="25" name="Text 21">
            <a:extLst xmlns:a="http://schemas.openxmlformats.org/drawingml/2006/main">
              <a:ext uri="{FF2B5EF4-FFF2-40B4-BE49-F238E27FC236}">
                <a16:creationId xmlns:a16="http://schemas.microsoft.com/office/drawing/2014/main" id="{96FD7526-A1A8-4E54-B190-DB5CBB3E9BC7}"/>
              </a:ext>
            </a:extLst>
          </p:cNvPr>
          <p:cNvSpPr>
            <a:spLocks xmlns:a="http://schemas.openxmlformats.org/drawingml/2006/main" noGrp="1"/>
          </p:cNvSpPr>
          <p:nvPr/>
        </p:nvSpPr>
        <p:spPr>
          <a:xfrm xmlns:a="http://schemas.openxmlformats.org/drawingml/2006/main">
            <a:off x="640080" y="5943600"/>
            <a:ext cx="2423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002677"/>
                </a:solidFill>
                <a:latin typeface="Calibri"/>
                <a:ea typeface="Calibri"/>
                <a:cs typeface="Calibri"/>
              </a:rPr>
              <a:t>Server rack di data center</a:t>
            </a:r>
            <a:endParaRPr sz="1000"/>
          </a:p>
        </p:txBody>
      </p:sp>
      <p:sp>
        <p:nvSpPr>
          <p:cNvPr id="26" name="Shape 22">
            <a:extLst xmlns:a="http://schemas.openxmlformats.org/drawingml/2006/main">
              <a:ext uri="{FF2B5EF4-FFF2-40B4-BE49-F238E27FC236}">
                <a16:creationId xmlns:a16="http://schemas.microsoft.com/office/drawing/2014/main" id="{9CC9D1A2-BAC5-4B1E-9878-7F4DF5C23EDA}"/>
              </a:ext>
            </a:extLst>
          </p:cNvPr>
          <p:cNvSpPr>
            <a:spLocks xmlns:a="http://schemas.openxmlformats.org/drawingml/2006/main" noGrp="1"/>
          </p:cNvSpPr>
          <p:nvPr/>
        </p:nvSpPr>
        <p:spPr>
          <a:xfrm xmlns:a="http://schemas.openxmlformats.org/drawingml/2006/main">
            <a:off x="3364992" y="1417320"/>
            <a:ext cx="278892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80E2CC4B-3899-4368-9F40-EF933676913E}"/>
              </a:ext>
            </a:extLst>
          </p:cNvPr>
          <p:cNvSpPr>
            <a:spLocks xmlns:a="http://schemas.openxmlformats.org/drawingml/2006/main" noGrp="1"/>
          </p:cNvSpPr>
          <p:nvPr/>
        </p:nvSpPr>
        <p:spPr>
          <a:xfrm xmlns:a="http://schemas.openxmlformats.org/drawingml/2006/main">
            <a:off x="3364992" y="1417320"/>
            <a:ext cx="2788920" cy="64008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8" name="Text 24">
            <a:extLst xmlns:a="http://schemas.openxmlformats.org/drawingml/2006/main">
              <a:ext uri="{FF2B5EF4-FFF2-40B4-BE49-F238E27FC236}">
                <a16:creationId xmlns:a16="http://schemas.microsoft.com/office/drawing/2014/main" id="{2ED7DBC0-7C7B-4A30-A6CD-7256908E5AEC}"/>
              </a:ext>
            </a:extLst>
          </p:cNvPr>
          <p:cNvSpPr>
            <a:spLocks xmlns:a="http://schemas.openxmlformats.org/drawingml/2006/main" noGrp="1"/>
          </p:cNvSpPr>
          <p:nvPr/>
        </p:nvSpPr>
        <p:spPr>
          <a:xfrm xmlns:a="http://schemas.openxmlformats.org/drawingml/2006/main">
            <a:off x="3364992" y="1463040"/>
            <a:ext cx="2788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spc="200">
                <a:solidFill>
                  <a:srgbClr val="FFFFFF"/>
                </a:solidFill>
                <a:latin typeface="Calibri"/>
                <a:ea typeface="Calibri"/>
                <a:cs typeface="Calibri"/>
              </a:rPr>
              <a:t>Level 2</a:t>
            </a:r>
            <a:endParaRPr sz="900"/>
          </a:p>
        </p:txBody>
      </p:sp>
      <p:sp>
        <p:nvSpPr>
          <p:cNvPr id="29" name="Text 25">
            <a:extLst xmlns:a="http://schemas.openxmlformats.org/drawingml/2006/main">
              <a:ext uri="{FF2B5EF4-FFF2-40B4-BE49-F238E27FC236}">
                <a16:creationId xmlns:a16="http://schemas.microsoft.com/office/drawing/2014/main" id="{21CFE574-3679-4CB2-8639-2B651064757D}"/>
              </a:ext>
            </a:extLst>
          </p:cNvPr>
          <p:cNvSpPr>
            <a:spLocks xmlns:a="http://schemas.openxmlformats.org/drawingml/2006/main" noGrp="1"/>
          </p:cNvSpPr>
          <p:nvPr/>
        </p:nvSpPr>
        <p:spPr>
          <a:xfrm xmlns:a="http://schemas.openxmlformats.org/drawingml/2006/main">
            <a:off x="3364992" y="169164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Virtual Machine</a:t>
            </a:r>
            <a:endParaRPr sz="1400"/>
          </a:p>
        </p:txBody>
      </p:sp>
      <p:sp>
        <p:nvSpPr>
          <p:cNvPr id="30" name="Shape 26">
            <a:extLst xmlns:a="http://schemas.openxmlformats.org/drawingml/2006/main">
              <a:ext uri="{FF2B5EF4-FFF2-40B4-BE49-F238E27FC236}">
                <a16:creationId xmlns:a16="http://schemas.microsoft.com/office/drawing/2014/main" id="{4E005468-BFBF-44F0-B393-714045B1669B}"/>
              </a:ext>
            </a:extLst>
          </p:cNvPr>
          <p:cNvSpPr>
            <a:spLocks xmlns:a="http://schemas.openxmlformats.org/drawingml/2006/main" noGrp="1"/>
          </p:cNvSpPr>
          <p:nvPr/>
        </p:nvSpPr>
        <p:spPr>
          <a:xfrm xmlns:a="http://schemas.openxmlformats.org/drawingml/2006/main">
            <a:off x="3639312" y="21945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1" name="Text 27">
            <a:extLst xmlns:a="http://schemas.openxmlformats.org/drawingml/2006/main">
              <a:ext uri="{FF2B5EF4-FFF2-40B4-BE49-F238E27FC236}">
                <a16:creationId xmlns:a16="http://schemas.microsoft.com/office/drawing/2014/main" id="{F1827BE0-2B87-434C-814F-BD4AD4C5E25B}"/>
              </a:ext>
            </a:extLst>
          </p:cNvPr>
          <p:cNvSpPr>
            <a:spLocks xmlns:a="http://schemas.openxmlformats.org/drawingml/2006/main" noGrp="1"/>
          </p:cNvSpPr>
          <p:nvPr/>
        </p:nvSpPr>
        <p:spPr>
          <a:xfrm xmlns:a="http://schemas.openxmlformats.org/drawingml/2006/main">
            <a:off x="3639312" y="21945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Hardware</a:t>
            </a:r>
            <a:endParaRPr sz="1000"/>
          </a:p>
        </p:txBody>
      </p:sp>
      <p:sp>
        <p:nvSpPr>
          <p:cNvPr id="32" name="Shape 28">
            <a:extLst xmlns:a="http://schemas.openxmlformats.org/drawingml/2006/main">
              <a:ext uri="{FF2B5EF4-FFF2-40B4-BE49-F238E27FC236}">
                <a16:creationId xmlns:a16="http://schemas.microsoft.com/office/drawing/2014/main" id="{13161098-78AE-4DCA-8C07-6810EEA839E3}"/>
              </a:ext>
            </a:extLst>
          </p:cNvPr>
          <p:cNvSpPr>
            <a:spLocks xmlns:a="http://schemas.openxmlformats.org/drawingml/2006/main" noGrp="1"/>
          </p:cNvSpPr>
          <p:nvPr/>
        </p:nvSpPr>
        <p:spPr>
          <a:xfrm xmlns:a="http://schemas.openxmlformats.org/drawingml/2006/main">
            <a:off x="3639312" y="26517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3" name="Text 29">
            <a:extLst xmlns:a="http://schemas.openxmlformats.org/drawingml/2006/main">
              <a:ext uri="{FF2B5EF4-FFF2-40B4-BE49-F238E27FC236}">
                <a16:creationId xmlns:a16="http://schemas.microsoft.com/office/drawing/2014/main" id="{32397494-1207-4A10-9B65-F1FE5CF69036}"/>
              </a:ext>
            </a:extLst>
          </p:cNvPr>
          <p:cNvSpPr>
            <a:spLocks xmlns:a="http://schemas.openxmlformats.org/drawingml/2006/main" noGrp="1"/>
          </p:cNvSpPr>
          <p:nvPr/>
        </p:nvSpPr>
        <p:spPr>
          <a:xfrm xmlns:a="http://schemas.openxmlformats.org/drawingml/2006/main">
            <a:off x="3639312" y="26517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Hypervisor</a:t>
            </a:r>
            <a:endParaRPr sz="1000"/>
          </a:p>
        </p:txBody>
      </p:sp>
      <p:sp>
        <p:nvSpPr>
          <p:cNvPr id="34" name="Shape 30">
            <a:extLst xmlns:a="http://schemas.openxmlformats.org/drawingml/2006/main">
              <a:ext uri="{FF2B5EF4-FFF2-40B4-BE49-F238E27FC236}">
                <a16:creationId xmlns:a16="http://schemas.microsoft.com/office/drawing/2014/main" id="{CD182BB0-2793-4DAC-9520-D0B949F69F46}"/>
              </a:ext>
            </a:extLst>
          </p:cNvPr>
          <p:cNvSpPr>
            <a:spLocks xmlns:a="http://schemas.openxmlformats.org/drawingml/2006/main" noGrp="1"/>
          </p:cNvSpPr>
          <p:nvPr/>
        </p:nvSpPr>
        <p:spPr>
          <a:xfrm xmlns:a="http://schemas.openxmlformats.org/drawingml/2006/main">
            <a:off x="3639312" y="31089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5" name="Text 31">
            <a:extLst xmlns:a="http://schemas.openxmlformats.org/drawingml/2006/main">
              <a:ext uri="{FF2B5EF4-FFF2-40B4-BE49-F238E27FC236}">
                <a16:creationId xmlns:a16="http://schemas.microsoft.com/office/drawing/2014/main" id="{593B924B-DD8A-4D32-B99C-B1253FADBC40}"/>
              </a:ext>
            </a:extLst>
          </p:cNvPr>
          <p:cNvSpPr>
            <a:spLocks xmlns:a="http://schemas.openxmlformats.org/drawingml/2006/main" noGrp="1"/>
          </p:cNvSpPr>
          <p:nvPr/>
        </p:nvSpPr>
        <p:spPr>
          <a:xfrm xmlns:a="http://schemas.openxmlformats.org/drawingml/2006/main">
            <a:off x="3639312" y="31089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Guest OS</a:t>
            </a:r>
            <a:endParaRPr sz="1000"/>
          </a:p>
        </p:txBody>
      </p:sp>
      <p:sp>
        <p:nvSpPr>
          <p:cNvPr id="36" name="Shape 32">
            <a:extLst xmlns:a="http://schemas.openxmlformats.org/drawingml/2006/main">
              <a:ext uri="{FF2B5EF4-FFF2-40B4-BE49-F238E27FC236}">
                <a16:creationId xmlns:a16="http://schemas.microsoft.com/office/drawing/2014/main" id="{CAFAF51E-3A26-48EE-B685-94A3991F7315}"/>
              </a:ext>
            </a:extLst>
          </p:cNvPr>
          <p:cNvSpPr>
            <a:spLocks xmlns:a="http://schemas.openxmlformats.org/drawingml/2006/main" noGrp="1"/>
          </p:cNvSpPr>
          <p:nvPr/>
        </p:nvSpPr>
        <p:spPr>
          <a:xfrm xmlns:a="http://schemas.openxmlformats.org/drawingml/2006/main">
            <a:off x="3639312" y="3566160"/>
            <a:ext cx="224028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E2E8F0"/>
            </a:solidFill>
            <a:prstDash val="solid"/>
          </a:ln>
        </p:spPr>
      </p:sp>
      <p:sp>
        <p:nvSpPr>
          <p:cNvPr id="37" name="Text 33">
            <a:extLst xmlns:a="http://schemas.openxmlformats.org/drawingml/2006/main">
              <a:ext uri="{FF2B5EF4-FFF2-40B4-BE49-F238E27FC236}">
                <a16:creationId xmlns:a16="http://schemas.microsoft.com/office/drawing/2014/main" id="{C7E5F980-720D-49CE-AE86-108254352AA0}"/>
              </a:ext>
            </a:extLst>
          </p:cNvPr>
          <p:cNvSpPr>
            <a:spLocks xmlns:a="http://schemas.openxmlformats.org/drawingml/2006/main" noGrp="1"/>
          </p:cNvSpPr>
          <p:nvPr/>
        </p:nvSpPr>
        <p:spPr>
          <a:xfrm xmlns:a="http://schemas.openxmlformats.org/drawingml/2006/main">
            <a:off x="3639312" y="3566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App</a:t>
            </a:r>
            <a:endParaRPr sz="1000"/>
          </a:p>
        </p:txBody>
      </p:sp>
      <p:sp>
        <p:nvSpPr>
          <p:cNvPr id="38" name="Shape 34">
            <a:extLst xmlns:a="http://schemas.openxmlformats.org/drawingml/2006/main">
              <a:ext uri="{FF2B5EF4-FFF2-40B4-BE49-F238E27FC236}">
                <a16:creationId xmlns:a16="http://schemas.microsoft.com/office/drawing/2014/main" id="{9CB4455C-56F4-4C63-892C-BE6CDBA6952B}"/>
              </a:ext>
            </a:extLst>
          </p:cNvPr>
          <p:cNvSpPr>
            <a:spLocks xmlns:a="http://schemas.openxmlformats.org/drawingml/2006/main" noGrp="1"/>
          </p:cNvSpPr>
          <p:nvPr/>
        </p:nvSpPr>
        <p:spPr>
          <a:xfrm xmlns:a="http://schemas.openxmlformats.org/drawingml/2006/main">
            <a:off x="3547872" y="45262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9" name="Text 35">
            <a:extLst xmlns:a="http://schemas.openxmlformats.org/drawingml/2006/main">
              <a:ext uri="{FF2B5EF4-FFF2-40B4-BE49-F238E27FC236}">
                <a16:creationId xmlns:a16="http://schemas.microsoft.com/office/drawing/2014/main" id="{5FFAA964-8600-4BA8-B01C-9892D3F211D4}"/>
              </a:ext>
            </a:extLst>
          </p:cNvPr>
          <p:cNvSpPr>
            <a:spLocks xmlns:a="http://schemas.openxmlformats.org/drawingml/2006/main" noGrp="1"/>
          </p:cNvSpPr>
          <p:nvPr/>
        </p:nvSpPr>
        <p:spPr>
          <a:xfrm xmlns:a="http://schemas.openxmlformats.org/drawingml/2006/main">
            <a:off x="3547872" y="4617720"/>
            <a:ext cx="242316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Hypervisor bagi hardware jadi banyak VM. Tiap VM punya OS sendiri.</a:t>
            </a:r>
            <a:endParaRPr sz="1000"/>
          </a:p>
        </p:txBody>
      </p:sp>
      <p:sp>
        <p:nvSpPr>
          <p:cNvPr id="40" name="Text 36">
            <a:extLst xmlns:a="http://schemas.openxmlformats.org/drawingml/2006/main">
              <a:ext uri="{FF2B5EF4-FFF2-40B4-BE49-F238E27FC236}">
                <a16:creationId xmlns:a16="http://schemas.microsoft.com/office/drawing/2014/main" id="{35D0D3AA-93D1-47F9-8BE5-8C5D948E53D3}"/>
              </a:ext>
            </a:extLst>
          </p:cNvPr>
          <p:cNvSpPr>
            <a:spLocks xmlns:a="http://schemas.openxmlformats.org/drawingml/2006/main" noGrp="1"/>
          </p:cNvSpPr>
          <p:nvPr/>
        </p:nvSpPr>
        <p:spPr>
          <a:xfrm xmlns:a="http://schemas.openxmlformats.org/drawingml/2006/main">
            <a:off x="3547872" y="5715000"/>
            <a:ext cx="24231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Contoh:</a:t>
            </a:r>
            <a:endParaRPr sz="900"/>
          </a:p>
        </p:txBody>
      </p:sp>
      <p:sp>
        <p:nvSpPr>
          <p:cNvPr id="41" name="Text 37">
            <a:extLst xmlns:a="http://schemas.openxmlformats.org/drawingml/2006/main">
              <a:ext uri="{FF2B5EF4-FFF2-40B4-BE49-F238E27FC236}">
                <a16:creationId xmlns:a16="http://schemas.microsoft.com/office/drawing/2014/main" id="{5E5FFCA0-2B4F-4CED-B9EB-505F97395D53}"/>
              </a:ext>
            </a:extLst>
          </p:cNvPr>
          <p:cNvSpPr>
            <a:spLocks xmlns:a="http://schemas.openxmlformats.org/drawingml/2006/main" noGrp="1"/>
          </p:cNvSpPr>
          <p:nvPr/>
        </p:nvSpPr>
        <p:spPr>
          <a:xfrm xmlns:a="http://schemas.openxmlformats.org/drawingml/2006/main">
            <a:off x="3547872" y="5943600"/>
            <a:ext cx="2423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002677"/>
                </a:solidFill>
                <a:latin typeface="Calibri"/>
                <a:ea typeface="Calibri"/>
                <a:cs typeface="Calibri"/>
              </a:rPr>
              <a:t>EC2, GCP VM, VMware</a:t>
            </a:r>
            <a:endParaRPr sz="1000"/>
          </a:p>
        </p:txBody>
      </p:sp>
      <p:sp>
        <p:nvSpPr>
          <p:cNvPr id="42" name="Shape 38">
            <a:extLst xmlns:a="http://schemas.openxmlformats.org/drawingml/2006/main">
              <a:ext uri="{FF2B5EF4-FFF2-40B4-BE49-F238E27FC236}">
                <a16:creationId xmlns:a16="http://schemas.microsoft.com/office/drawing/2014/main" id="{2F3D56F5-7FCC-4848-80CB-C0D9CC7F4314}"/>
              </a:ext>
            </a:extLst>
          </p:cNvPr>
          <p:cNvSpPr>
            <a:spLocks xmlns:a="http://schemas.openxmlformats.org/drawingml/2006/main" noGrp="1"/>
          </p:cNvSpPr>
          <p:nvPr/>
        </p:nvSpPr>
        <p:spPr>
          <a:xfrm xmlns:a="http://schemas.openxmlformats.org/drawingml/2006/main">
            <a:off x="6272784" y="1417320"/>
            <a:ext cx="278892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3" name="Shape 39">
            <a:extLst xmlns:a="http://schemas.openxmlformats.org/drawingml/2006/main">
              <a:ext uri="{FF2B5EF4-FFF2-40B4-BE49-F238E27FC236}">
                <a16:creationId xmlns:a16="http://schemas.microsoft.com/office/drawing/2014/main" id="{1478CC6E-D1B1-4CF9-BCA3-50549620C911}"/>
              </a:ext>
            </a:extLst>
          </p:cNvPr>
          <p:cNvSpPr>
            <a:spLocks xmlns:a="http://schemas.openxmlformats.org/drawingml/2006/main" noGrp="1"/>
          </p:cNvSpPr>
          <p:nvPr/>
        </p:nvSpPr>
        <p:spPr>
          <a:xfrm xmlns:a="http://schemas.openxmlformats.org/drawingml/2006/main">
            <a:off x="6272784" y="1417320"/>
            <a:ext cx="278892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4" name="Text 40">
            <a:extLst xmlns:a="http://schemas.openxmlformats.org/drawingml/2006/main">
              <a:ext uri="{FF2B5EF4-FFF2-40B4-BE49-F238E27FC236}">
                <a16:creationId xmlns:a16="http://schemas.microsoft.com/office/drawing/2014/main" id="{FE62C9A1-EB09-4F6C-A12E-B1E318CD3DD5}"/>
              </a:ext>
            </a:extLst>
          </p:cNvPr>
          <p:cNvSpPr>
            <a:spLocks xmlns:a="http://schemas.openxmlformats.org/drawingml/2006/main" noGrp="1"/>
          </p:cNvSpPr>
          <p:nvPr/>
        </p:nvSpPr>
        <p:spPr>
          <a:xfrm xmlns:a="http://schemas.openxmlformats.org/drawingml/2006/main">
            <a:off x="6272784" y="1463040"/>
            <a:ext cx="2788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spc="200">
                <a:solidFill>
                  <a:srgbClr val="FFFFFF"/>
                </a:solidFill>
                <a:latin typeface="Calibri"/>
                <a:ea typeface="Calibri"/>
                <a:cs typeface="Calibri"/>
              </a:rPr>
              <a:t>Level 3</a:t>
            </a:r>
            <a:endParaRPr sz="900"/>
          </a:p>
        </p:txBody>
      </p:sp>
      <p:sp>
        <p:nvSpPr>
          <p:cNvPr id="45" name="Text 41">
            <a:extLst xmlns:a="http://schemas.openxmlformats.org/drawingml/2006/main">
              <a:ext uri="{FF2B5EF4-FFF2-40B4-BE49-F238E27FC236}">
                <a16:creationId xmlns:a16="http://schemas.microsoft.com/office/drawing/2014/main" id="{4832E629-0EE7-4906-B2AE-183FCE5B0A0D}"/>
              </a:ext>
            </a:extLst>
          </p:cNvPr>
          <p:cNvSpPr>
            <a:spLocks xmlns:a="http://schemas.openxmlformats.org/drawingml/2006/main" noGrp="1"/>
          </p:cNvSpPr>
          <p:nvPr/>
        </p:nvSpPr>
        <p:spPr>
          <a:xfrm xmlns:a="http://schemas.openxmlformats.org/drawingml/2006/main">
            <a:off x="6272784" y="169164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Container</a:t>
            </a:r>
            <a:endParaRPr sz="1400"/>
          </a:p>
        </p:txBody>
      </p:sp>
      <p:sp>
        <p:nvSpPr>
          <p:cNvPr id="46" name="Shape 42">
            <a:extLst xmlns:a="http://schemas.openxmlformats.org/drawingml/2006/main">
              <a:ext uri="{FF2B5EF4-FFF2-40B4-BE49-F238E27FC236}">
                <a16:creationId xmlns:a16="http://schemas.microsoft.com/office/drawing/2014/main" id="{3220D039-8F93-4AB4-BEE6-17FABE33512A}"/>
              </a:ext>
            </a:extLst>
          </p:cNvPr>
          <p:cNvSpPr>
            <a:spLocks xmlns:a="http://schemas.openxmlformats.org/drawingml/2006/main" noGrp="1"/>
          </p:cNvSpPr>
          <p:nvPr/>
        </p:nvSpPr>
        <p:spPr>
          <a:xfrm xmlns:a="http://schemas.openxmlformats.org/drawingml/2006/main">
            <a:off x="6547104" y="21945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7" name="Text 43">
            <a:extLst xmlns:a="http://schemas.openxmlformats.org/drawingml/2006/main">
              <a:ext uri="{FF2B5EF4-FFF2-40B4-BE49-F238E27FC236}">
                <a16:creationId xmlns:a16="http://schemas.microsoft.com/office/drawing/2014/main" id="{0ABA0D9C-9D9C-4E04-8C94-2DFFE80F362F}"/>
              </a:ext>
            </a:extLst>
          </p:cNvPr>
          <p:cNvSpPr>
            <a:spLocks xmlns:a="http://schemas.openxmlformats.org/drawingml/2006/main" noGrp="1"/>
          </p:cNvSpPr>
          <p:nvPr/>
        </p:nvSpPr>
        <p:spPr>
          <a:xfrm xmlns:a="http://schemas.openxmlformats.org/drawingml/2006/main">
            <a:off x="6547104" y="21945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Hardware</a:t>
            </a:r>
            <a:endParaRPr sz="1000"/>
          </a:p>
        </p:txBody>
      </p:sp>
      <p:sp>
        <p:nvSpPr>
          <p:cNvPr id="48" name="Shape 44">
            <a:extLst xmlns:a="http://schemas.openxmlformats.org/drawingml/2006/main">
              <a:ext uri="{FF2B5EF4-FFF2-40B4-BE49-F238E27FC236}">
                <a16:creationId xmlns:a16="http://schemas.microsoft.com/office/drawing/2014/main" id="{C0F10C9B-F492-4D0E-A312-13A2957B2066}"/>
              </a:ext>
            </a:extLst>
          </p:cNvPr>
          <p:cNvSpPr>
            <a:spLocks xmlns:a="http://schemas.openxmlformats.org/drawingml/2006/main" noGrp="1"/>
          </p:cNvSpPr>
          <p:nvPr/>
        </p:nvSpPr>
        <p:spPr>
          <a:xfrm xmlns:a="http://schemas.openxmlformats.org/drawingml/2006/main">
            <a:off x="6547104" y="26517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9" name="Text 45">
            <a:extLst xmlns:a="http://schemas.openxmlformats.org/drawingml/2006/main">
              <a:ext uri="{FF2B5EF4-FFF2-40B4-BE49-F238E27FC236}">
                <a16:creationId xmlns:a16="http://schemas.microsoft.com/office/drawing/2014/main" id="{3E949709-C931-4DB2-B3CC-046DCDDF59ED}"/>
              </a:ext>
            </a:extLst>
          </p:cNvPr>
          <p:cNvSpPr>
            <a:spLocks xmlns:a="http://schemas.openxmlformats.org/drawingml/2006/main" noGrp="1"/>
          </p:cNvSpPr>
          <p:nvPr/>
        </p:nvSpPr>
        <p:spPr>
          <a:xfrm xmlns:a="http://schemas.openxmlformats.org/drawingml/2006/main">
            <a:off x="6547104" y="26517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Host OS</a:t>
            </a:r>
            <a:endParaRPr sz="1000"/>
          </a:p>
        </p:txBody>
      </p:sp>
      <p:sp>
        <p:nvSpPr>
          <p:cNvPr id="50" name="Shape 46">
            <a:extLst xmlns:a="http://schemas.openxmlformats.org/drawingml/2006/main">
              <a:ext uri="{FF2B5EF4-FFF2-40B4-BE49-F238E27FC236}">
                <a16:creationId xmlns:a16="http://schemas.microsoft.com/office/drawing/2014/main" id="{2C8FCC1E-108C-4F80-8FD8-AB69107772C0}"/>
              </a:ext>
            </a:extLst>
          </p:cNvPr>
          <p:cNvSpPr>
            <a:spLocks xmlns:a="http://schemas.openxmlformats.org/drawingml/2006/main" noGrp="1"/>
          </p:cNvSpPr>
          <p:nvPr/>
        </p:nvSpPr>
        <p:spPr>
          <a:xfrm xmlns:a="http://schemas.openxmlformats.org/drawingml/2006/main">
            <a:off x="6547104" y="31089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51" name="Text 47">
            <a:extLst xmlns:a="http://schemas.openxmlformats.org/drawingml/2006/main">
              <a:ext uri="{FF2B5EF4-FFF2-40B4-BE49-F238E27FC236}">
                <a16:creationId xmlns:a16="http://schemas.microsoft.com/office/drawing/2014/main" id="{068197AE-9CD4-4F2F-9AE8-0EA5D7389759}"/>
              </a:ext>
            </a:extLst>
          </p:cNvPr>
          <p:cNvSpPr>
            <a:spLocks xmlns:a="http://schemas.openxmlformats.org/drawingml/2006/main" noGrp="1"/>
          </p:cNvSpPr>
          <p:nvPr/>
        </p:nvSpPr>
        <p:spPr>
          <a:xfrm xmlns:a="http://schemas.openxmlformats.org/drawingml/2006/main">
            <a:off x="6547104" y="31089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Container</a:t>
            </a:r>
            <a:endParaRPr sz="1000"/>
          </a:p>
        </p:txBody>
      </p:sp>
      <p:sp>
        <p:nvSpPr>
          <p:cNvPr id="52" name="Shape 48">
            <a:extLst xmlns:a="http://schemas.openxmlformats.org/drawingml/2006/main">
              <a:ext uri="{FF2B5EF4-FFF2-40B4-BE49-F238E27FC236}">
                <a16:creationId xmlns:a16="http://schemas.microsoft.com/office/drawing/2014/main" id="{3ED9FF8D-6B20-43E0-A7DF-C3837D7CE363}"/>
              </a:ext>
            </a:extLst>
          </p:cNvPr>
          <p:cNvSpPr>
            <a:spLocks xmlns:a="http://schemas.openxmlformats.org/drawingml/2006/main" noGrp="1"/>
          </p:cNvSpPr>
          <p:nvPr/>
        </p:nvSpPr>
        <p:spPr>
          <a:xfrm xmlns:a="http://schemas.openxmlformats.org/drawingml/2006/main">
            <a:off x="6547104" y="3566160"/>
            <a:ext cx="224028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E2E8F0"/>
            </a:solidFill>
            <a:prstDash val="solid"/>
          </a:ln>
        </p:spPr>
      </p:sp>
      <p:sp>
        <p:nvSpPr>
          <p:cNvPr id="53" name="Text 49">
            <a:extLst xmlns:a="http://schemas.openxmlformats.org/drawingml/2006/main">
              <a:ext uri="{FF2B5EF4-FFF2-40B4-BE49-F238E27FC236}">
                <a16:creationId xmlns:a16="http://schemas.microsoft.com/office/drawing/2014/main" id="{AEFCFCDE-EE7D-4E59-980B-A7B99FAD8AAE}"/>
              </a:ext>
            </a:extLst>
          </p:cNvPr>
          <p:cNvSpPr>
            <a:spLocks xmlns:a="http://schemas.openxmlformats.org/drawingml/2006/main" noGrp="1"/>
          </p:cNvSpPr>
          <p:nvPr/>
        </p:nvSpPr>
        <p:spPr>
          <a:xfrm xmlns:a="http://schemas.openxmlformats.org/drawingml/2006/main">
            <a:off x="6547104" y="3566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App</a:t>
            </a:r>
            <a:endParaRPr sz="1000"/>
          </a:p>
        </p:txBody>
      </p:sp>
      <p:sp>
        <p:nvSpPr>
          <p:cNvPr id="54" name="Shape 50">
            <a:extLst xmlns:a="http://schemas.openxmlformats.org/drawingml/2006/main">
              <a:ext uri="{FF2B5EF4-FFF2-40B4-BE49-F238E27FC236}">
                <a16:creationId xmlns:a16="http://schemas.microsoft.com/office/drawing/2014/main" id="{D91211A0-771D-4560-B11D-53D89ED45BE1}"/>
              </a:ext>
            </a:extLst>
          </p:cNvPr>
          <p:cNvSpPr>
            <a:spLocks xmlns:a="http://schemas.openxmlformats.org/drawingml/2006/main" noGrp="1"/>
          </p:cNvSpPr>
          <p:nvPr/>
        </p:nvSpPr>
        <p:spPr>
          <a:xfrm xmlns:a="http://schemas.openxmlformats.org/drawingml/2006/main">
            <a:off x="6455664" y="45262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55" name="Text 51">
            <a:extLst xmlns:a="http://schemas.openxmlformats.org/drawingml/2006/main">
              <a:ext uri="{FF2B5EF4-FFF2-40B4-BE49-F238E27FC236}">
                <a16:creationId xmlns:a16="http://schemas.microsoft.com/office/drawing/2014/main" id="{750DD0A4-4944-4FD9-B6E6-6D2A9CDE3B66}"/>
              </a:ext>
            </a:extLst>
          </p:cNvPr>
          <p:cNvSpPr>
            <a:spLocks xmlns:a="http://schemas.openxmlformats.org/drawingml/2006/main" noGrp="1"/>
          </p:cNvSpPr>
          <p:nvPr/>
        </p:nvSpPr>
        <p:spPr>
          <a:xfrm xmlns:a="http://schemas.openxmlformats.org/drawingml/2006/main">
            <a:off x="6455664" y="4617720"/>
            <a:ext cx="242316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Share kernel OS host. Isolasi via namespace + cgroup. Ringan.</a:t>
            </a:r>
            <a:endParaRPr sz="1000"/>
          </a:p>
        </p:txBody>
      </p:sp>
      <p:sp>
        <p:nvSpPr>
          <p:cNvPr id="56" name="Text 52">
            <a:extLst xmlns:a="http://schemas.openxmlformats.org/drawingml/2006/main">
              <a:ext uri="{FF2B5EF4-FFF2-40B4-BE49-F238E27FC236}">
                <a16:creationId xmlns:a16="http://schemas.microsoft.com/office/drawing/2014/main" id="{696D33B0-BD90-47F7-924A-0115D171D73D}"/>
              </a:ext>
            </a:extLst>
          </p:cNvPr>
          <p:cNvSpPr>
            <a:spLocks xmlns:a="http://schemas.openxmlformats.org/drawingml/2006/main" noGrp="1"/>
          </p:cNvSpPr>
          <p:nvPr/>
        </p:nvSpPr>
        <p:spPr>
          <a:xfrm xmlns:a="http://schemas.openxmlformats.org/drawingml/2006/main">
            <a:off x="6455664" y="5715000"/>
            <a:ext cx="24231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Contoh:</a:t>
            </a:r>
            <a:endParaRPr sz="900"/>
          </a:p>
        </p:txBody>
      </p:sp>
      <p:sp>
        <p:nvSpPr>
          <p:cNvPr id="57" name="Text 53">
            <a:extLst xmlns:a="http://schemas.openxmlformats.org/drawingml/2006/main">
              <a:ext uri="{FF2B5EF4-FFF2-40B4-BE49-F238E27FC236}">
                <a16:creationId xmlns:a16="http://schemas.microsoft.com/office/drawing/2014/main" id="{3DB1AC23-0484-4E6E-A03B-2D35C173D984}"/>
              </a:ext>
            </a:extLst>
          </p:cNvPr>
          <p:cNvSpPr>
            <a:spLocks xmlns:a="http://schemas.openxmlformats.org/drawingml/2006/main" noGrp="1"/>
          </p:cNvSpPr>
          <p:nvPr/>
        </p:nvSpPr>
        <p:spPr>
          <a:xfrm xmlns:a="http://schemas.openxmlformats.org/drawingml/2006/main">
            <a:off x="6455664" y="5943600"/>
            <a:ext cx="2423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002677"/>
                </a:solidFill>
                <a:latin typeface="Calibri"/>
                <a:ea typeface="Calibri"/>
                <a:cs typeface="Calibri"/>
              </a:rPr>
              <a:t>Docker, containerd</a:t>
            </a:r>
            <a:endParaRPr sz="1000"/>
          </a:p>
        </p:txBody>
      </p:sp>
      <p:sp>
        <p:nvSpPr>
          <p:cNvPr id="58" name="Shape 54">
            <a:extLst xmlns:a="http://schemas.openxmlformats.org/drawingml/2006/main">
              <a:ext uri="{FF2B5EF4-FFF2-40B4-BE49-F238E27FC236}">
                <a16:creationId xmlns:a16="http://schemas.microsoft.com/office/drawing/2014/main" id="{027B90AB-8446-439B-86E8-5652B5527786}"/>
              </a:ext>
            </a:extLst>
          </p:cNvPr>
          <p:cNvSpPr>
            <a:spLocks xmlns:a="http://schemas.openxmlformats.org/drawingml/2006/main" noGrp="1"/>
          </p:cNvSpPr>
          <p:nvPr/>
        </p:nvSpPr>
        <p:spPr>
          <a:xfrm xmlns:a="http://schemas.openxmlformats.org/drawingml/2006/main">
            <a:off x="9180576" y="1417320"/>
            <a:ext cx="278892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9" name="Shape 55">
            <a:extLst xmlns:a="http://schemas.openxmlformats.org/drawingml/2006/main">
              <a:ext uri="{FF2B5EF4-FFF2-40B4-BE49-F238E27FC236}">
                <a16:creationId xmlns:a16="http://schemas.microsoft.com/office/drawing/2014/main" id="{6C917854-E94A-474C-8CB5-803DB7DFCD97}"/>
              </a:ext>
            </a:extLst>
          </p:cNvPr>
          <p:cNvSpPr>
            <a:spLocks xmlns:a="http://schemas.openxmlformats.org/drawingml/2006/main" noGrp="1"/>
          </p:cNvSpPr>
          <p:nvPr/>
        </p:nvSpPr>
        <p:spPr>
          <a:xfrm xmlns:a="http://schemas.openxmlformats.org/drawingml/2006/main">
            <a:off x="9180576" y="1417320"/>
            <a:ext cx="2788920" cy="6400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60" name="Text 56">
            <a:extLst xmlns:a="http://schemas.openxmlformats.org/drawingml/2006/main">
              <a:ext uri="{FF2B5EF4-FFF2-40B4-BE49-F238E27FC236}">
                <a16:creationId xmlns:a16="http://schemas.microsoft.com/office/drawing/2014/main" id="{6A560798-8445-4C05-8F41-B85360B4BCEA}"/>
              </a:ext>
            </a:extLst>
          </p:cNvPr>
          <p:cNvSpPr>
            <a:spLocks xmlns:a="http://schemas.openxmlformats.org/drawingml/2006/main" noGrp="1"/>
          </p:cNvSpPr>
          <p:nvPr/>
        </p:nvSpPr>
        <p:spPr>
          <a:xfrm xmlns:a="http://schemas.openxmlformats.org/drawingml/2006/main">
            <a:off x="9180576" y="1463040"/>
            <a:ext cx="2788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spc="200">
                <a:solidFill>
                  <a:srgbClr val="FFFFFF"/>
                </a:solidFill>
                <a:latin typeface="Calibri"/>
                <a:ea typeface="Calibri"/>
                <a:cs typeface="Calibri"/>
              </a:rPr>
              <a:t>Level 4</a:t>
            </a:r>
            <a:endParaRPr sz="900"/>
          </a:p>
        </p:txBody>
      </p:sp>
      <p:sp>
        <p:nvSpPr>
          <p:cNvPr id="61" name="Text 57">
            <a:extLst xmlns:a="http://schemas.openxmlformats.org/drawingml/2006/main">
              <a:ext uri="{FF2B5EF4-FFF2-40B4-BE49-F238E27FC236}">
                <a16:creationId xmlns:a16="http://schemas.microsoft.com/office/drawing/2014/main" id="{3448AD33-8165-4C11-BB2B-6CCD0894C3B5}"/>
              </a:ext>
            </a:extLst>
          </p:cNvPr>
          <p:cNvSpPr>
            <a:spLocks xmlns:a="http://schemas.openxmlformats.org/drawingml/2006/main" noGrp="1"/>
          </p:cNvSpPr>
          <p:nvPr/>
        </p:nvSpPr>
        <p:spPr>
          <a:xfrm xmlns:a="http://schemas.openxmlformats.org/drawingml/2006/main">
            <a:off x="9180576" y="169164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Serverless / FaaS</a:t>
            </a:r>
            <a:endParaRPr sz="1400"/>
          </a:p>
        </p:txBody>
      </p:sp>
      <p:sp>
        <p:nvSpPr>
          <p:cNvPr id="62" name="Shape 58">
            <a:extLst xmlns:a="http://schemas.openxmlformats.org/drawingml/2006/main">
              <a:ext uri="{FF2B5EF4-FFF2-40B4-BE49-F238E27FC236}">
                <a16:creationId xmlns:a16="http://schemas.microsoft.com/office/drawing/2014/main" id="{B1451B32-13E2-4A04-8655-A23B4F89DC31}"/>
              </a:ext>
            </a:extLst>
          </p:cNvPr>
          <p:cNvSpPr>
            <a:spLocks xmlns:a="http://schemas.openxmlformats.org/drawingml/2006/main" noGrp="1"/>
          </p:cNvSpPr>
          <p:nvPr/>
        </p:nvSpPr>
        <p:spPr>
          <a:xfrm xmlns:a="http://schemas.openxmlformats.org/drawingml/2006/main">
            <a:off x="9454896" y="3108960"/>
            <a:ext cx="2240280" cy="36576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63" name="Text 59">
            <a:extLst xmlns:a="http://schemas.openxmlformats.org/drawingml/2006/main">
              <a:ext uri="{FF2B5EF4-FFF2-40B4-BE49-F238E27FC236}">
                <a16:creationId xmlns:a16="http://schemas.microsoft.com/office/drawing/2014/main" id="{6AE94D9F-ECBA-4551-B8A3-A8F25639A94E}"/>
              </a:ext>
            </a:extLst>
          </p:cNvPr>
          <p:cNvSpPr>
            <a:spLocks xmlns:a="http://schemas.openxmlformats.org/drawingml/2006/main" noGrp="1"/>
          </p:cNvSpPr>
          <p:nvPr/>
        </p:nvSpPr>
        <p:spPr>
          <a:xfrm xmlns:a="http://schemas.openxmlformats.org/drawingml/2006/main">
            <a:off x="9454896" y="31089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E293B"/>
                </a:solidFill>
                <a:latin typeface="Calibri"/>
                <a:ea typeface="Calibri"/>
                <a:cs typeface="Calibri"/>
              </a:rPr>
              <a:t>Function</a:t>
            </a:r>
            <a:endParaRPr sz="1000"/>
          </a:p>
        </p:txBody>
      </p:sp>
      <p:sp>
        <p:nvSpPr>
          <p:cNvPr id="64" name="Shape 60">
            <a:extLst xmlns:a="http://schemas.openxmlformats.org/drawingml/2006/main">
              <a:ext uri="{FF2B5EF4-FFF2-40B4-BE49-F238E27FC236}">
                <a16:creationId xmlns:a16="http://schemas.microsoft.com/office/drawing/2014/main" id="{5E098B32-4EF7-4A41-9030-1ECEDA365530}"/>
              </a:ext>
            </a:extLst>
          </p:cNvPr>
          <p:cNvSpPr>
            <a:spLocks xmlns:a="http://schemas.openxmlformats.org/drawingml/2006/main" noGrp="1"/>
          </p:cNvSpPr>
          <p:nvPr/>
        </p:nvSpPr>
        <p:spPr>
          <a:xfrm xmlns:a="http://schemas.openxmlformats.org/drawingml/2006/main">
            <a:off x="9454896" y="3566160"/>
            <a:ext cx="224028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E2E8F0"/>
            </a:solidFill>
            <a:prstDash val="solid"/>
          </a:ln>
        </p:spPr>
      </p:sp>
      <p:sp>
        <p:nvSpPr>
          <p:cNvPr id="65" name="Text 61">
            <a:extLst xmlns:a="http://schemas.openxmlformats.org/drawingml/2006/main">
              <a:ext uri="{FF2B5EF4-FFF2-40B4-BE49-F238E27FC236}">
                <a16:creationId xmlns:a16="http://schemas.microsoft.com/office/drawing/2014/main" id="{0A990296-2DBA-4A0F-8A3C-BEFDAF788068}"/>
              </a:ext>
            </a:extLst>
          </p:cNvPr>
          <p:cNvSpPr>
            <a:spLocks xmlns:a="http://schemas.openxmlformats.org/drawingml/2006/main" noGrp="1"/>
          </p:cNvSpPr>
          <p:nvPr/>
        </p:nvSpPr>
        <p:spPr>
          <a:xfrm xmlns:a="http://schemas.openxmlformats.org/drawingml/2006/main">
            <a:off x="9454896" y="3566160"/>
            <a:ext cx="2240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App</a:t>
            </a:r>
            <a:endParaRPr sz="1000"/>
          </a:p>
        </p:txBody>
      </p:sp>
      <p:sp>
        <p:nvSpPr>
          <p:cNvPr id="66" name="Shape 62">
            <a:extLst xmlns:a="http://schemas.openxmlformats.org/drawingml/2006/main">
              <a:ext uri="{FF2B5EF4-FFF2-40B4-BE49-F238E27FC236}">
                <a16:creationId xmlns:a16="http://schemas.microsoft.com/office/drawing/2014/main" id="{F2888B21-3465-4C11-81D5-4861DC31ED0F}"/>
              </a:ext>
            </a:extLst>
          </p:cNvPr>
          <p:cNvSpPr>
            <a:spLocks xmlns:a="http://schemas.openxmlformats.org/drawingml/2006/main" noGrp="1"/>
          </p:cNvSpPr>
          <p:nvPr/>
        </p:nvSpPr>
        <p:spPr>
          <a:xfrm xmlns:a="http://schemas.openxmlformats.org/drawingml/2006/main">
            <a:off x="9363456" y="45262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67" name="Text 63">
            <a:extLst xmlns:a="http://schemas.openxmlformats.org/drawingml/2006/main">
              <a:ext uri="{FF2B5EF4-FFF2-40B4-BE49-F238E27FC236}">
                <a16:creationId xmlns:a16="http://schemas.microsoft.com/office/drawing/2014/main" id="{51345137-5656-4032-8534-677A34FA222D}"/>
              </a:ext>
            </a:extLst>
          </p:cNvPr>
          <p:cNvSpPr>
            <a:spLocks xmlns:a="http://schemas.openxmlformats.org/drawingml/2006/main" noGrp="1"/>
          </p:cNvSpPr>
          <p:nvPr/>
        </p:nvSpPr>
        <p:spPr>
          <a:xfrm xmlns:a="http://schemas.openxmlformats.org/drawingml/2006/main">
            <a:off x="9363456" y="4617720"/>
            <a:ext cx="242316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Provider kelola semuanya. Anda upload kode + fungsi.</a:t>
            </a:r>
            <a:endParaRPr sz="1000"/>
          </a:p>
        </p:txBody>
      </p:sp>
      <p:sp>
        <p:nvSpPr>
          <p:cNvPr id="68" name="Text 64">
            <a:extLst xmlns:a="http://schemas.openxmlformats.org/drawingml/2006/main">
              <a:ext uri="{FF2B5EF4-FFF2-40B4-BE49-F238E27FC236}">
                <a16:creationId xmlns:a16="http://schemas.microsoft.com/office/drawing/2014/main" id="{A29A197D-0B92-4001-A1A3-7C276229F3A9}"/>
              </a:ext>
            </a:extLst>
          </p:cNvPr>
          <p:cNvSpPr>
            <a:spLocks xmlns:a="http://schemas.openxmlformats.org/drawingml/2006/main" noGrp="1"/>
          </p:cNvSpPr>
          <p:nvPr/>
        </p:nvSpPr>
        <p:spPr>
          <a:xfrm xmlns:a="http://schemas.openxmlformats.org/drawingml/2006/main">
            <a:off x="9363456" y="5715000"/>
            <a:ext cx="24231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37021"/>
                </a:solidFill>
                <a:latin typeface="Calibri"/>
                <a:ea typeface="Calibri"/>
                <a:cs typeface="Calibri"/>
              </a:rPr>
              <a:t>Contoh:</a:t>
            </a:r>
            <a:endParaRPr sz="900"/>
          </a:p>
        </p:txBody>
      </p:sp>
      <p:sp>
        <p:nvSpPr>
          <p:cNvPr id="69" name="Text 65">
            <a:extLst xmlns:a="http://schemas.openxmlformats.org/drawingml/2006/main">
              <a:ext uri="{FF2B5EF4-FFF2-40B4-BE49-F238E27FC236}">
                <a16:creationId xmlns:a16="http://schemas.microsoft.com/office/drawing/2014/main" id="{6F4D3A09-1679-4B3F-8FBA-FF08DA480861}"/>
              </a:ext>
            </a:extLst>
          </p:cNvPr>
          <p:cNvSpPr>
            <a:spLocks xmlns:a="http://schemas.openxmlformats.org/drawingml/2006/main" noGrp="1"/>
          </p:cNvSpPr>
          <p:nvPr/>
        </p:nvSpPr>
        <p:spPr>
          <a:xfrm xmlns:a="http://schemas.openxmlformats.org/drawingml/2006/main">
            <a:off x="9363456" y="5943600"/>
            <a:ext cx="2423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002677"/>
                </a:solidFill>
                <a:latin typeface="Calibri"/>
                <a:ea typeface="Calibri"/>
                <a:cs typeface="Calibri"/>
              </a:rPr>
              <a:t>Lambda, Vercel Functions</a:t>
            </a:r>
            <a:endParaRPr sz="1000"/>
          </a:p>
        </p:txBody>
      </p:sp>
      <p:sp>
        <p:nvSpPr>
          <p:cNvPr id="70" name="Text 66">
            <a:extLst xmlns:a="http://schemas.openxmlformats.org/drawingml/2006/main">
              <a:ext uri="{FF2B5EF4-FFF2-40B4-BE49-F238E27FC236}">
                <a16:creationId xmlns:a16="http://schemas.microsoft.com/office/drawing/2014/main" id="{B98C37C4-D342-4565-AD1F-A1133350F433}"/>
              </a:ext>
            </a:extLst>
          </p:cNvPr>
          <p:cNvSpPr>
            <a:spLocks xmlns:a="http://schemas.openxmlformats.org/drawingml/2006/main" noGrp="1"/>
          </p:cNvSpPr>
          <p:nvPr/>
        </p:nvSpPr>
        <p:spPr>
          <a:xfrm xmlns:a="http://schemas.openxmlformats.org/drawingml/2006/main">
            <a:off x="457200" y="630936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Trade-off: </a:t>
            </a:r>
            <a:r>
              <a:rPr sz="1100" i="1">
                <a:solidFill>
                  <a:srgbClr val="1E293B"/>
                </a:solidFill>
                <a:latin typeface="Calibri"/>
                <a:ea typeface="Calibri"/>
                <a:cs typeface="Calibri"/>
              </a:rPr>
              <a:t>makin ke kanan = makin tinggi abstraksi, makin cepat deploy, tapi makin sedikit kontrol low-level.</a:t>
            </a:r>
            <a:endParaRPr sz="1100"/>
          </a:p>
        </p:txBody>
      </p:sp>
    </p:spTree>
    <p:extLst>
      <p:ext uri="{BB962C8B-B14F-4D97-AF65-F5344CB8AC3E}">
        <p14:creationId xmlns:p14="http://schemas.microsoft.com/office/powerpoint/2010/main" val="1112239473"/>
      </p:ext>
    </p:extLst>
  </p:cSld>
</p:sld>
</file>

<file path=ppt/slides/slide7.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790A3DB-95FA-4219-89CE-11D5FECC8245}"/>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4F638A5A-8786-40D3-8A78-907511FDB069}"/>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569BD680-E4FA-4E46-BE3D-1B1DBA728B42}"/>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3ADFB358-DD4A-4A83-A3A2-6D92B196F6E9}"/>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ED30D501-EE9D-4EC1-9A94-570CF63844E8}"/>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088E3599-3FC8-43AA-9DAB-9C0E4196EE1B}"/>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807CC7A0-765A-46ED-B47D-7A920205B933}"/>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4026CA11-6358-478C-BD09-7FA14A496CE2}"/>
              </a:ext>
            </a:extLst>
          </p:cNvPr>
          <p:cNvPicPr>
            <a:picLocks xmlns:a="http://schemas.openxmlformats.org/drawingml/2006/main" noChangeAspect="1"/>
          </p:cNvPicPr>
          <p:nvPr/>
        </p:nvPicPr>
        <p:blipFill>
          <a:blip xmlns:r="http://schemas.openxmlformats.org/officeDocument/2006/relationships" xmlns:a="http://schemas.openxmlformats.org/drawingml/2006/main" r:embed="R66c6d33b60204c0f"/>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99F3177C-FD46-40A0-BCD2-14208F37C649}"/>
              </a:ext>
            </a:extLst>
          </p:cNvPr>
          <p:cNvPicPr>
            <a:picLocks xmlns:a="http://schemas.openxmlformats.org/drawingml/2006/main" noChangeAspect="1"/>
          </p:cNvPicPr>
          <p:nvPr/>
        </p:nvPicPr>
        <p:blipFill>
          <a:blip xmlns:r="http://schemas.openxmlformats.org/officeDocument/2006/relationships" xmlns:a="http://schemas.openxmlformats.org/drawingml/2006/main" r:embed="R4e755aad71cc480a"/>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F550A12F-4A4F-4FC9-99F9-93E7C6E998DB}"/>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02</a:t>
            </a:r>
            <a:endParaRPr sz="1600"/>
          </a:p>
        </p:txBody>
      </p:sp>
      <p:sp>
        <p:nvSpPr>
          <p:cNvPr id="12" name="Text 8">
            <a:extLst xmlns:a="http://schemas.openxmlformats.org/drawingml/2006/main">
              <a:ext uri="{FF2B5EF4-FFF2-40B4-BE49-F238E27FC236}">
                <a16:creationId xmlns:a16="http://schemas.microsoft.com/office/drawing/2014/main" id="{885E78BB-87A2-41EA-9245-8E2ED100A228}"/>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Virtual Machines</a:t>
            </a:r>
            <a:endParaRPr sz="5200"/>
          </a:p>
          <a:p xmlns:a="http://schemas.openxmlformats.org/drawingml/2006/main">
            <a:pPr marL="0" indent="0" algn="ctr">
              <a:buNone/>
            </a:pPr>
            <a:r>
              <a:rPr sz="5200" b="1">
                <a:solidFill>
                  <a:srgbClr val="FFFFFF"/>
                </a:solidFill>
                <a:latin typeface="Calibri"/>
                <a:ea typeface="Calibri"/>
                <a:cs typeface="Calibri"/>
              </a:rPr>
              <a:t>&amp; Hypervisor</a:t>
            </a:r>
            <a:endParaRPr sz="5200"/>
          </a:p>
        </p:txBody>
      </p:sp>
      <p:sp>
        <p:nvSpPr>
          <p:cNvPr id="13" name="Shape 9">
            <a:extLst xmlns:a="http://schemas.openxmlformats.org/drawingml/2006/main">
              <a:ext uri="{FF2B5EF4-FFF2-40B4-BE49-F238E27FC236}">
                <a16:creationId xmlns:a16="http://schemas.microsoft.com/office/drawing/2014/main" id="{18CA7C7A-A1F3-4152-8AAE-0FACBEFBFAF9}"/>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88E61B7F-46FD-4892-B794-E49D4D532A52}"/>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Bagi hardware jadi banyak komputer virtual.</a:t>
            </a:r>
            <a:endParaRPr sz="1400"/>
          </a:p>
        </p:txBody>
      </p:sp>
    </p:spTree>
    <p:extLst>
      <p:ext uri="{BB962C8B-B14F-4D97-AF65-F5344CB8AC3E}">
        <p14:creationId xmlns:p14="http://schemas.microsoft.com/office/powerpoint/2010/main" val="1934377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181C1B-1B49-4E4E-B943-945FD21AA4A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A590FFA4-81F5-4731-899E-722E29F6F45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8</a:t>
            </a:r>
            <a:endParaRPr sz="900"/>
          </a:p>
        </p:txBody>
      </p:sp>
      <p:sp>
        <p:nvSpPr>
          <p:cNvPr id="4" name="Shape 2">
            <a:extLst xmlns:a="http://schemas.openxmlformats.org/drawingml/2006/main">
              <a:ext uri="{FF2B5EF4-FFF2-40B4-BE49-F238E27FC236}">
                <a16:creationId xmlns:a16="http://schemas.microsoft.com/office/drawing/2014/main" id="{F8B0AF0D-7984-4464-AF6D-C17CF44905A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1" name="Image 0">
            <a:extLst xmlns:a="http://schemas.openxmlformats.org/drawingml/2006/main">
              <a:ext uri="{FF2B5EF4-FFF2-40B4-BE49-F238E27FC236}">
                <a16:creationId xmlns:a16="http://schemas.microsoft.com/office/drawing/2014/main" id="{40194006-5386-4017-AB5D-A02D03820402}"/>
              </a:ext>
            </a:extLst>
          </p:cNvPr>
          <p:cNvPicPr>
            <a:picLocks xmlns:a="http://schemas.openxmlformats.org/drawingml/2006/main" noChangeAspect="1"/>
          </p:cNvPicPr>
          <p:nvPr/>
        </p:nvPicPr>
        <p:blipFill>
          <a:blip xmlns:r="http://schemas.openxmlformats.org/officeDocument/2006/relationships" xmlns:a="http://schemas.openxmlformats.org/drawingml/2006/main" r:embed="Rc4b1a1d2ad0e491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2" name="Image 1">
            <a:extLst xmlns:a="http://schemas.openxmlformats.org/drawingml/2006/main">
              <a:ext uri="{FF2B5EF4-FFF2-40B4-BE49-F238E27FC236}">
                <a16:creationId xmlns:a16="http://schemas.microsoft.com/office/drawing/2014/main" id="{F70A446B-E504-44D8-ABE4-27936BCAB4CD}"/>
              </a:ext>
            </a:extLst>
          </p:cNvPr>
          <p:cNvPicPr>
            <a:picLocks xmlns:a="http://schemas.openxmlformats.org/drawingml/2006/main" noChangeAspect="1"/>
          </p:cNvPicPr>
          <p:nvPr/>
        </p:nvPicPr>
        <p:blipFill>
          <a:blip xmlns:r="http://schemas.openxmlformats.org/officeDocument/2006/relationships" xmlns:a="http://schemas.openxmlformats.org/drawingml/2006/main" r:embed="Rbe4a369f35a8445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F54A5E5-40D2-41AD-92F4-DCD179533D8F}"/>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1072276-1D90-497B-BEC4-13F8A159E187}"/>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Apa itu Virtual Machine?</a:t>
            </a:r>
            <a:endParaRPr sz="2200"/>
          </a:p>
        </p:txBody>
      </p:sp>
      <p:sp>
        <p:nvSpPr>
          <p:cNvPr id="9" name="Text 5">
            <a:extLst xmlns:a="http://schemas.openxmlformats.org/drawingml/2006/main">
              <a:ext uri="{FF2B5EF4-FFF2-40B4-BE49-F238E27FC236}">
                <a16:creationId xmlns:a16="http://schemas.microsoft.com/office/drawing/2014/main" id="{8B27D3C2-DD1B-4BCD-9EE0-32E20475DE2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Komputer di dalam komputer - dengan OS lengkap sendiri</a:t>
            </a:r>
            <a:endParaRPr sz="1200"/>
          </a:p>
        </p:txBody>
      </p:sp>
      <p:sp>
        <p:nvSpPr>
          <p:cNvPr id="10" name="Shape 6">
            <a:extLst xmlns:a="http://schemas.openxmlformats.org/drawingml/2006/main">
              <a:ext uri="{FF2B5EF4-FFF2-40B4-BE49-F238E27FC236}">
                <a16:creationId xmlns:a16="http://schemas.microsoft.com/office/drawing/2014/main" id="{1B0F9EC3-55C9-4EB3-9D80-135A3A850222}"/>
              </a:ext>
            </a:extLst>
          </p:cNvPr>
          <p:cNvSpPr>
            <a:spLocks xmlns:a="http://schemas.openxmlformats.org/drawingml/2006/main" noGrp="1"/>
          </p:cNvSpPr>
          <p:nvPr/>
        </p:nvSpPr>
        <p:spPr>
          <a:xfrm xmlns:a="http://schemas.openxmlformats.org/drawingml/2006/main">
            <a:off x="457200" y="1417320"/>
            <a:ext cx="11247120" cy="11887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47" name="Image 2">
            <a:extLst xmlns:a="http://schemas.openxmlformats.org/drawingml/2006/main">
              <a:ext uri="{FF2B5EF4-FFF2-40B4-BE49-F238E27FC236}">
                <a16:creationId xmlns:a16="http://schemas.microsoft.com/office/drawing/2014/main" id="{17F0D355-D40B-4E4D-A4AA-12D5A89E1995}"/>
              </a:ext>
            </a:extLst>
          </p:cNvPr>
          <p:cNvPicPr>
            <a:picLocks xmlns:a="http://schemas.openxmlformats.org/drawingml/2006/main" noChangeAspect="1"/>
          </p:cNvPicPr>
          <p:nvPr/>
        </p:nvPicPr>
        <p:blipFill>
          <a:blip xmlns:r="http://schemas.openxmlformats.org/officeDocument/2006/relationships" xmlns:a="http://schemas.openxmlformats.org/drawingml/2006/main" r:embed="R098c2d9fbb8f4b57"/>
          <a:stretch xmlns:a="http://schemas.openxmlformats.org/drawingml/2006/main">
            <a:fillRect l="0" t="0" r="0" b="0"/>
          </a:stretch>
        </p:blipFill>
        <p:spPr>
          <a:xfrm xmlns:a="http://schemas.openxmlformats.org/drawingml/2006/main">
            <a:off x="777240" y="1691640"/>
            <a:ext cx="685800" cy="685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E2CA5387-3580-4E07-927C-5B4DCCBECB8D}"/>
              </a:ext>
            </a:extLst>
          </p:cNvPr>
          <p:cNvSpPr>
            <a:spLocks xmlns:a="http://schemas.openxmlformats.org/drawingml/2006/main" noGrp="1"/>
          </p:cNvSpPr>
          <p:nvPr/>
        </p:nvSpPr>
        <p:spPr>
          <a:xfrm xmlns:a="http://schemas.openxmlformats.org/drawingml/2006/main">
            <a:off x="1691640" y="1554480"/>
            <a:ext cx="9601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alibri"/>
                <a:ea typeface="Calibri"/>
                <a:cs typeface="Calibri"/>
              </a:rPr>
              <a:t>VM = emulasi sebuah komputer fisik di atas hardware yang sama.</a:t>
            </a:r>
            <a:endParaRPr sz="1600"/>
          </a:p>
        </p:txBody>
      </p:sp>
      <p:sp>
        <p:nvSpPr>
          <p:cNvPr id="13" name="Text 8">
            <a:extLst xmlns:a="http://schemas.openxmlformats.org/drawingml/2006/main">
              <a:ext uri="{FF2B5EF4-FFF2-40B4-BE49-F238E27FC236}">
                <a16:creationId xmlns:a16="http://schemas.microsoft.com/office/drawing/2014/main" id="{B3472B21-2C65-453B-BAA9-3EA355439975}"/>
              </a:ext>
            </a:extLst>
          </p:cNvPr>
          <p:cNvSpPr>
            <a:spLocks xmlns:a="http://schemas.openxmlformats.org/drawingml/2006/main" noGrp="1"/>
          </p:cNvSpPr>
          <p:nvPr/>
        </p:nvSpPr>
        <p:spPr>
          <a:xfrm xmlns:a="http://schemas.openxmlformats.org/drawingml/2006/main">
            <a:off x="1691640" y="1965960"/>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Setiap VM punya CPU virtual, RAM virtual, disk virtual, dan kernel OS sendiri (guest OS). Hypervisor yang bagi-bagi resource.</a:t>
            </a:r>
            <a:endParaRPr sz="1200"/>
          </a:p>
        </p:txBody>
      </p:sp>
      <p:sp>
        <p:nvSpPr>
          <p:cNvPr id="14" name="Text 9">
            <a:extLst xmlns:a="http://schemas.openxmlformats.org/drawingml/2006/main">
              <a:ext uri="{FF2B5EF4-FFF2-40B4-BE49-F238E27FC236}">
                <a16:creationId xmlns:a16="http://schemas.microsoft.com/office/drawing/2014/main" id="{32A0386E-4C25-4C6C-8974-867F794E0222}"/>
              </a:ext>
            </a:extLst>
          </p:cNvPr>
          <p:cNvSpPr>
            <a:spLocks xmlns:a="http://schemas.openxmlformats.org/drawingml/2006/main" noGrp="1"/>
          </p:cNvSpPr>
          <p:nvPr/>
        </p:nvSpPr>
        <p:spPr>
          <a:xfrm xmlns:a="http://schemas.openxmlformats.org/drawingml/2006/main">
            <a:off x="457200" y="278892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Karakteristik VM</a:t>
            </a:r>
            <a:endParaRPr sz="1400"/>
          </a:p>
        </p:txBody>
      </p:sp>
      <p:sp>
        <p:nvSpPr>
          <p:cNvPr id="15" name="Shape 10">
            <a:extLst xmlns:a="http://schemas.openxmlformats.org/drawingml/2006/main">
              <a:ext uri="{FF2B5EF4-FFF2-40B4-BE49-F238E27FC236}">
                <a16:creationId xmlns:a16="http://schemas.microsoft.com/office/drawing/2014/main" id="{9FC51B0A-4D29-46FE-966B-B3F75D9E5517}"/>
              </a:ext>
            </a:extLst>
          </p:cNvPr>
          <p:cNvSpPr>
            <a:spLocks xmlns:a="http://schemas.openxmlformats.org/drawingml/2006/main" noGrp="1"/>
          </p:cNvSpPr>
          <p:nvPr/>
        </p:nvSpPr>
        <p:spPr>
          <a:xfrm xmlns:a="http://schemas.openxmlformats.org/drawingml/2006/main">
            <a:off x="45720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2" name="Image 3">
            <a:extLst xmlns:a="http://schemas.openxmlformats.org/drawingml/2006/main">
              <a:ext uri="{FF2B5EF4-FFF2-40B4-BE49-F238E27FC236}">
                <a16:creationId xmlns:a16="http://schemas.microsoft.com/office/drawing/2014/main" id="{7708D11D-DCBC-4C03-B590-1B3F491AD5F2}"/>
              </a:ext>
            </a:extLst>
          </p:cNvPr>
          <p:cNvPicPr>
            <a:picLocks xmlns:a="http://schemas.openxmlformats.org/drawingml/2006/main" noChangeAspect="1"/>
          </p:cNvPicPr>
          <p:nvPr/>
        </p:nvPicPr>
        <p:blipFill>
          <a:blip xmlns:r="http://schemas.openxmlformats.org/officeDocument/2006/relationships" xmlns:a="http://schemas.openxmlformats.org/drawingml/2006/main" r:embed="R2ea013fafd644ece"/>
          <a:stretch xmlns:a="http://schemas.openxmlformats.org/drawingml/2006/main">
            <a:fillRect l="0" t="0" r="0" b="0"/>
          </a:stretch>
        </p:blipFill>
        <p:spPr>
          <a:xfrm xmlns:a="http://schemas.openxmlformats.org/drawingml/2006/main">
            <a:off x="594360" y="3383280"/>
            <a:ext cx="457200" cy="457200"/>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88718FD3-DAE7-48A3-BFE2-81ECCD94354E}"/>
              </a:ext>
            </a:extLst>
          </p:cNvPr>
          <p:cNvSpPr>
            <a:spLocks xmlns:a="http://schemas.openxmlformats.org/drawingml/2006/main" noGrp="1"/>
          </p:cNvSpPr>
          <p:nvPr/>
        </p:nvSpPr>
        <p:spPr>
          <a:xfrm xmlns:a="http://schemas.openxmlformats.org/drawingml/2006/main">
            <a:off x="114300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Isolasi Penuh</a:t>
            </a:r>
            <a:endParaRPr sz="1300"/>
          </a:p>
        </p:txBody>
      </p:sp>
      <p:sp>
        <p:nvSpPr>
          <p:cNvPr id="18" name="Text 12">
            <a:extLst xmlns:a="http://schemas.openxmlformats.org/drawingml/2006/main">
              <a:ext uri="{FF2B5EF4-FFF2-40B4-BE49-F238E27FC236}">
                <a16:creationId xmlns:a16="http://schemas.microsoft.com/office/drawing/2014/main" id="{3947CD17-A61E-4D60-A4BB-703C76823CD6}"/>
              </a:ext>
            </a:extLst>
          </p:cNvPr>
          <p:cNvSpPr>
            <a:spLocks xmlns:a="http://schemas.openxmlformats.org/drawingml/2006/main" noGrp="1"/>
          </p:cNvSpPr>
          <p:nvPr/>
        </p:nvSpPr>
        <p:spPr>
          <a:xfrm xmlns:a="http://schemas.openxmlformats.org/drawingml/2006/main">
            <a:off x="59436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Setiap VM independen. Crash di VM A tidak pengaruh VM B.</a:t>
            </a:r>
            <a:endParaRPr sz="1050"/>
          </a:p>
        </p:txBody>
      </p:sp>
      <p:sp>
        <p:nvSpPr>
          <p:cNvPr id="19" name="Shape 13">
            <a:extLst xmlns:a="http://schemas.openxmlformats.org/drawingml/2006/main">
              <a:ext uri="{FF2B5EF4-FFF2-40B4-BE49-F238E27FC236}">
                <a16:creationId xmlns:a16="http://schemas.microsoft.com/office/drawing/2014/main" id="{D5C4C796-8A7E-4DCC-8883-0C0C08F1BF4D}"/>
              </a:ext>
            </a:extLst>
          </p:cNvPr>
          <p:cNvSpPr>
            <a:spLocks xmlns:a="http://schemas.openxmlformats.org/drawingml/2006/main" noGrp="1"/>
          </p:cNvSpPr>
          <p:nvPr/>
        </p:nvSpPr>
        <p:spPr>
          <a:xfrm xmlns:a="http://schemas.openxmlformats.org/drawingml/2006/main">
            <a:off x="333756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6" name="Image 4">
            <a:extLst xmlns:a="http://schemas.openxmlformats.org/drawingml/2006/main">
              <a:ext uri="{FF2B5EF4-FFF2-40B4-BE49-F238E27FC236}">
                <a16:creationId xmlns:a16="http://schemas.microsoft.com/office/drawing/2014/main" id="{4E092EE0-AED7-47C5-9F81-E318F33C4DD2}"/>
              </a:ext>
            </a:extLst>
          </p:cNvPr>
          <p:cNvPicPr>
            <a:picLocks xmlns:a="http://schemas.openxmlformats.org/drawingml/2006/main" noChangeAspect="1"/>
          </p:cNvPicPr>
          <p:nvPr/>
        </p:nvPicPr>
        <p:blipFill>
          <a:blip xmlns:r="http://schemas.openxmlformats.org/officeDocument/2006/relationships" xmlns:a="http://schemas.openxmlformats.org/drawingml/2006/main" r:embed="Rbc92a6ed39e84446"/>
          <a:stretch xmlns:a="http://schemas.openxmlformats.org/drawingml/2006/main">
            <a:fillRect l="0" t="0" r="0" b="0"/>
          </a:stretch>
        </p:blipFill>
        <p:spPr>
          <a:xfrm xmlns:a="http://schemas.openxmlformats.org/drawingml/2006/main">
            <a:off x="3474720" y="3383280"/>
            <a:ext cx="457200" cy="457200"/>
          </a:xfrm>
          <a:prstGeom xmlns:a="http://schemas.openxmlformats.org/drawingml/2006/main" prst="rect">
            <a:avLst/>
          </a:prstGeom>
        </p:spPr>
      </p:pic>
      <p:sp>
        <p:nvSpPr>
          <p:cNvPr id="21" name="Text 14">
            <a:extLst xmlns:a="http://schemas.openxmlformats.org/drawingml/2006/main">
              <a:ext uri="{FF2B5EF4-FFF2-40B4-BE49-F238E27FC236}">
                <a16:creationId xmlns:a16="http://schemas.microsoft.com/office/drawing/2014/main" id="{CA5C0AB8-23F9-429F-9952-443EBF172E75}"/>
              </a:ext>
            </a:extLst>
          </p:cNvPr>
          <p:cNvSpPr>
            <a:spLocks xmlns:a="http://schemas.openxmlformats.org/drawingml/2006/main" noGrp="1"/>
          </p:cNvSpPr>
          <p:nvPr/>
        </p:nvSpPr>
        <p:spPr>
          <a:xfrm xmlns:a="http://schemas.openxmlformats.org/drawingml/2006/main">
            <a:off x="402336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Multi-OS</a:t>
            </a:r>
            <a:endParaRPr sz="1300"/>
          </a:p>
        </p:txBody>
      </p:sp>
      <p:sp>
        <p:nvSpPr>
          <p:cNvPr id="22" name="Text 15">
            <a:extLst xmlns:a="http://schemas.openxmlformats.org/drawingml/2006/main">
              <a:ext uri="{FF2B5EF4-FFF2-40B4-BE49-F238E27FC236}">
                <a16:creationId xmlns:a16="http://schemas.microsoft.com/office/drawing/2014/main" id="{DBADCF2A-F13A-4D15-8145-144911650339}"/>
              </a:ext>
            </a:extLst>
          </p:cNvPr>
          <p:cNvSpPr>
            <a:spLocks xmlns:a="http://schemas.openxmlformats.org/drawingml/2006/main" noGrp="1"/>
          </p:cNvSpPr>
          <p:nvPr/>
        </p:nvSpPr>
        <p:spPr>
          <a:xfrm xmlns:a="http://schemas.openxmlformats.org/drawingml/2006/main">
            <a:off x="347472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Bisa jalan Windows VM di host Linux, atau sebaliknya.</a:t>
            </a:r>
            <a:endParaRPr sz="1050"/>
          </a:p>
        </p:txBody>
      </p:sp>
      <p:sp>
        <p:nvSpPr>
          <p:cNvPr id="23" name="Shape 16">
            <a:extLst xmlns:a="http://schemas.openxmlformats.org/drawingml/2006/main">
              <a:ext uri="{FF2B5EF4-FFF2-40B4-BE49-F238E27FC236}">
                <a16:creationId xmlns:a16="http://schemas.microsoft.com/office/drawing/2014/main" id="{4590DE75-6B42-436A-89AE-3DBCDC546E5B}"/>
              </a:ext>
            </a:extLst>
          </p:cNvPr>
          <p:cNvSpPr>
            <a:spLocks xmlns:a="http://schemas.openxmlformats.org/drawingml/2006/main" noGrp="1"/>
          </p:cNvSpPr>
          <p:nvPr/>
        </p:nvSpPr>
        <p:spPr>
          <a:xfrm xmlns:a="http://schemas.openxmlformats.org/drawingml/2006/main">
            <a:off x="621792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0" name="Image 5">
            <a:extLst xmlns:a="http://schemas.openxmlformats.org/drawingml/2006/main">
              <a:ext uri="{FF2B5EF4-FFF2-40B4-BE49-F238E27FC236}">
                <a16:creationId xmlns:a16="http://schemas.microsoft.com/office/drawing/2014/main" id="{CE01F314-11E3-4076-A634-8BB07DB986E6}"/>
              </a:ext>
            </a:extLst>
          </p:cNvPr>
          <p:cNvPicPr>
            <a:picLocks xmlns:a="http://schemas.openxmlformats.org/drawingml/2006/main" noChangeAspect="1"/>
          </p:cNvPicPr>
          <p:nvPr/>
        </p:nvPicPr>
        <p:blipFill>
          <a:blip xmlns:r="http://schemas.openxmlformats.org/officeDocument/2006/relationships" xmlns:a="http://schemas.openxmlformats.org/drawingml/2006/main" r:embed="Re0ef7303f3c04c19"/>
          <a:stretch xmlns:a="http://schemas.openxmlformats.org/drawingml/2006/main">
            <a:fillRect l="0" t="0" r="0" b="0"/>
          </a:stretch>
        </p:blipFill>
        <p:spPr>
          <a:xfrm xmlns:a="http://schemas.openxmlformats.org/drawingml/2006/main">
            <a:off x="6355080" y="3383280"/>
            <a:ext cx="457200" cy="457200"/>
          </a:xfrm>
          <a:prstGeom xmlns:a="http://schemas.openxmlformats.org/drawingml/2006/main" prst="rect">
            <a:avLst/>
          </a:prstGeom>
        </p:spPr>
      </p:pic>
      <p:sp>
        <p:nvSpPr>
          <p:cNvPr id="25" name="Text 17">
            <a:extLst xmlns:a="http://schemas.openxmlformats.org/drawingml/2006/main">
              <a:ext uri="{FF2B5EF4-FFF2-40B4-BE49-F238E27FC236}">
                <a16:creationId xmlns:a16="http://schemas.microsoft.com/office/drawing/2014/main" id="{C48D0A07-4ECA-4F1A-82FE-C9B7991B5BA3}"/>
              </a:ext>
            </a:extLst>
          </p:cNvPr>
          <p:cNvSpPr>
            <a:spLocks xmlns:a="http://schemas.openxmlformats.org/drawingml/2006/main" noGrp="1"/>
          </p:cNvSpPr>
          <p:nvPr/>
        </p:nvSpPr>
        <p:spPr>
          <a:xfrm xmlns:a="http://schemas.openxmlformats.org/drawingml/2006/main">
            <a:off x="690372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Berat (Heavy)</a:t>
            </a:r>
            <a:endParaRPr sz="1300"/>
          </a:p>
        </p:txBody>
      </p:sp>
      <p:sp>
        <p:nvSpPr>
          <p:cNvPr id="26" name="Text 18">
            <a:extLst xmlns:a="http://schemas.openxmlformats.org/drawingml/2006/main">
              <a:ext uri="{FF2B5EF4-FFF2-40B4-BE49-F238E27FC236}">
                <a16:creationId xmlns:a16="http://schemas.microsoft.com/office/drawing/2014/main" id="{A5B1B095-195E-4958-BF74-B18EE6524874}"/>
              </a:ext>
            </a:extLst>
          </p:cNvPr>
          <p:cNvSpPr>
            <a:spLocks xmlns:a="http://schemas.openxmlformats.org/drawingml/2006/main" noGrp="1"/>
          </p:cNvSpPr>
          <p:nvPr/>
        </p:nvSpPr>
        <p:spPr>
          <a:xfrm xmlns:a="http://schemas.openxmlformats.org/drawingml/2006/main">
            <a:off x="635508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Tiap VM butuh full OS - ratusan MB hingga GB RAM.</a:t>
            </a:r>
            <a:endParaRPr sz="1050"/>
          </a:p>
        </p:txBody>
      </p:sp>
      <p:sp>
        <p:nvSpPr>
          <p:cNvPr id="27" name="Shape 19">
            <a:extLst xmlns:a="http://schemas.openxmlformats.org/drawingml/2006/main">
              <a:ext uri="{FF2B5EF4-FFF2-40B4-BE49-F238E27FC236}">
                <a16:creationId xmlns:a16="http://schemas.microsoft.com/office/drawing/2014/main" id="{24A1F80D-7DAF-418A-8F42-D802F25E5C0E}"/>
              </a:ext>
            </a:extLst>
          </p:cNvPr>
          <p:cNvSpPr>
            <a:spLocks xmlns:a="http://schemas.openxmlformats.org/drawingml/2006/main" noGrp="1"/>
          </p:cNvSpPr>
          <p:nvPr/>
        </p:nvSpPr>
        <p:spPr>
          <a:xfrm xmlns:a="http://schemas.openxmlformats.org/drawingml/2006/main">
            <a:off x="909828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8" name="Text 20">
            <a:extLst xmlns:a="http://schemas.openxmlformats.org/drawingml/2006/main">
              <a:ext uri="{FF2B5EF4-FFF2-40B4-BE49-F238E27FC236}">
                <a16:creationId xmlns:a16="http://schemas.microsoft.com/office/drawing/2014/main" id="{360F6633-90C3-47F6-864B-AED7D0E814AF}"/>
              </a:ext>
            </a:extLst>
          </p:cNvPr>
          <p:cNvSpPr>
            <a:spLocks xmlns:a="http://schemas.openxmlformats.org/drawingml/2006/main" noGrp="1"/>
          </p:cNvSpPr>
          <p:nvPr/>
        </p:nvSpPr>
        <p:spPr>
          <a:xfrm xmlns:a="http://schemas.openxmlformats.org/drawingml/2006/main">
            <a:off x="978408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Snapshot + Clone</a:t>
            </a:r>
            <a:endParaRPr sz="1300"/>
          </a:p>
        </p:txBody>
      </p:sp>
      <p:sp>
        <p:nvSpPr>
          <p:cNvPr id="29" name="Text 21">
            <a:extLst xmlns:a="http://schemas.openxmlformats.org/drawingml/2006/main">
              <a:ext uri="{FF2B5EF4-FFF2-40B4-BE49-F238E27FC236}">
                <a16:creationId xmlns:a16="http://schemas.microsoft.com/office/drawing/2014/main" id="{BCC0ACB6-7B06-40AB-84D4-30FD8F387EB8}"/>
              </a:ext>
            </a:extLst>
          </p:cNvPr>
          <p:cNvSpPr>
            <a:spLocks xmlns:a="http://schemas.openxmlformats.org/drawingml/2006/main" noGrp="1"/>
          </p:cNvSpPr>
          <p:nvPr/>
        </p:nvSpPr>
        <p:spPr>
          <a:xfrm xmlns:a="http://schemas.openxmlformats.org/drawingml/2006/main">
            <a:off x="923544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Save state lengkap, restore atau duplikasi dalam menit.</a:t>
            </a:r>
            <a:endParaRPr sz="1050"/>
          </a:p>
        </p:txBody>
      </p:sp>
      <p:sp>
        <p:nvSpPr>
          <p:cNvPr id="30" name="Text 22">
            <a:extLst xmlns:a="http://schemas.openxmlformats.org/drawingml/2006/main">
              <a:ext uri="{FF2B5EF4-FFF2-40B4-BE49-F238E27FC236}">
                <a16:creationId xmlns:a16="http://schemas.microsoft.com/office/drawing/2014/main" id="{7481BB94-AE2C-4B43-868D-A2E3C9FBBD5B}"/>
              </a:ext>
            </a:extLst>
          </p:cNvPr>
          <p:cNvSpPr>
            <a:spLocks xmlns:a="http://schemas.openxmlformats.org/drawingml/2006/main" noGrp="1"/>
          </p:cNvSpPr>
          <p:nvPr/>
        </p:nvSpPr>
        <p:spPr>
          <a:xfrm xmlns:a="http://schemas.openxmlformats.org/drawingml/2006/main">
            <a:off x="457200" y="484632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Anda Sudah Pakai VM Saat:</a:t>
            </a:r>
            <a:endParaRPr sz="1400"/>
          </a:p>
        </p:txBody>
      </p:sp>
      <p:sp>
        <p:nvSpPr>
          <p:cNvPr id="31" name="Text 23">
            <a:extLst xmlns:a="http://schemas.openxmlformats.org/drawingml/2006/main">
              <a:ext uri="{FF2B5EF4-FFF2-40B4-BE49-F238E27FC236}">
                <a16:creationId xmlns:a16="http://schemas.microsoft.com/office/drawing/2014/main" id="{9C6FC4A4-E9BD-49CF-8B5A-575F646B39E9}"/>
              </a:ext>
            </a:extLst>
          </p:cNvPr>
          <p:cNvSpPr>
            <a:spLocks xmlns:a="http://schemas.openxmlformats.org/drawingml/2006/main" noGrp="1"/>
          </p:cNvSpPr>
          <p:nvPr/>
        </p:nvSpPr>
        <p:spPr>
          <a:xfrm xmlns:a="http://schemas.openxmlformats.org/drawingml/2006/main">
            <a:off x="640080" y="5257800"/>
            <a:ext cx="1097280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Pakai EC2, GCP Compute Engine, atau Oracle Cloud Free Tier - itu semua VM</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Install WSL2 di Windows untuk Linux - itu VM di balik layar (Hyper-V)</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Pakai VirtualBox atau VMware untuk testing OS lain</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Render farm untuk video - bagi 1 server jadi banyak VM untuk render paralel</a:t>
            </a:r>
            <a:endParaRPr sz="1100"/>
          </a:p>
        </p:txBody>
      </p:sp>
    </p:spTree>
    <p:extLst>
      <p:ext uri="{BB962C8B-B14F-4D97-AF65-F5344CB8AC3E}">
        <p14:creationId xmlns:p14="http://schemas.microsoft.com/office/powerpoint/2010/main" val="7553179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35730B-90EA-4462-B9DF-AA079796F54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958FF8AD-C61C-4D0A-AEE0-08D46B3E276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34DD2563-CC82-4E1E-8E0E-545874B3EC0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1" name="Image 0">
            <a:extLst xmlns:a="http://schemas.openxmlformats.org/drawingml/2006/main">
              <a:ext uri="{FF2B5EF4-FFF2-40B4-BE49-F238E27FC236}">
                <a16:creationId xmlns:a16="http://schemas.microsoft.com/office/drawing/2014/main" id="{769A472E-A106-4812-99F6-474F268EEC54}"/>
              </a:ext>
            </a:extLst>
          </p:cNvPr>
          <p:cNvPicPr>
            <a:picLocks xmlns:a="http://schemas.openxmlformats.org/drawingml/2006/main" noChangeAspect="1"/>
          </p:cNvPicPr>
          <p:nvPr/>
        </p:nvPicPr>
        <p:blipFill>
          <a:blip xmlns:r="http://schemas.openxmlformats.org/officeDocument/2006/relationships" xmlns:a="http://schemas.openxmlformats.org/drawingml/2006/main" r:embed="Rf2343f9209ff4fe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2" name="Image 1">
            <a:extLst xmlns:a="http://schemas.openxmlformats.org/drawingml/2006/main">
              <a:ext uri="{FF2B5EF4-FFF2-40B4-BE49-F238E27FC236}">
                <a16:creationId xmlns:a16="http://schemas.microsoft.com/office/drawing/2014/main" id="{3B0793D4-31F0-4D8C-A656-2EC1330885E8}"/>
              </a:ext>
            </a:extLst>
          </p:cNvPr>
          <p:cNvPicPr>
            <a:picLocks xmlns:a="http://schemas.openxmlformats.org/drawingml/2006/main" noChangeAspect="1"/>
          </p:cNvPicPr>
          <p:nvPr/>
        </p:nvPicPr>
        <p:blipFill>
          <a:blip xmlns:r="http://schemas.openxmlformats.org/officeDocument/2006/relationships" xmlns:a="http://schemas.openxmlformats.org/drawingml/2006/main" r:embed="R88a1518fa4284d5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ABFD71D-0325-4B83-A663-BE460EBAB8D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1B66383-5543-42CD-8190-F36BBFC3EB1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Hypervisor - Type 1 vs Type 2</a:t>
            </a:r>
            <a:endParaRPr sz="2200"/>
          </a:p>
        </p:txBody>
      </p:sp>
      <p:sp>
        <p:nvSpPr>
          <p:cNvPr id="9" name="Text 5">
            <a:extLst xmlns:a="http://schemas.openxmlformats.org/drawingml/2006/main">
              <a:ext uri="{FF2B5EF4-FFF2-40B4-BE49-F238E27FC236}">
                <a16:creationId xmlns:a16="http://schemas.microsoft.com/office/drawing/2014/main" id="{8DA4B602-875B-4B89-8BDE-E72A7AAFD69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Software yang mengelola VM di atas hardware</a:t>
            </a:r>
            <a:endParaRPr sz="1200"/>
          </a:p>
        </p:txBody>
      </p:sp>
      <p:sp>
        <p:nvSpPr>
          <p:cNvPr id="10" name="Shape 6">
            <a:extLst xmlns:a="http://schemas.openxmlformats.org/drawingml/2006/main">
              <a:ext uri="{FF2B5EF4-FFF2-40B4-BE49-F238E27FC236}">
                <a16:creationId xmlns:a16="http://schemas.microsoft.com/office/drawing/2014/main" id="{0A6B8A9A-2DA0-41A0-8C9E-CD2E2ABD132D}"/>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0DBA65AC-9643-438F-9D8B-1E4C9400203F}"/>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FFD72767-41F4-4930-8A16-5AA7DA10CAB0}"/>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spc="300">
                <a:solidFill>
                  <a:srgbClr val="FFFFFF"/>
                </a:solidFill>
                <a:latin typeface="Calibri"/>
                <a:ea typeface="Calibri"/>
                <a:cs typeface="Calibri"/>
              </a:rPr>
              <a:t>TYPE 1  -  Bare Metal</a:t>
            </a:r>
            <a:endParaRPr sz="1700"/>
          </a:p>
        </p:txBody>
      </p:sp>
      <p:sp>
        <p:nvSpPr>
          <p:cNvPr id="13" name="Text 9">
            <a:extLst xmlns:a="http://schemas.openxmlformats.org/drawingml/2006/main">
              <a:ext uri="{FF2B5EF4-FFF2-40B4-BE49-F238E27FC236}">
                <a16:creationId xmlns:a16="http://schemas.microsoft.com/office/drawing/2014/main" id="{B05623AC-8686-47C8-BE9F-256300315229}"/>
              </a:ext>
            </a:extLst>
          </p:cNvPr>
          <p:cNvSpPr>
            <a:spLocks xmlns:a="http://schemas.openxmlformats.org/drawingml/2006/main" noGrp="1"/>
          </p:cNvSpPr>
          <p:nvPr/>
        </p:nvSpPr>
        <p:spPr>
          <a:xfrm xmlns:a="http://schemas.openxmlformats.org/drawingml/2006/main">
            <a:off x="640080" y="214884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Hypervisor jalan langsung di atas hardware - tidak butuh OS host.</a:t>
            </a:r>
            <a:endParaRPr sz="1100"/>
          </a:p>
        </p:txBody>
      </p:sp>
      <p:sp>
        <p:nvSpPr>
          <p:cNvPr id="14" name="Shape 10">
            <a:extLst xmlns:a="http://schemas.openxmlformats.org/drawingml/2006/main">
              <a:ext uri="{FF2B5EF4-FFF2-40B4-BE49-F238E27FC236}">
                <a16:creationId xmlns:a16="http://schemas.microsoft.com/office/drawing/2014/main" id="{94134BD7-C9DC-4846-AC3A-D8A3D40B662E}"/>
              </a:ext>
            </a:extLst>
          </p:cNvPr>
          <p:cNvSpPr>
            <a:spLocks xmlns:a="http://schemas.openxmlformats.org/drawingml/2006/main" noGrp="1"/>
          </p:cNvSpPr>
          <p:nvPr/>
        </p:nvSpPr>
        <p:spPr>
          <a:xfrm xmlns:a="http://schemas.openxmlformats.org/drawingml/2006/main">
            <a:off x="640080" y="2606040"/>
            <a:ext cx="5212080" cy="4114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427D7F34-9B49-4B8B-AB42-F8477B116636}"/>
              </a:ext>
            </a:extLst>
          </p:cNvPr>
          <p:cNvSpPr>
            <a:spLocks xmlns:a="http://schemas.openxmlformats.org/drawingml/2006/main" noGrp="1"/>
          </p:cNvSpPr>
          <p:nvPr/>
        </p:nvSpPr>
        <p:spPr>
          <a:xfrm xmlns:a="http://schemas.openxmlformats.org/drawingml/2006/main">
            <a:off x="640080" y="2606040"/>
            <a:ext cx="5212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VM 1   VM 2   VM 3</a:t>
            </a:r>
            <a:endParaRPr sz="1200"/>
          </a:p>
        </p:txBody>
      </p:sp>
      <p:sp>
        <p:nvSpPr>
          <p:cNvPr id="16" name="Shape 12">
            <a:extLst xmlns:a="http://schemas.openxmlformats.org/drawingml/2006/main">
              <a:ext uri="{FF2B5EF4-FFF2-40B4-BE49-F238E27FC236}">
                <a16:creationId xmlns:a16="http://schemas.microsoft.com/office/drawing/2014/main" id="{296895E8-81DA-449D-8796-7F2CACD113E1}"/>
              </a:ext>
            </a:extLst>
          </p:cNvPr>
          <p:cNvSpPr>
            <a:spLocks xmlns:a="http://schemas.openxmlformats.org/drawingml/2006/main" noGrp="1"/>
          </p:cNvSpPr>
          <p:nvPr/>
        </p:nvSpPr>
        <p:spPr>
          <a:xfrm xmlns:a="http://schemas.openxmlformats.org/drawingml/2006/main">
            <a:off x="640080" y="3108960"/>
            <a:ext cx="5212080" cy="4114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7" name="Text 13">
            <a:extLst xmlns:a="http://schemas.openxmlformats.org/drawingml/2006/main">
              <a:ext uri="{FF2B5EF4-FFF2-40B4-BE49-F238E27FC236}">
                <a16:creationId xmlns:a16="http://schemas.microsoft.com/office/drawing/2014/main" id="{E8894CF8-07FF-4EAD-8B71-7586ABC2C35F}"/>
              </a:ext>
            </a:extLst>
          </p:cNvPr>
          <p:cNvSpPr>
            <a:spLocks xmlns:a="http://schemas.openxmlformats.org/drawingml/2006/main" noGrp="1"/>
          </p:cNvSpPr>
          <p:nvPr/>
        </p:nvSpPr>
        <p:spPr>
          <a:xfrm xmlns:a="http://schemas.openxmlformats.org/drawingml/2006/main">
            <a:off x="640080" y="3108960"/>
            <a:ext cx="5212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HYPERVISOR (KVM / ESXi / Hyper-V)</a:t>
            </a:r>
            <a:endParaRPr sz="1200"/>
          </a:p>
        </p:txBody>
      </p:sp>
      <p:sp>
        <p:nvSpPr>
          <p:cNvPr id="18" name="Shape 14">
            <a:extLst xmlns:a="http://schemas.openxmlformats.org/drawingml/2006/main">
              <a:ext uri="{FF2B5EF4-FFF2-40B4-BE49-F238E27FC236}">
                <a16:creationId xmlns:a16="http://schemas.microsoft.com/office/drawing/2014/main" id="{6AB68A69-42C6-4925-AEF5-70535FF16241}"/>
              </a:ext>
            </a:extLst>
          </p:cNvPr>
          <p:cNvSpPr>
            <a:spLocks xmlns:a="http://schemas.openxmlformats.org/drawingml/2006/main" noGrp="1"/>
          </p:cNvSpPr>
          <p:nvPr/>
        </p:nvSpPr>
        <p:spPr>
          <a:xfrm xmlns:a="http://schemas.openxmlformats.org/drawingml/2006/main">
            <a:off x="640080" y="3611880"/>
            <a:ext cx="5212080" cy="411480"/>
          </a:xfrm>
          <a:prstGeom xmlns:a="http://schemas.openxmlformats.org/drawingml/2006/main" prst="rect">
            <a:avLst/>
          </a:prstGeom>
          <a:solidFill xmlns:a="http://schemas.openxmlformats.org/drawingml/2006/main">
            <a:srgbClr val="475569"/>
          </a:solidFill>
          <a:ln xmlns:a="http://schemas.openxmlformats.org/drawingml/2006/main" w="12700">
            <a:solidFill>
              <a:srgbClr val="475569"/>
            </a:solidFill>
            <a:prstDash val="solid"/>
          </a:ln>
        </p:spPr>
      </p:sp>
      <p:sp>
        <p:nvSpPr>
          <p:cNvPr id="19" name="Text 15">
            <a:extLst xmlns:a="http://schemas.openxmlformats.org/drawingml/2006/main">
              <a:ext uri="{FF2B5EF4-FFF2-40B4-BE49-F238E27FC236}">
                <a16:creationId xmlns:a16="http://schemas.microsoft.com/office/drawing/2014/main" id="{9CB6484F-232D-4345-AEE2-7BF20D43FF88}"/>
              </a:ext>
            </a:extLst>
          </p:cNvPr>
          <p:cNvSpPr>
            <a:spLocks xmlns:a="http://schemas.openxmlformats.org/drawingml/2006/main" noGrp="1"/>
          </p:cNvSpPr>
          <p:nvPr/>
        </p:nvSpPr>
        <p:spPr>
          <a:xfrm xmlns:a="http://schemas.openxmlformats.org/drawingml/2006/main">
            <a:off x="640080" y="3611880"/>
            <a:ext cx="5212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HARDWARE (CPU, RAM, Disk)</a:t>
            </a:r>
            <a:endParaRPr sz="1200"/>
          </a:p>
        </p:txBody>
      </p:sp>
      <p:sp>
        <p:nvSpPr>
          <p:cNvPr id="20" name="Text 16">
            <a:extLst xmlns:a="http://schemas.openxmlformats.org/drawingml/2006/main">
              <a:ext uri="{FF2B5EF4-FFF2-40B4-BE49-F238E27FC236}">
                <a16:creationId xmlns:a16="http://schemas.microsoft.com/office/drawing/2014/main" id="{2FF7EBBE-BEB9-494A-9166-21A468AF9236}"/>
              </a:ext>
            </a:extLst>
          </p:cNvPr>
          <p:cNvSpPr>
            <a:spLocks xmlns:a="http://schemas.openxmlformats.org/drawingml/2006/main" noGrp="1"/>
          </p:cNvSpPr>
          <p:nvPr/>
        </p:nvSpPr>
        <p:spPr>
          <a:xfrm xmlns:a="http://schemas.openxmlformats.org/drawingml/2006/main">
            <a:off x="640080" y="425196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F37021"/>
                </a:solidFill>
                <a:latin typeface="Calibri"/>
                <a:ea typeface="Calibri"/>
                <a:cs typeface="Calibri"/>
              </a:rPr>
              <a:t>Performa &amp; Use Case:</a:t>
            </a:r>
            <a:endParaRPr sz="1100"/>
          </a:p>
        </p:txBody>
      </p:sp>
      <p:sp>
        <p:nvSpPr>
          <p:cNvPr id="21" name="Text 17">
            <a:extLst xmlns:a="http://schemas.openxmlformats.org/drawingml/2006/main">
              <a:ext uri="{FF2B5EF4-FFF2-40B4-BE49-F238E27FC236}">
                <a16:creationId xmlns:a16="http://schemas.microsoft.com/office/drawing/2014/main" id="{2AE00BB9-142C-411F-9107-BE70E5A5BABB}"/>
              </a:ext>
            </a:extLst>
          </p:cNvPr>
          <p:cNvSpPr>
            <a:spLocks xmlns:a="http://schemas.openxmlformats.org/drawingml/2006/main" noGrp="1"/>
          </p:cNvSpPr>
          <p:nvPr/>
        </p:nvSpPr>
        <p:spPr>
          <a:xfrm xmlns:a="http://schemas.openxmlformats.org/drawingml/2006/main">
            <a:off x="777240" y="4526280"/>
            <a:ext cx="5029200" cy="1600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Performa terbaik - overhead minimal</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Boot otomatis saat server nyala</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Standar production / data center / cloud</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Contoh: VMware ESXi, KVM, Microsoft Hyper-V, Xen</a:t>
            </a:r>
            <a:endParaRPr sz="1100"/>
          </a:p>
        </p:txBody>
      </p:sp>
      <p:sp>
        <p:nvSpPr>
          <p:cNvPr id="22" name="Shape 18">
            <a:extLst xmlns:a="http://schemas.openxmlformats.org/drawingml/2006/main">
              <a:ext uri="{FF2B5EF4-FFF2-40B4-BE49-F238E27FC236}">
                <a16:creationId xmlns:a16="http://schemas.microsoft.com/office/drawing/2014/main" id="{1FEF3EBD-CF18-404D-80CD-D8506035F8A3}"/>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81E7EC4A-26C9-4486-8263-B6D3C2DBA56B}"/>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2E579A36-3BF7-45FF-BFB9-5C8C40C7F5BD}"/>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spc="300">
                <a:solidFill>
                  <a:srgbClr val="FFFFFF"/>
                </a:solidFill>
                <a:latin typeface="Calibri"/>
                <a:ea typeface="Calibri"/>
                <a:cs typeface="Calibri"/>
              </a:rPr>
              <a:t>TYPE 2  -  Hosted</a:t>
            </a:r>
            <a:endParaRPr sz="1700"/>
          </a:p>
        </p:txBody>
      </p:sp>
      <p:sp>
        <p:nvSpPr>
          <p:cNvPr id="25" name="Text 21">
            <a:extLst xmlns:a="http://schemas.openxmlformats.org/drawingml/2006/main">
              <a:ext uri="{FF2B5EF4-FFF2-40B4-BE49-F238E27FC236}">
                <a16:creationId xmlns:a16="http://schemas.microsoft.com/office/drawing/2014/main" id="{8CCA7526-D3FD-489A-88E3-BEBEFFE0F32E}"/>
              </a:ext>
            </a:extLst>
          </p:cNvPr>
          <p:cNvSpPr>
            <a:spLocks xmlns:a="http://schemas.openxmlformats.org/drawingml/2006/main" noGrp="1"/>
          </p:cNvSpPr>
          <p:nvPr/>
        </p:nvSpPr>
        <p:spPr>
          <a:xfrm xmlns:a="http://schemas.openxmlformats.org/drawingml/2006/main">
            <a:off x="6400800" y="2148840"/>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Hypervisor jadi aplikasi biasa di atas OS host (Windows / macOS / Linux).</a:t>
            </a:r>
            <a:endParaRPr sz="1100"/>
          </a:p>
        </p:txBody>
      </p:sp>
      <p:sp>
        <p:nvSpPr>
          <p:cNvPr id="26" name="Shape 22">
            <a:extLst xmlns:a="http://schemas.openxmlformats.org/drawingml/2006/main">
              <a:ext uri="{FF2B5EF4-FFF2-40B4-BE49-F238E27FC236}">
                <a16:creationId xmlns:a16="http://schemas.microsoft.com/office/drawing/2014/main" id="{1F0297EE-4F28-4CF7-BA38-BA9CC1457565}"/>
              </a:ext>
            </a:extLst>
          </p:cNvPr>
          <p:cNvSpPr>
            <a:spLocks xmlns:a="http://schemas.openxmlformats.org/drawingml/2006/main" noGrp="1"/>
          </p:cNvSpPr>
          <p:nvPr/>
        </p:nvSpPr>
        <p:spPr>
          <a:xfrm xmlns:a="http://schemas.openxmlformats.org/drawingml/2006/main">
            <a:off x="6400800" y="2606040"/>
            <a:ext cx="5120640" cy="32004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3">
            <a:extLst xmlns:a="http://schemas.openxmlformats.org/drawingml/2006/main">
              <a:ext uri="{FF2B5EF4-FFF2-40B4-BE49-F238E27FC236}">
                <a16:creationId xmlns:a16="http://schemas.microsoft.com/office/drawing/2014/main" id="{E4046AF0-9704-47A6-9B39-174F937909F9}"/>
              </a:ext>
            </a:extLst>
          </p:cNvPr>
          <p:cNvSpPr>
            <a:spLocks xmlns:a="http://schemas.openxmlformats.org/drawingml/2006/main" noGrp="1"/>
          </p:cNvSpPr>
          <p:nvPr/>
        </p:nvSpPr>
        <p:spPr>
          <a:xfrm xmlns:a="http://schemas.openxmlformats.org/drawingml/2006/main">
            <a:off x="6400800" y="2606040"/>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VM 1   VM 2</a:t>
            </a:r>
            <a:endParaRPr sz="1100"/>
          </a:p>
        </p:txBody>
      </p:sp>
      <p:sp>
        <p:nvSpPr>
          <p:cNvPr id="28" name="Shape 24">
            <a:extLst xmlns:a="http://schemas.openxmlformats.org/drawingml/2006/main">
              <a:ext uri="{FF2B5EF4-FFF2-40B4-BE49-F238E27FC236}">
                <a16:creationId xmlns:a16="http://schemas.microsoft.com/office/drawing/2014/main" id="{2BF2637F-ED41-4F2A-9693-44B1A945E929}"/>
              </a:ext>
            </a:extLst>
          </p:cNvPr>
          <p:cNvSpPr>
            <a:spLocks xmlns:a="http://schemas.openxmlformats.org/drawingml/2006/main" noGrp="1"/>
          </p:cNvSpPr>
          <p:nvPr/>
        </p:nvSpPr>
        <p:spPr>
          <a:xfrm xmlns:a="http://schemas.openxmlformats.org/drawingml/2006/main">
            <a:off x="6400800" y="2971800"/>
            <a:ext cx="5120640" cy="3200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9" name="Text 25">
            <a:extLst xmlns:a="http://schemas.openxmlformats.org/drawingml/2006/main">
              <a:ext uri="{FF2B5EF4-FFF2-40B4-BE49-F238E27FC236}">
                <a16:creationId xmlns:a16="http://schemas.microsoft.com/office/drawing/2014/main" id="{F6207E54-6F00-464C-A019-9FF7801E0F04}"/>
              </a:ext>
            </a:extLst>
          </p:cNvPr>
          <p:cNvSpPr>
            <a:spLocks xmlns:a="http://schemas.openxmlformats.org/drawingml/2006/main" noGrp="1"/>
          </p:cNvSpPr>
          <p:nvPr/>
        </p:nvSpPr>
        <p:spPr>
          <a:xfrm xmlns:a="http://schemas.openxmlformats.org/drawingml/2006/main">
            <a:off x="6400800" y="2971800"/>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HYPERVISOR (VirtualBox / VMware Workstation)</a:t>
            </a:r>
            <a:endParaRPr sz="1100"/>
          </a:p>
        </p:txBody>
      </p:sp>
      <p:sp>
        <p:nvSpPr>
          <p:cNvPr id="30" name="Shape 26">
            <a:extLst xmlns:a="http://schemas.openxmlformats.org/drawingml/2006/main">
              <a:ext uri="{FF2B5EF4-FFF2-40B4-BE49-F238E27FC236}">
                <a16:creationId xmlns:a16="http://schemas.microsoft.com/office/drawing/2014/main" id="{CA07CF14-7FAF-4C7B-8A35-A851FBD7F063}"/>
              </a:ext>
            </a:extLst>
          </p:cNvPr>
          <p:cNvSpPr>
            <a:spLocks xmlns:a="http://schemas.openxmlformats.org/drawingml/2006/main" noGrp="1"/>
          </p:cNvSpPr>
          <p:nvPr/>
        </p:nvSpPr>
        <p:spPr>
          <a:xfrm xmlns:a="http://schemas.openxmlformats.org/drawingml/2006/main">
            <a:off x="6400800" y="3337560"/>
            <a:ext cx="5120640" cy="32004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31" name="Text 27">
            <a:extLst xmlns:a="http://schemas.openxmlformats.org/drawingml/2006/main">
              <a:ext uri="{FF2B5EF4-FFF2-40B4-BE49-F238E27FC236}">
                <a16:creationId xmlns:a16="http://schemas.microsoft.com/office/drawing/2014/main" id="{9DE792EC-5098-4F8C-8C63-FC1858EDE4F0}"/>
              </a:ext>
            </a:extLst>
          </p:cNvPr>
          <p:cNvSpPr>
            <a:spLocks xmlns:a="http://schemas.openxmlformats.org/drawingml/2006/main" noGrp="1"/>
          </p:cNvSpPr>
          <p:nvPr/>
        </p:nvSpPr>
        <p:spPr>
          <a:xfrm xmlns:a="http://schemas.openxmlformats.org/drawingml/2006/main">
            <a:off x="6400800" y="3337560"/>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HOST OS (Windows / macOS / Linux)</a:t>
            </a:r>
            <a:endParaRPr sz="1100"/>
          </a:p>
        </p:txBody>
      </p:sp>
      <p:sp>
        <p:nvSpPr>
          <p:cNvPr id="32" name="Shape 28">
            <a:extLst xmlns:a="http://schemas.openxmlformats.org/drawingml/2006/main">
              <a:ext uri="{FF2B5EF4-FFF2-40B4-BE49-F238E27FC236}">
                <a16:creationId xmlns:a16="http://schemas.microsoft.com/office/drawing/2014/main" id="{0C5BC26E-B5C6-4B7A-BB83-A6BEBA246C28}"/>
              </a:ext>
            </a:extLst>
          </p:cNvPr>
          <p:cNvSpPr>
            <a:spLocks xmlns:a="http://schemas.openxmlformats.org/drawingml/2006/main" noGrp="1"/>
          </p:cNvSpPr>
          <p:nvPr/>
        </p:nvSpPr>
        <p:spPr>
          <a:xfrm xmlns:a="http://schemas.openxmlformats.org/drawingml/2006/main">
            <a:off x="6400800" y="3703320"/>
            <a:ext cx="5120640" cy="320040"/>
          </a:xfrm>
          <a:prstGeom xmlns:a="http://schemas.openxmlformats.org/drawingml/2006/main" prst="rect">
            <a:avLst/>
          </a:prstGeom>
          <a:solidFill xmlns:a="http://schemas.openxmlformats.org/drawingml/2006/main">
            <a:srgbClr val="475569"/>
          </a:solidFill>
          <a:ln xmlns:a="http://schemas.openxmlformats.org/drawingml/2006/main" w="12700">
            <a:solidFill>
              <a:srgbClr val="475569"/>
            </a:solidFill>
            <a:prstDash val="solid"/>
          </a:ln>
        </p:spPr>
      </p:sp>
      <p:sp>
        <p:nvSpPr>
          <p:cNvPr id="33" name="Text 29">
            <a:extLst xmlns:a="http://schemas.openxmlformats.org/drawingml/2006/main">
              <a:ext uri="{FF2B5EF4-FFF2-40B4-BE49-F238E27FC236}">
                <a16:creationId xmlns:a16="http://schemas.microsoft.com/office/drawing/2014/main" id="{ECF6E6F0-B9E0-4F77-85DE-3B71E34B841C}"/>
              </a:ext>
            </a:extLst>
          </p:cNvPr>
          <p:cNvSpPr>
            <a:spLocks xmlns:a="http://schemas.openxmlformats.org/drawingml/2006/main" noGrp="1"/>
          </p:cNvSpPr>
          <p:nvPr/>
        </p:nvSpPr>
        <p:spPr>
          <a:xfrm xmlns:a="http://schemas.openxmlformats.org/drawingml/2006/main">
            <a:off x="6400800" y="3703320"/>
            <a:ext cx="5120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HARDWARE</a:t>
            </a:r>
            <a:endParaRPr sz="1100"/>
          </a:p>
        </p:txBody>
      </p:sp>
      <p:sp>
        <p:nvSpPr>
          <p:cNvPr id="34" name="Text 30">
            <a:extLst xmlns:a="http://schemas.openxmlformats.org/drawingml/2006/main">
              <a:ext uri="{FF2B5EF4-FFF2-40B4-BE49-F238E27FC236}">
                <a16:creationId xmlns:a16="http://schemas.microsoft.com/office/drawing/2014/main" id="{973768AA-4D23-49FA-9CE0-09CB723C3F00}"/>
              </a:ext>
            </a:extLst>
          </p:cNvPr>
          <p:cNvSpPr>
            <a:spLocks xmlns:a="http://schemas.openxmlformats.org/drawingml/2006/main" noGrp="1"/>
          </p:cNvSpPr>
          <p:nvPr/>
        </p:nvSpPr>
        <p:spPr>
          <a:xfrm xmlns:a="http://schemas.openxmlformats.org/drawingml/2006/main">
            <a:off x="6400800" y="4251960"/>
            <a:ext cx="5120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F37021"/>
                </a:solidFill>
                <a:latin typeface="Calibri"/>
                <a:ea typeface="Calibri"/>
                <a:cs typeface="Calibri"/>
              </a:rPr>
              <a:t>Performa &amp; Use Case:</a:t>
            </a:r>
            <a:endParaRPr sz="1100"/>
          </a:p>
        </p:txBody>
      </p:sp>
      <p:sp>
        <p:nvSpPr>
          <p:cNvPr id="35" name="Text 31">
            <a:extLst xmlns:a="http://schemas.openxmlformats.org/drawingml/2006/main">
              <a:ext uri="{FF2B5EF4-FFF2-40B4-BE49-F238E27FC236}">
                <a16:creationId xmlns:a16="http://schemas.microsoft.com/office/drawing/2014/main" id="{F99903B4-D765-4DCA-93D2-F222BA6480D7}"/>
              </a:ext>
            </a:extLst>
          </p:cNvPr>
          <p:cNvSpPr>
            <a:spLocks xmlns:a="http://schemas.openxmlformats.org/drawingml/2006/main" noGrp="1"/>
          </p:cNvSpPr>
          <p:nvPr/>
        </p:nvSpPr>
        <p:spPr>
          <a:xfrm xmlns:a="http://schemas.openxmlformats.org/drawingml/2006/main">
            <a:off x="6537960" y="4526280"/>
            <a:ext cx="4937760" cy="1600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Overhead lebih besar - lewat OS host</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Mudah dipakai - install seperti aplikasi biasa</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Cocok untuk dev / testing / belajar</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Contoh: VirtualBox, VMware Workstation, Parallels</a:t>
            </a:r>
            <a:endParaRPr sz="1100"/>
          </a:p>
        </p:txBody>
      </p:sp>
    </p:spTree>
    <p:extLst>
      <p:ext uri="{BB962C8B-B14F-4D97-AF65-F5344CB8AC3E}">
        <p14:creationId xmlns:p14="http://schemas.microsoft.com/office/powerpoint/2010/main" val="15774315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A93FE9-8A84-41D6-A6D9-C5EAAD4BDA4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C449B0E4-2D9C-40BF-B7EB-B2195F5B605F}"/>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74477842-1DD5-48CA-8E1C-41A056610C3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0" name="Image 0">
            <a:extLst xmlns:a="http://schemas.openxmlformats.org/drawingml/2006/main">
              <a:ext uri="{FF2B5EF4-FFF2-40B4-BE49-F238E27FC236}">
                <a16:creationId xmlns:a16="http://schemas.microsoft.com/office/drawing/2014/main" id="{EB26BDA9-E244-4C07-B9FC-8C9D1FF52496}"/>
              </a:ext>
            </a:extLst>
          </p:cNvPr>
          <p:cNvPicPr>
            <a:picLocks xmlns:a="http://schemas.openxmlformats.org/drawingml/2006/main" noChangeAspect="1"/>
          </p:cNvPicPr>
          <p:nvPr/>
        </p:nvPicPr>
        <p:blipFill>
          <a:blip xmlns:r="http://schemas.openxmlformats.org/officeDocument/2006/relationships" xmlns:a="http://schemas.openxmlformats.org/drawingml/2006/main" r:embed="Rea0d77777f434f6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1" name="Image 1">
            <a:extLst xmlns:a="http://schemas.openxmlformats.org/drawingml/2006/main">
              <a:ext uri="{FF2B5EF4-FFF2-40B4-BE49-F238E27FC236}">
                <a16:creationId xmlns:a16="http://schemas.microsoft.com/office/drawing/2014/main" id="{135AFFD9-7A4C-4A5F-B0FB-DB8E971E730D}"/>
              </a:ext>
            </a:extLst>
          </p:cNvPr>
          <p:cNvPicPr>
            <a:picLocks xmlns:a="http://schemas.openxmlformats.org/drawingml/2006/main" noChangeAspect="1"/>
          </p:cNvPicPr>
          <p:nvPr/>
        </p:nvPicPr>
        <p:blipFill>
          <a:blip xmlns:r="http://schemas.openxmlformats.org/officeDocument/2006/relationships" xmlns:a="http://schemas.openxmlformats.org/drawingml/2006/main" r:embed="R27c070bf0c17499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62E705FC-6213-489F-9E7D-6383CE84BDF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B2E086D-E8AB-439D-A6E9-43098CC4032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Hypervisor Populer</a:t>
            </a:r>
            <a:endParaRPr sz="2200"/>
          </a:p>
        </p:txBody>
      </p:sp>
      <p:sp>
        <p:nvSpPr>
          <p:cNvPr id="9" name="Text 5">
            <a:extLst xmlns:a="http://schemas.openxmlformats.org/drawingml/2006/main">
              <a:ext uri="{FF2B5EF4-FFF2-40B4-BE49-F238E27FC236}">
                <a16:creationId xmlns:a16="http://schemas.microsoft.com/office/drawing/2014/main" id="{86660228-8870-4AB5-BE80-08BD31646D94}"/>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Yang Anda akan temui di cloud dan di laptop</a:t>
            </a:r>
            <a:endParaRPr sz="1200"/>
          </a:p>
        </p:txBody>
      </p:sp>
      <p:sp>
        <p:nvSpPr>
          <p:cNvPr id="10" name="Shape 6">
            <a:extLst xmlns:a="http://schemas.openxmlformats.org/drawingml/2006/main">
              <a:ext uri="{FF2B5EF4-FFF2-40B4-BE49-F238E27FC236}">
                <a16:creationId xmlns:a16="http://schemas.microsoft.com/office/drawing/2014/main" id="{04E3F7D4-BA13-424B-BAC2-FABBAFAE24FB}"/>
              </a:ext>
            </a:extLst>
          </p:cNvPr>
          <p:cNvSpPr>
            <a:spLocks xmlns:a="http://schemas.openxmlformats.org/drawingml/2006/main" noGrp="1"/>
          </p:cNvSpPr>
          <p:nvPr/>
        </p:nvSpPr>
        <p:spPr>
          <a:xfrm xmlns:a="http://schemas.openxmlformats.org/drawingml/2006/main">
            <a:off x="457200"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8F975058-C1F2-40CB-BEE1-E9E6AFCAA2CB}"/>
              </a:ext>
            </a:extLst>
          </p:cNvPr>
          <p:cNvSpPr>
            <a:spLocks xmlns:a="http://schemas.openxmlformats.org/drawingml/2006/main" noGrp="1"/>
          </p:cNvSpPr>
          <p:nvPr/>
        </p:nvSpPr>
        <p:spPr>
          <a:xfrm xmlns:a="http://schemas.openxmlformats.org/drawingml/2006/main">
            <a:off x="457200" y="1417320"/>
            <a:ext cx="2697480" cy="109728"/>
          </a:xfrm>
          <a:prstGeom xmlns:a="http://schemas.openxmlformats.org/drawingml/2006/main" prst="rect">
            <a:avLst/>
          </a:prstGeom>
          <a:solidFill xmlns:a="http://schemas.openxmlformats.org/drawingml/2006/main">
            <a:srgbClr val="FCC624"/>
          </a:solidFill>
          <a:ln xmlns:a="http://schemas.openxmlformats.org/drawingml/2006/main" w="12700">
            <a:solidFill>
              <a:srgbClr val="FCC624"/>
            </a:solidFill>
            <a:prstDash val="solid"/>
          </a:ln>
        </p:spPr>
      </p:sp>
      <p:pic>
        <p:nvPicPr>
          <p:cNvPr id="67" name="Image 2">
            <a:extLst xmlns:a="http://schemas.openxmlformats.org/drawingml/2006/main">
              <a:ext uri="{FF2B5EF4-FFF2-40B4-BE49-F238E27FC236}">
                <a16:creationId xmlns:a16="http://schemas.microsoft.com/office/drawing/2014/main" id="{192B23C0-1A8D-43E7-B095-E0AD050CD926}"/>
              </a:ext>
            </a:extLst>
          </p:cNvPr>
          <p:cNvPicPr>
            <a:picLocks xmlns:a="http://schemas.openxmlformats.org/drawingml/2006/main" noChangeAspect="1"/>
          </p:cNvPicPr>
          <p:nvPr/>
        </p:nvPicPr>
        <p:blipFill>
          <a:blip xmlns:r="http://schemas.openxmlformats.org/officeDocument/2006/relationships" xmlns:a="http://schemas.openxmlformats.org/drawingml/2006/main" r:embed="Re301252b909c48ba"/>
          <a:stretch xmlns:a="http://schemas.openxmlformats.org/drawingml/2006/main">
            <a:fillRect l="0" t="0" r="0" b="0"/>
          </a:stretch>
        </p:blipFill>
        <p:spPr>
          <a:xfrm xmlns:a="http://schemas.openxmlformats.org/drawingml/2006/main">
            <a:off x="1440180" y="1737360"/>
            <a:ext cx="731520" cy="7315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EF1D8D4A-A540-4F74-80D4-5C0BB2689ED5}"/>
              </a:ext>
            </a:extLst>
          </p:cNvPr>
          <p:cNvSpPr>
            <a:spLocks xmlns:a="http://schemas.openxmlformats.org/drawingml/2006/main" noGrp="1"/>
          </p:cNvSpPr>
          <p:nvPr/>
        </p:nvSpPr>
        <p:spPr>
          <a:xfrm xmlns:a="http://schemas.openxmlformats.org/drawingml/2006/main">
            <a:off x="457200"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KVM</a:t>
            </a:r>
            <a:endParaRPr sz="1600"/>
          </a:p>
        </p:txBody>
      </p:sp>
      <p:sp>
        <p:nvSpPr>
          <p:cNvPr id="14" name="Shape 9">
            <a:extLst xmlns:a="http://schemas.openxmlformats.org/drawingml/2006/main">
              <a:ext uri="{FF2B5EF4-FFF2-40B4-BE49-F238E27FC236}">
                <a16:creationId xmlns:a16="http://schemas.microsoft.com/office/drawing/2014/main" id="{93CC24B4-65DA-46FD-8F47-24E89C7D222C}"/>
              </a:ext>
            </a:extLst>
          </p:cNvPr>
          <p:cNvSpPr>
            <a:spLocks xmlns:a="http://schemas.openxmlformats.org/drawingml/2006/main" noGrp="1"/>
          </p:cNvSpPr>
          <p:nvPr/>
        </p:nvSpPr>
        <p:spPr>
          <a:xfrm xmlns:a="http://schemas.openxmlformats.org/drawingml/2006/main">
            <a:off x="1257300"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80169099-E576-4CBE-93FE-FC67F51F5CEB}"/>
              </a:ext>
            </a:extLst>
          </p:cNvPr>
          <p:cNvSpPr>
            <a:spLocks xmlns:a="http://schemas.openxmlformats.org/drawingml/2006/main" noGrp="1"/>
          </p:cNvSpPr>
          <p:nvPr/>
        </p:nvSpPr>
        <p:spPr>
          <a:xfrm xmlns:a="http://schemas.openxmlformats.org/drawingml/2006/main">
            <a:off x="1257300"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Type 1</a:t>
            </a:r>
            <a:endParaRPr sz="1000"/>
          </a:p>
        </p:txBody>
      </p:sp>
      <p:sp>
        <p:nvSpPr>
          <p:cNvPr id="16" name="Text 11">
            <a:extLst xmlns:a="http://schemas.openxmlformats.org/drawingml/2006/main">
              <a:ext uri="{FF2B5EF4-FFF2-40B4-BE49-F238E27FC236}">
                <a16:creationId xmlns:a16="http://schemas.microsoft.com/office/drawing/2014/main" id="{5B1C879B-9740-409C-9453-61FC5FF584CE}"/>
              </a:ext>
            </a:extLst>
          </p:cNvPr>
          <p:cNvSpPr>
            <a:spLocks xmlns:a="http://schemas.openxmlformats.org/drawingml/2006/main" noGrp="1"/>
          </p:cNvSpPr>
          <p:nvPr/>
        </p:nvSpPr>
        <p:spPr>
          <a:xfrm xmlns:a="http://schemas.openxmlformats.org/drawingml/2006/main">
            <a:off x="594360"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Linux kernel module. Free, open source. Tulang punggung kebanyakan cloud (AWS Nitro, GCP).</a:t>
            </a:r>
            <a:endParaRPr sz="1100"/>
          </a:p>
        </p:txBody>
      </p:sp>
      <p:sp>
        <p:nvSpPr>
          <p:cNvPr id="17" name="Shape 12">
            <a:extLst xmlns:a="http://schemas.openxmlformats.org/drawingml/2006/main">
              <a:ext uri="{FF2B5EF4-FFF2-40B4-BE49-F238E27FC236}">
                <a16:creationId xmlns:a16="http://schemas.microsoft.com/office/drawing/2014/main" id="{2D5F53FE-8590-4ABA-8F51-6484C1604724}"/>
              </a:ext>
            </a:extLst>
          </p:cNvPr>
          <p:cNvSpPr>
            <a:spLocks xmlns:a="http://schemas.openxmlformats.org/drawingml/2006/main" noGrp="1"/>
          </p:cNvSpPr>
          <p:nvPr/>
        </p:nvSpPr>
        <p:spPr>
          <a:xfrm xmlns:a="http://schemas.openxmlformats.org/drawingml/2006/main">
            <a:off x="594360"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8" name="Text 13">
            <a:extLst xmlns:a="http://schemas.openxmlformats.org/drawingml/2006/main">
              <a:ext uri="{FF2B5EF4-FFF2-40B4-BE49-F238E27FC236}">
                <a16:creationId xmlns:a16="http://schemas.microsoft.com/office/drawing/2014/main" id="{5B3FD891-C4F8-4A6E-AC16-BB16B6C2F6FE}"/>
              </a:ext>
            </a:extLst>
          </p:cNvPr>
          <p:cNvSpPr>
            <a:spLocks xmlns:a="http://schemas.openxmlformats.org/drawingml/2006/main" noGrp="1"/>
          </p:cNvSpPr>
          <p:nvPr/>
        </p:nvSpPr>
        <p:spPr>
          <a:xfrm xmlns:a="http://schemas.openxmlformats.org/drawingml/2006/main">
            <a:off x="594360"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19" name="Text 14">
            <a:extLst xmlns:a="http://schemas.openxmlformats.org/drawingml/2006/main">
              <a:ext uri="{FF2B5EF4-FFF2-40B4-BE49-F238E27FC236}">
                <a16:creationId xmlns:a16="http://schemas.microsoft.com/office/drawing/2014/main" id="{1F02923E-919C-4073-A904-48CBAC19D80E}"/>
              </a:ext>
            </a:extLst>
          </p:cNvPr>
          <p:cNvSpPr>
            <a:spLocks xmlns:a="http://schemas.openxmlformats.org/drawingml/2006/main" noGrp="1"/>
          </p:cNvSpPr>
          <p:nvPr/>
        </p:nvSpPr>
        <p:spPr>
          <a:xfrm xmlns:a="http://schemas.openxmlformats.org/drawingml/2006/main">
            <a:off x="594360"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Production cloud</a:t>
            </a:r>
            <a:endParaRPr sz="1100"/>
          </a:p>
        </p:txBody>
      </p:sp>
      <p:sp>
        <p:nvSpPr>
          <p:cNvPr id="20" name="Shape 15">
            <a:extLst xmlns:a="http://schemas.openxmlformats.org/drawingml/2006/main">
              <a:ext uri="{FF2B5EF4-FFF2-40B4-BE49-F238E27FC236}">
                <a16:creationId xmlns:a16="http://schemas.microsoft.com/office/drawing/2014/main" id="{9AF43307-C0F2-4267-A3D6-B46E7F7D1E21}"/>
              </a:ext>
            </a:extLst>
          </p:cNvPr>
          <p:cNvSpPr>
            <a:spLocks xmlns:a="http://schemas.openxmlformats.org/drawingml/2006/main" noGrp="1"/>
          </p:cNvSpPr>
          <p:nvPr/>
        </p:nvSpPr>
        <p:spPr>
          <a:xfrm xmlns:a="http://schemas.openxmlformats.org/drawingml/2006/main">
            <a:off x="3319272"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6">
            <a:extLst xmlns:a="http://schemas.openxmlformats.org/drawingml/2006/main">
              <a:ext uri="{FF2B5EF4-FFF2-40B4-BE49-F238E27FC236}">
                <a16:creationId xmlns:a16="http://schemas.microsoft.com/office/drawing/2014/main" id="{DA833E29-54ED-4C7B-874E-74A42BE0E8BA}"/>
              </a:ext>
            </a:extLst>
          </p:cNvPr>
          <p:cNvSpPr>
            <a:spLocks xmlns:a="http://schemas.openxmlformats.org/drawingml/2006/main" noGrp="1"/>
          </p:cNvSpPr>
          <p:nvPr/>
        </p:nvSpPr>
        <p:spPr>
          <a:xfrm xmlns:a="http://schemas.openxmlformats.org/drawingml/2006/main">
            <a:off x="3319272" y="1417320"/>
            <a:ext cx="2697480" cy="109728"/>
          </a:xfrm>
          <a:prstGeom xmlns:a="http://schemas.openxmlformats.org/drawingml/2006/main" prst="rect">
            <a:avLst/>
          </a:prstGeom>
          <a:solidFill xmlns:a="http://schemas.openxmlformats.org/drawingml/2006/main">
            <a:srgbClr val="607078"/>
          </a:solidFill>
          <a:ln xmlns:a="http://schemas.openxmlformats.org/drawingml/2006/main" w="12700">
            <a:solidFill>
              <a:srgbClr val="607078"/>
            </a:solidFill>
            <a:prstDash val="solid"/>
          </a:ln>
        </p:spPr>
      </p:sp>
      <p:pic>
        <p:nvPicPr>
          <p:cNvPr id="77" name="Image 3">
            <a:extLst xmlns:a="http://schemas.openxmlformats.org/drawingml/2006/main">
              <a:ext uri="{FF2B5EF4-FFF2-40B4-BE49-F238E27FC236}">
                <a16:creationId xmlns:a16="http://schemas.microsoft.com/office/drawing/2014/main" id="{D379B6C2-A877-440B-AA36-96DBDA7103CB}"/>
              </a:ext>
            </a:extLst>
          </p:cNvPr>
          <p:cNvPicPr>
            <a:picLocks xmlns:a="http://schemas.openxmlformats.org/drawingml/2006/main" noChangeAspect="1"/>
          </p:cNvPicPr>
          <p:nvPr/>
        </p:nvPicPr>
        <p:blipFill>
          <a:blip xmlns:r="http://schemas.openxmlformats.org/officeDocument/2006/relationships" xmlns:a="http://schemas.openxmlformats.org/drawingml/2006/main" r:embed="Rac4e8b69deb34909"/>
          <a:stretch xmlns:a="http://schemas.openxmlformats.org/drawingml/2006/main">
            <a:fillRect l="0" t="0" r="0" b="0"/>
          </a:stretch>
        </p:blipFill>
        <p:spPr>
          <a:xfrm xmlns:a="http://schemas.openxmlformats.org/drawingml/2006/main">
            <a:off x="4302252" y="1737360"/>
            <a:ext cx="731520" cy="73152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9356D28E-D004-45E1-BFB1-139ABED7BAA5}"/>
              </a:ext>
            </a:extLst>
          </p:cNvPr>
          <p:cNvSpPr>
            <a:spLocks xmlns:a="http://schemas.openxmlformats.org/drawingml/2006/main" noGrp="1"/>
          </p:cNvSpPr>
          <p:nvPr/>
        </p:nvSpPr>
        <p:spPr>
          <a:xfrm xmlns:a="http://schemas.openxmlformats.org/drawingml/2006/main">
            <a:off x="3319272"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VMware ESXi</a:t>
            </a:r>
            <a:endParaRPr sz="1600"/>
          </a:p>
        </p:txBody>
      </p:sp>
      <p:sp>
        <p:nvSpPr>
          <p:cNvPr id="24" name="Shape 18">
            <a:extLst xmlns:a="http://schemas.openxmlformats.org/drawingml/2006/main">
              <a:ext uri="{FF2B5EF4-FFF2-40B4-BE49-F238E27FC236}">
                <a16:creationId xmlns:a16="http://schemas.microsoft.com/office/drawing/2014/main" id="{42B2161F-E82E-46AC-AD3F-9E4C4618ABEF}"/>
              </a:ext>
            </a:extLst>
          </p:cNvPr>
          <p:cNvSpPr>
            <a:spLocks xmlns:a="http://schemas.openxmlformats.org/drawingml/2006/main" noGrp="1"/>
          </p:cNvSpPr>
          <p:nvPr/>
        </p:nvSpPr>
        <p:spPr>
          <a:xfrm xmlns:a="http://schemas.openxmlformats.org/drawingml/2006/main">
            <a:off x="4119372"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25" name="Text 19">
            <a:extLst xmlns:a="http://schemas.openxmlformats.org/drawingml/2006/main">
              <a:ext uri="{FF2B5EF4-FFF2-40B4-BE49-F238E27FC236}">
                <a16:creationId xmlns:a16="http://schemas.microsoft.com/office/drawing/2014/main" id="{AA4FF2C8-90AB-4A28-8C38-47B7DF5470ED}"/>
              </a:ext>
            </a:extLst>
          </p:cNvPr>
          <p:cNvSpPr>
            <a:spLocks xmlns:a="http://schemas.openxmlformats.org/drawingml/2006/main" noGrp="1"/>
          </p:cNvSpPr>
          <p:nvPr/>
        </p:nvSpPr>
        <p:spPr>
          <a:xfrm xmlns:a="http://schemas.openxmlformats.org/drawingml/2006/main">
            <a:off x="4119372"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Type 1</a:t>
            </a:r>
            <a:endParaRPr sz="1000"/>
          </a:p>
        </p:txBody>
      </p:sp>
      <p:sp>
        <p:nvSpPr>
          <p:cNvPr id="26" name="Text 20">
            <a:extLst xmlns:a="http://schemas.openxmlformats.org/drawingml/2006/main">
              <a:ext uri="{FF2B5EF4-FFF2-40B4-BE49-F238E27FC236}">
                <a16:creationId xmlns:a16="http://schemas.microsoft.com/office/drawing/2014/main" id="{2AA71F2A-D683-45B5-B55B-8C70720B3BC0}"/>
              </a:ext>
            </a:extLst>
          </p:cNvPr>
          <p:cNvSpPr>
            <a:spLocks xmlns:a="http://schemas.openxmlformats.org/drawingml/2006/main" noGrp="1"/>
          </p:cNvSpPr>
          <p:nvPr/>
        </p:nvSpPr>
        <p:spPr>
          <a:xfrm xmlns:a="http://schemas.openxmlformats.org/drawingml/2006/main">
            <a:off x="3456432"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Enterprise standard sejak 2001. Vendor utama virtualisasi enterprise.</a:t>
            </a:r>
            <a:endParaRPr sz="1100"/>
          </a:p>
        </p:txBody>
      </p:sp>
      <p:sp>
        <p:nvSpPr>
          <p:cNvPr id="27" name="Shape 21">
            <a:extLst xmlns:a="http://schemas.openxmlformats.org/drawingml/2006/main">
              <a:ext uri="{FF2B5EF4-FFF2-40B4-BE49-F238E27FC236}">
                <a16:creationId xmlns:a16="http://schemas.microsoft.com/office/drawing/2014/main" id="{D34A9427-5FC8-48D5-964A-83E374E6E893}"/>
              </a:ext>
            </a:extLst>
          </p:cNvPr>
          <p:cNvSpPr>
            <a:spLocks xmlns:a="http://schemas.openxmlformats.org/drawingml/2006/main" noGrp="1"/>
          </p:cNvSpPr>
          <p:nvPr/>
        </p:nvSpPr>
        <p:spPr>
          <a:xfrm xmlns:a="http://schemas.openxmlformats.org/drawingml/2006/main">
            <a:off x="3456432"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28" name="Text 22">
            <a:extLst xmlns:a="http://schemas.openxmlformats.org/drawingml/2006/main">
              <a:ext uri="{FF2B5EF4-FFF2-40B4-BE49-F238E27FC236}">
                <a16:creationId xmlns:a16="http://schemas.microsoft.com/office/drawing/2014/main" id="{AFC8DE31-1C1F-4EDF-9E4F-A72922992246}"/>
              </a:ext>
            </a:extLst>
          </p:cNvPr>
          <p:cNvSpPr>
            <a:spLocks xmlns:a="http://schemas.openxmlformats.org/drawingml/2006/main" noGrp="1"/>
          </p:cNvSpPr>
          <p:nvPr/>
        </p:nvSpPr>
        <p:spPr>
          <a:xfrm xmlns:a="http://schemas.openxmlformats.org/drawingml/2006/main">
            <a:off x="3456432"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29" name="Text 23">
            <a:extLst xmlns:a="http://schemas.openxmlformats.org/drawingml/2006/main">
              <a:ext uri="{FF2B5EF4-FFF2-40B4-BE49-F238E27FC236}">
                <a16:creationId xmlns:a16="http://schemas.microsoft.com/office/drawing/2014/main" id="{0C76D742-A0F0-4E54-AE79-A7BE122B895D}"/>
              </a:ext>
            </a:extLst>
          </p:cNvPr>
          <p:cNvSpPr>
            <a:spLocks xmlns:a="http://schemas.openxmlformats.org/drawingml/2006/main" noGrp="1"/>
          </p:cNvSpPr>
          <p:nvPr/>
        </p:nvSpPr>
        <p:spPr>
          <a:xfrm xmlns:a="http://schemas.openxmlformats.org/drawingml/2006/main">
            <a:off x="3456432"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Enterprise data center</a:t>
            </a:r>
            <a:endParaRPr sz="1100"/>
          </a:p>
        </p:txBody>
      </p:sp>
      <p:sp>
        <p:nvSpPr>
          <p:cNvPr id="30" name="Shape 24">
            <a:extLst xmlns:a="http://schemas.openxmlformats.org/drawingml/2006/main">
              <a:ext uri="{FF2B5EF4-FFF2-40B4-BE49-F238E27FC236}">
                <a16:creationId xmlns:a16="http://schemas.microsoft.com/office/drawing/2014/main" id="{F1CD29CA-61FC-484D-9C79-5B77C12C5B10}"/>
              </a:ext>
            </a:extLst>
          </p:cNvPr>
          <p:cNvSpPr>
            <a:spLocks xmlns:a="http://schemas.openxmlformats.org/drawingml/2006/main" noGrp="1"/>
          </p:cNvSpPr>
          <p:nvPr/>
        </p:nvSpPr>
        <p:spPr>
          <a:xfrm xmlns:a="http://schemas.openxmlformats.org/drawingml/2006/main">
            <a:off x="6181344"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5">
            <a:extLst xmlns:a="http://schemas.openxmlformats.org/drawingml/2006/main">
              <a:ext uri="{FF2B5EF4-FFF2-40B4-BE49-F238E27FC236}">
                <a16:creationId xmlns:a16="http://schemas.microsoft.com/office/drawing/2014/main" id="{B1F21437-9B03-475F-B1DD-39F5AA154316}"/>
              </a:ext>
            </a:extLst>
          </p:cNvPr>
          <p:cNvSpPr>
            <a:spLocks xmlns:a="http://schemas.openxmlformats.org/drawingml/2006/main" noGrp="1"/>
          </p:cNvSpPr>
          <p:nvPr/>
        </p:nvSpPr>
        <p:spPr>
          <a:xfrm xmlns:a="http://schemas.openxmlformats.org/drawingml/2006/main">
            <a:off x="6181344" y="1417320"/>
            <a:ext cx="2697480" cy="109728"/>
          </a:xfrm>
          <a:prstGeom xmlns:a="http://schemas.openxmlformats.org/drawingml/2006/main" prst="rect">
            <a:avLst/>
          </a:prstGeom>
          <a:solidFill xmlns:a="http://schemas.openxmlformats.org/drawingml/2006/main">
            <a:srgbClr val="00ADEF"/>
          </a:solidFill>
          <a:ln xmlns:a="http://schemas.openxmlformats.org/drawingml/2006/main" w="12700">
            <a:solidFill>
              <a:srgbClr val="00ADEF"/>
            </a:solidFill>
            <a:prstDash val="solid"/>
          </a:ln>
        </p:spPr>
      </p:sp>
      <p:pic>
        <p:nvPicPr>
          <p:cNvPr id="87" name="Image 4">
            <a:extLst xmlns:a="http://schemas.openxmlformats.org/drawingml/2006/main">
              <a:ext uri="{FF2B5EF4-FFF2-40B4-BE49-F238E27FC236}">
                <a16:creationId xmlns:a16="http://schemas.microsoft.com/office/drawing/2014/main" id="{272CAB27-E3E8-4DF4-A4E7-C17EE03BFB9B}"/>
              </a:ext>
            </a:extLst>
          </p:cNvPr>
          <p:cNvPicPr>
            <a:picLocks xmlns:a="http://schemas.openxmlformats.org/drawingml/2006/main" noChangeAspect="1"/>
          </p:cNvPicPr>
          <p:nvPr/>
        </p:nvPicPr>
        <p:blipFill>
          <a:blip xmlns:r="http://schemas.openxmlformats.org/officeDocument/2006/relationships" xmlns:a="http://schemas.openxmlformats.org/drawingml/2006/main" r:embed="Rf9796ad5496444eb"/>
          <a:stretch xmlns:a="http://schemas.openxmlformats.org/drawingml/2006/main">
            <a:fillRect l="0" t="0" r="0" b="0"/>
          </a:stretch>
        </p:blipFill>
        <p:spPr>
          <a:xfrm xmlns:a="http://schemas.openxmlformats.org/drawingml/2006/main">
            <a:off x="7164324" y="1737360"/>
            <a:ext cx="731520" cy="731520"/>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0B5262DC-1400-480A-8876-F0C9824F357A}"/>
              </a:ext>
            </a:extLst>
          </p:cNvPr>
          <p:cNvSpPr>
            <a:spLocks xmlns:a="http://schemas.openxmlformats.org/drawingml/2006/main" noGrp="1"/>
          </p:cNvSpPr>
          <p:nvPr/>
        </p:nvSpPr>
        <p:spPr>
          <a:xfrm xmlns:a="http://schemas.openxmlformats.org/drawingml/2006/main">
            <a:off x="6181344"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Hyper-V</a:t>
            </a:r>
            <a:endParaRPr sz="1600"/>
          </a:p>
        </p:txBody>
      </p:sp>
      <p:sp>
        <p:nvSpPr>
          <p:cNvPr id="34" name="Shape 27">
            <a:extLst xmlns:a="http://schemas.openxmlformats.org/drawingml/2006/main">
              <a:ext uri="{FF2B5EF4-FFF2-40B4-BE49-F238E27FC236}">
                <a16:creationId xmlns:a16="http://schemas.microsoft.com/office/drawing/2014/main" id="{FCB4288A-EBB6-4AEA-A65E-21D408F8B598}"/>
              </a:ext>
            </a:extLst>
          </p:cNvPr>
          <p:cNvSpPr>
            <a:spLocks xmlns:a="http://schemas.openxmlformats.org/drawingml/2006/main" noGrp="1"/>
          </p:cNvSpPr>
          <p:nvPr/>
        </p:nvSpPr>
        <p:spPr>
          <a:xfrm xmlns:a="http://schemas.openxmlformats.org/drawingml/2006/main">
            <a:off x="6981444"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35" name="Text 28">
            <a:extLst xmlns:a="http://schemas.openxmlformats.org/drawingml/2006/main">
              <a:ext uri="{FF2B5EF4-FFF2-40B4-BE49-F238E27FC236}">
                <a16:creationId xmlns:a16="http://schemas.microsoft.com/office/drawing/2014/main" id="{90D37471-8BEE-4447-ADE5-744FCBB62643}"/>
              </a:ext>
            </a:extLst>
          </p:cNvPr>
          <p:cNvSpPr>
            <a:spLocks xmlns:a="http://schemas.openxmlformats.org/drawingml/2006/main" noGrp="1"/>
          </p:cNvSpPr>
          <p:nvPr/>
        </p:nvSpPr>
        <p:spPr>
          <a:xfrm xmlns:a="http://schemas.openxmlformats.org/drawingml/2006/main">
            <a:off x="6981444"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Type 1</a:t>
            </a:r>
            <a:endParaRPr sz="1000"/>
          </a:p>
        </p:txBody>
      </p:sp>
      <p:sp>
        <p:nvSpPr>
          <p:cNvPr id="36" name="Text 29">
            <a:extLst xmlns:a="http://schemas.openxmlformats.org/drawingml/2006/main">
              <a:ext uri="{FF2B5EF4-FFF2-40B4-BE49-F238E27FC236}">
                <a16:creationId xmlns:a16="http://schemas.microsoft.com/office/drawing/2014/main" id="{712DCD72-5961-4433-8EEE-E508B20E98A6}"/>
              </a:ext>
            </a:extLst>
          </p:cNvPr>
          <p:cNvSpPr>
            <a:spLocks xmlns:a="http://schemas.openxmlformats.org/drawingml/2006/main" noGrp="1"/>
          </p:cNvSpPr>
          <p:nvPr/>
        </p:nvSpPr>
        <p:spPr>
          <a:xfrm xmlns:a="http://schemas.openxmlformats.org/drawingml/2006/main">
            <a:off x="6318504"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Microsoft hypervisor. Built-in Windows Server &amp; Pro. Powers WSL2 di Windows.</a:t>
            </a:r>
            <a:endParaRPr sz="1100"/>
          </a:p>
        </p:txBody>
      </p:sp>
      <p:sp>
        <p:nvSpPr>
          <p:cNvPr id="37" name="Shape 30">
            <a:extLst xmlns:a="http://schemas.openxmlformats.org/drawingml/2006/main">
              <a:ext uri="{FF2B5EF4-FFF2-40B4-BE49-F238E27FC236}">
                <a16:creationId xmlns:a16="http://schemas.microsoft.com/office/drawing/2014/main" id="{0DD93D1C-2EA1-4829-B8DA-C86C36460E0A}"/>
              </a:ext>
            </a:extLst>
          </p:cNvPr>
          <p:cNvSpPr>
            <a:spLocks xmlns:a="http://schemas.openxmlformats.org/drawingml/2006/main" noGrp="1"/>
          </p:cNvSpPr>
          <p:nvPr/>
        </p:nvSpPr>
        <p:spPr>
          <a:xfrm xmlns:a="http://schemas.openxmlformats.org/drawingml/2006/main">
            <a:off x="6318504"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8" name="Text 31">
            <a:extLst xmlns:a="http://schemas.openxmlformats.org/drawingml/2006/main">
              <a:ext uri="{FF2B5EF4-FFF2-40B4-BE49-F238E27FC236}">
                <a16:creationId xmlns:a16="http://schemas.microsoft.com/office/drawing/2014/main" id="{F51CA1D9-872D-4C92-9FEB-8CB3308BEF4B}"/>
              </a:ext>
            </a:extLst>
          </p:cNvPr>
          <p:cNvSpPr>
            <a:spLocks xmlns:a="http://schemas.openxmlformats.org/drawingml/2006/main" noGrp="1"/>
          </p:cNvSpPr>
          <p:nvPr/>
        </p:nvSpPr>
        <p:spPr>
          <a:xfrm xmlns:a="http://schemas.openxmlformats.org/drawingml/2006/main">
            <a:off x="6318504"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39" name="Text 32">
            <a:extLst xmlns:a="http://schemas.openxmlformats.org/drawingml/2006/main">
              <a:ext uri="{FF2B5EF4-FFF2-40B4-BE49-F238E27FC236}">
                <a16:creationId xmlns:a16="http://schemas.microsoft.com/office/drawing/2014/main" id="{C2655F66-EB54-4865-A178-952CC7E3CD8C}"/>
              </a:ext>
            </a:extLst>
          </p:cNvPr>
          <p:cNvSpPr>
            <a:spLocks xmlns:a="http://schemas.openxmlformats.org/drawingml/2006/main" noGrp="1"/>
          </p:cNvSpPr>
          <p:nvPr/>
        </p:nvSpPr>
        <p:spPr>
          <a:xfrm xmlns:a="http://schemas.openxmlformats.org/drawingml/2006/main">
            <a:off x="6318504"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Windows ecosystem</a:t>
            </a:r>
            <a:endParaRPr sz="1100"/>
          </a:p>
        </p:txBody>
      </p:sp>
      <p:sp>
        <p:nvSpPr>
          <p:cNvPr id="40" name="Shape 33">
            <a:extLst xmlns:a="http://schemas.openxmlformats.org/drawingml/2006/main">
              <a:ext uri="{FF2B5EF4-FFF2-40B4-BE49-F238E27FC236}">
                <a16:creationId xmlns:a16="http://schemas.microsoft.com/office/drawing/2014/main" id="{C4CD668D-C7F4-4DB6-94E2-04322C828A41}"/>
              </a:ext>
            </a:extLst>
          </p:cNvPr>
          <p:cNvSpPr>
            <a:spLocks xmlns:a="http://schemas.openxmlformats.org/drawingml/2006/main" noGrp="1"/>
          </p:cNvSpPr>
          <p:nvPr/>
        </p:nvSpPr>
        <p:spPr>
          <a:xfrm xmlns:a="http://schemas.openxmlformats.org/drawingml/2006/main">
            <a:off x="9043416"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1" name="Shape 34">
            <a:extLst xmlns:a="http://schemas.openxmlformats.org/drawingml/2006/main">
              <a:ext uri="{FF2B5EF4-FFF2-40B4-BE49-F238E27FC236}">
                <a16:creationId xmlns:a16="http://schemas.microsoft.com/office/drawing/2014/main" id="{5F6D9934-570B-47FA-AE2E-F2AFF353955F}"/>
              </a:ext>
            </a:extLst>
          </p:cNvPr>
          <p:cNvSpPr>
            <a:spLocks xmlns:a="http://schemas.openxmlformats.org/drawingml/2006/main" noGrp="1"/>
          </p:cNvSpPr>
          <p:nvPr/>
        </p:nvSpPr>
        <p:spPr>
          <a:xfrm xmlns:a="http://schemas.openxmlformats.org/drawingml/2006/main">
            <a:off x="9043416" y="1417320"/>
            <a:ext cx="2697480" cy="109728"/>
          </a:xfrm>
          <a:prstGeom xmlns:a="http://schemas.openxmlformats.org/drawingml/2006/main" prst="rect">
            <a:avLst/>
          </a:prstGeom>
          <a:solidFill xmlns:a="http://schemas.openxmlformats.org/drawingml/2006/main">
            <a:srgbClr val="183A61"/>
          </a:solidFill>
          <a:ln xmlns:a="http://schemas.openxmlformats.org/drawingml/2006/main" w="12700">
            <a:solidFill>
              <a:srgbClr val="183A61"/>
            </a:solidFill>
            <a:prstDash val="solid"/>
          </a:ln>
        </p:spPr>
      </p:sp>
      <p:pic>
        <p:nvPicPr>
          <p:cNvPr id="97" name="Image 5">
            <a:extLst xmlns:a="http://schemas.openxmlformats.org/drawingml/2006/main">
              <a:ext uri="{FF2B5EF4-FFF2-40B4-BE49-F238E27FC236}">
                <a16:creationId xmlns:a16="http://schemas.microsoft.com/office/drawing/2014/main" id="{F64C7BF2-F622-4026-B129-513ECC6FE4D6}"/>
              </a:ext>
            </a:extLst>
          </p:cNvPr>
          <p:cNvPicPr>
            <a:picLocks xmlns:a="http://schemas.openxmlformats.org/drawingml/2006/main" noChangeAspect="1"/>
          </p:cNvPicPr>
          <p:nvPr/>
        </p:nvPicPr>
        <p:blipFill>
          <a:blip xmlns:r="http://schemas.openxmlformats.org/officeDocument/2006/relationships" xmlns:a="http://schemas.openxmlformats.org/drawingml/2006/main" r:embed="R0285645673044bb8"/>
          <a:stretch xmlns:a="http://schemas.openxmlformats.org/drawingml/2006/main">
            <a:fillRect l="0" t="0" r="0" b="0"/>
          </a:stretch>
        </p:blipFill>
        <p:spPr>
          <a:xfrm xmlns:a="http://schemas.openxmlformats.org/drawingml/2006/main">
            <a:off x="10026396" y="1737360"/>
            <a:ext cx="731520" cy="731520"/>
          </a:xfrm>
          <a:prstGeom xmlns:a="http://schemas.openxmlformats.org/drawingml/2006/main" prst="rect">
            <a:avLst/>
          </a:prstGeom>
        </p:spPr>
      </p:pic>
      <p:sp>
        <p:nvSpPr>
          <p:cNvPr id="43" name="Text 35">
            <a:extLst xmlns:a="http://schemas.openxmlformats.org/drawingml/2006/main">
              <a:ext uri="{FF2B5EF4-FFF2-40B4-BE49-F238E27FC236}">
                <a16:creationId xmlns:a16="http://schemas.microsoft.com/office/drawing/2014/main" id="{97DCE3BA-11D2-4CB3-879D-D0D085BBF57D}"/>
              </a:ext>
            </a:extLst>
          </p:cNvPr>
          <p:cNvSpPr>
            <a:spLocks xmlns:a="http://schemas.openxmlformats.org/drawingml/2006/main" noGrp="1"/>
          </p:cNvSpPr>
          <p:nvPr/>
        </p:nvSpPr>
        <p:spPr>
          <a:xfrm xmlns:a="http://schemas.openxmlformats.org/drawingml/2006/main">
            <a:off x="9043416"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VirtualBox</a:t>
            </a:r>
            <a:endParaRPr sz="1600"/>
          </a:p>
        </p:txBody>
      </p:sp>
      <p:sp>
        <p:nvSpPr>
          <p:cNvPr id="44" name="Shape 36">
            <a:extLst xmlns:a="http://schemas.openxmlformats.org/drawingml/2006/main">
              <a:ext uri="{FF2B5EF4-FFF2-40B4-BE49-F238E27FC236}">
                <a16:creationId xmlns:a16="http://schemas.microsoft.com/office/drawing/2014/main" id="{6E13071C-7B11-4D20-AF0D-B6D317D3E27F}"/>
              </a:ext>
            </a:extLst>
          </p:cNvPr>
          <p:cNvSpPr>
            <a:spLocks xmlns:a="http://schemas.openxmlformats.org/drawingml/2006/main" noGrp="1"/>
          </p:cNvSpPr>
          <p:nvPr/>
        </p:nvSpPr>
        <p:spPr>
          <a:xfrm xmlns:a="http://schemas.openxmlformats.org/drawingml/2006/main">
            <a:off x="9843516"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45" name="Text 37">
            <a:extLst xmlns:a="http://schemas.openxmlformats.org/drawingml/2006/main">
              <a:ext uri="{FF2B5EF4-FFF2-40B4-BE49-F238E27FC236}">
                <a16:creationId xmlns:a16="http://schemas.microsoft.com/office/drawing/2014/main" id="{971BB2D6-CF9E-454E-B1C5-0524BC2C8575}"/>
              </a:ext>
            </a:extLst>
          </p:cNvPr>
          <p:cNvSpPr>
            <a:spLocks xmlns:a="http://schemas.openxmlformats.org/drawingml/2006/main" noGrp="1"/>
          </p:cNvSpPr>
          <p:nvPr/>
        </p:nvSpPr>
        <p:spPr>
          <a:xfrm xmlns:a="http://schemas.openxmlformats.org/drawingml/2006/main">
            <a:off x="9843516"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Type 2</a:t>
            </a:r>
            <a:endParaRPr sz="1000"/>
          </a:p>
        </p:txBody>
      </p:sp>
      <p:sp>
        <p:nvSpPr>
          <p:cNvPr id="46" name="Text 38">
            <a:extLst xmlns:a="http://schemas.openxmlformats.org/drawingml/2006/main">
              <a:ext uri="{FF2B5EF4-FFF2-40B4-BE49-F238E27FC236}">
                <a16:creationId xmlns:a16="http://schemas.microsoft.com/office/drawing/2014/main" id="{E85003C1-6B55-4DB8-8B67-4C722AC3E3CE}"/>
              </a:ext>
            </a:extLst>
          </p:cNvPr>
          <p:cNvSpPr>
            <a:spLocks xmlns:a="http://schemas.openxmlformats.org/drawingml/2006/main" noGrp="1"/>
          </p:cNvSpPr>
          <p:nvPr/>
        </p:nvSpPr>
        <p:spPr>
          <a:xfrm xmlns:a="http://schemas.openxmlformats.org/drawingml/2006/main">
            <a:off x="9180576"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Oracle, free + open source. Cocok untuk belajar &amp; dev lokal. Cross-platform.</a:t>
            </a:r>
            <a:endParaRPr sz="1100"/>
          </a:p>
        </p:txBody>
      </p:sp>
      <p:sp>
        <p:nvSpPr>
          <p:cNvPr id="47" name="Shape 39">
            <a:extLst xmlns:a="http://schemas.openxmlformats.org/drawingml/2006/main">
              <a:ext uri="{FF2B5EF4-FFF2-40B4-BE49-F238E27FC236}">
                <a16:creationId xmlns:a16="http://schemas.microsoft.com/office/drawing/2014/main" id="{E8C45008-4FE7-41A5-9C22-5E96A6AAC11F}"/>
              </a:ext>
            </a:extLst>
          </p:cNvPr>
          <p:cNvSpPr>
            <a:spLocks xmlns:a="http://schemas.openxmlformats.org/drawingml/2006/main" noGrp="1"/>
          </p:cNvSpPr>
          <p:nvPr/>
        </p:nvSpPr>
        <p:spPr>
          <a:xfrm xmlns:a="http://schemas.openxmlformats.org/drawingml/2006/main">
            <a:off x="9180576"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48" name="Text 40">
            <a:extLst xmlns:a="http://schemas.openxmlformats.org/drawingml/2006/main">
              <a:ext uri="{FF2B5EF4-FFF2-40B4-BE49-F238E27FC236}">
                <a16:creationId xmlns:a16="http://schemas.microsoft.com/office/drawing/2014/main" id="{5E645A7C-E67C-4087-8C9A-D21AFBA5EE36}"/>
              </a:ext>
            </a:extLst>
          </p:cNvPr>
          <p:cNvSpPr>
            <a:spLocks xmlns:a="http://schemas.openxmlformats.org/drawingml/2006/main" noGrp="1"/>
          </p:cNvSpPr>
          <p:nvPr/>
        </p:nvSpPr>
        <p:spPr>
          <a:xfrm xmlns:a="http://schemas.openxmlformats.org/drawingml/2006/main">
            <a:off x="9180576"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49" name="Text 41">
            <a:extLst xmlns:a="http://schemas.openxmlformats.org/drawingml/2006/main">
              <a:ext uri="{FF2B5EF4-FFF2-40B4-BE49-F238E27FC236}">
                <a16:creationId xmlns:a16="http://schemas.microsoft.com/office/drawing/2014/main" id="{8C4AA3C9-F0AC-4CBE-80F9-7A2B2EC944A5}"/>
              </a:ext>
            </a:extLst>
          </p:cNvPr>
          <p:cNvSpPr>
            <a:spLocks xmlns:a="http://schemas.openxmlformats.org/drawingml/2006/main" noGrp="1"/>
          </p:cNvSpPr>
          <p:nvPr/>
        </p:nvSpPr>
        <p:spPr>
          <a:xfrm xmlns:a="http://schemas.openxmlformats.org/drawingml/2006/main">
            <a:off x="9180576"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Belajar, dev lokal</a:t>
            </a:r>
            <a:endParaRPr sz="1100"/>
          </a:p>
        </p:txBody>
      </p:sp>
      <p:sp>
        <p:nvSpPr>
          <p:cNvPr id="50" name="Text 42">
            <a:extLst xmlns:a="http://schemas.openxmlformats.org/drawingml/2006/main">
              <a:ext uri="{FF2B5EF4-FFF2-40B4-BE49-F238E27FC236}">
                <a16:creationId xmlns:a16="http://schemas.microsoft.com/office/drawing/2014/main" id="{851D8806-2E94-4082-8500-80D43924328E}"/>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Untuk praktikum: </a:t>
            </a:r>
            <a:r>
              <a:rPr sz="1100" i="1">
                <a:solidFill>
                  <a:srgbClr val="1E293B"/>
                </a:solidFill>
                <a:latin typeface="Calibri"/>
                <a:ea typeface="Calibri"/>
                <a:cs typeface="Calibri"/>
              </a:rPr>
              <a:t>kita pakai layer di atas - VirtualBox / WSL2 / cloud VM. Container yang akan kita fokus di sisanya pertemuan.</a:t>
            </a:r>
            <a:endParaRPr sz="1100"/>
          </a:p>
        </p:txBody>
      </p:sp>
    </p:spTree>
    <p:extLst>
      <p:ext uri="{BB962C8B-B14F-4D97-AF65-F5344CB8AC3E}">
        <p14:creationId xmlns:p14="http://schemas.microsoft.com/office/powerpoint/2010/main" val="1166410348"/>
      </p:ext>
    </p:extLst>
  </p:cSld>
</p:sld>
</file>

<file path=ppt/slides/slide11.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0AAF6AA-8069-4AD0-A433-70D3CBA8665A}"/>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9412E58E-C160-42B0-B19A-E0B2E86D738C}"/>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D1CC610B-4EAF-434A-B12F-DA06F4749C17}"/>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00FC27E0-C727-4C44-9778-B919EFEC6D4D}"/>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2D0E743D-58BF-4DE1-9E35-109B7DB759D3}"/>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249B9C7F-0834-402B-BCA6-68A9E5B5EE97}"/>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7E68BF7B-81A2-48A2-B441-6979F6ED0857}"/>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88166940-03B6-4202-A2E4-F17D456D15CC}"/>
              </a:ext>
            </a:extLst>
          </p:cNvPr>
          <p:cNvPicPr>
            <a:picLocks xmlns:a="http://schemas.openxmlformats.org/drawingml/2006/main" noChangeAspect="1"/>
          </p:cNvPicPr>
          <p:nvPr/>
        </p:nvPicPr>
        <p:blipFill>
          <a:blip xmlns:r="http://schemas.openxmlformats.org/officeDocument/2006/relationships" xmlns:a="http://schemas.openxmlformats.org/drawingml/2006/main" r:embed="Rff66bb7772c64c03"/>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FD3BC359-DAE7-4D3A-A60F-95C59547EB66}"/>
              </a:ext>
            </a:extLst>
          </p:cNvPr>
          <p:cNvPicPr>
            <a:picLocks xmlns:a="http://schemas.openxmlformats.org/drawingml/2006/main" noChangeAspect="1"/>
          </p:cNvPicPr>
          <p:nvPr/>
        </p:nvPicPr>
        <p:blipFill>
          <a:blip xmlns:r="http://schemas.openxmlformats.org/officeDocument/2006/relationships" xmlns:a="http://schemas.openxmlformats.org/drawingml/2006/main" r:embed="Rf493fead6dc9470e"/>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8394B447-32D3-44E7-885D-C976FBCAA827}"/>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03</a:t>
            </a:r>
            <a:endParaRPr sz="1600"/>
          </a:p>
        </p:txBody>
      </p:sp>
      <p:sp>
        <p:nvSpPr>
          <p:cNvPr id="12" name="Text 8">
            <a:extLst xmlns:a="http://schemas.openxmlformats.org/drawingml/2006/main">
              <a:ext uri="{FF2B5EF4-FFF2-40B4-BE49-F238E27FC236}">
                <a16:creationId xmlns:a16="http://schemas.microsoft.com/office/drawing/2014/main" id="{B715D134-A3B6-4B2E-B1E5-010BA8DBAE67}"/>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Containers &amp;</a:t>
            </a:r>
            <a:endParaRPr sz="5200"/>
          </a:p>
          <a:p xmlns:a="http://schemas.openxmlformats.org/drawingml/2006/main">
            <a:pPr marL="0" indent="0" algn="ctr">
              <a:buNone/>
            </a:pPr>
            <a:r>
              <a:rPr sz="5200" b="1">
                <a:solidFill>
                  <a:srgbClr val="FFFFFF"/>
                </a:solidFill>
                <a:latin typeface="Calibri"/>
                <a:ea typeface="Calibri"/>
                <a:cs typeface="Calibri"/>
              </a:rPr>
              <a:t>Linux Primitives</a:t>
            </a:r>
            <a:endParaRPr sz="5200"/>
          </a:p>
        </p:txBody>
      </p:sp>
      <p:sp>
        <p:nvSpPr>
          <p:cNvPr id="13" name="Shape 9">
            <a:extLst xmlns:a="http://schemas.openxmlformats.org/drawingml/2006/main">
              <a:ext uri="{FF2B5EF4-FFF2-40B4-BE49-F238E27FC236}">
                <a16:creationId xmlns:a16="http://schemas.microsoft.com/office/drawing/2014/main" id="{3EC2B8CA-F8CA-48B7-A0CB-D7E7439BCFDA}"/>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A7340513-A9D6-45AE-AB8B-57847DD22C92}"/>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Cara baru bagi resource - tanpa beratnya VM.</a:t>
            </a:r>
            <a:endParaRPr sz="1400"/>
          </a:p>
        </p:txBody>
      </p:sp>
    </p:spTree>
    <p:extLst>
      <p:ext uri="{BB962C8B-B14F-4D97-AF65-F5344CB8AC3E}">
        <p14:creationId xmlns:p14="http://schemas.microsoft.com/office/powerpoint/2010/main" val="21444622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72F491-B0FD-49BC-8A31-F5D9DD47B9DF}"/>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3C4E1AAF-617B-491B-A168-AD5AF8A4EF0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12</a:t>
            </a:r>
            <a:endParaRPr sz="900"/>
          </a:p>
        </p:txBody>
      </p:sp>
      <p:sp>
        <p:nvSpPr>
          <p:cNvPr id="4" name="Shape 2">
            <a:extLst xmlns:a="http://schemas.openxmlformats.org/drawingml/2006/main">
              <a:ext uri="{FF2B5EF4-FFF2-40B4-BE49-F238E27FC236}">
                <a16:creationId xmlns:a16="http://schemas.microsoft.com/office/drawing/2014/main" id="{863C2CEE-E318-41FD-992F-96F96904324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4" name="Image 0">
            <a:extLst xmlns:a="http://schemas.openxmlformats.org/drawingml/2006/main">
              <a:ext uri="{FF2B5EF4-FFF2-40B4-BE49-F238E27FC236}">
                <a16:creationId xmlns:a16="http://schemas.microsoft.com/office/drawing/2014/main" id="{2EA612C0-A5B2-45DE-86D6-1C303B53314B}"/>
              </a:ext>
            </a:extLst>
          </p:cNvPr>
          <p:cNvPicPr>
            <a:picLocks xmlns:a="http://schemas.openxmlformats.org/drawingml/2006/main" noChangeAspect="1"/>
          </p:cNvPicPr>
          <p:nvPr/>
        </p:nvPicPr>
        <p:blipFill>
          <a:blip xmlns:r="http://schemas.openxmlformats.org/officeDocument/2006/relationships" xmlns:a="http://schemas.openxmlformats.org/drawingml/2006/main" r:embed="R196a4abab5cd42b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5" name="Image 1">
            <a:extLst xmlns:a="http://schemas.openxmlformats.org/drawingml/2006/main">
              <a:ext uri="{FF2B5EF4-FFF2-40B4-BE49-F238E27FC236}">
                <a16:creationId xmlns:a16="http://schemas.microsoft.com/office/drawing/2014/main" id="{F31ACD4C-2F72-4A06-97ED-66566EEB78CC}"/>
              </a:ext>
            </a:extLst>
          </p:cNvPr>
          <p:cNvPicPr>
            <a:picLocks xmlns:a="http://schemas.openxmlformats.org/drawingml/2006/main" noChangeAspect="1"/>
          </p:cNvPicPr>
          <p:nvPr/>
        </p:nvPicPr>
        <p:blipFill>
          <a:blip xmlns:r="http://schemas.openxmlformats.org/officeDocument/2006/relationships" xmlns:a="http://schemas.openxmlformats.org/drawingml/2006/main" r:embed="R4e7eb315bfe840c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63BBA1C-BB73-4C2A-89BB-B48A1868604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602D2C1C-A8A2-4761-B058-64F4CA0731B4}"/>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Apa itu Container?</a:t>
            </a:r>
            <a:endParaRPr sz="2200"/>
          </a:p>
        </p:txBody>
      </p:sp>
      <p:sp>
        <p:nvSpPr>
          <p:cNvPr id="9" name="Text 5">
            <a:extLst xmlns:a="http://schemas.openxmlformats.org/drawingml/2006/main">
              <a:ext uri="{FF2B5EF4-FFF2-40B4-BE49-F238E27FC236}">
                <a16:creationId xmlns:a16="http://schemas.microsoft.com/office/drawing/2014/main" id="{DDD7884C-FC9A-441A-9A68-0642473E7CD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Proses yang diisolasi - bukan komputer virtual lengkap</a:t>
            </a:r>
            <a:endParaRPr sz="1200"/>
          </a:p>
        </p:txBody>
      </p:sp>
      <p:sp>
        <p:nvSpPr>
          <p:cNvPr id="10" name="Shape 6">
            <a:extLst xmlns:a="http://schemas.openxmlformats.org/drawingml/2006/main">
              <a:ext uri="{FF2B5EF4-FFF2-40B4-BE49-F238E27FC236}">
                <a16:creationId xmlns:a16="http://schemas.microsoft.com/office/drawing/2014/main" id="{8F2DEE42-7D89-4737-84AA-AF6327F203DD}"/>
              </a:ext>
            </a:extLst>
          </p:cNvPr>
          <p:cNvSpPr>
            <a:spLocks xmlns:a="http://schemas.openxmlformats.org/drawingml/2006/main" noGrp="1"/>
          </p:cNvSpPr>
          <p:nvPr/>
        </p:nvSpPr>
        <p:spPr>
          <a:xfrm xmlns:a="http://schemas.openxmlformats.org/drawingml/2006/main">
            <a:off x="457200" y="1417320"/>
            <a:ext cx="11247120" cy="11887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0" name="Image 2">
            <a:extLst xmlns:a="http://schemas.openxmlformats.org/drawingml/2006/main">
              <a:ext uri="{FF2B5EF4-FFF2-40B4-BE49-F238E27FC236}">
                <a16:creationId xmlns:a16="http://schemas.microsoft.com/office/drawing/2014/main" id="{E200CC66-18D7-4153-BF72-C4EAAE0756C8}"/>
              </a:ext>
            </a:extLst>
          </p:cNvPr>
          <p:cNvPicPr>
            <a:picLocks xmlns:a="http://schemas.openxmlformats.org/drawingml/2006/main" noChangeAspect="1"/>
          </p:cNvPicPr>
          <p:nvPr/>
        </p:nvPicPr>
        <p:blipFill>
          <a:blip xmlns:r="http://schemas.openxmlformats.org/officeDocument/2006/relationships" xmlns:a="http://schemas.openxmlformats.org/drawingml/2006/main" r:embed="Rc1648b07f5784742"/>
          <a:stretch xmlns:a="http://schemas.openxmlformats.org/drawingml/2006/main">
            <a:fillRect l="0" t="0" r="0" b="0"/>
          </a:stretch>
        </p:blipFill>
        <p:spPr>
          <a:xfrm xmlns:a="http://schemas.openxmlformats.org/drawingml/2006/main">
            <a:off x="777240" y="1691640"/>
            <a:ext cx="685800" cy="685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ED8D2F6D-5079-43D9-A995-B6D838501D66}"/>
              </a:ext>
            </a:extLst>
          </p:cNvPr>
          <p:cNvSpPr>
            <a:spLocks xmlns:a="http://schemas.openxmlformats.org/drawingml/2006/main" noGrp="1"/>
          </p:cNvSpPr>
          <p:nvPr/>
        </p:nvSpPr>
        <p:spPr>
          <a:xfrm xmlns:a="http://schemas.openxmlformats.org/drawingml/2006/main">
            <a:off x="1691640" y="1554480"/>
            <a:ext cx="9601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alibri"/>
                <a:ea typeface="Calibri"/>
                <a:cs typeface="Calibri"/>
              </a:rPr>
              <a:t>Container = proses biasa yang di-isolasi pakai fitur kernel Linux.</a:t>
            </a:r>
            <a:endParaRPr sz="1600"/>
          </a:p>
        </p:txBody>
      </p:sp>
      <p:sp>
        <p:nvSpPr>
          <p:cNvPr id="13" name="Text 8">
            <a:extLst xmlns:a="http://schemas.openxmlformats.org/drawingml/2006/main">
              <a:ext uri="{FF2B5EF4-FFF2-40B4-BE49-F238E27FC236}">
                <a16:creationId xmlns:a16="http://schemas.microsoft.com/office/drawing/2014/main" id="{795B64AC-B996-4CAF-926B-AF46F3E68559}"/>
              </a:ext>
            </a:extLst>
          </p:cNvPr>
          <p:cNvSpPr>
            <a:spLocks xmlns:a="http://schemas.openxmlformats.org/drawingml/2006/main" noGrp="1"/>
          </p:cNvSpPr>
          <p:nvPr/>
        </p:nvSpPr>
        <p:spPr>
          <a:xfrm xmlns:a="http://schemas.openxmlformats.org/drawingml/2006/main">
            <a:off x="1691640" y="1965960"/>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Share kernel OS host. Lebih ringan dari VM. </a:t>
            </a:r>
            <a:r>
              <a:rPr sz="1200">
                <a:solidFill>
                  <a:srgbClr val="FFFFFF"/>
                </a:solidFill>
                <a:latin typeface="Calibri"/>
                <a:ea typeface="Calibri"/>
                <a:cs typeface="Calibri"/>
              </a:rPr>
              <a:t>Startup umumnya cepat tanpa boot guest OS penuh.</a:t>
            </a:r>
            <a:endParaRPr sz="1200"/>
          </a:p>
        </p:txBody>
      </p:sp>
      <p:sp>
        <p:nvSpPr>
          <p:cNvPr id="14" name="Text 9">
            <a:extLst xmlns:a="http://schemas.openxmlformats.org/drawingml/2006/main">
              <a:ext uri="{FF2B5EF4-FFF2-40B4-BE49-F238E27FC236}">
                <a16:creationId xmlns:a16="http://schemas.microsoft.com/office/drawing/2014/main" id="{0F23B5C1-2CDC-4F34-8EB1-B19AC80D2076}"/>
              </a:ext>
            </a:extLst>
          </p:cNvPr>
          <p:cNvSpPr>
            <a:spLocks xmlns:a="http://schemas.openxmlformats.org/drawingml/2006/main" noGrp="1"/>
          </p:cNvSpPr>
          <p:nvPr/>
        </p:nvSpPr>
        <p:spPr>
          <a:xfrm xmlns:a="http://schemas.openxmlformats.org/drawingml/2006/main">
            <a:off x="457200" y="278892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Karakteristik Container</a:t>
            </a:r>
            <a:endParaRPr sz="1400"/>
          </a:p>
        </p:txBody>
      </p:sp>
      <p:sp>
        <p:nvSpPr>
          <p:cNvPr id="15" name="Shape 10">
            <a:extLst xmlns:a="http://schemas.openxmlformats.org/drawingml/2006/main">
              <a:ext uri="{FF2B5EF4-FFF2-40B4-BE49-F238E27FC236}">
                <a16:creationId xmlns:a16="http://schemas.microsoft.com/office/drawing/2014/main" id="{748BCC62-1244-4D0F-89A3-5F3941D8724D}"/>
              </a:ext>
            </a:extLst>
          </p:cNvPr>
          <p:cNvSpPr>
            <a:spLocks xmlns:a="http://schemas.openxmlformats.org/drawingml/2006/main" noGrp="1"/>
          </p:cNvSpPr>
          <p:nvPr/>
        </p:nvSpPr>
        <p:spPr>
          <a:xfrm xmlns:a="http://schemas.openxmlformats.org/drawingml/2006/main">
            <a:off x="45720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5" name="Image 3">
            <a:extLst xmlns:a="http://schemas.openxmlformats.org/drawingml/2006/main">
              <a:ext uri="{FF2B5EF4-FFF2-40B4-BE49-F238E27FC236}">
                <a16:creationId xmlns:a16="http://schemas.microsoft.com/office/drawing/2014/main" id="{7BBA2821-DB0C-4694-B20A-D1B91F16A8C1}"/>
              </a:ext>
            </a:extLst>
          </p:cNvPr>
          <p:cNvPicPr>
            <a:picLocks xmlns:a="http://schemas.openxmlformats.org/drawingml/2006/main" noChangeAspect="1"/>
          </p:cNvPicPr>
          <p:nvPr/>
        </p:nvPicPr>
        <p:blipFill>
          <a:blip xmlns:r="http://schemas.openxmlformats.org/officeDocument/2006/relationships" xmlns:a="http://schemas.openxmlformats.org/drawingml/2006/main" r:embed="Rc9da892f833246a5"/>
          <a:stretch xmlns:a="http://schemas.openxmlformats.org/drawingml/2006/main">
            <a:fillRect l="0" t="0" r="0" b="0"/>
          </a:stretch>
        </p:blipFill>
        <p:spPr>
          <a:xfrm xmlns:a="http://schemas.openxmlformats.org/drawingml/2006/main">
            <a:off x="594360" y="3383280"/>
            <a:ext cx="457200" cy="457200"/>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2FBC5B66-78C1-4082-9513-19AE579FCBF7}"/>
              </a:ext>
            </a:extLst>
          </p:cNvPr>
          <p:cNvSpPr>
            <a:spLocks xmlns:a="http://schemas.openxmlformats.org/drawingml/2006/main" noGrp="1"/>
          </p:cNvSpPr>
          <p:nvPr/>
        </p:nvSpPr>
        <p:spPr>
          <a:xfrm xmlns:a="http://schemas.openxmlformats.org/drawingml/2006/main">
            <a:off x="114300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Cepat</a:t>
            </a:r>
            <a:endParaRPr sz="1300"/>
          </a:p>
        </p:txBody>
      </p:sp>
      <p:sp>
        <p:nvSpPr>
          <p:cNvPr id="18" name="Text 12">
            <a:extLst xmlns:a="http://schemas.openxmlformats.org/drawingml/2006/main">
              <a:ext uri="{FF2B5EF4-FFF2-40B4-BE49-F238E27FC236}">
                <a16:creationId xmlns:a16="http://schemas.microsoft.com/office/drawing/2014/main" id="{6D105AF0-DAD4-437C-A47A-52B65CDBA1A8}"/>
              </a:ext>
            </a:extLst>
          </p:cNvPr>
          <p:cNvSpPr>
            <a:spLocks xmlns:a="http://schemas.openxmlformats.org/drawingml/2006/main" noGrp="1"/>
          </p:cNvSpPr>
          <p:nvPr/>
        </p:nvSpPr>
        <p:spPr>
          <a:xfrm xmlns:a="http://schemas.openxmlformats.org/drawingml/2006/main">
            <a:off x="59436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Startup cepat; jumlah instance bergantung resource dan aplikasi.</a:t>
            </a:r>
            <a:endParaRPr sz="1050"/>
          </a:p>
        </p:txBody>
      </p:sp>
      <p:sp>
        <p:nvSpPr>
          <p:cNvPr id="19" name="Shape 13">
            <a:extLst xmlns:a="http://schemas.openxmlformats.org/drawingml/2006/main">
              <a:ext uri="{FF2B5EF4-FFF2-40B4-BE49-F238E27FC236}">
                <a16:creationId xmlns:a16="http://schemas.microsoft.com/office/drawing/2014/main" id="{D10281C2-F802-4144-BE86-8FF9102C37D6}"/>
              </a:ext>
            </a:extLst>
          </p:cNvPr>
          <p:cNvSpPr>
            <a:spLocks xmlns:a="http://schemas.openxmlformats.org/drawingml/2006/main" noGrp="1"/>
          </p:cNvSpPr>
          <p:nvPr/>
        </p:nvSpPr>
        <p:spPr>
          <a:xfrm xmlns:a="http://schemas.openxmlformats.org/drawingml/2006/main">
            <a:off x="333756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9" name="Image 4">
            <a:extLst xmlns:a="http://schemas.openxmlformats.org/drawingml/2006/main">
              <a:ext uri="{FF2B5EF4-FFF2-40B4-BE49-F238E27FC236}">
                <a16:creationId xmlns:a16="http://schemas.microsoft.com/office/drawing/2014/main" id="{10743448-A405-45DD-B7E3-E1C587C67104}"/>
              </a:ext>
            </a:extLst>
          </p:cNvPr>
          <p:cNvPicPr>
            <a:picLocks xmlns:a="http://schemas.openxmlformats.org/drawingml/2006/main" noChangeAspect="1"/>
          </p:cNvPicPr>
          <p:nvPr/>
        </p:nvPicPr>
        <p:blipFill>
          <a:blip xmlns:r="http://schemas.openxmlformats.org/officeDocument/2006/relationships" xmlns:a="http://schemas.openxmlformats.org/drawingml/2006/main" r:embed="R141755efce0e409c"/>
          <a:stretch xmlns:a="http://schemas.openxmlformats.org/drawingml/2006/main">
            <a:fillRect l="0" t="0" r="0" b="0"/>
          </a:stretch>
        </p:blipFill>
        <p:spPr>
          <a:xfrm xmlns:a="http://schemas.openxmlformats.org/drawingml/2006/main">
            <a:off x="3474720" y="3383280"/>
            <a:ext cx="457200" cy="457200"/>
          </a:xfrm>
          <a:prstGeom xmlns:a="http://schemas.openxmlformats.org/drawingml/2006/main" prst="rect">
            <a:avLst/>
          </a:prstGeom>
        </p:spPr>
      </p:pic>
      <p:sp>
        <p:nvSpPr>
          <p:cNvPr id="21" name="Text 14">
            <a:extLst xmlns:a="http://schemas.openxmlformats.org/drawingml/2006/main">
              <a:ext uri="{FF2B5EF4-FFF2-40B4-BE49-F238E27FC236}">
                <a16:creationId xmlns:a16="http://schemas.microsoft.com/office/drawing/2014/main" id="{E14256DD-4855-4169-92CC-3410D162C0DD}"/>
              </a:ext>
            </a:extLst>
          </p:cNvPr>
          <p:cNvSpPr>
            <a:spLocks xmlns:a="http://schemas.openxmlformats.org/drawingml/2006/main" noGrp="1"/>
          </p:cNvSpPr>
          <p:nvPr/>
        </p:nvSpPr>
        <p:spPr>
          <a:xfrm xmlns:a="http://schemas.openxmlformats.org/drawingml/2006/main">
            <a:off x="402336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Ringan</a:t>
            </a:r>
            <a:endParaRPr sz="1300"/>
          </a:p>
        </p:txBody>
      </p:sp>
      <p:sp>
        <p:nvSpPr>
          <p:cNvPr id="22" name="Text 15">
            <a:extLst xmlns:a="http://schemas.openxmlformats.org/drawingml/2006/main">
              <a:ext uri="{FF2B5EF4-FFF2-40B4-BE49-F238E27FC236}">
                <a16:creationId xmlns:a16="http://schemas.microsoft.com/office/drawing/2014/main" id="{DC23C88A-7D66-4552-B0E2-E5DD4F825E97}"/>
              </a:ext>
            </a:extLst>
          </p:cNvPr>
          <p:cNvSpPr>
            <a:spLocks xmlns:a="http://schemas.openxmlformats.org/drawingml/2006/main" noGrp="1"/>
          </p:cNvSpPr>
          <p:nvPr/>
        </p:nvSpPr>
        <p:spPr>
          <a:xfrm xmlns:a="http://schemas.openxmlformats.org/drawingml/2006/main">
            <a:off x="347472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Overhead OS lebih rendah; RAM tetap bergantung aplikasi.</a:t>
            </a:r>
            <a:endParaRPr sz="1050"/>
          </a:p>
        </p:txBody>
      </p:sp>
      <p:sp>
        <p:nvSpPr>
          <p:cNvPr id="23" name="Shape 16">
            <a:extLst xmlns:a="http://schemas.openxmlformats.org/drawingml/2006/main">
              <a:ext uri="{FF2B5EF4-FFF2-40B4-BE49-F238E27FC236}">
                <a16:creationId xmlns:a16="http://schemas.microsoft.com/office/drawing/2014/main" id="{FA170166-02DE-402F-93B0-3E52B466BFDC}"/>
              </a:ext>
            </a:extLst>
          </p:cNvPr>
          <p:cNvSpPr>
            <a:spLocks xmlns:a="http://schemas.openxmlformats.org/drawingml/2006/main" noGrp="1"/>
          </p:cNvSpPr>
          <p:nvPr/>
        </p:nvSpPr>
        <p:spPr>
          <a:xfrm xmlns:a="http://schemas.openxmlformats.org/drawingml/2006/main">
            <a:off x="621792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3" name="Image 5">
            <a:extLst xmlns:a="http://schemas.openxmlformats.org/drawingml/2006/main">
              <a:ext uri="{FF2B5EF4-FFF2-40B4-BE49-F238E27FC236}">
                <a16:creationId xmlns:a16="http://schemas.microsoft.com/office/drawing/2014/main" id="{AE9B0A75-10E3-436A-AD90-47FC97387108}"/>
              </a:ext>
            </a:extLst>
          </p:cNvPr>
          <p:cNvPicPr>
            <a:picLocks xmlns:a="http://schemas.openxmlformats.org/drawingml/2006/main" noChangeAspect="1"/>
          </p:cNvPicPr>
          <p:nvPr/>
        </p:nvPicPr>
        <p:blipFill>
          <a:blip xmlns:r="http://schemas.openxmlformats.org/officeDocument/2006/relationships" xmlns:a="http://schemas.openxmlformats.org/drawingml/2006/main" r:embed="R7d3a057c6d6348dd"/>
          <a:stretch xmlns:a="http://schemas.openxmlformats.org/drawingml/2006/main">
            <a:fillRect l="0" t="0" r="0" b="0"/>
          </a:stretch>
        </p:blipFill>
        <p:spPr>
          <a:xfrm xmlns:a="http://schemas.openxmlformats.org/drawingml/2006/main">
            <a:off x="6355080" y="3383280"/>
            <a:ext cx="457200" cy="457200"/>
          </a:xfrm>
          <a:prstGeom xmlns:a="http://schemas.openxmlformats.org/drawingml/2006/main" prst="rect">
            <a:avLst/>
          </a:prstGeom>
        </p:spPr>
      </p:pic>
      <p:sp>
        <p:nvSpPr>
          <p:cNvPr id="25" name="Text 17">
            <a:extLst xmlns:a="http://schemas.openxmlformats.org/drawingml/2006/main">
              <a:ext uri="{FF2B5EF4-FFF2-40B4-BE49-F238E27FC236}">
                <a16:creationId xmlns:a16="http://schemas.microsoft.com/office/drawing/2014/main" id="{82317798-40DD-4D27-B0D1-BF7E0ADEB8C2}"/>
              </a:ext>
            </a:extLst>
          </p:cNvPr>
          <p:cNvSpPr>
            <a:spLocks xmlns:a="http://schemas.openxmlformats.org/drawingml/2006/main" noGrp="1"/>
          </p:cNvSpPr>
          <p:nvPr/>
        </p:nvSpPr>
        <p:spPr>
          <a:xfrm xmlns:a="http://schemas.openxmlformats.org/drawingml/2006/main">
            <a:off x="690372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Reproducible</a:t>
            </a:r>
            <a:endParaRPr sz="1300"/>
          </a:p>
        </p:txBody>
      </p:sp>
      <p:sp>
        <p:nvSpPr>
          <p:cNvPr id="26" name="Text 18">
            <a:extLst xmlns:a="http://schemas.openxmlformats.org/drawingml/2006/main">
              <a:ext uri="{FF2B5EF4-FFF2-40B4-BE49-F238E27FC236}">
                <a16:creationId xmlns:a16="http://schemas.microsoft.com/office/drawing/2014/main" id="{6787D07A-F27E-4DFF-9E7C-0488AED4FDB1}"/>
              </a:ext>
            </a:extLst>
          </p:cNvPr>
          <p:cNvSpPr>
            <a:spLocks xmlns:a="http://schemas.openxmlformats.org/drawingml/2006/main" noGrp="1"/>
          </p:cNvSpPr>
          <p:nvPr/>
        </p:nvSpPr>
        <p:spPr>
          <a:xfrm xmlns:a="http://schemas.openxmlformats.org/drawingml/2006/main">
            <a:off x="635508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Dockerfile membangun image; image dijalankan sebagai container.</a:t>
            </a:r>
            <a:endParaRPr sz="1050"/>
          </a:p>
        </p:txBody>
      </p:sp>
      <p:sp>
        <p:nvSpPr>
          <p:cNvPr id="27" name="Shape 19">
            <a:extLst xmlns:a="http://schemas.openxmlformats.org/drawingml/2006/main">
              <a:ext uri="{FF2B5EF4-FFF2-40B4-BE49-F238E27FC236}">
                <a16:creationId xmlns:a16="http://schemas.microsoft.com/office/drawing/2014/main" id="{C4B6A281-65B9-4C55-9722-5F0D8D02D4B2}"/>
              </a:ext>
            </a:extLst>
          </p:cNvPr>
          <p:cNvSpPr>
            <a:spLocks xmlns:a="http://schemas.openxmlformats.org/drawingml/2006/main" noGrp="1"/>
          </p:cNvSpPr>
          <p:nvPr/>
        </p:nvSpPr>
        <p:spPr>
          <a:xfrm xmlns:a="http://schemas.openxmlformats.org/drawingml/2006/main">
            <a:off x="9098280" y="3200400"/>
            <a:ext cx="2743200" cy="1463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7" name="Image 6">
            <a:extLst xmlns:a="http://schemas.openxmlformats.org/drawingml/2006/main">
              <a:ext uri="{FF2B5EF4-FFF2-40B4-BE49-F238E27FC236}">
                <a16:creationId xmlns:a16="http://schemas.microsoft.com/office/drawing/2014/main" id="{4688D7A2-25F1-4509-A16E-E870F9BFA754}"/>
              </a:ext>
            </a:extLst>
          </p:cNvPr>
          <p:cNvPicPr>
            <a:picLocks xmlns:a="http://schemas.openxmlformats.org/drawingml/2006/main" noChangeAspect="1"/>
          </p:cNvPicPr>
          <p:nvPr/>
        </p:nvPicPr>
        <p:blipFill>
          <a:blip xmlns:r="http://schemas.openxmlformats.org/officeDocument/2006/relationships" xmlns:a="http://schemas.openxmlformats.org/drawingml/2006/main" r:embed="R82fba8a709d24972"/>
          <a:stretch xmlns:a="http://schemas.openxmlformats.org/drawingml/2006/main">
            <a:fillRect l="0" t="0" r="0" b="0"/>
          </a:stretch>
        </p:blipFill>
        <p:spPr>
          <a:xfrm xmlns:a="http://schemas.openxmlformats.org/drawingml/2006/main">
            <a:off x="9235440" y="3383280"/>
            <a:ext cx="457200" cy="457200"/>
          </a:xfrm>
          <a:prstGeom xmlns:a="http://schemas.openxmlformats.org/drawingml/2006/main" prst="rect">
            <a:avLst/>
          </a:prstGeom>
        </p:spPr>
      </p:pic>
      <p:sp>
        <p:nvSpPr>
          <p:cNvPr id="29" name="Text 20">
            <a:extLst xmlns:a="http://schemas.openxmlformats.org/drawingml/2006/main">
              <a:ext uri="{FF2B5EF4-FFF2-40B4-BE49-F238E27FC236}">
                <a16:creationId xmlns:a16="http://schemas.microsoft.com/office/drawing/2014/main" id="{019F3F3B-E419-4684-9822-4A9F2368A208}"/>
              </a:ext>
            </a:extLst>
          </p:cNvPr>
          <p:cNvSpPr>
            <a:spLocks xmlns:a="http://schemas.openxmlformats.org/drawingml/2006/main" noGrp="1"/>
          </p:cNvSpPr>
          <p:nvPr/>
        </p:nvSpPr>
        <p:spPr>
          <a:xfrm xmlns:a="http://schemas.openxmlformats.org/drawingml/2006/main">
            <a:off x="978408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Share Kernel</a:t>
            </a:r>
            <a:endParaRPr sz="1300"/>
          </a:p>
        </p:txBody>
      </p:sp>
      <p:sp>
        <p:nvSpPr>
          <p:cNvPr id="30" name="Text 21">
            <a:extLst xmlns:a="http://schemas.openxmlformats.org/drawingml/2006/main">
              <a:ext uri="{FF2B5EF4-FFF2-40B4-BE49-F238E27FC236}">
                <a16:creationId xmlns:a16="http://schemas.microsoft.com/office/drawing/2014/main" id="{DA387570-A65A-4A2E-A000-EA6C76ED521F}"/>
              </a:ext>
            </a:extLst>
          </p:cNvPr>
          <p:cNvSpPr>
            <a:spLocks xmlns:a="http://schemas.openxmlformats.org/drawingml/2006/main" noGrp="1"/>
          </p:cNvSpPr>
          <p:nvPr/>
        </p:nvSpPr>
        <p:spPr>
          <a:xfrm xmlns:a="http://schemas.openxmlformats.org/drawingml/2006/main">
            <a:off x="9235440" y="393192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Isolasi tidak sekuat VM - semua share Linux kernel host.</a:t>
            </a:r>
            <a:endParaRPr sz="1050"/>
          </a:p>
        </p:txBody>
      </p:sp>
      <p:sp>
        <p:nvSpPr>
          <p:cNvPr id="31" name="Text 22">
            <a:extLst xmlns:a="http://schemas.openxmlformats.org/drawingml/2006/main">
              <a:ext uri="{FF2B5EF4-FFF2-40B4-BE49-F238E27FC236}">
                <a16:creationId xmlns:a16="http://schemas.microsoft.com/office/drawing/2014/main" id="{D25733BA-3E00-4F76-91C6-1FE80DE93B01}"/>
              </a:ext>
            </a:extLst>
          </p:cNvPr>
          <p:cNvSpPr>
            <a:spLocks xmlns:a="http://schemas.openxmlformats.org/drawingml/2006/main" noGrp="1"/>
          </p:cNvSpPr>
          <p:nvPr/>
        </p:nvSpPr>
        <p:spPr>
          <a:xfrm xmlns:a="http://schemas.openxmlformats.org/drawingml/2006/main">
            <a:off x="457200" y="484632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Analogi: VM vs Container</a:t>
            </a:r>
            <a:endParaRPr sz="1400"/>
          </a:p>
        </p:txBody>
      </p:sp>
      <p:sp>
        <p:nvSpPr>
          <p:cNvPr id="32" name="Shape 23">
            <a:extLst xmlns:a="http://schemas.openxmlformats.org/drawingml/2006/main">
              <a:ext uri="{FF2B5EF4-FFF2-40B4-BE49-F238E27FC236}">
                <a16:creationId xmlns:a16="http://schemas.microsoft.com/office/drawing/2014/main" id="{F46DE5BB-CBBF-4B37-B01F-CFFF284160DB}"/>
              </a:ext>
            </a:extLst>
          </p:cNvPr>
          <p:cNvSpPr>
            <a:spLocks xmlns:a="http://schemas.openxmlformats.org/drawingml/2006/main" noGrp="1"/>
          </p:cNvSpPr>
          <p:nvPr/>
        </p:nvSpPr>
        <p:spPr>
          <a:xfrm xmlns:a="http://schemas.openxmlformats.org/drawingml/2006/main">
            <a:off x="457200" y="5257800"/>
            <a:ext cx="11247120" cy="9601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Text 24">
            <a:extLst xmlns:a="http://schemas.openxmlformats.org/drawingml/2006/main">
              <a:ext uri="{FF2B5EF4-FFF2-40B4-BE49-F238E27FC236}">
                <a16:creationId xmlns:a16="http://schemas.microsoft.com/office/drawing/2014/main" id="{DD5DD9F4-4701-4FD6-BAAE-E8FC52A21DD9}"/>
              </a:ext>
            </a:extLst>
          </p:cNvPr>
          <p:cNvSpPr>
            <a:spLocks xmlns:a="http://schemas.openxmlformats.org/drawingml/2006/main" noGrp="1"/>
          </p:cNvSpPr>
          <p:nvPr/>
        </p:nvSpPr>
        <p:spPr>
          <a:xfrm xmlns:a="http://schemas.openxmlformats.org/drawingml/2006/main">
            <a:off x="640080" y="5349240"/>
            <a:ext cx="1097280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500"/>
              </a:spcAft>
              <a:buNone/>
            </a:pPr>
            <a:r>
              <a:rPr sz="1200" b="1">
                <a:solidFill>
                  <a:srgbClr val="F37021"/>
                </a:solidFill>
                <a:latin typeface="Calibri"/>
                <a:ea typeface="Calibri"/>
                <a:cs typeface="Calibri"/>
              </a:rPr>
              <a:t>VM = rumah</a:t>
            </a:r>
            <a:r>
              <a:rPr sz="1200">
                <a:solidFill>
                  <a:srgbClr val="1E293B"/>
                </a:solidFill>
                <a:latin typeface="Calibri"/>
                <a:ea typeface="Calibri"/>
                <a:cs typeface="Calibri"/>
              </a:rPr>
              <a:t> (punya dinding, atap, halaman, dapur sendiri - lengkap tapi mahal &amp; lama dibangun)</a:t>
            </a:r>
            <a:endParaRPr sz="1200"/>
          </a:p>
          <a:p xmlns:a="http://schemas.openxmlformats.org/drawingml/2006/main">
            <a:pPr marL="0" indent="0">
              <a:spcAft>
                <a:spcPts val="500"/>
              </a:spcAft>
              <a:buNone/>
            </a:pPr>
            <a:r>
              <a:rPr sz="1200" b="1">
                <a:solidFill>
                  <a:srgbClr val="F37021"/>
                </a:solidFill>
                <a:latin typeface="Calibri"/>
                <a:ea typeface="Calibri"/>
                <a:cs typeface="Calibri"/>
              </a:rPr>
              <a:t>Container = apartemen</a:t>
            </a:r>
            <a:r>
              <a:rPr sz="1200">
                <a:solidFill>
                  <a:srgbClr val="1E293B"/>
                </a:solidFill>
                <a:latin typeface="Calibri"/>
                <a:ea typeface="Calibri"/>
                <a:cs typeface="Calibri"/>
              </a:rPr>
              <a:t> (share dinding &amp; fondasi gedung, tapi punya pintu, kunci, dan ruang privat sendiri - cepat &amp; efisien)</a:t>
            </a:r>
            <a:endParaRPr sz="1200"/>
          </a:p>
        </p:txBody>
      </p:sp>
    </p:spTree>
    <p:extLst>
      <p:ext uri="{BB962C8B-B14F-4D97-AF65-F5344CB8AC3E}">
        <p14:creationId xmlns:p14="http://schemas.microsoft.com/office/powerpoint/2010/main" val="9600980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3B7CE3-D01C-4904-B8C9-65FC2C6FF08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9AA77DA1-81B7-4C59-AFAF-3DF465B24B34}"/>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F31A32D4-0F07-4516-9534-8EC8D7D1ADA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5" name="Image 0">
            <a:extLst xmlns:a="http://schemas.openxmlformats.org/drawingml/2006/main">
              <a:ext uri="{FF2B5EF4-FFF2-40B4-BE49-F238E27FC236}">
                <a16:creationId xmlns:a16="http://schemas.microsoft.com/office/drawing/2014/main" id="{1FA5F7BC-88F2-432C-9DF1-D4A50D95AA2B}"/>
              </a:ext>
            </a:extLst>
          </p:cNvPr>
          <p:cNvPicPr>
            <a:picLocks xmlns:a="http://schemas.openxmlformats.org/drawingml/2006/main" noChangeAspect="1"/>
          </p:cNvPicPr>
          <p:nvPr/>
        </p:nvPicPr>
        <p:blipFill>
          <a:blip xmlns:r="http://schemas.openxmlformats.org/officeDocument/2006/relationships" xmlns:a="http://schemas.openxmlformats.org/drawingml/2006/main" r:embed="R91c84805fd56439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6" name="Image 1">
            <a:extLst xmlns:a="http://schemas.openxmlformats.org/drawingml/2006/main">
              <a:ext uri="{FF2B5EF4-FFF2-40B4-BE49-F238E27FC236}">
                <a16:creationId xmlns:a16="http://schemas.microsoft.com/office/drawing/2014/main" id="{F81CE2AA-BA6C-4F6C-A6B5-E2378DF72185}"/>
              </a:ext>
            </a:extLst>
          </p:cNvPr>
          <p:cNvPicPr>
            <a:picLocks xmlns:a="http://schemas.openxmlformats.org/drawingml/2006/main" noChangeAspect="1"/>
          </p:cNvPicPr>
          <p:nvPr/>
        </p:nvPicPr>
        <p:blipFill>
          <a:blip xmlns:r="http://schemas.openxmlformats.org/officeDocument/2006/relationships" xmlns:a="http://schemas.openxmlformats.org/drawingml/2006/main" r:embed="Rf48123de65cf43a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DE6C574-6DB4-4D89-9C78-A3DF5078309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6C9C3F5C-2EFF-456A-B8A4-821775B2BB5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VM vs Container - Side by Side</a:t>
            </a:r>
            <a:endParaRPr sz="2200"/>
          </a:p>
        </p:txBody>
      </p:sp>
      <p:sp>
        <p:nvSpPr>
          <p:cNvPr id="9" name="Text 5">
            <a:extLst xmlns:a="http://schemas.openxmlformats.org/drawingml/2006/main">
              <a:ext uri="{FF2B5EF4-FFF2-40B4-BE49-F238E27FC236}">
                <a16:creationId xmlns:a16="http://schemas.microsoft.com/office/drawing/2014/main" id="{78A84A38-DD93-42D4-9193-CA9FDE731EA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Perbedaan paling penting di sesi ini</a:t>
            </a:r>
            <a:endParaRPr sz="1200"/>
          </a:p>
        </p:txBody>
      </p:sp>
      <p:sp>
        <p:nvSpPr>
          <p:cNvPr id="10" name="Shape 6">
            <a:extLst xmlns:a="http://schemas.openxmlformats.org/drawingml/2006/main">
              <a:ext uri="{FF2B5EF4-FFF2-40B4-BE49-F238E27FC236}">
                <a16:creationId xmlns:a16="http://schemas.microsoft.com/office/drawing/2014/main" id="{CB1C3A22-8654-40F9-8423-628CDE7C9FD1}"/>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03B8ADA9-0C4B-477C-8822-25EF3A490097}"/>
              </a:ext>
            </a:extLst>
          </p:cNvPr>
          <p:cNvSpPr>
            <a:spLocks xmlns:a="http://schemas.openxmlformats.org/drawingml/2006/main" noGrp="1"/>
          </p:cNvSpPr>
          <p:nvPr/>
        </p:nvSpPr>
        <p:spPr>
          <a:xfrm xmlns:a="http://schemas.openxmlformats.org/drawingml/2006/main">
            <a:off x="457200" y="1417320"/>
            <a:ext cx="5577840" cy="50292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2" name="Text 8">
            <a:extLst xmlns:a="http://schemas.openxmlformats.org/drawingml/2006/main">
              <a:ext uri="{FF2B5EF4-FFF2-40B4-BE49-F238E27FC236}">
                <a16:creationId xmlns:a16="http://schemas.microsoft.com/office/drawing/2014/main" id="{62269F5D-D286-4FE1-B0FD-9D70D9E0C3E1}"/>
              </a:ext>
            </a:extLst>
          </p:cNvPr>
          <p:cNvSpPr>
            <a:spLocks xmlns:a="http://schemas.openxmlformats.org/drawingml/2006/main" noGrp="1"/>
          </p:cNvSpPr>
          <p:nvPr/>
        </p:nvSpPr>
        <p:spPr>
          <a:xfrm xmlns:a="http://schemas.openxmlformats.org/drawingml/2006/main">
            <a:off x="457200" y="1417320"/>
            <a:ext cx="5577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spc="300">
                <a:solidFill>
                  <a:srgbClr val="FFFFFF"/>
                </a:solidFill>
                <a:latin typeface="Calibri"/>
                <a:ea typeface="Calibri"/>
                <a:cs typeface="Calibri"/>
              </a:rPr>
              <a:t>VIRTUAL MACHINE</a:t>
            </a:r>
            <a:endParaRPr sz="1500"/>
          </a:p>
        </p:txBody>
      </p:sp>
      <p:sp>
        <p:nvSpPr>
          <p:cNvPr id="13" name="Shape 9">
            <a:extLst xmlns:a="http://schemas.openxmlformats.org/drawingml/2006/main">
              <a:ext uri="{FF2B5EF4-FFF2-40B4-BE49-F238E27FC236}">
                <a16:creationId xmlns:a16="http://schemas.microsoft.com/office/drawing/2014/main" id="{3E937A42-D628-4841-8D28-40805B8D6B19}"/>
              </a:ext>
            </a:extLst>
          </p:cNvPr>
          <p:cNvSpPr>
            <a:spLocks xmlns:a="http://schemas.openxmlformats.org/drawingml/2006/main" noGrp="1"/>
          </p:cNvSpPr>
          <p:nvPr/>
        </p:nvSpPr>
        <p:spPr>
          <a:xfrm xmlns:a="http://schemas.openxmlformats.org/drawingml/2006/main">
            <a:off x="640080" y="2103120"/>
            <a:ext cx="169164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E869006E-63DA-4242-9CC9-14740EC23B14}"/>
              </a:ext>
            </a:extLst>
          </p:cNvPr>
          <p:cNvSpPr>
            <a:spLocks xmlns:a="http://schemas.openxmlformats.org/drawingml/2006/main" noGrp="1"/>
          </p:cNvSpPr>
          <p:nvPr/>
        </p:nvSpPr>
        <p:spPr>
          <a:xfrm xmlns:a="http://schemas.openxmlformats.org/drawingml/2006/main">
            <a:off x="640080" y="2103120"/>
            <a:ext cx="1691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A</a:t>
            </a:r>
            <a:endParaRPr sz="1100"/>
          </a:p>
        </p:txBody>
      </p:sp>
      <p:sp>
        <p:nvSpPr>
          <p:cNvPr id="15" name="Shape 11">
            <a:extLst xmlns:a="http://schemas.openxmlformats.org/drawingml/2006/main">
              <a:ext uri="{FF2B5EF4-FFF2-40B4-BE49-F238E27FC236}">
                <a16:creationId xmlns:a16="http://schemas.microsoft.com/office/drawing/2014/main" id="{01857BB2-FBF7-4125-A1B9-C0AD22C47BC2}"/>
              </a:ext>
            </a:extLst>
          </p:cNvPr>
          <p:cNvSpPr>
            <a:spLocks xmlns:a="http://schemas.openxmlformats.org/drawingml/2006/main" noGrp="1"/>
          </p:cNvSpPr>
          <p:nvPr/>
        </p:nvSpPr>
        <p:spPr>
          <a:xfrm xmlns:a="http://schemas.openxmlformats.org/drawingml/2006/main">
            <a:off x="2423160" y="2103120"/>
            <a:ext cx="169164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2">
            <a:extLst xmlns:a="http://schemas.openxmlformats.org/drawingml/2006/main">
              <a:ext uri="{FF2B5EF4-FFF2-40B4-BE49-F238E27FC236}">
                <a16:creationId xmlns:a16="http://schemas.microsoft.com/office/drawing/2014/main" id="{002F8375-1A83-4E17-9F49-C1A9637AFDF2}"/>
              </a:ext>
            </a:extLst>
          </p:cNvPr>
          <p:cNvSpPr>
            <a:spLocks xmlns:a="http://schemas.openxmlformats.org/drawingml/2006/main" noGrp="1"/>
          </p:cNvSpPr>
          <p:nvPr/>
        </p:nvSpPr>
        <p:spPr>
          <a:xfrm xmlns:a="http://schemas.openxmlformats.org/drawingml/2006/main">
            <a:off x="2423160" y="2103120"/>
            <a:ext cx="1691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B</a:t>
            </a:r>
            <a:endParaRPr sz="1100"/>
          </a:p>
        </p:txBody>
      </p:sp>
      <p:sp>
        <p:nvSpPr>
          <p:cNvPr id="17" name="Shape 13">
            <a:extLst xmlns:a="http://schemas.openxmlformats.org/drawingml/2006/main">
              <a:ext uri="{FF2B5EF4-FFF2-40B4-BE49-F238E27FC236}">
                <a16:creationId xmlns:a16="http://schemas.microsoft.com/office/drawing/2014/main" id="{59DBC08C-165A-4890-9CD9-177E50FF2583}"/>
              </a:ext>
            </a:extLst>
          </p:cNvPr>
          <p:cNvSpPr>
            <a:spLocks xmlns:a="http://schemas.openxmlformats.org/drawingml/2006/main" noGrp="1"/>
          </p:cNvSpPr>
          <p:nvPr/>
        </p:nvSpPr>
        <p:spPr>
          <a:xfrm xmlns:a="http://schemas.openxmlformats.org/drawingml/2006/main">
            <a:off x="4206240" y="2103120"/>
            <a:ext cx="169164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F2D2CF2B-29F5-4682-A674-73664F4A022A}"/>
              </a:ext>
            </a:extLst>
          </p:cNvPr>
          <p:cNvSpPr>
            <a:spLocks xmlns:a="http://schemas.openxmlformats.org/drawingml/2006/main" noGrp="1"/>
          </p:cNvSpPr>
          <p:nvPr/>
        </p:nvSpPr>
        <p:spPr>
          <a:xfrm xmlns:a="http://schemas.openxmlformats.org/drawingml/2006/main">
            <a:off x="4206240" y="2103120"/>
            <a:ext cx="1691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C</a:t>
            </a:r>
            <a:endParaRPr sz="1100"/>
          </a:p>
        </p:txBody>
      </p:sp>
      <p:sp>
        <p:nvSpPr>
          <p:cNvPr id="19" name="Shape 15">
            <a:extLst xmlns:a="http://schemas.openxmlformats.org/drawingml/2006/main">
              <a:ext uri="{FF2B5EF4-FFF2-40B4-BE49-F238E27FC236}">
                <a16:creationId xmlns:a16="http://schemas.microsoft.com/office/drawing/2014/main" id="{B704FC5D-62BB-422B-B4A5-1A7FB31DBB6F}"/>
              </a:ext>
            </a:extLst>
          </p:cNvPr>
          <p:cNvSpPr>
            <a:spLocks xmlns:a="http://schemas.openxmlformats.org/drawingml/2006/main" noGrp="1"/>
          </p:cNvSpPr>
          <p:nvPr/>
        </p:nvSpPr>
        <p:spPr>
          <a:xfrm xmlns:a="http://schemas.openxmlformats.org/drawingml/2006/main">
            <a:off x="640080" y="2514600"/>
            <a:ext cx="1691640" cy="64008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AC2C7AE0-E042-4B0C-927E-EFF7362FEF72}"/>
              </a:ext>
            </a:extLst>
          </p:cNvPr>
          <p:cNvSpPr>
            <a:spLocks xmlns:a="http://schemas.openxmlformats.org/drawingml/2006/main" noGrp="1"/>
          </p:cNvSpPr>
          <p:nvPr/>
        </p:nvSpPr>
        <p:spPr>
          <a:xfrm xmlns:a="http://schemas.openxmlformats.org/drawingml/2006/main">
            <a:off x="640080" y="2514600"/>
            <a:ext cx="1691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Guest OS</a:t>
            </a:r>
            <a:endParaRPr sz="1100"/>
          </a:p>
        </p:txBody>
      </p:sp>
      <p:sp>
        <p:nvSpPr>
          <p:cNvPr id="21" name="Shape 17">
            <a:extLst xmlns:a="http://schemas.openxmlformats.org/drawingml/2006/main">
              <a:ext uri="{FF2B5EF4-FFF2-40B4-BE49-F238E27FC236}">
                <a16:creationId xmlns:a16="http://schemas.microsoft.com/office/drawing/2014/main" id="{D64A162F-B573-44D8-96DB-BA5F23138EB3}"/>
              </a:ext>
            </a:extLst>
          </p:cNvPr>
          <p:cNvSpPr>
            <a:spLocks xmlns:a="http://schemas.openxmlformats.org/drawingml/2006/main" noGrp="1"/>
          </p:cNvSpPr>
          <p:nvPr/>
        </p:nvSpPr>
        <p:spPr>
          <a:xfrm xmlns:a="http://schemas.openxmlformats.org/drawingml/2006/main">
            <a:off x="2423160" y="2514600"/>
            <a:ext cx="1691640" cy="64008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2" name="Text 18">
            <a:extLst xmlns:a="http://schemas.openxmlformats.org/drawingml/2006/main">
              <a:ext uri="{FF2B5EF4-FFF2-40B4-BE49-F238E27FC236}">
                <a16:creationId xmlns:a16="http://schemas.microsoft.com/office/drawing/2014/main" id="{86365C3B-3608-4462-BE48-34DA447536D9}"/>
              </a:ext>
            </a:extLst>
          </p:cNvPr>
          <p:cNvSpPr>
            <a:spLocks xmlns:a="http://schemas.openxmlformats.org/drawingml/2006/main" noGrp="1"/>
          </p:cNvSpPr>
          <p:nvPr/>
        </p:nvSpPr>
        <p:spPr>
          <a:xfrm xmlns:a="http://schemas.openxmlformats.org/drawingml/2006/main">
            <a:off x="2423160" y="2514600"/>
            <a:ext cx="1691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Guest OS</a:t>
            </a:r>
            <a:endParaRPr sz="1100"/>
          </a:p>
        </p:txBody>
      </p:sp>
      <p:sp>
        <p:nvSpPr>
          <p:cNvPr id="23" name="Shape 19">
            <a:extLst xmlns:a="http://schemas.openxmlformats.org/drawingml/2006/main">
              <a:ext uri="{FF2B5EF4-FFF2-40B4-BE49-F238E27FC236}">
                <a16:creationId xmlns:a16="http://schemas.microsoft.com/office/drawing/2014/main" id="{D41CA436-F8A7-4479-9B6F-6F7E6D9679E7}"/>
              </a:ext>
            </a:extLst>
          </p:cNvPr>
          <p:cNvSpPr>
            <a:spLocks xmlns:a="http://schemas.openxmlformats.org/drawingml/2006/main" noGrp="1"/>
          </p:cNvSpPr>
          <p:nvPr/>
        </p:nvSpPr>
        <p:spPr>
          <a:xfrm xmlns:a="http://schemas.openxmlformats.org/drawingml/2006/main">
            <a:off x="4206240" y="2514600"/>
            <a:ext cx="1691640" cy="64008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4" name="Text 20">
            <a:extLst xmlns:a="http://schemas.openxmlformats.org/drawingml/2006/main">
              <a:ext uri="{FF2B5EF4-FFF2-40B4-BE49-F238E27FC236}">
                <a16:creationId xmlns:a16="http://schemas.microsoft.com/office/drawing/2014/main" id="{43E78CA4-51A7-45A8-A5B2-F1A649127C23}"/>
              </a:ext>
            </a:extLst>
          </p:cNvPr>
          <p:cNvSpPr>
            <a:spLocks xmlns:a="http://schemas.openxmlformats.org/drawingml/2006/main" noGrp="1"/>
          </p:cNvSpPr>
          <p:nvPr/>
        </p:nvSpPr>
        <p:spPr>
          <a:xfrm xmlns:a="http://schemas.openxmlformats.org/drawingml/2006/main">
            <a:off x="4206240" y="2514600"/>
            <a:ext cx="1691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Guest OS</a:t>
            </a:r>
            <a:endParaRPr sz="1100"/>
          </a:p>
        </p:txBody>
      </p:sp>
      <p:sp>
        <p:nvSpPr>
          <p:cNvPr id="25" name="Shape 21">
            <a:extLst xmlns:a="http://schemas.openxmlformats.org/drawingml/2006/main">
              <a:ext uri="{FF2B5EF4-FFF2-40B4-BE49-F238E27FC236}">
                <a16:creationId xmlns:a16="http://schemas.microsoft.com/office/drawing/2014/main" id="{C3FE1F05-758A-4795-8466-CD25F0AB67E3}"/>
              </a:ext>
            </a:extLst>
          </p:cNvPr>
          <p:cNvSpPr>
            <a:spLocks xmlns:a="http://schemas.openxmlformats.org/drawingml/2006/main" noGrp="1"/>
          </p:cNvSpPr>
          <p:nvPr/>
        </p:nvSpPr>
        <p:spPr>
          <a:xfrm xmlns:a="http://schemas.openxmlformats.org/drawingml/2006/main">
            <a:off x="640080" y="3200400"/>
            <a:ext cx="5257800" cy="457200"/>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26" name="Text 22">
            <a:extLst xmlns:a="http://schemas.openxmlformats.org/drawingml/2006/main">
              <a:ext uri="{FF2B5EF4-FFF2-40B4-BE49-F238E27FC236}">
                <a16:creationId xmlns:a16="http://schemas.microsoft.com/office/drawing/2014/main" id="{E8B4A24F-D855-420B-8666-0AC923DF6147}"/>
              </a:ext>
            </a:extLst>
          </p:cNvPr>
          <p:cNvSpPr>
            <a:spLocks xmlns:a="http://schemas.openxmlformats.org/drawingml/2006/main" noGrp="1"/>
          </p:cNvSpPr>
          <p:nvPr/>
        </p:nvSpPr>
        <p:spPr>
          <a:xfrm xmlns:a="http://schemas.openxmlformats.org/drawingml/2006/main">
            <a:off x="640080" y="3200400"/>
            <a:ext cx="5257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HYPERVISOR</a:t>
            </a:r>
            <a:endParaRPr sz="1200"/>
          </a:p>
        </p:txBody>
      </p:sp>
      <p:sp>
        <p:nvSpPr>
          <p:cNvPr id="27" name="Shape 23">
            <a:extLst xmlns:a="http://schemas.openxmlformats.org/drawingml/2006/main">
              <a:ext uri="{FF2B5EF4-FFF2-40B4-BE49-F238E27FC236}">
                <a16:creationId xmlns:a16="http://schemas.microsoft.com/office/drawing/2014/main" id="{CD911D33-1461-4E1F-81DC-8478B6FA9760}"/>
              </a:ext>
            </a:extLst>
          </p:cNvPr>
          <p:cNvSpPr>
            <a:spLocks xmlns:a="http://schemas.openxmlformats.org/drawingml/2006/main" noGrp="1"/>
          </p:cNvSpPr>
          <p:nvPr/>
        </p:nvSpPr>
        <p:spPr>
          <a:xfrm xmlns:a="http://schemas.openxmlformats.org/drawingml/2006/main">
            <a:off x="640080" y="3703320"/>
            <a:ext cx="5257800" cy="45720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28" name="Text 24">
            <a:extLst xmlns:a="http://schemas.openxmlformats.org/drawingml/2006/main">
              <a:ext uri="{FF2B5EF4-FFF2-40B4-BE49-F238E27FC236}">
                <a16:creationId xmlns:a16="http://schemas.microsoft.com/office/drawing/2014/main" id="{E5898C53-2504-485C-98EE-B1E8509EDFCC}"/>
              </a:ext>
            </a:extLst>
          </p:cNvPr>
          <p:cNvSpPr>
            <a:spLocks xmlns:a="http://schemas.openxmlformats.org/drawingml/2006/main" noGrp="1"/>
          </p:cNvSpPr>
          <p:nvPr/>
        </p:nvSpPr>
        <p:spPr>
          <a:xfrm xmlns:a="http://schemas.openxmlformats.org/drawingml/2006/main">
            <a:off x="640080" y="3703320"/>
            <a:ext cx="5257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HOST OS  (optional)</a:t>
            </a:r>
            <a:endParaRPr sz="1200"/>
          </a:p>
        </p:txBody>
      </p:sp>
      <p:sp>
        <p:nvSpPr>
          <p:cNvPr id="29" name="Shape 25">
            <a:extLst xmlns:a="http://schemas.openxmlformats.org/drawingml/2006/main">
              <a:ext uri="{FF2B5EF4-FFF2-40B4-BE49-F238E27FC236}">
                <a16:creationId xmlns:a16="http://schemas.microsoft.com/office/drawing/2014/main" id="{5530CC09-87BE-44A7-88F9-5D7B01F72DCD}"/>
              </a:ext>
            </a:extLst>
          </p:cNvPr>
          <p:cNvSpPr>
            <a:spLocks xmlns:a="http://schemas.openxmlformats.org/drawingml/2006/main" noGrp="1"/>
          </p:cNvSpPr>
          <p:nvPr/>
        </p:nvSpPr>
        <p:spPr>
          <a:xfrm xmlns:a="http://schemas.openxmlformats.org/drawingml/2006/main">
            <a:off x="640080" y="4206240"/>
            <a:ext cx="5257800" cy="457200"/>
          </a:xfrm>
          <a:prstGeom xmlns:a="http://schemas.openxmlformats.org/drawingml/2006/main" prst="rect">
            <a:avLst/>
          </a:prstGeom>
          <a:solidFill xmlns:a="http://schemas.openxmlformats.org/drawingml/2006/main">
            <a:srgbClr val="475569"/>
          </a:solidFill>
          <a:ln xmlns:a="http://schemas.openxmlformats.org/drawingml/2006/main" w="12700">
            <a:solidFill>
              <a:srgbClr val="475569"/>
            </a:solidFill>
            <a:prstDash val="solid"/>
          </a:ln>
        </p:spPr>
      </p:sp>
      <p:sp>
        <p:nvSpPr>
          <p:cNvPr id="30" name="Text 26">
            <a:extLst xmlns:a="http://schemas.openxmlformats.org/drawingml/2006/main">
              <a:ext uri="{FF2B5EF4-FFF2-40B4-BE49-F238E27FC236}">
                <a16:creationId xmlns:a16="http://schemas.microsoft.com/office/drawing/2014/main" id="{5125A730-975B-406F-8D1E-A693A78A6F42}"/>
              </a:ext>
            </a:extLst>
          </p:cNvPr>
          <p:cNvSpPr>
            <a:spLocks xmlns:a="http://schemas.openxmlformats.org/drawingml/2006/main" noGrp="1"/>
          </p:cNvSpPr>
          <p:nvPr/>
        </p:nvSpPr>
        <p:spPr>
          <a:xfrm xmlns:a="http://schemas.openxmlformats.org/drawingml/2006/main">
            <a:off x="640080" y="4206240"/>
            <a:ext cx="5257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HARDWARE</a:t>
            </a:r>
            <a:endParaRPr sz="1200"/>
          </a:p>
        </p:txBody>
      </p:sp>
      <p:sp>
        <p:nvSpPr>
          <p:cNvPr id="31" name="Text 27">
            <a:extLst xmlns:a="http://schemas.openxmlformats.org/drawingml/2006/main">
              <a:ext uri="{FF2B5EF4-FFF2-40B4-BE49-F238E27FC236}">
                <a16:creationId xmlns:a16="http://schemas.microsoft.com/office/drawing/2014/main" id="{6B0C5987-E885-4E0D-A266-EF8220B298B2}"/>
              </a:ext>
            </a:extLst>
          </p:cNvPr>
          <p:cNvSpPr>
            <a:spLocks xmlns:a="http://schemas.openxmlformats.org/drawingml/2006/main" noGrp="1"/>
          </p:cNvSpPr>
          <p:nvPr/>
        </p:nvSpPr>
        <p:spPr>
          <a:xfrm xmlns:a="http://schemas.openxmlformats.org/drawingml/2006/main">
            <a:off x="640080" y="4800600"/>
            <a:ext cx="525780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200"/>
              </a:spcAft>
              <a:buNone/>
            </a:pPr>
            <a:r>
              <a:rPr sz="1100" b="1">
                <a:solidFill>
                  <a:srgbClr val="059669"/>
                </a:solidFill>
                <a:latin typeface="Calibri"/>
                <a:ea typeface="Calibri"/>
                <a:cs typeface="Calibri"/>
              </a:rPr>
              <a:t>+ Isolasi penuh</a:t>
            </a:r>
            <a:endParaRPr sz="1100"/>
          </a:p>
          <a:p xmlns:a="http://schemas.openxmlformats.org/drawingml/2006/main">
            <a:pPr marL="0" indent="0">
              <a:spcAft>
                <a:spcPts val="200"/>
              </a:spcAft>
              <a:buNone/>
            </a:pPr>
            <a:r>
              <a:rPr sz="1100" b="1">
                <a:solidFill>
                  <a:srgbClr val="059669"/>
                </a:solidFill>
                <a:latin typeface="Calibri"/>
                <a:ea typeface="Calibri"/>
                <a:cs typeface="Calibri"/>
              </a:rPr>
              <a:t>+ Bisa multi-OS (Win, Linux, dll)</a:t>
            </a:r>
            <a:endParaRPr sz="1100"/>
          </a:p>
          <a:p xmlns:a="http://schemas.openxmlformats.org/drawingml/2006/main">
            <a:pPr marL="0" indent="0">
              <a:spcAft>
                <a:spcPts val="200"/>
              </a:spcAft>
              <a:buNone/>
            </a:pPr>
            <a:r>
              <a:rPr sz="1100" b="1">
                <a:solidFill>
                  <a:srgbClr val="DC2626"/>
                </a:solidFill>
                <a:latin typeface="Calibri"/>
                <a:ea typeface="Calibri"/>
                <a:cs typeface="Calibri"/>
              </a:rPr>
              <a:t>- Berat (GB RAM, GB disk)</a:t>
            </a:r>
            <a:endParaRPr sz="1100"/>
          </a:p>
          <a:p xmlns:a="http://schemas.openxmlformats.org/drawingml/2006/main">
            <a:pPr marL="0" indent="0">
              <a:spcAft>
                <a:spcPts val="200"/>
              </a:spcAft>
              <a:buNone/>
            </a:pPr>
            <a:r>
              <a:rPr sz="1100" b="1">
                <a:solidFill>
                  <a:srgbClr val="DC2626"/>
                </a:solidFill>
                <a:latin typeface="Calibri"/>
                <a:ea typeface="Calibri"/>
                <a:cs typeface="Calibri"/>
              </a:rPr>
              <a:t>- Boot lambat (menit)</a:t>
            </a:r>
            <a:endParaRPr sz="1100"/>
          </a:p>
        </p:txBody>
      </p:sp>
      <p:sp>
        <p:nvSpPr>
          <p:cNvPr id="32" name="Shape 28">
            <a:extLst xmlns:a="http://schemas.openxmlformats.org/drawingml/2006/main">
              <a:ext uri="{FF2B5EF4-FFF2-40B4-BE49-F238E27FC236}">
                <a16:creationId xmlns:a16="http://schemas.microsoft.com/office/drawing/2014/main" id="{31F7E138-0877-4D79-96C9-177D9A6283A7}"/>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Shape 29">
            <a:extLst xmlns:a="http://schemas.openxmlformats.org/drawingml/2006/main">
              <a:ext uri="{FF2B5EF4-FFF2-40B4-BE49-F238E27FC236}">
                <a16:creationId xmlns:a16="http://schemas.microsoft.com/office/drawing/2014/main" id="{2A8E7684-3F3B-4D2A-ADE4-DA0AE5A39D15}"/>
              </a:ext>
            </a:extLst>
          </p:cNvPr>
          <p:cNvSpPr>
            <a:spLocks xmlns:a="http://schemas.openxmlformats.org/drawingml/2006/main" noGrp="1"/>
          </p:cNvSpPr>
          <p:nvPr/>
        </p:nvSpPr>
        <p:spPr>
          <a:xfrm xmlns:a="http://schemas.openxmlformats.org/drawingml/2006/main">
            <a:off x="6217920" y="1417320"/>
            <a:ext cx="5486400" cy="5029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4" name="Text 30">
            <a:extLst xmlns:a="http://schemas.openxmlformats.org/drawingml/2006/main">
              <a:ext uri="{FF2B5EF4-FFF2-40B4-BE49-F238E27FC236}">
                <a16:creationId xmlns:a16="http://schemas.microsoft.com/office/drawing/2014/main" id="{106F6CFD-E78F-4D5D-AEED-7887CD23AF8E}"/>
              </a:ext>
            </a:extLst>
          </p:cNvPr>
          <p:cNvSpPr>
            <a:spLocks xmlns:a="http://schemas.openxmlformats.org/drawingml/2006/main" noGrp="1"/>
          </p:cNvSpPr>
          <p:nvPr/>
        </p:nvSpPr>
        <p:spPr>
          <a:xfrm xmlns:a="http://schemas.openxmlformats.org/drawingml/2006/main">
            <a:off x="6217920" y="1417320"/>
            <a:ext cx="5486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spc="300">
                <a:solidFill>
                  <a:srgbClr val="FFFFFF"/>
                </a:solidFill>
                <a:latin typeface="Calibri"/>
                <a:ea typeface="Calibri"/>
                <a:cs typeface="Calibri"/>
              </a:rPr>
              <a:t>CONTAINER</a:t>
            </a:r>
            <a:endParaRPr sz="1500"/>
          </a:p>
        </p:txBody>
      </p:sp>
      <p:sp>
        <p:nvSpPr>
          <p:cNvPr id="35" name="Shape 31">
            <a:extLst xmlns:a="http://schemas.openxmlformats.org/drawingml/2006/main">
              <a:ext uri="{FF2B5EF4-FFF2-40B4-BE49-F238E27FC236}">
                <a16:creationId xmlns:a16="http://schemas.microsoft.com/office/drawing/2014/main" id="{81685DED-455C-45F6-9A20-01732B119920}"/>
              </a:ext>
            </a:extLst>
          </p:cNvPr>
          <p:cNvSpPr>
            <a:spLocks xmlns:a="http://schemas.openxmlformats.org/drawingml/2006/main" noGrp="1"/>
          </p:cNvSpPr>
          <p:nvPr/>
        </p:nvSpPr>
        <p:spPr>
          <a:xfrm xmlns:a="http://schemas.openxmlformats.org/drawingml/2006/main">
            <a:off x="6400800" y="2103120"/>
            <a:ext cx="1225296"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6" name="Text 32">
            <a:extLst xmlns:a="http://schemas.openxmlformats.org/drawingml/2006/main">
              <a:ext uri="{FF2B5EF4-FFF2-40B4-BE49-F238E27FC236}">
                <a16:creationId xmlns:a16="http://schemas.microsoft.com/office/drawing/2014/main" id="{2B4F9C69-8DC5-4B1B-9165-6AA9269860C3}"/>
              </a:ext>
            </a:extLst>
          </p:cNvPr>
          <p:cNvSpPr>
            <a:spLocks xmlns:a="http://schemas.openxmlformats.org/drawingml/2006/main" noGrp="1"/>
          </p:cNvSpPr>
          <p:nvPr/>
        </p:nvSpPr>
        <p:spPr>
          <a:xfrm xmlns:a="http://schemas.openxmlformats.org/drawingml/2006/main">
            <a:off x="6400800" y="2103120"/>
            <a:ext cx="12252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A</a:t>
            </a:r>
            <a:endParaRPr sz="1100"/>
          </a:p>
        </p:txBody>
      </p:sp>
      <p:sp>
        <p:nvSpPr>
          <p:cNvPr id="37" name="Shape 33">
            <a:extLst xmlns:a="http://schemas.openxmlformats.org/drawingml/2006/main">
              <a:ext uri="{FF2B5EF4-FFF2-40B4-BE49-F238E27FC236}">
                <a16:creationId xmlns:a16="http://schemas.microsoft.com/office/drawing/2014/main" id="{A1516AB8-FC55-41C2-AF11-371180A58127}"/>
              </a:ext>
            </a:extLst>
          </p:cNvPr>
          <p:cNvSpPr>
            <a:spLocks xmlns:a="http://schemas.openxmlformats.org/drawingml/2006/main" noGrp="1"/>
          </p:cNvSpPr>
          <p:nvPr/>
        </p:nvSpPr>
        <p:spPr>
          <a:xfrm xmlns:a="http://schemas.openxmlformats.org/drawingml/2006/main">
            <a:off x="7699248" y="2103120"/>
            <a:ext cx="1225296"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8" name="Text 34">
            <a:extLst xmlns:a="http://schemas.openxmlformats.org/drawingml/2006/main">
              <a:ext uri="{FF2B5EF4-FFF2-40B4-BE49-F238E27FC236}">
                <a16:creationId xmlns:a16="http://schemas.microsoft.com/office/drawing/2014/main" id="{922C63F2-C554-473B-AA13-370714A8A300}"/>
              </a:ext>
            </a:extLst>
          </p:cNvPr>
          <p:cNvSpPr>
            <a:spLocks xmlns:a="http://schemas.openxmlformats.org/drawingml/2006/main" noGrp="1"/>
          </p:cNvSpPr>
          <p:nvPr/>
        </p:nvSpPr>
        <p:spPr>
          <a:xfrm xmlns:a="http://schemas.openxmlformats.org/drawingml/2006/main">
            <a:off x="7699248" y="2103120"/>
            <a:ext cx="12252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B</a:t>
            </a:r>
            <a:endParaRPr sz="1100"/>
          </a:p>
        </p:txBody>
      </p:sp>
      <p:sp>
        <p:nvSpPr>
          <p:cNvPr id="39" name="Shape 35">
            <a:extLst xmlns:a="http://schemas.openxmlformats.org/drawingml/2006/main">
              <a:ext uri="{FF2B5EF4-FFF2-40B4-BE49-F238E27FC236}">
                <a16:creationId xmlns:a16="http://schemas.microsoft.com/office/drawing/2014/main" id="{025B8398-4B84-42B3-8D7E-DDA4FA448889}"/>
              </a:ext>
            </a:extLst>
          </p:cNvPr>
          <p:cNvSpPr>
            <a:spLocks xmlns:a="http://schemas.openxmlformats.org/drawingml/2006/main" noGrp="1"/>
          </p:cNvSpPr>
          <p:nvPr/>
        </p:nvSpPr>
        <p:spPr>
          <a:xfrm xmlns:a="http://schemas.openxmlformats.org/drawingml/2006/main">
            <a:off x="8997696" y="2103120"/>
            <a:ext cx="1225296"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0" name="Text 36">
            <a:extLst xmlns:a="http://schemas.openxmlformats.org/drawingml/2006/main">
              <a:ext uri="{FF2B5EF4-FFF2-40B4-BE49-F238E27FC236}">
                <a16:creationId xmlns:a16="http://schemas.microsoft.com/office/drawing/2014/main" id="{517E3D1D-458B-4A5C-8663-3169DDB1693D}"/>
              </a:ext>
            </a:extLst>
          </p:cNvPr>
          <p:cNvSpPr>
            <a:spLocks xmlns:a="http://schemas.openxmlformats.org/drawingml/2006/main" noGrp="1"/>
          </p:cNvSpPr>
          <p:nvPr/>
        </p:nvSpPr>
        <p:spPr>
          <a:xfrm xmlns:a="http://schemas.openxmlformats.org/drawingml/2006/main">
            <a:off x="8997696" y="2103120"/>
            <a:ext cx="12252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C</a:t>
            </a:r>
            <a:endParaRPr sz="1100"/>
          </a:p>
        </p:txBody>
      </p:sp>
      <p:sp>
        <p:nvSpPr>
          <p:cNvPr id="41" name="Shape 37">
            <a:extLst xmlns:a="http://schemas.openxmlformats.org/drawingml/2006/main">
              <a:ext uri="{FF2B5EF4-FFF2-40B4-BE49-F238E27FC236}">
                <a16:creationId xmlns:a16="http://schemas.microsoft.com/office/drawing/2014/main" id="{20FF77AC-F497-4A43-865E-911101B9AAF8}"/>
              </a:ext>
            </a:extLst>
          </p:cNvPr>
          <p:cNvSpPr>
            <a:spLocks xmlns:a="http://schemas.openxmlformats.org/drawingml/2006/main" noGrp="1"/>
          </p:cNvSpPr>
          <p:nvPr/>
        </p:nvSpPr>
        <p:spPr>
          <a:xfrm xmlns:a="http://schemas.openxmlformats.org/drawingml/2006/main">
            <a:off x="10296144" y="2103120"/>
            <a:ext cx="1225296"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42" name="Text 38">
            <a:extLst xmlns:a="http://schemas.openxmlformats.org/drawingml/2006/main">
              <a:ext uri="{FF2B5EF4-FFF2-40B4-BE49-F238E27FC236}">
                <a16:creationId xmlns:a16="http://schemas.microsoft.com/office/drawing/2014/main" id="{2276BFEB-32D2-45AB-9FE9-D039694CC403}"/>
              </a:ext>
            </a:extLst>
          </p:cNvPr>
          <p:cNvSpPr>
            <a:spLocks xmlns:a="http://schemas.openxmlformats.org/drawingml/2006/main" noGrp="1"/>
          </p:cNvSpPr>
          <p:nvPr/>
        </p:nvSpPr>
        <p:spPr>
          <a:xfrm xmlns:a="http://schemas.openxmlformats.org/drawingml/2006/main">
            <a:off x="10296144" y="2103120"/>
            <a:ext cx="1225296"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App D</a:t>
            </a:r>
            <a:endParaRPr sz="1100"/>
          </a:p>
        </p:txBody>
      </p:sp>
      <p:sp>
        <p:nvSpPr>
          <p:cNvPr id="43" name="Shape 39">
            <a:extLst xmlns:a="http://schemas.openxmlformats.org/drawingml/2006/main">
              <a:ext uri="{FF2B5EF4-FFF2-40B4-BE49-F238E27FC236}">
                <a16:creationId xmlns:a16="http://schemas.microsoft.com/office/drawing/2014/main" id="{CDDC303E-70BD-4C74-9EF4-912E1757CB08}"/>
              </a:ext>
            </a:extLst>
          </p:cNvPr>
          <p:cNvSpPr>
            <a:spLocks xmlns:a="http://schemas.openxmlformats.org/drawingml/2006/main" noGrp="1"/>
          </p:cNvSpPr>
          <p:nvPr/>
        </p:nvSpPr>
        <p:spPr>
          <a:xfrm xmlns:a="http://schemas.openxmlformats.org/drawingml/2006/main">
            <a:off x="6400800" y="2788920"/>
            <a:ext cx="5175504" cy="45720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44" name="Text 40">
            <a:extLst xmlns:a="http://schemas.openxmlformats.org/drawingml/2006/main">
              <a:ext uri="{FF2B5EF4-FFF2-40B4-BE49-F238E27FC236}">
                <a16:creationId xmlns:a16="http://schemas.microsoft.com/office/drawing/2014/main" id="{365B8C07-4F00-4406-9652-88523F5463A3}"/>
              </a:ext>
            </a:extLst>
          </p:cNvPr>
          <p:cNvSpPr>
            <a:spLocks xmlns:a="http://schemas.openxmlformats.org/drawingml/2006/main" noGrp="1"/>
          </p:cNvSpPr>
          <p:nvPr/>
        </p:nvSpPr>
        <p:spPr>
          <a:xfrm xmlns:a="http://schemas.openxmlformats.org/drawingml/2006/main">
            <a:off x="6400800" y="2788920"/>
            <a:ext cx="51755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CONTAINER ENGINE  (Docker, containerd)</a:t>
            </a:r>
            <a:endParaRPr sz="1100"/>
          </a:p>
        </p:txBody>
      </p:sp>
      <p:sp>
        <p:nvSpPr>
          <p:cNvPr id="45" name="Shape 41">
            <a:extLst xmlns:a="http://schemas.openxmlformats.org/drawingml/2006/main">
              <a:ext uri="{FF2B5EF4-FFF2-40B4-BE49-F238E27FC236}">
                <a16:creationId xmlns:a16="http://schemas.microsoft.com/office/drawing/2014/main" id="{6A61B6C4-FC98-4C51-8E61-D83F31082FBF}"/>
              </a:ext>
            </a:extLst>
          </p:cNvPr>
          <p:cNvSpPr>
            <a:spLocks xmlns:a="http://schemas.openxmlformats.org/drawingml/2006/main" noGrp="1"/>
          </p:cNvSpPr>
          <p:nvPr/>
        </p:nvSpPr>
        <p:spPr>
          <a:xfrm xmlns:a="http://schemas.openxmlformats.org/drawingml/2006/main">
            <a:off x="6400800" y="3291840"/>
            <a:ext cx="5175504" cy="86868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46" name="Text 42">
            <a:extLst xmlns:a="http://schemas.openxmlformats.org/drawingml/2006/main">
              <a:ext uri="{FF2B5EF4-FFF2-40B4-BE49-F238E27FC236}">
                <a16:creationId xmlns:a16="http://schemas.microsoft.com/office/drawing/2014/main" id="{12B77F01-1774-4905-80E3-18146DAA4BDF}"/>
              </a:ext>
            </a:extLst>
          </p:cNvPr>
          <p:cNvSpPr>
            <a:spLocks xmlns:a="http://schemas.openxmlformats.org/drawingml/2006/main" noGrp="1"/>
          </p:cNvSpPr>
          <p:nvPr/>
        </p:nvSpPr>
        <p:spPr>
          <a:xfrm xmlns:a="http://schemas.openxmlformats.org/drawingml/2006/main">
            <a:off x="6400800" y="3291840"/>
            <a:ext cx="517550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HOST OS  +  KERNEL  (Linux)</a:t>
            </a:r>
            <a:endParaRPr sz="1200"/>
          </a:p>
        </p:txBody>
      </p:sp>
      <p:sp>
        <p:nvSpPr>
          <p:cNvPr id="47" name="Shape 43">
            <a:extLst xmlns:a="http://schemas.openxmlformats.org/drawingml/2006/main">
              <a:ext uri="{FF2B5EF4-FFF2-40B4-BE49-F238E27FC236}">
                <a16:creationId xmlns:a16="http://schemas.microsoft.com/office/drawing/2014/main" id="{ADFFF54B-AEF2-4EC6-B908-F66E714072D9}"/>
              </a:ext>
            </a:extLst>
          </p:cNvPr>
          <p:cNvSpPr>
            <a:spLocks xmlns:a="http://schemas.openxmlformats.org/drawingml/2006/main" noGrp="1"/>
          </p:cNvSpPr>
          <p:nvPr/>
        </p:nvSpPr>
        <p:spPr>
          <a:xfrm xmlns:a="http://schemas.openxmlformats.org/drawingml/2006/main">
            <a:off x="6400800" y="4206240"/>
            <a:ext cx="5175504" cy="457200"/>
          </a:xfrm>
          <a:prstGeom xmlns:a="http://schemas.openxmlformats.org/drawingml/2006/main" prst="rect">
            <a:avLst/>
          </a:prstGeom>
          <a:solidFill xmlns:a="http://schemas.openxmlformats.org/drawingml/2006/main">
            <a:srgbClr val="475569"/>
          </a:solidFill>
          <a:ln xmlns:a="http://schemas.openxmlformats.org/drawingml/2006/main" w="12700">
            <a:solidFill>
              <a:srgbClr val="475569"/>
            </a:solidFill>
            <a:prstDash val="solid"/>
          </a:ln>
        </p:spPr>
      </p:sp>
      <p:sp>
        <p:nvSpPr>
          <p:cNvPr id="48" name="Text 44">
            <a:extLst xmlns:a="http://schemas.openxmlformats.org/drawingml/2006/main">
              <a:ext uri="{FF2B5EF4-FFF2-40B4-BE49-F238E27FC236}">
                <a16:creationId xmlns:a16="http://schemas.microsoft.com/office/drawing/2014/main" id="{62713D22-5551-43BA-9E62-C20182E5C83E}"/>
              </a:ext>
            </a:extLst>
          </p:cNvPr>
          <p:cNvSpPr>
            <a:spLocks xmlns:a="http://schemas.openxmlformats.org/drawingml/2006/main" noGrp="1"/>
          </p:cNvSpPr>
          <p:nvPr/>
        </p:nvSpPr>
        <p:spPr>
          <a:xfrm xmlns:a="http://schemas.openxmlformats.org/drawingml/2006/main">
            <a:off x="6400800" y="4206240"/>
            <a:ext cx="51755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HARDWARE</a:t>
            </a:r>
            <a:endParaRPr sz="1200"/>
          </a:p>
        </p:txBody>
      </p:sp>
      <p:sp>
        <p:nvSpPr>
          <p:cNvPr id="49" name="Text 45">
            <a:extLst xmlns:a="http://schemas.openxmlformats.org/drawingml/2006/main">
              <a:ext uri="{FF2B5EF4-FFF2-40B4-BE49-F238E27FC236}">
                <a16:creationId xmlns:a16="http://schemas.microsoft.com/office/drawing/2014/main" id="{3A3C0441-1249-49B9-9FB1-13946E330134}"/>
              </a:ext>
            </a:extLst>
          </p:cNvPr>
          <p:cNvSpPr>
            <a:spLocks xmlns:a="http://schemas.openxmlformats.org/drawingml/2006/main" noGrp="1"/>
          </p:cNvSpPr>
          <p:nvPr/>
        </p:nvSpPr>
        <p:spPr>
          <a:xfrm xmlns:a="http://schemas.openxmlformats.org/drawingml/2006/main">
            <a:off x="6400800" y="4800600"/>
            <a:ext cx="5175504"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200"/>
              </a:spcAft>
              <a:buNone/>
            </a:pPr>
            <a:r>
              <a:rPr sz="1100" b="1">
                <a:solidFill>
                  <a:srgbClr val="059669"/>
                </a:solidFill>
                <a:latin typeface="Calibri"/>
                <a:ea typeface="Calibri"/>
                <a:cs typeface="Calibri"/>
              </a:rPr>
              <a:t>+ Ringan (MB RAM, MB disk)</a:t>
            </a:r>
            <a:endParaRPr sz="1100"/>
          </a:p>
          <a:p xmlns:a="http://schemas.openxmlformats.org/drawingml/2006/main">
            <a:pPr marL="0" indent="0">
              <a:spcAft>
                <a:spcPts val="200"/>
              </a:spcAft>
              <a:buNone/>
            </a:pPr>
            <a:r>
              <a:rPr sz="1100" b="1">
                <a:solidFill>
                  <a:srgbClr val="059669"/>
                </a:solidFill>
                <a:latin typeface="Calibri"/>
                <a:ea typeface="Calibri"/>
                <a:cs typeface="Calibri"/>
              </a:rPr>
              <a:t>+ Startup umumnya cepat</a:t>
            </a:r>
            <a:endParaRPr sz="1100"/>
          </a:p>
          <a:p xmlns:a="http://schemas.openxmlformats.org/drawingml/2006/main">
            <a:pPr marL="0" indent="0">
              <a:spcAft>
                <a:spcPts val="200"/>
              </a:spcAft>
              <a:buNone/>
            </a:pPr>
            <a:r>
              <a:rPr sz="1100" b="1">
                <a:solidFill>
                  <a:srgbClr val="059669"/>
                </a:solidFill>
                <a:latin typeface="Calibri"/>
                <a:ea typeface="Calibri"/>
                <a:cs typeface="Calibri"/>
              </a:rPr>
              <a:t>+ Image portable &amp; reproducible</a:t>
            </a:r>
            <a:endParaRPr sz="1100"/>
          </a:p>
          <a:p xmlns:a="http://schemas.openxmlformats.org/drawingml/2006/main">
            <a:pPr marL="0" indent="0">
              <a:spcAft>
                <a:spcPts val="200"/>
              </a:spcAft>
              <a:buNone/>
            </a:pPr>
            <a:r>
              <a:rPr sz="1100" b="1">
                <a:solidFill>
                  <a:srgbClr val="DC2626"/>
                </a:solidFill>
                <a:latin typeface="Calibri"/>
                <a:ea typeface="Calibri"/>
                <a:cs typeface="Calibri"/>
              </a:rPr>
              <a:t>- Share kernel (Linux only secara native)</a:t>
            </a:r>
            <a:endParaRPr sz="1100"/>
          </a:p>
        </p:txBody>
      </p:sp>
    </p:spTree>
    <p:extLst>
      <p:ext uri="{BB962C8B-B14F-4D97-AF65-F5344CB8AC3E}">
        <p14:creationId xmlns:p14="http://schemas.microsoft.com/office/powerpoint/2010/main" val="16337938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3EBB09-FEB6-4CA4-9F6A-D90E18BEB9F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68D29680-65D9-4FA9-94BA-4BDEC8DDCBE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14</a:t>
            </a:r>
            <a:endParaRPr sz="900"/>
          </a:p>
        </p:txBody>
      </p:sp>
      <p:sp>
        <p:nvSpPr>
          <p:cNvPr id="4" name="Shape 2">
            <a:extLst xmlns:a="http://schemas.openxmlformats.org/drawingml/2006/main">
              <a:ext uri="{FF2B5EF4-FFF2-40B4-BE49-F238E27FC236}">
                <a16:creationId xmlns:a16="http://schemas.microsoft.com/office/drawing/2014/main" id="{78BBE634-EED0-47BA-9AF2-DF1FAED75CE8}"/>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a:extLst xmlns:a="http://schemas.openxmlformats.org/drawingml/2006/main">
              <a:ext uri="{FF2B5EF4-FFF2-40B4-BE49-F238E27FC236}">
                <a16:creationId xmlns:a16="http://schemas.microsoft.com/office/drawing/2014/main" id="{A718BF2E-EDF5-4F05-B16E-DC7F48BA9296}"/>
              </a:ext>
            </a:extLst>
          </p:cNvPr>
          <p:cNvPicPr>
            <a:picLocks xmlns:a="http://schemas.openxmlformats.org/drawingml/2006/main" noChangeAspect="1"/>
          </p:cNvPicPr>
          <p:nvPr/>
        </p:nvPicPr>
        <p:blipFill>
          <a:blip xmlns:r="http://schemas.openxmlformats.org/officeDocument/2006/relationships" xmlns:a="http://schemas.openxmlformats.org/drawingml/2006/main" r:embed="R2fc8120b24864bda"/>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a:extLst xmlns:a="http://schemas.openxmlformats.org/drawingml/2006/main">
              <a:ext uri="{FF2B5EF4-FFF2-40B4-BE49-F238E27FC236}">
                <a16:creationId xmlns:a16="http://schemas.microsoft.com/office/drawing/2014/main" id="{5103638F-4919-4E64-9007-75086FB17D1E}"/>
              </a:ext>
            </a:extLst>
          </p:cNvPr>
          <p:cNvPicPr>
            <a:picLocks xmlns:a="http://schemas.openxmlformats.org/drawingml/2006/main" noChangeAspect="1"/>
          </p:cNvPicPr>
          <p:nvPr/>
        </p:nvPicPr>
        <p:blipFill>
          <a:blip xmlns:r="http://schemas.openxmlformats.org/officeDocument/2006/relationships" xmlns:a="http://schemas.openxmlformats.org/drawingml/2006/main" r:embed="R3172ac38601a426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012010A-659E-44A4-A50C-3352427B0E8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966371E-F83D-40B5-96BD-C640148C362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Linux Namespaces</a:t>
            </a:r>
            <a:endParaRPr sz="2200"/>
          </a:p>
        </p:txBody>
      </p:sp>
      <p:sp>
        <p:nvSpPr>
          <p:cNvPr id="9" name="Text 5">
            <a:extLst xmlns:a="http://schemas.openxmlformats.org/drawingml/2006/main">
              <a:ext uri="{FF2B5EF4-FFF2-40B4-BE49-F238E27FC236}">
                <a16:creationId xmlns:a16="http://schemas.microsoft.com/office/drawing/2014/main" id="{997C741F-4F95-4ABA-B426-5E207655CA4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Fitur kernel yang bikin container possible - isolasi 'view'</a:t>
            </a:r>
            <a:endParaRPr sz="1200"/>
          </a:p>
        </p:txBody>
      </p:sp>
      <p:sp>
        <p:nvSpPr>
          <p:cNvPr id="10" name="Shape 6">
            <a:extLst xmlns:a="http://schemas.openxmlformats.org/drawingml/2006/main">
              <a:ext uri="{FF2B5EF4-FFF2-40B4-BE49-F238E27FC236}">
                <a16:creationId xmlns:a16="http://schemas.microsoft.com/office/drawing/2014/main" id="{E68425DF-B5BF-40E9-A7EF-1BE83CA49B2D}"/>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6834D92E-5D12-41F9-B7D8-223636E407FC}"/>
              </a:ext>
            </a:extLst>
          </p:cNvPr>
          <p:cNvSpPr>
            <a:spLocks xmlns:a="http://schemas.openxmlformats.org/drawingml/2006/main" noGrp="1"/>
          </p:cNvSpPr>
          <p:nvPr/>
        </p:nvSpPr>
        <p:spPr>
          <a:xfrm xmlns:a="http://schemas.openxmlformats.org/drawingml/2006/main">
            <a:off x="685800" y="1508760"/>
            <a:ext cx="107899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37021"/>
                </a:solidFill>
                <a:latin typeface="Calibri"/>
                <a:ea typeface="Calibri"/>
                <a:cs typeface="Calibri"/>
              </a:rPr>
              <a:t>Namespace = </a:t>
            </a:r>
            <a:r>
              <a:rPr sz="1400">
                <a:solidFill>
                  <a:srgbClr val="FFFFFF"/>
                </a:solidFill>
                <a:latin typeface="Calibri"/>
                <a:ea typeface="Calibri"/>
                <a:cs typeface="Calibri"/>
              </a:rPr>
              <a:t>fitur kernel yang membuat proses 'melihat' subset dari sistem.</a:t>
            </a:r>
            <a:endParaRPr sz="1400"/>
          </a:p>
          <a:p xmlns:a="http://schemas.openxmlformats.org/drawingml/2006/main">
            <a:pPr marL="0" indent="0">
              <a:buNone/>
            </a:pPr>
            <a:r>
              <a:rPr sz="1100" i="1">
                <a:solidFill>
                  <a:srgbClr val="FFE0B2"/>
                </a:solidFill>
                <a:latin typeface="Calibri"/>
                <a:ea typeface="Calibri"/>
                <a:cs typeface="Calibri"/>
              </a:rPr>
              <a:t>Jadi tiap container kelihatan punya filesystem, network, dan process tree sendiri - padahal share kernel yang sama.</a:t>
            </a:r>
            <a:endParaRPr sz="1400"/>
          </a:p>
        </p:txBody>
      </p:sp>
      <p:sp>
        <p:nvSpPr>
          <p:cNvPr id="12" name="Shape 8">
            <a:extLst xmlns:a="http://schemas.openxmlformats.org/drawingml/2006/main">
              <a:ext uri="{FF2B5EF4-FFF2-40B4-BE49-F238E27FC236}">
                <a16:creationId xmlns:a16="http://schemas.microsoft.com/office/drawing/2014/main" id="{6AA39D59-24BA-4E2F-A954-9BA76E53EFFE}"/>
              </a:ext>
            </a:extLst>
          </p:cNvPr>
          <p:cNvSpPr>
            <a:spLocks xmlns:a="http://schemas.openxmlformats.org/drawingml/2006/main" noGrp="1"/>
          </p:cNvSpPr>
          <p:nvPr/>
        </p:nvSpPr>
        <p:spPr>
          <a:xfrm xmlns:a="http://schemas.openxmlformats.org/drawingml/2006/main">
            <a:off x="457200" y="246888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260E8A30-F324-47BE-8868-FE97A8A774B1}"/>
              </a:ext>
            </a:extLst>
          </p:cNvPr>
          <p:cNvSpPr>
            <a:spLocks xmlns:a="http://schemas.openxmlformats.org/drawingml/2006/main" noGrp="1"/>
          </p:cNvSpPr>
          <p:nvPr/>
        </p:nvSpPr>
        <p:spPr>
          <a:xfrm xmlns:a="http://schemas.openxmlformats.org/drawingml/2006/main">
            <a:off x="457200" y="246888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4" name="Text 10">
            <a:extLst xmlns:a="http://schemas.openxmlformats.org/drawingml/2006/main">
              <a:ext uri="{FF2B5EF4-FFF2-40B4-BE49-F238E27FC236}">
                <a16:creationId xmlns:a16="http://schemas.microsoft.com/office/drawing/2014/main" id="{A827461F-E319-4F76-90BE-649F9F3E2FFB}"/>
              </a:ext>
            </a:extLst>
          </p:cNvPr>
          <p:cNvSpPr>
            <a:spLocks xmlns:a="http://schemas.openxmlformats.org/drawingml/2006/main" noGrp="1"/>
          </p:cNvSpPr>
          <p:nvPr/>
        </p:nvSpPr>
        <p:spPr>
          <a:xfrm xmlns:a="http://schemas.openxmlformats.org/drawingml/2006/main">
            <a:off x="457200" y="246888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PID</a:t>
            </a:r>
            <a:endParaRPr sz="2200"/>
          </a:p>
        </p:txBody>
      </p:sp>
      <p:sp>
        <p:nvSpPr>
          <p:cNvPr id="15" name="Text 11">
            <a:extLst xmlns:a="http://schemas.openxmlformats.org/drawingml/2006/main">
              <a:ext uri="{FF2B5EF4-FFF2-40B4-BE49-F238E27FC236}">
                <a16:creationId xmlns:a16="http://schemas.microsoft.com/office/drawing/2014/main" id="{DBF02D99-9EF5-4F0A-9F44-B56E878EDD77}"/>
              </a:ext>
            </a:extLst>
          </p:cNvPr>
          <p:cNvSpPr>
            <a:spLocks xmlns:a="http://schemas.openxmlformats.org/drawingml/2006/main" noGrp="1"/>
          </p:cNvSpPr>
          <p:nvPr/>
        </p:nvSpPr>
        <p:spPr>
          <a:xfrm xmlns:a="http://schemas.openxmlformats.org/drawingml/2006/main">
            <a:off x="1874520" y="260604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Process ID - proses di container lihat PID 1 sendiri</a:t>
            </a:r>
            <a:endParaRPr sz="1100"/>
          </a:p>
        </p:txBody>
      </p:sp>
      <p:sp>
        <p:nvSpPr>
          <p:cNvPr id="16" name="Text 12">
            <a:extLst xmlns:a="http://schemas.openxmlformats.org/drawingml/2006/main">
              <a:ext uri="{FF2B5EF4-FFF2-40B4-BE49-F238E27FC236}">
                <a16:creationId xmlns:a16="http://schemas.microsoft.com/office/drawing/2014/main" id="{EC803417-78BB-43C2-856D-A3A491A13B7F}"/>
              </a:ext>
            </a:extLst>
          </p:cNvPr>
          <p:cNvSpPr>
            <a:spLocks xmlns:a="http://schemas.openxmlformats.org/drawingml/2006/main" noGrp="1"/>
          </p:cNvSpPr>
          <p:nvPr/>
        </p:nvSpPr>
        <p:spPr>
          <a:xfrm xmlns:a="http://schemas.openxmlformats.org/drawingml/2006/main">
            <a:off x="1874520" y="338328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ps aux di container cuma tampil proses container</a:t>
            </a:r>
            <a:endParaRPr sz="1000"/>
          </a:p>
        </p:txBody>
      </p:sp>
      <p:sp>
        <p:nvSpPr>
          <p:cNvPr id="17" name="Shape 13">
            <a:extLst xmlns:a="http://schemas.openxmlformats.org/drawingml/2006/main">
              <a:ext uri="{FF2B5EF4-FFF2-40B4-BE49-F238E27FC236}">
                <a16:creationId xmlns:a16="http://schemas.microsoft.com/office/drawing/2014/main" id="{C046FFAE-786F-49AE-951F-78C6664C8937}"/>
              </a:ext>
            </a:extLst>
          </p:cNvPr>
          <p:cNvSpPr>
            <a:spLocks xmlns:a="http://schemas.openxmlformats.org/drawingml/2006/main" noGrp="1"/>
          </p:cNvSpPr>
          <p:nvPr/>
        </p:nvSpPr>
        <p:spPr>
          <a:xfrm xmlns:a="http://schemas.openxmlformats.org/drawingml/2006/main">
            <a:off x="4297680" y="246888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8E92E01E-8288-42AF-BEF4-3F4D55C025E2}"/>
              </a:ext>
            </a:extLst>
          </p:cNvPr>
          <p:cNvSpPr>
            <a:spLocks xmlns:a="http://schemas.openxmlformats.org/drawingml/2006/main" noGrp="1"/>
          </p:cNvSpPr>
          <p:nvPr/>
        </p:nvSpPr>
        <p:spPr>
          <a:xfrm xmlns:a="http://schemas.openxmlformats.org/drawingml/2006/main">
            <a:off x="4297680" y="246888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9" name="Text 15">
            <a:extLst xmlns:a="http://schemas.openxmlformats.org/drawingml/2006/main">
              <a:ext uri="{FF2B5EF4-FFF2-40B4-BE49-F238E27FC236}">
                <a16:creationId xmlns:a16="http://schemas.microsoft.com/office/drawing/2014/main" id="{3AF3F534-B4F1-4E6B-8955-7C04C0364941}"/>
              </a:ext>
            </a:extLst>
          </p:cNvPr>
          <p:cNvSpPr>
            <a:spLocks xmlns:a="http://schemas.openxmlformats.org/drawingml/2006/main" noGrp="1"/>
          </p:cNvSpPr>
          <p:nvPr/>
        </p:nvSpPr>
        <p:spPr>
          <a:xfrm xmlns:a="http://schemas.openxmlformats.org/drawingml/2006/main">
            <a:off x="4297680" y="246888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NET</a:t>
            </a:r>
            <a:endParaRPr sz="2200"/>
          </a:p>
        </p:txBody>
      </p:sp>
      <p:sp>
        <p:nvSpPr>
          <p:cNvPr id="20" name="Text 16">
            <a:extLst xmlns:a="http://schemas.openxmlformats.org/drawingml/2006/main">
              <a:ext uri="{FF2B5EF4-FFF2-40B4-BE49-F238E27FC236}">
                <a16:creationId xmlns:a16="http://schemas.microsoft.com/office/drawing/2014/main" id="{A93607A4-E22C-4B99-AF5B-04CF73287D19}"/>
              </a:ext>
            </a:extLst>
          </p:cNvPr>
          <p:cNvSpPr>
            <a:spLocks xmlns:a="http://schemas.openxmlformats.org/drawingml/2006/main" noGrp="1"/>
          </p:cNvSpPr>
          <p:nvPr/>
        </p:nvSpPr>
        <p:spPr>
          <a:xfrm xmlns:a="http://schemas.openxmlformats.org/drawingml/2006/main">
            <a:off x="5715000" y="260604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Network - interface, IP, routing table sendiri</a:t>
            </a:r>
            <a:endParaRPr sz="1100"/>
          </a:p>
        </p:txBody>
      </p:sp>
      <p:sp>
        <p:nvSpPr>
          <p:cNvPr id="21" name="Text 17">
            <a:extLst xmlns:a="http://schemas.openxmlformats.org/drawingml/2006/main">
              <a:ext uri="{FF2B5EF4-FFF2-40B4-BE49-F238E27FC236}">
                <a16:creationId xmlns:a16="http://schemas.microsoft.com/office/drawing/2014/main" id="{C6FD6D85-0E75-4EF6-A8E1-14A0DC1A31DE}"/>
              </a:ext>
            </a:extLst>
          </p:cNvPr>
          <p:cNvSpPr>
            <a:spLocks xmlns:a="http://schemas.openxmlformats.org/drawingml/2006/main" noGrp="1"/>
          </p:cNvSpPr>
          <p:nvPr/>
        </p:nvSpPr>
        <p:spPr>
          <a:xfrm xmlns:a="http://schemas.openxmlformats.org/drawingml/2006/main">
            <a:off x="5715000" y="338328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Container A:80 dan B:80 tidak konflik</a:t>
            </a:r>
            <a:endParaRPr sz="1000"/>
          </a:p>
        </p:txBody>
      </p:sp>
      <p:sp>
        <p:nvSpPr>
          <p:cNvPr id="22" name="Shape 18">
            <a:extLst xmlns:a="http://schemas.openxmlformats.org/drawingml/2006/main">
              <a:ext uri="{FF2B5EF4-FFF2-40B4-BE49-F238E27FC236}">
                <a16:creationId xmlns:a16="http://schemas.microsoft.com/office/drawing/2014/main" id="{065F4E4F-3DDF-490D-AC99-85145F9DA9EF}"/>
              </a:ext>
            </a:extLst>
          </p:cNvPr>
          <p:cNvSpPr>
            <a:spLocks xmlns:a="http://schemas.openxmlformats.org/drawingml/2006/main" noGrp="1"/>
          </p:cNvSpPr>
          <p:nvPr/>
        </p:nvSpPr>
        <p:spPr>
          <a:xfrm xmlns:a="http://schemas.openxmlformats.org/drawingml/2006/main">
            <a:off x="8138160" y="246888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C6D355E7-0AAB-4E13-A03D-6ED4A69C3CA1}"/>
              </a:ext>
            </a:extLst>
          </p:cNvPr>
          <p:cNvSpPr>
            <a:spLocks xmlns:a="http://schemas.openxmlformats.org/drawingml/2006/main" noGrp="1"/>
          </p:cNvSpPr>
          <p:nvPr/>
        </p:nvSpPr>
        <p:spPr>
          <a:xfrm xmlns:a="http://schemas.openxmlformats.org/drawingml/2006/main">
            <a:off x="8138160" y="246888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4" name="Text 20">
            <a:extLst xmlns:a="http://schemas.openxmlformats.org/drawingml/2006/main">
              <a:ext uri="{FF2B5EF4-FFF2-40B4-BE49-F238E27FC236}">
                <a16:creationId xmlns:a16="http://schemas.microsoft.com/office/drawing/2014/main" id="{8C2A5C92-0839-448D-B870-D2ED215C768F}"/>
              </a:ext>
            </a:extLst>
          </p:cNvPr>
          <p:cNvSpPr>
            <a:spLocks xmlns:a="http://schemas.openxmlformats.org/drawingml/2006/main" noGrp="1"/>
          </p:cNvSpPr>
          <p:nvPr/>
        </p:nvSpPr>
        <p:spPr>
          <a:xfrm xmlns:a="http://schemas.openxmlformats.org/drawingml/2006/main">
            <a:off x="8138160" y="246888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MNT</a:t>
            </a:r>
            <a:endParaRPr sz="2200"/>
          </a:p>
        </p:txBody>
      </p:sp>
      <p:sp>
        <p:nvSpPr>
          <p:cNvPr id="25" name="Text 21">
            <a:extLst xmlns:a="http://schemas.openxmlformats.org/drawingml/2006/main">
              <a:ext uri="{FF2B5EF4-FFF2-40B4-BE49-F238E27FC236}">
                <a16:creationId xmlns:a16="http://schemas.microsoft.com/office/drawing/2014/main" id="{8537C075-CA98-4963-AE04-E6A6F0B9984D}"/>
              </a:ext>
            </a:extLst>
          </p:cNvPr>
          <p:cNvSpPr>
            <a:spLocks xmlns:a="http://schemas.openxmlformats.org/drawingml/2006/main" noGrp="1"/>
          </p:cNvSpPr>
          <p:nvPr/>
        </p:nvSpPr>
        <p:spPr>
          <a:xfrm xmlns:a="http://schemas.openxmlformats.org/drawingml/2006/main">
            <a:off x="9555480" y="260604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Mount - filesystem tree terisolasi</a:t>
            </a:r>
            <a:endParaRPr sz="1100"/>
          </a:p>
        </p:txBody>
      </p:sp>
      <p:sp>
        <p:nvSpPr>
          <p:cNvPr id="26" name="Text 22">
            <a:extLst xmlns:a="http://schemas.openxmlformats.org/drawingml/2006/main">
              <a:ext uri="{FF2B5EF4-FFF2-40B4-BE49-F238E27FC236}">
                <a16:creationId xmlns:a16="http://schemas.microsoft.com/office/drawing/2014/main" id="{6D301771-EA33-4453-A53A-B3CA5B88AF70}"/>
              </a:ext>
            </a:extLst>
          </p:cNvPr>
          <p:cNvSpPr>
            <a:spLocks xmlns:a="http://schemas.openxmlformats.org/drawingml/2006/main" noGrp="1"/>
          </p:cNvSpPr>
          <p:nvPr/>
        </p:nvSpPr>
        <p:spPr>
          <a:xfrm xmlns:a="http://schemas.openxmlformats.org/drawingml/2006/main">
            <a:off x="9555480" y="338328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Container lihat / sendiri (image-nya)</a:t>
            </a:r>
            <a:endParaRPr sz="1000"/>
          </a:p>
        </p:txBody>
      </p:sp>
      <p:sp>
        <p:nvSpPr>
          <p:cNvPr id="27" name="Shape 23">
            <a:extLst xmlns:a="http://schemas.openxmlformats.org/drawingml/2006/main">
              <a:ext uri="{FF2B5EF4-FFF2-40B4-BE49-F238E27FC236}">
                <a16:creationId xmlns:a16="http://schemas.microsoft.com/office/drawing/2014/main" id="{D4FBAFF7-F530-4896-80E3-6625E3F8DC02}"/>
              </a:ext>
            </a:extLst>
          </p:cNvPr>
          <p:cNvSpPr>
            <a:spLocks xmlns:a="http://schemas.openxmlformats.org/drawingml/2006/main" noGrp="1"/>
          </p:cNvSpPr>
          <p:nvPr/>
        </p:nvSpPr>
        <p:spPr>
          <a:xfrm xmlns:a="http://schemas.openxmlformats.org/drawingml/2006/main">
            <a:off x="457200" y="443484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8" name="Shape 24">
            <a:extLst xmlns:a="http://schemas.openxmlformats.org/drawingml/2006/main">
              <a:ext uri="{FF2B5EF4-FFF2-40B4-BE49-F238E27FC236}">
                <a16:creationId xmlns:a16="http://schemas.microsoft.com/office/drawing/2014/main" id="{4B649CFD-250B-4A3E-BAC7-8BA266A2DDB8}"/>
              </a:ext>
            </a:extLst>
          </p:cNvPr>
          <p:cNvSpPr>
            <a:spLocks xmlns:a="http://schemas.openxmlformats.org/drawingml/2006/main" noGrp="1"/>
          </p:cNvSpPr>
          <p:nvPr/>
        </p:nvSpPr>
        <p:spPr>
          <a:xfrm xmlns:a="http://schemas.openxmlformats.org/drawingml/2006/main">
            <a:off x="457200" y="443484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9" name="Text 25">
            <a:extLst xmlns:a="http://schemas.openxmlformats.org/drawingml/2006/main">
              <a:ext uri="{FF2B5EF4-FFF2-40B4-BE49-F238E27FC236}">
                <a16:creationId xmlns:a16="http://schemas.microsoft.com/office/drawing/2014/main" id="{12E6EC29-1439-4241-BAC7-B199053F1520}"/>
              </a:ext>
            </a:extLst>
          </p:cNvPr>
          <p:cNvSpPr>
            <a:spLocks xmlns:a="http://schemas.openxmlformats.org/drawingml/2006/main" noGrp="1"/>
          </p:cNvSpPr>
          <p:nvPr/>
        </p:nvSpPr>
        <p:spPr>
          <a:xfrm xmlns:a="http://schemas.openxmlformats.org/drawingml/2006/main">
            <a:off x="457200" y="443484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UTS</a:t>
            </a:r>
            <a:endParaRPr sz="2200"/>
          </a:p>
        </p:txBody>
      </p:sp>
      <p:sp>
        <p:nvSpPr>
          <p:cNvPr id="30" name="Text 26">
            <a:extLst xmlns:a="http://schemas.openxmlformats.org/drawingml/2006/main">
              <a:ext uri="{FF2B5EF4-FFF2-40B4-BE49-F238E27FC236}">
                <a16:creationId xmlns:a16="http://schemas.microsoft.com/office/drawing/2014/main" id="{D8766F1F-84E7-490F-A687-D295B44CF11B}"/>
              </a:ext>
            </a:extLst>
          </p:cNvPr>
          <p:cNvSpPr>
            <a:spLocks xmlns:a="http://schemas.openxmlformats.org/drawingml/2006/main" noGrp="1"/>
          </p:cNvSpPr>
          <p:nvPr/>
        </p:nvSpPr>
        <p:spPr>
          <a:xfrm xmlns:a="http://schemas.openxmlformats.org/drawingml/2006/main">
            <a:off x="1874520" y="457200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Hostname + domain name sendiri</a:t>
            </a:r>
            <a:endParaRPr sz="1100"/>
          </a:p>
        </p:txBody>
      </p:sp>
      <p:sp>
        <p:nvSpPr>
          <p:cNvPr id="31" name="Text 27">
            <a:extLst xmlns:a="http://schemas.openxmlformats.org/drawingml/2006/main">
              <a:ext uri="{FF2B5EF4-FFF2-40B4-BE49-F238E27FC236}">
                <a16:creationId xmlns:a16="http://schemas.microsoft.com/office/drawing/2014/main" id="{3B5A790C-5ED5-4E3D-BBA0-2600E4DE2146}"/>
              </a:ext>
            </a:extLst>
          </p:cNvPr>
          <p:cNvSpPr>
            <a:spLocks xmlns:a="http://schemas.openxmlformats.org/drawingml/2006/main" noGrp="1"/>
          </p:cNvSpPr>
          <p:nvPr/>
        </p:nvSpPr>
        <p:spPr>
          <a:xfrm xmlns:a="http://schemas.openxmlformats.org/drawingml/2006/main">
            <a:off x="1874520" y="534924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Tiap container bisa $hostname beda</a:t>
            </a:r>
            <a:endParaRPr sz="1000"/>
          </a:p>
        </p:txBody>
      </p:sp>
      <p:sp>
        <p:nvSpPr>
          <p:cNvPr id="32" name="Shape 28">
            <a:extLst xmlns:a="http://schemas.openxmlformats.org/drawingml/2006/main">
              <a:ext uri="{FF2B5EF4-FFF2-40B4-BE49-F238E27FC236}">
                <a16:creationId xmlns:a16="http://schemas.microsoft.com/office/drawing/2014/main" id="{39AD1E49-9699-4DA5-9D78-C6BEB7CD62FA}"/>
              </a:ext>
            </a:extLst>
          </p:cNvPr>
          <p:cNvSpPr>
            <a:spLocks xmlns:a="http://schemas.openxmlformats.org/drawingml/2006/main" noGrp="1"/>
          </p:cNvSpPr>
          <p:nvPr/>
        </p:nvSpPr>
        <p:spPr>
          <a:xfrm xmlns:a="http://schemas.openxmlformats.org/drawingml/2006/main">
            <a:off x="4297680" y="443484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Shape 29">
            <a:extLst xmlns:a="http://schemas.openxmlformats.org/drawingml/2006/main">
              <a:ext uri="{FF2B5EF4-FFF2-40B4-BE49-F238E27FC236}">
                <a16:creationId xmlns:a16="http://schemas.microsoft.com/office/drawing/2014/main" id="{419FF18F-AC9A-4C02-9833-F7CF70E3D2CA}"/>
              </a:ext>
            </a:extLst>
          </p:cNvPr>
          <p:cNvSpPr>
            <a:spLocks xmlns:a="http://schemas.openxmlformats.org/drawingml/2006/main" noGrp="1"/>
          </p:cNvSpPr>
          <p:nvPr/>
        </p:nvSpPr>
        <p:spPr>
          <a:xfrm xmlns:a="http://schemas.openxmlformats.org/drawingml/2006/main">
            <a:off x="4297680" y="443484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4" name="Text 30">
            <a:extLst xmlns:a="http://schemas.openxmlformats.org/drawingml/2006/main">
              <a:ext uri="{FF2B5EF4-FFF2-40B4-BE49-F238E27FC236}">
                <a16:creationId xmlns:a16="http://schemas.microsoft.com/office/drawing/2014/main" id="{B4D96EDB-7B5E-4301-B3F4-3BCF575D81AA}"/>
              </a:ext>
            </a:extLst>
          </p:cNvPr>
          <p:cNvSpPr>
            <a:spLocks xmlns:a="http://schemas.openxmlformats.org/drawingml/2006/main" noGrp="1"/>
          </p:cNvSpPr>
          <p:nvPr/>
        </p:nvSpPr>
        <p:spPr>
          <a:xfrm xmlns:a="http://schemas.openxmlformats.org/drawingml/2006/main">
            <a:off x="4297680" y="443484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IPC</a:t>
            </a:r>
            <a:endParaRPr sz="2200"/>
          </a:p>
        </p:txBody>
      </p:sp>
      <p:sp>
        <p:nvSpPr>
          <p:cNvPr id="35" name="Text 31">
            <a:extLst xmlns:a="http://schemas.openxmlformats.org/drawingml/2006/main">
              <a:ext uri="{FF2B5EF4-FFF2-40B4-BE49-F238E27FC236}">
                <a16:creationId xmlns:a16="http://schemas.microsoft.com/office/drawing/2014/main" id="{7EF0BAA3-25D4-4444-AA74-AF1EEE51A8C3}"/>
              </a:ext>
            </a:extLst>
          </p:cNvPr>
          <p:cNvSpPr>
            <a:spLocks xmlns:a="http://schemas.openxmlformats.org/drawingml/2006/main" noGrp="1"/>
          </p:cNvSpPr>
          <p:nvPr/>
        </p:nvSpPr>
        <p:spPr>
          <a:xfrm xmlns:a="http://schemas.openxmlformats.org/drawingml/2006/main">
            <a:off x="5715000" y="457200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Inter-process communication (shared mem, semaphore)</a:t>
            </a:r>
            <a:endParaRPr sz="1100"/>
          </a:p>
        </p:txBody>
      </p:sp>
      <p:sp>
        <p:nvSpPr>
          <p:cNvPr id="36" name="Text 32">
            <a:extLst xmlns:a="http://schemas.openxmlformats.org/drawingml/2006/main">
              <a:ext uri="{FF2B5EF4-FFF2-40B4-BE49-F238E27FC236}">
                <a16:creationId xmlns:a16="http://schemas.microsoft.com/office/drawing/2014/main" id="{9D7978E1-1931-48EA-A500-488C532953BD}"/>
              </a:ext>
            </a:extLst>
          </p:cNvPr>
          <p:cNvSpPr>
            <a:spLocks xmlns:a="http://schemas.openxmlformats.org/drawingml/2006/main" noGrp="1"/>
          </p:cNvSpPr>
          <p:nvPr/>
        </p:nvSpPr>
        <p:spPr>
          <a:xfrm xmlns:a="http://schemas.openxmlformats.org/drawingml/2006/main">
            <a:off x="5715000" y="534924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Tidak bisa kirim signal antar container</a:t>
            </a:r>
            <a:endParaRPr sz="1000"/>
          </a:p>
        </p:txBody>
      </p:sp>
      <p:sp>
        <p:nvSpPr>
          <p:cNvPr id="37" name="Shape 33">
            <a:extLst xmlns:a="http://schemas.openxmlformats.org/drawingml/2006/main">
              <a:ext uri="{FF2B5EF4-FFF2-40B4-BE49-F238E27FC236}">
                <a16:creationId xmlns:a16="http://schemas.microsoft.com/office/drawing/2014/main" id="{8B1A1C14-D572-4526-A0B5-2535C4A5575C}"/>
              </a:ext>
            </a:extLst>
          </p:cNvPr>
          <p:cNvSpPr>
            <a:spLocks xmlns:a="http://schemas.openxmlformats.org/drawingml/2006/main" noGrp="1"/>
          </p:cNvSpPr>
          <p:nvPr/>
        </p:nvSpPr>
        <p:spPr>
          <a:xfrm xmlns:a="http://schemas.openxmlformats.org/drawingml/2006/main">
            <a:off x="8138160" y="4434840"/>
            <a:ext cx="3703320" cy="18288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8" name="Shape 34">
            <a:extLst xmlns:a="http://schemas.openxmlformats.org/drawingml/2006/main">
              <a:ext uri="{FF2B5EF4-FFF2-40B4-BE49-F238E27FC236}">
                <a16:creationId xmlns:a16="http://schemas.microsoft.com/office/drawing/2014/main" id="{B1064186-5AF7-43D9-88DA-66CC236E6E3A}"/>
              </a:ext>
            </a:extLst>
          </p:cNvPr>
          <p:cNvSpPr>
            <a:spLocks xmlns:a="http://schemas.openxmlformats.org/drawingml/2006/main" noGrp="1"/>
          </p:cNvSpPr>
          <p:nvPr/>
        </p:nvSpPr>
        <p:spPr>
          <a:xfrm xmlns:a="http://schemas.openxmlformats.org/drawingml/2006/main">
            <a:off x="8138160" y="4434840"/>
            <a:ext cx="1280160" cy="182880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9" name="Text 35">
            <a:extLst xmlns:a="http://schemas.openxmlformats.org/drawingml/2006/main">
              <a:ext uri="{FF2B5EF4-FFF2-40B4-BE49-F238E27FC236}">
                <a16:creationId xmlns:a16="http://schemas.microsoft.com/office/drawing/2014/main" id="{1473B67F-0F8D-4B1F-B0E2-292C8471869B}"/>
              </a:ext>
            </a:extLst>
          </p:cNvPr>
          <p:cNvSpPr>
            <a:spLocks xmlns:a="http://schemas.openxmlformats.org/drawingml/2006/main" noGrp="1"/>
          </p:cNvSpPr>
          <p:nvPr/>
        </p:nvSpPr>
        <p:spPr>
          <a:xfrm xmlns:a="http://schemas.openxmlformats.org/drawingml/2006/main">
            <a:off x="8138160" y="4434840"/>
            <a:ext cx="12801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37021"/>
                </a:solidFill>
                <a:latin typeface="Consolas"/>
                <a:ea typeface="Consolas"/>
                <a:cs typeface="Consolas"/>
              </a:rPr>
              <a:t>USER</a:t>
            </a:r>
            <a:endParaRPr sz="2200"/>
          </a:p>
        </p:txBody>
      </p:sp>
      <p:sp>
        <p:nvSpPr>
          <p:cNvPr id="40" name="Text 36">
            <a:extLst xmlns:a="http://schemas.openxmlformats.org/drawingml/2006/main">
              <a:ext uri="{FF2B5EF4-FFF2-40B4-BE49-F238E27FC236}">
                <a16:creationId xmlns:a16="http://schemas.microsoft.com/office/drawing/2014/main" id="{E9607D85-A136-4D6B-8C63-C111B856BEBE}"/>
              </a:ext>
            </a:extLst>
          </p:cNvPr>
          <p:cNvSpPr>
            <a:spLocks xmlns:a="http://schemas.openxmlformats.org/drawingml/2006/main" noGrp="1"/>
          </p:cNvSpPr>
          <p:nvPr/>
        </p:nvSpPr>
        <p:spPr>
          <a:xfrm xmlns:a="http://schemas.openxmlformats.org/drawingml/2006/main">
            <a:off x="9555480" y="4572000"/>
            <a:ext cx="214884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b="1">
                <a:solidFill>
                  <a:srgbClr val="002677"/>
                </a:solidFill>
                <a:latin typeface="Calibri"/>
                <a:ea typeface="Calibri"/>
                <a:cs typeface="Calibri"/>
              </a:rPr>
              <a:t>UID + GID mapping - root di container != root di host</a:t>
            </a:r>
            <a:endParaRPr sz="1100"/>
          </a:p>
        </p:txBody>
      </p:sp>
      <p:sp>
        <p:nvSpPr>
          <p:cNvPr id="41" name="Text 37">
            <a:extLst xmlns:a="http://schemas.openxmlformats.org/drawingml/2006/main">
              <a:ext uri="{FF2B5EF4-FFF2-40B4-BE49-F238E27FC236}">
                <a16:creationId xmlns:a16="http://schemas.microsoft.com/office/drawing/2014/main" id="{0C6B1D26-4C4A-42E6-8068-13228FD94BC8}"/>
              </a:ext>
            </a:extLst>
          </p:cNvPr>
          <p:cNvSpPr>
            <a:spLocks xmlns:a="http://schemas.openxmlformats.org/drawingml/2006/main" noGrp="1"/>
          </p:cNvSpPr>
          <p:nvPr/>
        </p:nvSpPr>
        <p:spPr>
          <a:xfrm xmlns:a="http://schemas.openxmlformats.org/drawingml/2006/main">
            <a:off x="9555480" y="5349240"/>
            <a:ext cx="21488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Container root bisa = host user biasa</a:t>
            </a:r>
            <a:endParaRPr sz="1000"/>
          </a:p>
        </p:txBody>
      </p:sp>
      <p:sp>
        <p:nvSpPr>
          <p:cNvPr id="42" name="Text 38">
            <a:extLst xmlns:a="http://schemas.openxmlformats.org/drawingml/2006/main">
              <a:ext uri="{FF2B5EF4-FFF2-40B4-BE49-F238E27FC236}">
                <a16:creationId xmlns:a16="http://schemas.microsoft.com/office/drawing/2014/main" id="{B0E3A74C-C8EF-4EC4-BB7E-6B9D89EEC5B4}"/>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Lihat namespaces yang aktif: </a:t>
            </a:r>
            <a:r>
              <a:rPr sz="1100" b="1" i="1">
                <a:solidFill>
                  <a:srgbClr val="002677"/>
                </a:solidFill>
                <a:latin typeface="Consolas"/>
                <a:ea typeface="Consolas"/>
                <a:cs typeface="Consolas"/>
              </a:rPr>
              <a:t>lsns</a:t>
            </a:r>
            <a:r>
              <a:rPr sz="1100" i="1">
                <a:solidFill>
                  <a:srgbClr val="1E293B"/>
                </a:solidFill>
                <a:latin typeface="Calibri"/>
                <a:ea typeface="Calibri"/>
                <a:cs typeface="Calibri"/>
              </a:rPr>
              <a:t>  |  Masuk ke namespace proses: </a:t>
            </a:r>
            <a:r>
              <a:rPr sz="1100" b="1" i="1">
                <a:solidFill>
                  <a:srgbClr val="002677"/>
                </a:solidFill>
                <a:latin typeface="Consolas"/>
                <a:ea typeface="Consolas"/>
                <a:cs typeface="Consolas"/>
              </a:rPr>
              <a:t>nsenter --target &lt;PID&gt; --all</a:t>
            </a:r>
            <a:endParaRPr sz="1100"/>
          </a:p>
        </p:txBody>
      </p:sp>
    </p:spTree>
    <p:extLst>
      <p:ext uri="{BB962C8B-B14F-4D97-AF65-F5344CB8AC3E}">
        <p14:creationId xmlns:p14="http://schemas.microsoft.com/office/powerpoint/2010/main" val="3010535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C6F27AD-E8C2-4F77-AB46-3066561D8A4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C5BA47B0-5E63-4689-8384-DE2D5A45D57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3D14B531-F467-494C-84BD-DC0616C99F70}"/>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6" name="Image 0">
            <a:extLst xmlns:a="http://schemas.openxmlformats.org/drawingml/2006/main">
              <a:ext uri="{FF2B5EF4-FFF2-40B4-BE49-F238E27FC236}">
                <a16:creationId xmlns:a16="http://schemas.microsoft.com/office/drawing/2014/main" id="{FA584528-D18C-43AA-BD06-59AD6DC87A3F}"/>
              </a:ext>
            </a:extLst>
          </p:cNvPr>
          <p:cNvPicPr>
            <a:picLocks xmlns:a="http://schemas.openxmlformats.org/drawingml/2006/main" noChangeAspect="1"/>
          </p:cNvPicPr>
          <p:nvPr/>
        </p:nvPicPr>
        <p:blipFill>
          <a:blip xmlns:r="http://schemas.openxmlformats.org/officeDocument/2006/relationships" xmlns:a="http://schemas.openxmlformats.org/drawingml/2006/main" r:embed="Rf7f883afc3d9443a"/>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7" name="Image 1">
            <a:extLst xmlns:a="http://schemas.openxmlformats.org/drawingml/2006/main">
              <a:ext uri="{FF2B5EF4-FFF2-40B4-BE49-F238E27FC236}">
                <a16:creationId xmlns:a16="http://schemas.microsoft.com/office/drawing/2014/main" id="{9F60B20F-DCA6-4B30-A531-10DB1A7D17B3}"/>
              </a:ext>
            </a:extLst>
          </p:cNvPr>
          <p:cNvPicPr>
            <a:picLocks xmlns:a="http://schemas.openxmlformats.org/drawingml/2006/main" noChangeAspect="1"/>
          </p:cNvPicPr>
          <p:nvPr/>
        </p:nvPicPr>
        <p:blipFill>
          <a:blip xmlns:r="http://schemas.openxmlformats.org/officeDocument/2006/relationships" xmlns:a="http://schemas.openxmlformats.org/drawingml/2006/main" r:embed="R26285a177a9c4b7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DE13E77-61AB-488C-AF53-B90834DF3DC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57C7CAC-A72F-448A-9BBC-F8294408B1AE}"/>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Linux cgroups (Control Groups)</a:t>
            </a:r>
            <a:endParaRPr sz="2200"/>
          </a:p>
        </p:txBody>
      </p:sp>
      <p:sp>
        <p:nvSpPr>
          <p:cNvPr id="9" name="Text 5">
            <a:extLst xmlns:a="http://schemas.openxmlformats.org/drawingml/2006/main">
              <a:ext uri="{FF2B5EF4-FFF2-40B4-BE49-F238E27FC236}">
                <a16:creationId xmlns:a16="http://schemas.microsoft.com/office/drawing/2014/main" id="{47E0CF21-FA63-4CBC-9E6B-F3A6D12982E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Membatasi resource yang bisa dipakai container</a:t>
            </a:r>
            <a:endParaRPr sz="1200"/>
          </a:p>
        </p:txBody>
      </p:sp>
      <p:sp>
        <p:nvSpPr>
          <p:cNvPr id="10" name="Shape 6">
            <a:extLst xmlns:a="http://schemas.openxmlformats.org/drawingml/2006/main">
              <a:ext uri="{FF2B5EF4-FFF2-40B4-BE49-F238E27FC236}">
                <a16:creationId xmlns:a16="http://schemas.microsoft.com/office/drawing/2014/main" id="{734847D4-BF0F-4B30-AE9F-6D641BCE92B4}"/>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219D84C6-47AE-4694-ABFB-0FE46E45C154}"/>
              </a:ext>
            </a:extLst>
          </p:cNvPr>
          <p:cNvSpPr>
            <a:spLocks xmlns:a="http://schemas.openxmlformats.org/drawingml/2006/main" noGrp="1"/>
          </p:cNvSpPr>
          <p:nvPr/>
        </p:nvSpPr>
        <p:spPr>
          <a:xfrm xmlns:a="http://schemas.openxmlformats.org/drawingml/2006/main">
            <a:off x="685800" y="1508760"/>
            <a:ext cx="107899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37021"/>
                </a:solidFill>
                <a:latin typeface="Calibri"/>
                <a:ea typeface="Calibri"/>
                <a:cs typeface="Calibri"/>
              </a:rPr>
              <a:t>cgroups = </a:t>
            </a:r>
            <a:r>
              <a:rPr sz="1400">
                <a:solidFill>
                  <a:srgbClr val="FFFFFF"/>
                </a:solidFill>
                <a:latin typeface="Calibri"/>
                <a:ea typeface="Calibri"/>
                <a:cs typeface="Calibri"/>
              </a:rPr>
              <a:t>fitur kernel untuk batasi &amp; monitor resource konsumsi proses.</a:t>
            </a:r>
            <a:endParaRPr sz="1400"/>
          </a:p>
          <a:p xmlns:a="http://schemas.openxmlformats.org/drawingml/2006/main">
            <a:pPr marL="0" indent="0">
              <a:buNone/>
            </a:pPr>
            <a:r>
              <a:rPr sz="1100" i="1">
                <a:solidFill>
                  <a:srgbClr val="FFE0B2"/>
                </a:solidFill>
                <a:latin typeface="Calibri"/>
                <a:ea typeface="Calibri"/>
                <a:cs typeface="Calibri"/>
              </a:rPr>
              <a:t>Kalau namespace bikin 'view' isolasi, cgroup yang batasi 'jatah' - berapa CPU, RAM, IO yang boleh dipakai.</a:t>
            </a:r>
            <a:endParaRPr sz="1400"/>
          </a:p>
        </p:txBody>
      </p:sp>
      <p:sp>
        <p:nvSpPr>
          <p:cNvPr id="12" name="Shape 8">
            <a:extLst xmlns:a="http://schemas.openxmlformats.org/drawingml/2006/main">
              <a:ext uri="{FF2B5EF4-FFF2-40B4-BE49-F238E27FC236}">
                <a16:creationId xmlns:a16="http://schemas.microsoft.com/office/drawing/2014/main" id="{3763BE06-29D8-4C3A-9B38-D7308174E933}"/>
              </a:ext>
            </a:extLst>
          </p:cNvPr>
          <p:cNvSpPr>
            <a:spLocks xmlns:a="http://schemas.openxmlformats.org/drawingml/2006/main" noGrp="1"/>
          </p:cNvSpPr>
          <p:nvPr/>
        </p:nvSpPr>
        <p:spPr>
          <a:xfrm xmlns:a="http://schemas.openxmlformats.org/drawingml/2006/main">
            <a:off x="457200" y="2514600"/>
            <a:ext cx="2743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24CA336E-9A95-45A0-8FF8-14E47331E172}"/>
              </a:ext>
            </a:extLst>
          </p:cNvPr>
          <p:cNvSpPr>
            <a:spLocks xmlns:a="http://schemas.openxmlformats.org/drawingml/2006/main" noGrp="1"/>
          </p:cNvSpPr>
          <p:nvPr/>
        </p:nvSpPr>
        <p:spPr>
          <a:xfrm xmlns:a="http://schemas.openxmlformats.org/drawingml/2006/main">
            <a:off x="457200" y="251460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5" name="Image 2">
            <a:extLst xmlns:a="http://schemas.openxmlformats.org/drawingml/2006/main">
              <a:ext uri="{FF2B5EF4-FFF2-40B4-BE49-F238E27FC236}">
                <a16:creationId xmlns:a16="http://schemas.microsoft.com/office/drawing/2014/main" id="{220BC290-7B3F-4263-83EF-77D832762AA9}"/>
              </a:ext>
            </a:extLst>
          </p:cNvPr>
          <p:cNvPicPr>
            <a:picLocks xmlns:a="http://schemas.openxmlformats.org/drawingml/2006/main" noChangeAspect="1"/>
          </p:cNvPicPr>
          <p:nvPr/>
        </p:nvPicPr>
        <p:blipFill>
          <a:blip xmlns:r="http://schemas.openxmlformats.org/officeDocument/2006/relationships" xmlns:a="http://schemas.openxmlformats.org/drawingml/2006/main" r:embed="R00167e370c914998"/>
          <a:stretch xmlns:a="http://schemas.openxmlformats.org/drawingml/2006/main">
            <a:fillRect l="0" t="0" r="0" b="0"/>
          </a:stretch>
        </p:blipFill>
        <p:spPr>
          <a:xfrm xmlns:a="http://schemas.openxmlformats.org/drawingml/2006/main">
            <a:off x="1508760" y="2788920"/>
            <a:ext cx="640080" cy="64008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EEA29E9B-6C04-4DB3-950C-4ADF411DB2B4}"/>
              </a:ext>
            </a:extLst>
          </p:cNvPr>
          <p:cNvSpPr>
            <a:spLocks xmlns:a="http://schemas.openxmlformats.org/drawingml/2006/main" noGrp="1"/>
          </p:cNvSpPr>
          <p:nvPr/>
        </p:nvSpPr>
        <p:spPr>
          <a:xfrm xmlns:a="http://schemas.openxmlformats.org/drawingml/2006/main">
            <a:off x="457200" y="34747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CPU</a:t>
            </a:r>
            <a:endParaRPr sz="1600"/>
          </a:p>
        </p:txBody>
      </p:sp>
      <p:sp>
        <p:nvSpPr>
          <p:cNvPr id="16" name="Text 11">
            <a:extLst xmlns:a="http://schemas.openxmlformats.org/drawingml/2006/main">
              <a:ext uri="{FF2B5EF4-FFF2-40B4-BE49-F238E27FC236}">
                <a16:creationId xmlns:a16="http://schemas.microsoft.com/office/drawing/2014/main" id="{2F317DE5-B73C-4C54-B7C0-8F6189984283}"/>
              </a:ext>
            </a:extLst>
          </p:cNvPr>
          <p:cNvSpPr>
            <a:spLocks xmlns:a="http://schemas.openxmlformats.org/drawingml/2006/main" noGrp="1"/>
          </p:cNvSpPr>
          <p:nvPr/>
        </p:nvSpPr>
        <p:spPr>
          <a:xfrm xmlns:a="http://schemas.openxmlformats.org/drawingml/2006/main">
            <a:off x="594360" y="3840480"/>
            <a:ext cx="24688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Batas core / share / period</a:t>
            </a:r>
            <a:endParaRPr sz="1100"/>
          </a:p>
        </p:txBody>
      </p:sp>
      <p:sp>
        <p:nvSpPr>
          <p:cNvPr id="17" name="Shape 12">
            <a:extLst xmlns:a="http://schemas.openxmlformats.org/drawingml/2006/main">
              <a:ext uri="{FF2B5EF4-FFF2-40B4-BE49-F238E27FC236}">
                <a16:creationId xmlns:a16="http://schemas.microsoft.com/office/drawing/2014/main" id="{81DD5E39-F32D-4E5C-85A4-98A4D61B73E1}"/>
              </a:ext>
            </a:extLst>
          </p:cNvPr>
          <p:cNvSpPr>
            <a:spLocks xmlns:a="http://schemas.openxmlformats.org/drawingml/2006/main" noGrp="1"/>
          </p:cNvSpPr>
          <p:nvPr/>
        </p:nvSpPr>
        <p:spPr>
          <a:xfrm xmlns:a="http://schemas.openxmlformats.org/drawingml/2006/main">
            <a:off x="594360" y="4160520"/>
            <a:ext cx="2468880" cy="292608"/>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8" name="Text 13">
            <a:extLst xmlns:a="http://schemas.openxmlformats.org/drawingml/2006/main">
              <a:ext uri="{FF2B5EF4-FFF2-40B4-BE49-F238E27FC236}">
                <a16:creationId xmlns:a16="http://schemas.microsoft.com/office/drawing/2014/main" id="{2CEAA3C4-BB47-443E-82EB-D83CE667090D}"/>
              </a:ext>
            </a:extLst>
          </p:cNvPr>
          <p:cNvSpPr>
            <a:spLocks xmlns:a="http://schemas.openxmlformats.org/drawingml/2006/main" noGrp="1"/>
          </p:cNvSpPr>
          <p:nvPr/>
        </p:nvSpPr>
        <p:spPr>
          <a:xfrm xmlns:a="http://schemas.openxmlformats.org/drawingml/2006/main">
            <a:off x="594360" y="4160520"/>
            <a:ext cx="2468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E2E8F0"/>
                </a:solidFill>
                <a:latin typeface="Consolas"/>
                <a:ea typeface="Consolas"/>
                <a:cs typeface="Consolas"/>
              </a:rPr>
              <a:t>--cpus=1.5 (1.5 core max)</a:t>
            </a:r>
            <a:endParaRPr sz="900"/>
          </a:p>
        </p:txBody>
      </p:sp>
      <p:sp>
        <p:nvSpPr>
          <p:cNvPr id="19" name="Shape 14">
            <a:extLst xmlns:a="http://schemas.openxmlformats.org/drawingml/2006/main">
              <a:ext uri="{FF2B5EF4-FFF2-40B4-BE49-F238E27FC236}">
                <a16:creationId xmlns:a16="http://schemas.microsoft.com/office/drawing/2014/main" id="{AE496A0C-9895-4EFC-9417-2FC9113BB136}"/>
              </a:ext>
            </a:extLst>
          </p:cNvPr>
          <p:cNvSpPr>
            <a:spLocks xmlns:a="http://schemas.openxmlformats.org/drawingml/2006/main" noGrp="1"/>
          </p:cNvSpPr>
          <p:nvPr/>
        </p:nvSpPr>
        <p:spPr>
          <a:xfrm xmlns:a="http://schemas.openxmlformats.org/drawingml/2006/main">
            <a:off x="3337560" y="2514600"/>
            <a:ext cx="2743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0" name="Shape 15">
            <a:extLst xmlns:a="http://schemas.openxmlformats.org/drawingml/2006/main">
              <a:ext uri="{FF2B5EF4-FFF2-40B4-BE49-F238E27FC236}">
                <a16:creationId xmlns:a16="http://schemas.microsoft.com/office/drawing/2014/main" id="{56C7400F-395A-4E4A-AD72-A0AE8850E969}"/>
              </a:ext>
            </a:extLst>
          </p:cNvPr>
          <p:cNvSpPr>
            <a:spLocks xmlns:a="http://schemas.openxmlformats.org/drawingml/2006/main" noGrp="1"/>
          </p:cNvSpPr>
          <p:nvPr/>
        </p:nvSpPr>
        <p:spPr>
          <a:xfrm xmlns:a="http://schemas.openxmlformats.org/drawingml/2006/main">
            <a:off x="3337560" y="251460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2" name="Image 3">
            <a:extLst xmlns:a="http://schemas.openxmlformats.org/drawingml/2006/main">
              <a:ext uri="{FF2B5EF4-FFF2-40B4-BE49-F238E27FC236}">
                <a16:creationId xmlns:a16="http://schemas.microsoft.com/office/drawing/2014/main" id="{7DF81A9F-4A11-48B6-AC2F-B645DA1E636D}"/>
              </a:ext>
            </a:extLst>
          </p:cNvPr>
          <p:cNvPicPr>
            <a:picLocks xmlns:a="http://schemas.openxmlformats.org/drawingml/2006/main" noChangeAspect="1"/>
          </p:cNvPicPr>
          <p:nvPr/>
        </p:nvPicPr>
        <p:blipFill>
          <a:blip xmlns:r="http://schemas.openxmlformats.org/officeDocument/2006/relationships" xmlns:a="http://schemas.openxmlformats.org/drawingml/2006/main" r:embed="R2541dc6c1c294f80"/>
          <a:stretch xmlns:a="http://schemas.openxmlformats.org/drawingml/2006/main">
            <a:fillRect l="0" t="0" r="0" b="0"/>
          </a:stretch>
        </p:blipFill>
        <p:spPr>
          <a:xfrm xmlns:a="http://schemas.openxmlformats.org/drawingml/2006/main">
            <a:off x="4389120" y="2788920"/>
            <a:ext cx="640080" cy="64008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38B400FE-C3E6-4CE5-ADA3-DD88CCC8F1A2}"/>
              </a:ext>
            </a:extLst>
          </p:cNvPr>
          <p:cNvSpPr>
            <a:spLocks xmlns:a="http://schemas.openxmlformats.org/drawingml/2006/main" noGrp="1"/>
          </p:cNvSpPr>
          <p:nvPr/>
        </p:nvSpPr>
        <p:spPr>
          <a:xfrm xmlns:a="http://schemas.openxmlformats.org/drawingml/2006/main">
            <a:off x="3337560" y="34747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Memory</a:t>
            </a:r>
            <a:endParaRPr sz="1600"/>
          </a:p>
        </p:txBody>
      </p:sp>
      <p:sp>
        <p:nvSpPr>
          <p:cNvPr id="23" name="Text 17">
            <a:extLst xmlns:a="http://schemas.openxmlformats.org/drawingml/2006/main">
              <a:ext uri="{FF2B5EF4-FFF2-40B4-BE49-F238E27FC236}">
                <a16:creationId xmlns:a16="http://schemas.microsoft.com/office/drawing/2014/main" id="{508BDA6A-7694-42FB-93A1-790C39A27777}"/>
              </a:ext>
            </a:extLst>
          </p:cNvPr>
          <p:cNvSpPr>
            <a:spLocks xmlns:a="http://schemas.openxmlformats.org/drawingml/2006/main" noGrp="1"/>
          </p:cNvSpPr>
          <p:nvPr/>
        </p:nvSpPr>
        <p:spPr>
          <a:xfrm xmlns:a="http://schemas.openxmlformats.org/drawingml/2006/main">
            <a:off x="3474720" y="3840480"/>
            <a:ext cx="24688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Batas RAM + swap usage</a:t>
            </a:r>
            <a:endParaRPr sz="1100"/>
          </a:p>
        </p:txBody>
      </p:sp>
      <p:sp>
        <p:nvSpPr>
          <p:cNvPr id="24" name="Shape 18">
            <a:extLst xmlns:a="http://schemas.openxmlformats.org/drawingml/2006/main">
              <a:ext uri="{FF2B5EF4-FFF2-40B4-BE49-F238E27FC236}">
                <a16:creationId xmlns:a16="http://schemas.microsoft.com/office/drawing/2014/main" id="{D44EC0A5-1B4F-4E9D-A115-C8F1BD94F851}"/>
              </a:ext>
            </a:extLst>
          </p:cNvPr>
          <p:cNvSpPr>
            <a:spLocks xmlns:a="http://schemas.openxmlformats.org/drawingml/2006/main" noGrp="1"/>
          </p:cNvSpPr>
          <p:nvPr/>
        </p:nvSpPr>
        <p:spPr>
          <a:xfrm xmlns:a="http://schemas.openxmlformats.org/drawingml/2006/main">
            <a:off x="3474720" y="4160520"/>
            <a:ext cx="2468880" cy="292608"/>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5" name="Text 19">
            <a:extLst xmlns:a="http://schemas.openxmlformats.org/drawingml/2006/main">
              <a:ext uri="{FF2B5EF4-FFF2-40B4-BE49-F238E27FC236}">
                <a16:creationId xmlns:a16="http://schemas.microsoft.com/office/drawing/2014/main" id="{3A3B417A-46B8-412A-B6B2-CE1A44506CC7}"/>
              </a:ext>
            </a:extLst>
          </p:cNvPr>
          <p:cNvSpPr>
            <a:spLocks xmlns:a="http://schemas.openxmlformats.org/drawingml/2006/main" noGrp="1"/>
          </p:cNvSpPr>
          <p:nvPr/>
        </p:nvSpPr>
        <p:spPr>
          <a:xfrm xmlns:a="http://schemas.openxmlformats.org/drawingml/2006/main">
            <a:off x="3474720" y="4160520"/>
            <a:ext cx="2468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E2E8F0"/>
                </a:solidFill>
                <a:latin typeface="Consolas"/>
                <a:ea typeface="Consolas"/>
                <a:cs typeface="Consolas"/>
              </a:rPr>
              <a:t>-m 512m (max 512 MB)</a:t>
            </a:r>
            <a:endParaRPr sz="900"/>
          </a:p>
        </p:txBody>
      </p:sp>
      <p:sp>
        <p:nvSpPr>
          <p:cNvPr id="26" name="Shape 20">
            <a:extLst xmlns:a="http://schemas.openxmlformats.org/drawingml/2006/main">
              <a:ext uri="{FF2B5EF4-FFF2-40B4-BE49-F238E27FC236}">
                <a16:creationId xmlns:a16="http://schemas.microsoft.com/office/drawing/2014/main" id="{536FCC5C-7A28-488A-9652-A9E849F3BF20}"/>
              </a:ext>
            </a:extLst>
          </p:cNvPr>
          <p:cNvSpPr>
            <a:spLocks xmlns:a="http://schemas.openxmlformats.org/drawingml/2006/main" noGrp="1"/>
          </p:cNvSpPr>
          <p:nvPr/>
        </p:nvSpPr>
        <p:spPr>
          <a:xfrm xmlns:a="http://schemas.openxmlformats.org/drawingml/2006/main">
            <a:off x="6217920" y="2514600"/>
            <a:ext cx="2743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1">
            <a:extLst xmlns:a="http://schemas.openxmlformats.org/drawingml/2006/main">
              <a:ext uri="{FF2B5EF4-FFF2-40B4-BE49-F238E27FC236}">
                <a16:creationId xmlns:a16="http://schemas.microsoft.com/office/drawing/2014/main" id="{A65F0676-08D2-48CA-8CB1-E5879C16B523}"/>
              </a:ext>
            </a:extLst>
          </p:cNvPr>
          <p:cNvSpPr>
            <a:spLocks xmlns:a="http://schemas.openxmlformats.org/drawingml/2006/main" noGrp="1"/>
          </p:cNvSpPr>
          <p:nvPr/>
        </p:nvSpPr>
        <p:spPr>
          <a:xfrm xmlns:a="http://schemas.openxmlformats.org/drawingml/2006/main">
            <a:off x="6217920" y="251460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79" name="Image 4">
            <a:extLst xmlns:a="http://schemas.openxmlformats.org/drawingml/2006/main">
              <a:ext uri="{FF2B5EF4-FFF2-40B4-BE49-F238E27FC236}">
                <a16:creationId xmlns:a16="http://schemas.microsoft.com/office/drawing/2014/main" id="{D70BC2E6-69AD-42D5-87F4-793745AF6B76}"/>
              </a:ext>
            </a:extLst>
          </p:cNvPr>
          <p:cNvPicPr>
            <a:picLocks xmlns:a="http://schemas.openxmlformats.org/drawingml/2006/main" noChangeAspect="1"/>
          </p:cNvPicPr>
          <p:nvPr/>
        </p:nvPicPr>
        <p:blipFill>
          <a:blip xmlns:r="http://schemas.openxmlformats.org/officeDocument/2006/relationships" xmlns:a="http://schemas.openxmlformats.org/drawingml/2006/main" r:embed="R39919a0e91f94c39"/>
          <a:stretch xmlns:a="http://schemas.openxmlformats.org/drawingml/2006/main">
            <a:fillRect l="0" t="0" r="0" b="0"/>
          </a:stretch>
        </p:blipFill>
        <p:spPr>
          <a:xfrm xmlns:a="http://schemas.openxmlformats.org/drawingml/2006/main">
            <a:off x="7269480" y="2788920"/>
            <a:ext cx="640080" cy="64008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9067EDEC-8B2C-404E-94BE-9D88184B7239}"/>
              </a:ext>
            </a:extLst>
          </p:cNvPr>
          <p:cNvSpPr>
            <a:spLocks xmlns:a="http://schemas.openxmlformats.org/drawingml/2006/main" noGrp="1"/>
          </p:cNvSpPr>
          <p:nvPr/>
        </p:nvSpPr>
        <p:spPr>
          <a:xfrm xmlns:a="http://schemas.openxmlformats.org/drawingml/2006/main">
            <a:off x="6217920" y="34747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Block I/O</a:t>
            </a:r>
            <a:endParaRPr sz="1600"/>
          </a:p>
        </p:txBody>
      </p:sp>
      <p:sp>
        <p:nvSpPr>
          <p:cNvPr id="30" name="Text 23">
            <a:extLst xmlns:a="http://schemas.openxmlformats.org/drawingml/2006/main">
              <a:ext uri="{FF2B5EF4-FFF2-40B4-BE49-F238E27FC236}">
                <a16:creationId xmlns:a16="http://schemas.microsoft.com/office/drawing/2014/main" id="{B8F25B1E-2780-462E-A6F7-381B9C5C5F40}"/>
              </a:ext>
            </a:extLst>
          </p:cNvPr>
          <p:cNvSpPr>
            <a:spLocks xmlns:a="http://schemas.openxmlformats.org/drawingml/2006/main" noGrp="1"/>
          </p:cNvSpPr>
          <p:nvPr/>
        </p:nvSpPr>
        <p:spPr>
          <a:xfrm xmlns:a="http://schemas.openxmlformats.org/drawingml/2006/main">
            <a:off x="6355080" y="3840480"/>
            <a:ext cx="24688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Batas baca/tulis disk</a:t>
            </a:r>
            <a:endParaRPr sz="1100"/>
          </a:p>
        </p:txBody>
      </p:sp>
      <p:sp>
        <p:nvSpPr>
          <p:cNvPr id="31" name="Shape 24">
            <a:extLst xmlns:a="http://schemas.openxmlformats.org/drawingml/2006/main">
              <a:ext uri="{FF2B5EF4-FFF2-40B4-BE49-F238E27FC236}">
                <a16:creationId xmlns:a16="http://schemas.microsoft.com/office/drawing/2014/main" id="{6C1375D8-EB8B-4DC2-8861-FF5045DC3991}"/>
              </a:ext>
            </a:extLst>
          </p:cNvPr>
          <p:cNvSpPr>
            <a:spLocks xmlns:a="http://schemas.openxmlformats.org/drawingml/2006/main" noGrp="1"/>
          </p:cNvSpPr>
          <p:nvPr/>
        </p:nvSpPr>
        <p:spPr>
          <a:xfrm xmlns:a="http://schemas.openxmlformats.org/drawingml/2006/main">
            <a:off x="6355080" y="4160520"/>
            <a:ext cx="2468880" cy="292608"/>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2" name="Text 25">
            <a:extLst xmlns:a="http://schemas.openxmlformats.org/drawingml/2006/main">
              <a:ext uri="{FF2B5EF4-FFF2-40B4-BE49-F238E27FC236}">
                <a16:creationId xmlns:a16="http://schemas.microsoft.com/office/drawing/2014/main" id="{389CEE0A-6FA0-4567-B105-FBF1F5D1219A}"/>
              </a:ext>
            </a:extLst>
          </p:cNvPr>
          <p:cNvSpPr>
            <a:spLocks xmlns:a="http://schemas.openxmlformats.org/drawingml/2006/main" noGrp="1"/>
          </p:cNvSpPr>
          <p:nvPr/>
        </p:nvSpPr>
        <p:spPr>
          <a:xfrm xmlns:a="http://schemas.openxmlformats.org/drawingml/2006/main">
            <a:off x="6355080" y="4160520"/>
            <a:ext cx="2468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E2E8F0"/>
                </a:solidFill>
                <a:latin typeface="Consolas"/>
                <a:ea typeface="Consolas"/>
                <a:cs typeface="Consolas"/>
              </a:rPr>
              <a:t>--blkio-weight=500</a:t>
            </a:r>
            <a:endParaRPr sz="900"/>
          </a:p>
        </p:txBody>
      </p:sp>
      <p:sp>
        <p:nvSpPr>
          <p:cNvPr id="33" name="Shape 26">
            <a:extLst xmlns:a="http://schemas.openxmlformats.org/drawingml/2006/main">
              <a:ext uri="{FF2B5EF4-FFF2-40B4-BE49-F238E27FC236}">
                <a16:creationId xmlns:a16="http://schemas.microsoft.com/office/drawing/2014/main" id="{E93DFFCF-19A9-47BD-BEA4-C40E5F638485}"/>
              </a:ext>
            </a:extLst>
          </p:cNvPr>
          <p:cNvSpPr>
            <a:spLocks xmlns:a="http://schemas.openxmlformats.org/drawingml/2006/main" noGrp="1"/>
          </p:cNvSpPr>
          <p:nvPr/>
        </p:nvSpPr>
        <p:spPr>
          <a:xfrm xmlns:a="http://schemas.openxmlformats.org/drawingml/2006/main">
            <a:off x="9098280" y="2514600"/>
            <a:ext cx="2743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4" name="Shape 27">
            <a:extLst xmlns:a="http://schemas.openxmlformats.org/drawingml/2006/main">
              <a:ext uri="{FF2B5EF4-FFF2-40B4-BE49-F238E27FC236}">
                <a16:creationId xmlns:a16="http://schemas.microsoft.com/office/drawing/2014/main" id="{66BEAF63-8B13-4B45-89F1-9C5482FA58A1}"/>
              </a:ext>
            </a:extLst>
          </p:cNvPr>
          <p:cNvSpPr>
            <a:spLocks xmlns:a="http://schemas.openxmlformats.org/drawingml/2006/main" noGrp="1"/>
          </p:cNvSpPr>
          <p:nvPr/>
        </p:nvSpPr>
        <p:spPr>
          <a:xfrm xmlns:a="http://schemas.openxmlformats.org/drawingml/2006/main">
            <a:off x="9098280" y="2514600"/>
            <a:ext cx="274320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86" name="Image 5">
            <a:extLst xmlns:a="http://schemas.openxmlformats.org/drawingml/2006/main">
              <a:ext uri="{FF2B5EF4-FFF2-40B4-BE49-F238E27FC236}">
                <a16:creationId xmlns:a16="http://schemas.microsoft.com/office/drawing/2014/main" id="{CBB6B609-E16C-4F5A-BE76-F3309E124FF3}"/>
              </a:ext>
            </a:extLst>
          </p:cNvPr>
          <p:cNvPicPr>
            <a:picLocks xmlns:a="http://schemas.openxmlformats.org/drawingml/2006/main" noChangeAspect="1"/>
          </p:cNvPicPr>
          <p:nvPr/>
        </p:nvPicPr>
        <p:blipFill>
          <a:blip xmlns:r="http://schemas.openxmlformats.org/officeDocument/2006/relationships" xmlns:a="http://schemas.openxmlformats.org/drawingml/2006/main" r:embed="R06ec696c40f24c94"/>
          <a:stretch xmlns:a="http://schemas.openxmlformats.org/drawingml/2006/main">
            <a:fillRect l="0" t="0" r="0" b="0"/>
          </a:stretch>
        </p:blipFill>
        <p:spPr>
          <a:xfrm xmlns:a="http://schemas.openxmlformats.org/drawingml/2006/main">
            <a:off x="10149840" y="2788920"/>
            <a:ext cx="640080" cy="64008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04BEDADF-C70D-4A4F-9586-60E5C3177B99}"/>
              </a:ext>
            </a:extLst>
          </p:cNvPr>
          <p:cNvSpPr>
            <a:spLocks xmlns:a="http://schemas.openxmlformats.org/drawingml/2006/main" noGrp="1"/>
          </p:cNvSpPr>
          <p:nvPr/>
        </p:nvSpPr>
        <p:spPr>
          <a:xfrm xmlns:a="http://schemas.openxmlformats.org/drawingml/2006/main">
            <a:off x="9098280" y="34747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PIDs</a:t>
            </a:r>
            <a:endParaRPr sz="1600"/>
          </a:p>
        </p:txBody>
      </p:sp>
      <p:sp>
        <p:nvSpPr>
          <p:cNvPr id="37" name="Text 29">
            <a:extLst xmlns:a="http://schemas.openxmlformats.org/drawingml/2006/main">
              <a:ext uri="{FF2B5EF4-FFF2-40B4-BE49-F238E27FC236}">
                <a16:creationId xmlns:a16="http://schemas.microsoft.com/office/drawing/2014/main" id="{8B92E1FF-2A03-46A3-BBB9-721A501CB6BC}"/>
              </a:ext>
            </a:extLst>
          </p:cNvPr>
          <p:cNvSpPr>
            <a:spLocks xmlns:a="http://schemas.openxmlformats.org/drawingml/2006/main" noGrp="1"/>
          </p:cNvSpPr>
          <p:nvPr/>
        </p:nvSpPr>
        <p:spPr>
          <a:xfrm xmlns:a="http://schemas.openxmlformats.org/drawingml/2006/main">
            <a:off x="9235440" y="3840480"/>
            <a:ext cx="24688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Batas jumlah proses</a:t>
            </a:r>
            <a:endParaRPr sz="1100"/>
          </a:p>
        </p:txBody>
      </p:sp>
      <p:sp>
        <p:nvSpPr>
          <p:cNvPr id="38" name="Shape 30">
            <a:extLst xmlns:a="http://schemas.openxmlformats.org/drawingml/2006/main">
              <a:ext uri="{FF2B5EF4-FFF2-40B4-BE49-F238E27FC236}">
                <a16:creationId xmlns:a16="http://schemas.microsoft.com/office/drawing/2014/main" id="{821CFE06-2887-4527-B0B6-1CE548C90AD0}"/>
              </a:ext>
            </a:extLst>
          </p:cNvPr>
          <p:cNvSpPr>
            <a:spLocks xmlns:a="http://schemas.openxmlformats.org/drawingml/2006/main" noGrp="1"/>
          </p:cNvSpPr>
          <p:nvPr/>
        </p:nvSpPr>
        <p:spPr>
          <a:xfrm xmlns:a="http://schemas.openxmlformats.org/drawingml/2006/main">
            <a:off x="9235440" y="4160520"/>
            <a:ext cx="2468880" cy="292608"/>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9" name="Text 31">
            <a:extLst xmlns:a="http://schemas.openxmlformats.org/drawingml/2006/main">
              <a:ext uri="{FF2B5EF4-FFF2-40B4-BE49-F238E27FC236}">
                <a16:creationId xmlns:a16="http://schemas.microsoft.com/office/drawing/2014/main" id="{FDC04A4F-2A61-4FF5-87A3-E33E9B07C32D}"/>
              </a:ext>
            </a:extLst>
          </p:cNvPr>
          <p:cNvSpPr>
            <a:spLocks xmlns:a="http://schemas.openxmlformats.org/drawingml/2006/main" noGrp="1"/>
          </p:cNvSpPr>
          <p:nvPr/>
        </p:nvSpPr>
        <p:spPr>
          <a:xfrm xmlns:a="http://schemas.openxmlformats.org/drawingml/2006/main">
            <a:off x="9235440" y="4160520"/>
            <a:ext cx="2468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E2E8F0"/>
                </a:solidFill>
                <a:latin typeface="Consolas"/>
                <a:ea typeface="Consolas"/>
                <a:cs typeface="Consolas"/>
              </a:rPr>
              <a:t>--pids-limit=100</a:t>
            </a:r>
            <a:endParaRPr sz="900"/>
          </a:p>
        </p:txBody>
      </p:sp>
      <p:sp>
        <p:nvSpPr>
          <p:cNvPr id="40" name="Shape 32">
            <a:extLst xmlns:a="http://schemas.openxmlformats.org/drawingml/2006/main">
              <a:ext uri="{FF2B5EF4-FFF2-40B4-BE49-F238E27FC236}">
                <a16:creationId xmlns:a16="http://schemas.microsoft.com/office/drawing/2014/main" id="{1E80F883-333C-4E0E-949F-E27758449E72}"/>
              </a:ext>
            </a:extLst>
          </p:cNvPr>
          <p:cNvSpPr>
            <a:spLocks xmlns:a="http://schemas.openxmlformats.org/drawingml/2006/main" noGrp="1"/>
          </p:cNvSpPr>
          <p:nvPr/>
        </p:nvSpPr>
        <p:spPr>
          <a:xfrm xmlns:a="http://schemas.openxmlformats.org/drawingml/2006/main">
            <a:off x="457200" y="4663440"/>
            <a:ext cx="11247120" cy="16002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1" name="Shape 33">
            <a:extLst xmlns:a="http://schemas.openxmlformats.org/drawingml/2006/main">
              <a:ext uri="{FF2B5EF4-FFF2-40B4-BE49-F238E27FC236}">
                <a16:creationId xmlns:a16="http://schemas.microsoft.com/office/drawing/2014/main" id="{76DE9A3F-E366-4FF3-BB92-7F6895F7A989}"/>
              </a:ext>
            </a:extLst>
          </p:cNvPr>
          <p:cNvSpPr>
            <a:spLocks xmlns:a="http://schemas.openxmlformats.org/drawingml/2006/main" noGrp="1"/>
          </p:cNvSpPr>
          <p:nvPr/>
        </p:nvSpPr>
        <p:spPr>
          <a:xfrm xmlns:a="http://schemas.openxmlformats.org/drawingml/2006/main">
            <a:off x="457200" y="466344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42" name="Shape 34">
            <a:extLst xmlns:a="http://schemas.openxmlformats.org/drawingml/2006/main">
              <a:ext uri="{FF2B5EF4-FFF2-40B4-BE49-F238E27FC236}">
                <a16:creationId xmlns:a16="http://schemas.microsoft.com/office/drawing/2014/main" id="{87D1C1FC-F497-42C7-ABDF-27BD5D57D797}"/>
              </a:ext>
            </a:extLst>
          </p:cNvPr>
          <p:cNvSpPr>
            <a:spLocks xmlns:a="http://schemas.openxmlformats.org/drawingml/2006/main" noGrp="1"/>
          </p:cNvSpPr>
          <p:nvPr/>
        </p:nvSpPr>
        <p:spPr>
          <a:xfrm xmlns:a="http://schemas.openxmlformats.org/drawingml/2006/main">
            <a:off x="548640" y="47457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3" name="Shape 35">
            <a:extLst xmlns:a="http://schemas.openxmlformats.org/drawingml/2006/main">
              <a:ext uri="{FF2B5EF4-FFF2-40B4-BE49-F238E27FC236}">
                <a16:creationId xmlns:a16="http://schemas.microsoft.com/office/drawing/2014/main" id="{2B714EF5-24F1-49CF-9173-6CF9EEA96B32}"/>
              </a:ext>
            </a:extLst>
          </p:cNvPr>
          <p:cNvSpPr>
            <a:spLocks xmlns:a="http://schemas.openxmlformats.org/drawingml/2006/main" noGrp="1"/>
          </p:cNvSpPr>
          <p:nvPr/>
        </p:nvSpPr>
        <p:spPr>
          <a:xfrm xmlns:a="http://schemas.openxmlformats.org/drawingml/2006/main">
            <a:off x="685800" y="47457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4" name="Shape 36">
            <a:extLst xmlns:a="http://schemas.openxmlformats.org/drawingml/2006/main">
              <a:ext uri="{FF2B5EF4-FFF2-40B4-BE49-F238E27FC236}">
                <a16:creationId xmlns:a16="http://schemas.microsoft.com/office/drawing/2014/main" id="{38EE791E-30F0-4510-8D3E-7A6B5FDE38A9}"/>
              </a:ext>
            </a:extLst>
          </p:cNvPr>
          <p:cNvSpPr>
            <a:spLocks xmlns:a="http://schemas.openxmlformats.org/drawingml/2006/main" noGrp="1"/>
          </p:cNvSpPr>
          <p:nvPr/>
        </p:nvSpPr>
        <p:spPr>
          <a:xfrm xmlns:a="http://schemas.openxmlformats.org/drawingml/2006/main">
            <a:off x="822960" y="47457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5" name="Text 37">
            <a:extLst xmlns:a="http://schemas.openxmlformats.org/drawingml/2006/main">
              <a:ext uri="{FF2B5EF4-FFF2-40B4-BE49-F238E27FC236}">
                <a16:creationId xmlns:a16="http://schemas.microsoft.com/office/drawing/2014/main" id="{72AFCE23-DF6E-4DAC-AFD1-4BE5E16F392D}"/>
              </a:ext>
            </a:extLst>
          </p:cNvPr>
          <p:cNvSpPr>
            <a:spLocks xmlns:a="http://schemas.openxmlformats.org/drawingml/2006/main" noGrp="1"/>
          </p:cNvSpPr>
          <p:nvPr/>
        </p:nvSpPr>
        <p:spPr>
          <a:xfrm xmlns:a="http://schemas.openxmlformats.org/drawingml/2006/main">
            <a:off x="1005840" y="466344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Docker pakai cgroup di balik layar</a:t>
            </a:r>
            <a:endParaRPr sz="900"/>
          </a:p>
        </p:txBody>
      </p:sp>
      <p:sp>
        <p:nvSpPr>
          <p:cNvPr id="46" name="Text 38">
            <a:extLst xmlns:a="http://schemas.openxmlformats.org/drawingml/2006/main">
              <a:ext uri="{FF2B5EF4-FFF2-40B4-BE49-F238E27FC236}">
                <a16:creationId xmlns:a16="http://schemas.microsoft.com/office/drawing/2014/main" id="{33ECE857-DEF6-435B-A1D5-25B57D6EBDBD}"/>
              </a:ext>
            </a:extLst>
          </p:cNvPr>
          <p:cNvSpPr>
            <a:spLocks xmlns:a="http://schemas.openxmlformats.org/drawingml/2006/main" noGrp="1"/>
          </p:cNvSpPr>
          <p:nvPr/>
        </p:nvSpPr>
        <p:spPr>
          <a:xfrm xmlns:a="http://schemas.openxmlformats.org/drawingml/2006/main">
            <a:off x="594360" y="5029200"/>
            <a:ext cx="109728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Run container dengan limit 512MB RAM + 1 CPU</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docker run --memory=512m --cpus=1 nginx</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Cek limit memory container</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E2E8F0"/>
                </a:solidFill>
                <a:latin typeface="Consolas"/>
                <a:ea typeface="Consolas"/>
                <a:cs typeface="Consolas"/>
              </a:rPr>
              <a:t>docker inspect --format '{{.HostConfig.Memory}}' &lt;container&gt;</a:t>
            </a:r>
            <a:endParaRPr sz="1100"/>
          </a:p>
          <a:p xmlns:a="http://schemas.openxmlformats.org/drawingml/2006/main">
            <a:pPr marL="0" indent="0">
              <a:spcAft>
                <a:spcPts val="200"/>
              </a:spcAft>
              <a:buNone/>
            </a:pPr>
            <a:r>
              <a:rPr sz="1100">
                <a:solidFill>
                  <a:srgbClr val="94A3B8"/>
                </a:solidFill>
                <a:latin typeface="Consolas"/>
                <a:ea typeface="Consolas"/>
                <a:cs typeface="Consolas"/>
              </a:rPr>
              <a:t>536870912</a:t>
            </a:r>
            <a:endParaRPr sz="1100"/>
          </a:p>
        </p:txBody>
      </p:sp>
    </p:spTree>
    <p:extLst>
      <p:ext uri="{BB962C8B-B14F-4D97-AF65-F5344CB8AC3E}">
        <p14:creationId xmlns:p14="http://schemas.microsoft.com/office/powerpoint/2010/main" val="15991663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84342D-9D1D-4718-9653-7EABCF4B364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ACB10C39-9877-4292-B968-84CACFEA1F6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0E5B92E5-43E1-44E9-B9AC-53D4EDDCA558}"/>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0" name="Image 0">
            <a:extLst xmlns:a="http://schemas.openxmlformats.org/drawingml/2006/main">
              <a:ext uri="{FF2B5EF4-FFF2-40B4-BE49-F238E27FC236}">
                <a16:creationId xmlns:a16="http://schemas.microsoft.com/office/drawing/2014/main" id="{BD4A45DE-7645-4534-B67E-4305C423A5D4}"/>
              </a:ext>
            </a:extLst>
          </p:cNvPr>
          <p:cNvPicPr>
            <a:picLocks xmlns:a="http://schemas.openxmlformats.org/drawingml/2006/main" noChangeAspect="1"/>
          </p:cNvPicPr>
          <p:nvPr/>
        </p:nvPicPr>
        <p:blipFill>
          <a:blip xmlns:r="http://schemas.openxmlformats.org/officeDocument/2006/relationships" xmlns:a="http://schemas.openxmlformats.org/drawingml/2006/main" r:embed="R69c91c6110744a0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1" name="Image 1">
            <a:extLst xmlns:a="http://schemas.openxmlformats.org/drawingml/2006/main">
              <a:ext uri="{FF2B5EF4-FFF2-40B4-BE49-F238E27FC236}">
                <a16:creationId xmlns:a16="http://schemas.microsoft.com/office/drawing/2014/main" id="{3F116CBC-2A63-40F9-BC7A-6B7158AD1B11}"/>
              </a:ext>
            </a:extLst>
          </p:cNvPr>
          <p:cNvPicPr>
            <a:picLocks xmlns:a="http://schemas.openxmlformats.org/drawingml/2006/main" noChangeAspect="1"/>
          </p:cNvPicPr>
          <p:nvPr/>
        </p:nvPicPr>
        <p:blipFill>
          <a:blip xmlns:r="http://schemas.openxmlformats.org/officeDocument/2006/relationships" xmlns:a="http://schemas.openxmlformats.org/drawingml/2006/main" r:embed="Rc7bbf12e7947492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0B47E88A-FF9E-4239-8CAC-79FA9867542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218C27D-9778-419E-88A3-FAE1F901D18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Container Engines</a:t>
            </a:r>
            <a:endParaRPr sz="2200"/>
          </a:p>
        </p:txBody>
      </p:sp>
      <p:sp>
        <p:nvSpPr>
          <p:cNvPr id="9" name="Text 5">
            <a:extLst xmlns:a="http://schemas.openxmlformats.org/drawingml/2006/main">
              <a:ext uri="{FF2B5EF4-FFF2-40B4-BE49-F238E27FC236}">
                <a16:creationId xmlns:a16="http://schemas.microsoft.com/office/drawing/2014/main" id="{3ACA23FE-B8F8-4771-8096-246DAE34D9DA}"/>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Software yang manage container - bukan cuma Docker</a:t>
            </a:r>
            <a:endParaRPr sz="1200"/>
          </a:p>
        </p:txBody>
      </p:sp>
      <p:sp>
        <p:nvSpPr>
          <p:cNvPr id="10" name="Shape 6">
            <a:extLst xmlns:a="http://schemas.openxmlformats.org/drawingml/2006/main">
              <a:ext uri="{FF2B5EF4-FFF2-40B4-BE49-F238E27FC236}">
                <a16:creationId xmlns:a16="http://schemas.microsoft.com/office/drawing/2014/main" id="{1E3CD8D3-D56C-431A-B0C3-149CEF808263}"/>
              </a:ext>
            </a:extLst>
          </p:cNvPr>
          <p:cNvSpPr>
            <a:spLocks xmlns:a="http://schemas.openxmlformats.org/drawingml/2006/main" noGrp="1"/>
          </p:cNvSpPr>
          <p:nvPr/>
        </p:nvSpPr>
        <p:spPr>
          <a:xfrm xmlns:a="http://schemas.openxmlformats.org/drawingml/2006/main">
            <a:off x="457200"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F06521CA-9772-44F7-9FF3-878514314CD3}"/>
              </a:ext>
            </a:extLst>
          </p:cNvPr>
          <p:cNvSpPr>
            <a:spLocks xmlns:a="http://schemas.openxmlformats.org/drawingml/2006/main" noGrp="1"/>
          </p:cNvSpPr>
          <p:nvPr/>
        </p:nvSpPr>
        <p:spPr>
          <a:xfrm xmlns:a="http://schemas.openxmlformats.org/drawingml/2006/main">
            <a:off x="457200" y="1417320"/>
            <a:ext cx="2697480" cy="109728"/>
          </a:xfrm>
          <a:prstGeom xmlns:a="http://schemas.openxmlformats.org/drawingml/2006/main" prst="rect">
            <a:avLst/>
          </a:prstGeom>
          <a:solidFill xmlns:a="http://schemas.openxmlformats.org/drawingml/2006/main">
            <a:srgbClr val="2496ED"/>
          </a:solidFill>
          <a:ln xmlns:a="http://schemas.openxmlformats.org/drawingml/2006/main" w="12700">
            <a:solidFill>
              <a:srgbClr val="2496ED"/>
            </a:solidFill>
            <a:prstDash val="solid"/>
          </a:ln>
        </p:spPr>
      </p:sp>
      <p:pic>
        <p:nvPicPr>
          <p:cNvPr id="67" name="Image 2">
            <a:extLst xmlns:a="http://schemas.openxmlformats.org/drawingml/2006/main">
              <a:ext uri="{FF2B5EF4-FFF2-40B4-BE49-F238E27FC236}">
                <a16:creationId xmlns:a16="http://schemas.microsoft.com/office/drawing/2014/main" id="{FD78E2BE-833C-4658-9887-AFE8A1F31AF3}"/>
              </a:ext>
            </a:extLst>
          </p:cNvPr>
          <p:cNvPicPr>
            <a:picLocks xmlns:a="http://schemas.openxmlformats.org/drawingml/2006/main" noChangeAspect="1"/>
          </p:cNvPicPr>
          <p:nvPr/>
        </p:nvPicPr>
        <p:blipFill>
          <a:blip xmlns:r="http://schemas.openxmlformats.org/officeDocument/2006/relationships" xmlns:a="http://schemas.openxmlformats.org/drawingml/2006/main" r:embed="R05365ccac84949b2"/>
          <a:stretch xmlns:a="http://schemas.openxmlformats.org/drawingml/2006/main">
            <a:fillRect l="0" t="0" r="0" b="0"/>
          </a:stretch>
        </p:blipFill>
        <p:spPr>
          <a:xfrm xmlns:a="http://schemas.openxmlformats.org/drawingml/2006/main">
            <a:off x="1440180" y="1737360"/>
            <a:ext cx="731520" cy="7315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BE3AA1EE-BA09-4B8D-93E9-E54BD8CD95AA}"/>
              </a:ext>
            </a:extLst>
          </p:cNvPr>
          <p:cNvSpPr>
            <a:spLocks xmlns:a="http://schemas.openxmlformats.org/drawingml/2006/main" noGrp="1"/>
          </p:cNvSpPr>
          <p:nvPr/>
        </p:nvSpPr>
        <p:spPr>
          <a:xfrm xmlns:a="http://schemas.openxmlformats.org/drawingml/2006/main">
            <a:off x="457200"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Docker</a:t>
            </a:r>
            <a:endParaRPr sz="1600"/>
          </a:p>
        </p:txBody>
      </p:sp>
      <p:sp>
        <p:nvSpPr>
          <p:cNvPr id="14" name="Shape 9">
            <a:extLst xmlns:a="http://schemas.openxmlformats.org/drawingml/2006/main">
              <a:ext uri="{FF2B5EF4-FFF2-40B4-BE49-F238E27FC236}">
                <a16:creationId xmlns:a16="http://schemas.microsoft.com/office/drawing/2014/main" id="{514708DC-F773-4C32-AE68-2F2BAF421BE4}"/>
              </a:ext>
            </a:extLst>
          </p:cNvPr>
          <p:cNvSpPr>
            <a:spLocks xmlns:a="http://schemas.openxmlformats.org/drawingml/2006/main" noGrp="1"/>
          </p:cNvSpPr>
          <p:nvPr/>
        </p:nvSpPr>
        <p:spPr>
          <a:xfrm xmlns:a="http://schemas.openxmlformats.org/drawingml/2006/main">
            <a:off x="1257300"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9F6DA53B-BE71-474C-A58D-224CB5B1A8D6}"/>
              </a:ext>
            </a:extLst>
          </p:cNvPr>
          <p:cNvSpPr>
            <a:spLocks xmlns:a="http://schemas.openxmlformats.org/drawingml/2006/main" noGrp="1"/>
          </p:cNvSpPr>
          <p:nvPr/>
        </p:nvSpPr>
        <p:spPr>
          <a:xfrm xmlns:a="http://schemas.openxmlformats.org/drawingml/2006/main">
            <a:off x="1257300"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Sejak 2013</a:t>
            </a:r>
            <a:endParaRPr sz="1000"/>
          </a:p>
        </p:txBody>
      </p:sp>
      <p:sp>
        <p:nvSpPr>
          <p:cNvPr id="16" name="Text 11">
            <a:extLst xmlns:a="http://schemas.openxmlformats.org/drawingml/2006/main">
              <a:ext uri="{FF2B5EF4-FFF2-40B4-BE49-F238E27FC236}">
                <a16:creationId xmlns:a16="http://schemas.microsoft.com/office/drawing/2014/main" id="{5CFB42CE-AB61-4CB9-BFD9-6CF5500D9AF2}"/>
              </a:ext>
            </a:extLst>
          </p:cNvPr>
          <p:cNvSpPr>
            <a:spLocks xmlns:a="http://schemas.openxmlformats.org/drawingml/2006/main" noGrp="1"/>
          </p:cNvSpPr>
          <p:nvPr/>
        </p:nvSpPr>
        <p:spPr>
          <a:xfrm xmlns:a="http://schemas.openxmlformats.org/drawingml/2006/main">
            <a:off x="594360"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Yang paling populer. Punya CLI yang user-friendly + Docker Hub registry. Standar de-facto.</a:t>
            </a:r>
            <a:endParaRPr sz="1100"/>
          </a:p>
        </p:txBody>
      </p:sp>
      <p:sp>
        <p:nvSpPr>
          <p:cNvPr id="17" name="Shape 12">
            <a:extLst xmlns:a="http://schemas.openxmlformats.org/drawingml/2006/main">
              <a:ext uri="{FF2B5EF4-FFF2-40B4-BE49-F238E27FC236}">
                <a16:creationId xmlns:a16="http://schemas.microsoft.com/office/drawing/2014/main" id="{27A64AB9-DD2E-408F-A7AC-EE1ADCDBB99E}"/>
              </a:ext>
            </a:extLst>
          </p:cNvPr>
          <p:cNvSpPr>
            <a:spLocks xmlns:a="http://schemas.openxmlformats.org/drawingml/2006/main" noGrp="1"/>
          </p:cNvSpPr>
          <p:nvPr/>
        </p:nvSpPr>
        <p:spPr>
          <a:xfrm xmlns:a="http://schemas.openxmlformats.org/drawingml/2006/main">
            <a:off x="594360"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18" name="Text 13">
            <a:extLst xmlns:a="http://schemas.openxmlformats.org/drawingml/2006/main">
              <a:ext uri="{FF2B5EF4-FFF2-40B4-BE49-F238E27FC236}">
                <a16:creationId xmlns:a16="http://schemas.microsoft.com/office/drawing/2014/main" id="{BF28B488-EF21-4CDD-8864-EB0B66E17AC8}"/>
              </a:ext>
            </a:extLst>
          </p:cNvPr>
          <p:cNvSpPr>
            <a:spLocks xmlns:a="http://schemas.openxmlformats.org/drawingml/2006/main" noGrp="1"/>
          </p:cNvSpPr>
          <p:nvPr/>
        </p:nvSpPr>
        <p:spPr>
          <a:xfrm xmlns:a="http://schemas.openxmlformats.org/drawingml/2006/main">
            <a:off x="594360"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19" name="Text 14">
            <a:extLst xmlns:a="http://schemas.openxmlformats.org/drawingml/2006/main">
              <a:ext uri="{FF2B5EF4-FFF2-40B4-BE49-F238E27FC236}">
                <a16:creationId xmlns:a16="http://schemas.microsoft.com/office/drawing/2014/main" id="{39FB7B1E-6CE8-446F-B2A5-B1DA263A397C}"/>
              </a:ext>
            </a:extLst>
          </p:cNvPr>
          <p:cNvSpPr>
            <a:spLocks xmlns:a="http://schemas.openxmlformats.org/drawingml/2006/main" noGrp="1"/>
          </p:cNvSpPr>
          <p:nvPr/>
        </p:nvSpPr>
        <p:spPr>
          <a:xfrm xmlns:a="http://schemas.openxmlformats.org/drawingml/2006/main">
            <a:off x="594360"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Default dev workflow</a:t>
            </a:r>
            <a:endParaRPr sz="1100"/>
          </a:p>
        </p:txBody>
      </p:sp>
      <p:sp>
        <p:nvSpPr>
          <p:cNvPr id="20" name="Shape 15">
            <a:extLst xmlns:a="http://schemas.openxmlformats.org/drawingml/2006/main">
              <a:ext uri="{FF2B5EF4-FFF2-40B4-BE49-F238E27FC236}">
                <a16:creationId xmlns:a16="http://schemas.microsoft.com/office/drawing/2014/main" id="{2C5EF43B-921D-4A49-912D-3E6A8E485684}"/>
              </a:ext>
            </a:extLst>
          </p:cNvPr>
          <p:cNvSpPr>
            <a:spLocks xmlns:a="http://schemas.openxmlformats.org/drawingml/2006/main" noGrp="1"/>
          </p:cNvSpPr>
          <p:nvPr/>
        </p:nvSpPr>
        <p:spPr>
          <a:xfrm xmlns:a="http://schemas.openxmlformats.org/drawingml/2006/main">
            <a:off x="3319272"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6">
            <a:extLst xmlns:a="http://schemas.openxmlformats.org/drawingml/2006/main">
              <a:ext uri="{FF2B5EF4-FFF2-40B4-BE49-F238E27FC236}">
                <a16:creationId xmlns:a16="http://schemas.microsoft.com/office/drawing/2014/main" id="{9E2BCC6B-F5CA-4CB6-BDD8-65BED34866C4}"/>
              </a:ext>
            </a:extLst>
          </p:cNvPr>
          <p:cNvSpPr>
            <a:spLocks xmlns:a="http://schemas.openxmlformats.org/drawingml/2006/main" noGrp="1"/>
          </p:cNvSpPr>
          <p:nvPr/>
        </p:nvSpPr>
        <p:spPr>
          <a:xfrm xmlns:a="http://schemas.openxmlformats.org/drawingml/2006/main">
            <a:off x="3319272" y="1417320"/>
            <a:ext cx="2697480" cy="109728"/>
          </a:xfrm>
          <a:prstGeom xmlns:a="http://schemas.openxmlformats.org/drawingml/2006/main" prst="rect">
            <a:avLst/>
          </a:prstGeom>
          <a:solidFill xmlns:a="http://schemas.openxmlformats.org/drawingml/2006/main">
            <a:srgbClr val="575757"/>
          </a:solidFill>
          <a:ln xmlns:a="http://schemas.openxmlformats.org/drawingml/2006/main" w="12700">
            <a:solidFill>
              <a:srgbClr val="575757"/>
            </a:solidFill>
            <a:prstDash val="solid"/>
          </a:ln>
        </p:spPr>
      </p:sp>
      <p:pic>
        <p:nvPicPr>
          <p:cNvPr id="77" name="Image 3">
            <a:extLst xmlns:a="http://schemas.openxmlformats.org/drawingml/2006/main">
              <a:ext uri="{FF2B5EF4-FFF2-40B4-BE49-F238E27FC236}">
                <a16:creationId xmlns:a16="http://schemas.microsoft.com/office/drawing/2014/main" id="{61B6ED9B-B261-4809-85BF-854B9766C776}"/>
              </a:ext>
            </a:extLst>
          </p:cNvPr>
          <p:cNvPicPr>
            <a:picLocks xmlns:a="http://schemas.openxmlformats.org/drawingml/2006/main" noChangeAspect="1"/>
          </p:cNvPicPr>
          <p:nvPr/>
        </p:nvPicPr>
        <p:blipFill>
          <a:blip xmlns:r="http://schemas.openxmlformats.org/officeDocument/2006/relationships" xmlns:a="http://schemas.openxmlformats.org/drawingml/2006/main" r:embed="R4bda502dc875488f"/>
          <a:stretch xmlns:a="http://schemas.openxmlformats.org/drawingml/2006/main">
            <a:fillRect l="0" t="0" r="0" b="0"/>
          </a:stretch>
        </p:blipFill>
        <p:spPr>
          <a:xfrm xmlns:a="http://schemas.openxmlformats.org/drawingml/2006/main">
            <a:off x="4302252" y="1737360"/>
            <a:ext cx="731520" cy="73152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C8FFBE9-1901-4618-9280-C6A602B38A3E}"/>
              </a:ext>
            </a:extLst>
          </p:cNvPr>
          <p:cNvSpPr>
            <a:spLocks xmlns:a="http://schemas.openxmlformats.org/drawingml/2006/main" noGrp="1"/>
          </p:cNvSpPr>
          <p:nvPr/>
        </p:nvSpPr>
        <p:spPr>
          <a:xfrm xmlns:a="http://schemas.openxmlformats.org/drawingml/2006/main">
            <a:off x="3319272"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containerd</a:t>
            </a:r>
            <a:endParaRPr sz="1600"/>
          </a:p>
        </p:txBody>
      </p:sp>
      <p:sp>
        <p:nvSpPr>
          <p:cNvPr id="24" name="Shape 18">
            <a:extLst xmlns:a="http://schemas.openxmlformats.org/drawingml/2006/main">
              <a:ext uri="{FF2B5EF4-FFF2-40B4-BE49-F238E27FC236}">
                <a16:creationId xmlns:a16="http://schemas.microsoft.com/office/drawing/2014/main" id="{21CD7F99-6467-41B1-822A-B478B94EBC1A}"/>
              </a:ext>
            </a:extLst>
          </p:cNvPr>
          <p:cNvSpPr>
            <a:spLocks xmlns:a="http://schemas.openxmlformats.org/drawingml/2006/main" noGrp="1"/>
          </p:cNvSpPr>
          <p:nvPr/>
        </p:nvSpPr>
        <p:spPr>
          <a:xfrm xmlns:a="http://schemas.openxmlformats.org/drawingml/2006/main">
            <a:off x="4119372"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25" name="Text 19">
            <a:extLst xmlns:a="http://schemas.openxmlformats.org/drawingml/2006/main">
              <a:ext uri="{FF2B5EF4-FFF2-40B4-BE49-F238E27FC236}">
                <a16:creationId xmlns:a16="http://schemas.microsoft.com/office/drawing/2014/main" id="{E52F0116-FD7A-4B4C-8B85-AB44E5DDCE8D}"/>
              </a:ext>
            </a:extLst>
          </p:cNvPr>
          <p:cNvSpPr>
            <a:spLocks xmlns:a="http://schemas.openxmlformats.org/drawingml/2006/main" noGrp="1"/>
          </p:cNvSpPr>
          <p:nvPr/>
        </p:nvSpPr>
        <p:spPr>
          <a:xfrm xmlns:a="http://schemas.openxmlformats.org/drawingml/2006/main">
            <a:off x="4119372"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Sejak 2015</a:t>
            </a:r>
            <a:endParaRPr sz="1000"/>
          </a:p>
        </p:txBody>
      </p:sp>
      <p:sp>
        <p:nvSpPr>
          <p:cNvPr id="26" name="Text 20">
            <a:extLst xmlns:a="http://schemas.openxmlformats.org/drawingml/2006/main">
              <a:ext uri="{FF2B5EF4-FFF2-40B4-BE49-F238E27FC236}">
                <a16:creationId xmlns:a16="http://schemas.microsoft.com/office/drawing/2014/main" id="{92691427-0D68-43B7-928C-7C2A5A437AEC}"/>
              </a:ext>
            </a:extLst>
          </p:cNvPr>
          <p:cNvSpPr>
            <a:spLocks xmlns:a="http://schemas.openxmlformats.org/drawingml/2006/main" noGrp="1"/>
          </p:cNvSpPr>
          <p:nvPr/>
        </p:nvSpPr>
        <p:spPr>
          <a:xfrm xmlns:a="http://schemas.openxmlformats.org/drawingml/2006/main">
            <a:off x="3456432"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Container runtime yang lebih rendah-level. </a:t>
            </a:r>
            <a:r>
              <a:rPr sz="1100">
                <a:solidFill>
                  <a:srgbClr val="1E293B"/>
                </a:solidFill>
                <a:latin typeface="Calibri"/>
                <a:ea typeface="Calibri"/>
                <a:cs typeface="Calibri"/>
              </a:rPr>
              <a:t>Dipakai Docker dan banyak cluster Kubernetes. CNCF graduated.</a:t>
            </a:r>
            <a:endParaRPr sz="1100"/>
          </a:p>
        </p:txBody>
      </p:sp>
      <p:sp>
        <p:nvSpPr>
          <p:cNvPr id="27" name="Shape 21">
            <a:extLst xmlns:a="http://schemas.openxmlformats.org/drawingml/2006/main">
              <a:ext uri="{FF2B5EF4-FFF2-40B4-BE49-F238E27FC236}">
                <a16:creationId xmlns:a16="http://schemas.microsoft.com/office/drawing/2014/main" id="{63ECD00B-B71E-46B4-9902-67737025AAA5}"/>
              </a:ext>
            </a:extLst>
          </p:cNvPr>
          <p:cNvSpPr>
            <a:spLocks xmlns:a="http://schemas.openxmlformats.org/drawingml/2006/main" noGrp="1"/>
          </p:cNvSpPr>
          <p:nvPr/>
        </p:nvSpPr>
        <p:spPr>
          <a:xfrm xmlns:a="http://schemas.openxmlformats.org/drawingml/2006/main">
            <a:off x="3456432"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28" name="Text 22">
            <a:extLst xmlns:a="http://schemas.openxmlformats.org/drawingml/2006/main">
              <a:ext uri="{FF2B5EF4-FFF2-40B4-BE49-F238E27FC236}">
                <a16:creationId xmlns:a16="http://schemas.microsoft.com/office/drawing/2014/main" id="{F7D7D384-5248-4556-A821-653A48D486B5}"/>
              </a:ext>
            </a:extLst>
          </p:cNvPr>
          <p:cNvSpPr>
            <a:spLocks xmlns:a="http://schemas.openxmlformats.org/drawingml/2006/main" noGrp="1"/>
          </p:cNvSpPr>
          <p:nvPr/>
        </p:nvSpPr>
        <p:spPr>
          <a:xfrm xmlns:a="http://schemas.openxmlformats.org/drawingml/2006/main">
            <a:off x="3456432"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29" name="Text 23">
            <a:extLst xmlns:a="http://schemas.openxmlformats.org/drawingml/2006/main">
              <a:ext uri="{FF2B5EF4-FFF2-40B4-BE49-F238E27FC236}">
                <a16:creationId xmlns:a16="http://schemas.microsoft.com/office/drawing/2014/main" id="{2F231986-70DD-4C8A-BFF4-BA1CDB55874E}"/>
              </a:ext>
            </a:extLst>
          </p:cNvPr>
          <p:cNvSpPr>
            <a:spLocks xmlns:a="http://schemas.openxmlformats.org/drawingml/2006/main" noGrp="1"/>
          </p:cNvSpPr>
          <p:nvPr/>
        </p:nvSpPr>
        <p:spPr>
          <a:xfrm xmlns:a="http://schemas.openxmlformats.org/drawingml/2006/main">
            <a:off x="3456432"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Production / K8s</a:t>
            </a:r>
            <a:endParaRPr sz="1100"/>
          </a:p>
        </p:txBody>
      </p:sp>
      <p:sp>
        <p:nvSpPr>
          <p:cNvPr id="30" name="Shape 24">
            <a:extLst xmlns:a="http://schemas.openxmlformats.org/drawingml/2006/main">
              <a:ext uri="{FF2B5EF4-FFF2-40B4-BE49-F238E27FC236}">
                <a16:creationId xmlns:a16="http://schemas.microsoft.com/office/drawing/2014/main" id="{49E97811-D329-4E68-9BD9-010457D37112}"/>
              </a:ext>
            </a:extLst>
          </p:cNvPr>
          <p:cNvSpPr>
            <a:spLocks xmlns:a="http://schemas.openxmlformats.org/drawingml/2006/main" noGrp="1"/>
          </p:cNvSpPr>
          <p:nvPr/>
        </p:nvSpPr>
        <p:spPr>
          <a:xfrm xmlns:a="http://schemas.openxmlformats.org/drawingml/2006/main">
            <a:off x="6181344"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5">
            <a:extLst xmlns:a="http://schemas.openxmlformats.org/drawingml/2006/main">
              <a:ext uri="{FF2B5EF4-FFF2-40B4-BE49-F238E27FC236}">
                <a16:creationId xmlns:a16="http://schemas.microsoft.com/office/drawing/2014/main" id="{FC01D798-C568-4538-9010-67FC0D3F7524}"/>
              </a:ext>
            </a:extLst>
          </p:cNvPr>
          <p:cNvSpPr>
            <a:spLocks xmlns:a="http://schemas.openxmlformats.org/drawingml/2006/main" noGrp="1"/>
          </p:cNvSpPr>
          <p:nvPr/>
        </p:nvSpPr>
        <p:spPr>
          <a:xfrm xmlns:a="http://schemas.openxmlformats.org/drawingml/2006/main">
            <a:off x="6181344" y="1417320"/>
            <a:ext cx="2697480" cy="109728"/>
          </a:xfrm>
          <a:prstGeom xmlns:a="http://schemas.openxmlformats.org/drawingml/2006/main" prst="rect">
            <a:avLst/>
          </a:prstGeom>
          <a:solidFill xmlns:a="http://schemas.openxmlformats.org/drawingml/2006/main">
            <a:srgbClr val="892CA0"/>
          </a:solidFill>
          <a:ln xmlns:a="http://schemas.openxmlformats.org/drawingml/2006/main" w="12700">
            <a:solidFill>
              <a:srgbClr val="892CA0"/>
            </a:solidFill>
            <a:prstDash val="solid"/>
          </a:ln>
        </p:spPr>
      </p:sp>
      <p:pic>
        <p:nvPicPr>
          <p:cNvPr id="87" name="Image 4">
            <a:extLst xmlns:a="http://schemas.openxmlformats.org/drawingml/2006/main">
              <a:ext uri="{FF2B5EF4-FFF2-40B4-BE49-F238E27FC236}">
                <a16:creationId xmlns:a16="http://schemas.microsoft.com/office/drawing/2014/main" id="{B0C95543-655C-46C9-B0D1-E79E9895150D}"/>
              </a:ext>
            </a:extLst>
          </p:cNvPr>
          <p:cNvPicPr>
            <a:picLocks xmlns:a="http://schemas.openxmlformats.org/drawingml/2006/main" noChangeAspect="1"/>
          </p:cNvPicPr>
          <p:nvPr/>
        </p:nvPicPr>
        <p:blipFill>
          <a:blip xmlns:r="http://schemas.openxmlformats.org/officeDocument/2006/relationships" xmlns:a="http://schemas.openxmlformats.org/drawingml/2006/main" r:embed="Ra076933eb89c46fd"/>
          <a:stretch xmlns:a="http://schemas.openxmlformats.org/drawingml/2006/main">
            <a:fillRect l="0" t="0" r="0" b="0"/>
          </a:stretch>
        </p:blipFill>
        <p:spPr>
          <a:xfrm xmlns:a="http://schemas.openxmlformats.org/drawingml/2006/main">
            <a:off x="7164324" y="1737360"/>
            <a:ext cx="731520" cy="731520"/>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70A934A-EC7F-4492-855E-D81FCBA36811}"/>
              </a:ext>
            </a:extLst>
          </p:cNvPr>
          <p:cNvSpPr>
            <a:spLocks xmlns:a="http://schemas.openxmlformats.org/drawingml/2006/main" noGrp="1"/>
          </p:cNvSpPr>
          <p:nvPr/>
        </p:nvSpPr>
        <p:spPr>
          <a:xfrm xmlns:a="http://schemas.openxmlformats.org/drawingml/2006/main">
            <a:off x="6181344"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Podman</a:t>
            </a:r>
            <a:endParaRPr sz="1600"/>
          </a:p>
        </p:txBody>
      </p:sp>
      <p:sp>
        <p:nvSpPr>
          <p:cNvPr id="34" name="Shape 27">
            <a:extLst xmlns:a="http://schemas.openxmlformats.org/drawingml/2006/main">
              <a:ext uri="{FF2B5EF4-FFF2-40B4-BE49-F238E27FC236}">
                <a16:creationId xmlns:a16="http://schemas.microsoft.com/office/drawing/2014/main" id="{D22AFD80-770C-49DE-885E-3B9C6548F1FB}"/>
              </a:ext>
            </a:extLst>
          </p:cNvPr>
          <p:cNvSpPr>
            <a:spLocks xmlns:a="http://schemas.openxmlformats.org/drawingml/2006/main" noGrp="1"/>
          </p:cNvSpPr>
          <p:nvPr/>
        </p:nvSpPr>
        <p:spPr>
          <a:xfrm xmlns:a="http://schemas.openxmlformats.org/drawingml/2006/main">
            <a:off x="6981444"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35" name="Text 28">
            <a:extLst xmlns:a="http://schemas.openxmlformats.org/drawingml/2006/main">
              <a:ext uri="{FF2B5EF4-FFF2-40B4-BE49-F238E27FC236}">
                <a16:creationId xmlns:a16="http://schemas.microsoft.com/office/drawing/2014/main" id="{C42703AF-0A59-49C9-8A6E-78ED91825AB8}"/>
              </a:ext>
            </a:extLst>
          </p:cNvPr>
          <p:cNvSpPr>
            <a:spLocks xmlns:a="http://schemas.openxmlformats.org/drawingml/2006/main" noGrp="1"/>
          </p:cNvSpPr>
          <p:nvPr/>
        </p:nvSpPr>
        <p:spPr>
          <a:xfrm xmlns:a="http://schemas.openxmlformats.org/drawingml/2006/main">
            <a:off x="6981444"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Sejak 2018</a:t>
            </a:r>
            <a:endParaRPr sz="1000"/>
          </a:p>
        </p:txBody>
      </p:sp>
      <p:sp>
        <p:nvSpPr>
          <p:cNvPr id="36" name="Text 29">
            <a:extLst xmlns:a="http://schemas.openxmlformats.org/drawingml/2006/main">
              <a:ext uri="{FF2B5EF4-FFF2-40B4-BE49-F238E27FC236}">
                <a16:creationId xmlns:a16="http://schemas.microsoft.com/office/drawing/2014/main" id="{D9E7292A-8456-4B07-8374-91D9967922DE}"/>
              </a:ext>
            </a:extLst>
          </p:cNvPr>
          <p:cNvSpPr>
            <a:spLocks xmlns:a="http://schemas.openxmlformats.org/drawingml/2006/main" noGrp="1"/>
          </p:cNvSpPr>
          <p:nvPr/>
        </p:nvSpPr>
        <p:spPr>
          <a:xfrm xmlns:a="http://schemas.openxmlformats.org/drawingml/2006/main">
            <a:off x="6318504"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Daemonless + rootless. </a:t>
            </a:r>
            <a:r>
              <a:rPr sz="1100">
                <a:solidFill>
                  <a:srgbClr val="1E293B"/>
                </a:solidFill>
                <a:latin typeface="Calibri"/>
                <a:ea typeface="Calibri"/>
                <a:cs typeface="Calibri"/>
              </a:rPr>
              <a:t>CLI mirip Docker, tetapi beberapa fitur berbeda. Red Hat ecosystem.</a:t>
            </a:r>
            <a:endParaRPr sz="1100"/>
          </a:p>
        </p:txBody>
      </p:sp>
      <p:sp>
        <p:nvSpPr>
          <p:cNvPr id="37" name="Shape 30">
            <a:extLst xmlns:a="http://schemas.openxmlformats.org/drawingml/2006/main">
              <a:ext uri="{FF2B5EF4-FFF2-40B4-BE49-F238E27FC236}">
                <a16:creationId xmlns:a16="http://schemas.microsoft.com/office/drawing/2014/main" id="{E2F8D7D5-2330-4330-998F-B9D550849B51}"/>
              </a:ext>
            </a:extLst>
          </p:cNvPr>
          <p:cNvSpPr>
            <a:spLocks xmlns:a="http://schemas.openxmlformats.org/drawingml/2006/main" noGrp="1"/>
          </p:cNvSpPr>
          <p:nvPr/>
        </p:nvSpPr>
        <p:spPr>
          <a:xfrm xmlns:a="http://schemas.openxmlformats.org/drawingml/2006/main">
            <a:off x="6318504"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38" name="Text 31">
            <a:extLst xmlns:a="http://schemas.openxmlformats.org/drawingml/2006/main">
              <a:ext uri="{FF2B5EF4-FFF2-40B4-BE49-F238E27FC236}">
                <a16:creationId xmlns:a16="http://schemas.microsoft.com/office/drawing/2014/main" id="{A09C6E26-E86E-44CA-AF37-C1D43BE88230}"/>
              </a:ext>
            </a:extLst>
          </p:cNvPr>
          <p:cNvSpPr>
            <a:spLocks xmlns:a="http://schemas.openxmlformats.org/drawingml/2006/main" noGrp="1"/>
          </p:cNvSpPr>
          <p:nvPr/>
        </p:nvSpPr>
        <p:spPr>
          <a:xfrm xmlns:a="http://schemas.openxmlformats.org/drawingml/2006/main">
            <a:off x="6318504"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39" name="Text 32">
            <a:extLst xmlns:a="http://schemas.openxmlformats.org/drawingml/2006/main">
              <a:ext uri="{FF2B5EF4-FFF2-40B4-BE49-F238E27FC236}">
                <a16:creationId xmlns:a16="http://schemas.microsoft.com/office/drawing/2014/main" id="{F3CD6B22-35FF-4C56-88F6-F2F968B0B01D}"/>
              </a:ext>
            </a:extLst>
          </p:cNvPr>
          <p:cNvSpPr>
            <a:spLocks xmlns:a="http://schemas.openxmlformats.org/drawingml/2006/main" noGrp="1"/>
          </p:cNvSpPr>
          <p:nvPr/>
        </p:nvSpPr>
        <p:spPr>
          <a:xfrm xmlns:a="http://schemas.openxmlformats.org/drawingml/2006/main">
            <a:off x="6318504"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Security-focused</a:t>
            </a:r>
            <a:endParaRPr sz="1100"/>
          </a:p>
        </p:txBody>
      </p:sp>
      <p:sp>
        <p:nvSpPr>
          <p:cNvPr id="40" name="Shape 33">
            <a:extLst xmlns:a="http://schemas.openxmlformats.org/drawingml/2006/main">
              <a:ext uri="{FF2B5EF4-FFF2-40B4-BE49-F238E27FC236}">
                <a16:creationId xmlns:a16="http://schemas.microsoft.com/office/drawing/2014/main" id="{0CC803C3-470D-4B50-B1A5-48C57EE8B557}"/>
              </a:ext>
            </a:extLst>
          </p:cNvPr>
          <p:cNvSpPr>
            <a:spLocks xmlns:a="http://schemas.openxmlformats.org/drawingml/2006/main" noGrp="1"/>
          </p:cNvSpPr>
          <p:nvPr/>
        </p:nvSpPr>
        <p:spPr>
          <a:xfrm xmlns:a="http://schemas.openxmlformats.org/drawingml/2006/main">
            <a:off x="9043416" y="1417320"/>
            <a:ext cx="269748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1" name="Shape 34">
            <a:extLst xmlns:a="http://schemas.openxmlformats.org/drawingml/2006/main">
              <a:ext uri="{FF2B5EF4-FFF2-40B4-BE49-F238E27FC236}">
                <a16:creationId xmlns:a16="http://schemas.microsoft.com/office/drawing/2014/main" id="{89696B36-5299-4263-B1CF-087E91DEC114}"/>
              </a:ext>
            </a:extLst>
          </p:cNvPr>
          <p:cNvSpPr>
            <a:spLocks xmlns:a="http://schemas.openxmlformats.org/drawingml/2006/main" noGrp="1"/>
          </p:cNvSpPr>
          <p:nvPr/>
        </p:nvSpPr>
        <p:spPr>
          <a:xfrm xmlns:a="http://schemas.openxmlformats.org/drawingml/2006/main">
            <a:off x="9043416" y="1417320"/>
            <a:ext cx="2697480" cy="109728"/>
          </a:xfrm>
          <a:prstGeom xmlns:a="http://schemas.openxmlformats.org/drawingml/2006/main" prst="rect">
            <a:avLst/>
          </a:prstGeom>
          <a:solidFill xmlns:a="http://schemas.openxmlformats.org/drawingml/2006/main">
            <a:srgbClr val="326CE5"/>
          </a:solidFill>
          <a:ln xmlns:a="http://schemas.openxmlformats.org/drawingml/2006/main" w="12700">
            <a:solidFill>
              <a:srgbClr val="326CE5"/>
            </a:solidFill>
            <a:prstDash val="solid"/>
          </a:ln>
        </p:spPr>
      </p:sp>
      <p:pic>
        <p:nvPicPr>
          <p:cNvPr id="97" name="Image 5">
            <a:extLst xmlns:a="http://schemas.openxmlformats.org/drawingml/2006/main">
              <a:ext uri="{FF2B5EF4-FFF2-40B4-BE49-F238E27FC236}">
                <a16:creationId xmlns:a16="http://schemas.microsoft.com/office/drawing/2014/main" id="{E808C0B9-F67B-4E7E-88AE-D727F4BDE7B7}"/>
              </a:ext>
            </a:extLst>
          </p:cNvPr>
          <p:cNvPicPr>
            <a:picLocks xmlns:a="http://schemas.openxmlformats.org/drawingml/2006/main" noChangeAspect="1"/>
          </p:cNvPicPr>
          <p:nvPr/>
        </p:nvPicPr>
        <p:blipFill>
          <a:blip xmlns:r="http://schemas.openxmlformats.org/officeDocument/2006/relationships" xmlns:a="http://schemas.openxmlformats.org/drawingml/2006/main" r:embed="R79f52d8e8fe24959"/>
          <a:stretch xmlns:a="http://schemas.openxmlformats.org/drawingml/2006/main">
            <a:fillRect l="0" t="0" r="0" b="0"/>
          </a:stretch>
        </p:blipFill>
        <p:spPr>
          <a:xfrm xmlns:a="http://schemas.openxmlformats.org/drawingml/2006/main">
            <a:off x="10026396" y="1737360"/>
            <a:ext cx="731520" cy="731520"/>
          </a:xfrm>
          <a:prstGeom xmlns:a="http://schemas.openxmlformats.org/drawingml/2006/main" prst="rect">
            <a:avLst/>
          </a:prstGeom>
        </p:spPr>
      </p:pic>
      <p:sp>
        <p:nvSpPr>
          <p:cNvPr id="43" name="Text 35">
            <a:extLst xmlns:a="http://schemas.openxmlformats.org/drawingml/2006/main">
              <a:ext uri="{FF2B5EF4-FFF2-40B4-BE49-F238E27FC236}">
                <a16:creationId xmlns:a16="http://schemas.microsoft.com/office/drawing/2014/main" id="{D2D3C0E9-C471-46DB-9869-B3C230753577}"/>
              </a:ext>
            </a:extLst>
          </p:cNvPr>
          <p:cNvSpPr>
            <a:spLocks xmlns:a="http://schemas.openxmlformats.org/drawingml/2006/main" noGrp="1"/>
          </p:cNvSpPr>
          <p:nvPr/>
        </p:nvSpPr>
        <p:spPr>
          <a:xfrm xmlns:a="http://schemas.openxmlformats.org/drawingml/2006/main">
            <a:off x="9043416" y="2560320"/>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677"/>
                </a:solidFill>
                <a:latin typeface="Calibri"/>
                <a:ea typeface="Calibri"/>
                <a:cs typeface="Calibri"/>
              </a:rPr>
              <a:t>Kubernetes</a:t>
            </a:r>
            <a:endParaRPr sz="1600"/>
          </a:p>
        </p:txBody>
      </p:sp>
      <p:sp>
        <p:nvSpPr>
          <p:cNvPr id="44" name="Shape 36">
            <a:extLst xmlns:a="http://schemas.openxmlformats.org/drawingml/2006/main">
              <a:ext uri="{FF2B5EF4-FFF2-40B4-BE49-F238E27FC236}">
                <a16:creationId xmlns:a16="http://schemas.microsoft.com/office/drawing/2014/main" id="{0B570B7A-48C7-41E7-A545-B851EE382432}"/>
              </a:ext>
            </a:extLst>
          </p:cNvPr>
          <p:cNvSpPr>
            <a:spLocks xmlns:a="http://schemas.openxmlformats.org/drawingml/2006/main" noGrp="1"/>
          </p:cNvSpPr>
          <p:nvPr/>
        </p:nvSpPr>
        <p:spPr>
          <a:xfrm xmlns:a="http://schemas.openxmlformats.org/drawingml/2006/main">
            <a:off x="9843516" y="2971800"/>
            <a:ext cx="1097280" cy="274320"/>
          </a:xfrm>
          <a:prstGeom xmlns:a="http://schemas.openxmlformats.org/drawingml/2006/main" prst="roundRect">
            <a:avLst>
              <a:gd name="adj" fmla="val 13333"/>
            </a:avLst>
          </a:prstGeom>
          <a:solidFill xmlns:a="http://schemas.openxmlformats.org/drawingml/2006/main">
            <a:srgbClr val="F37021"/>
          </a:solidFill>
          <a:ln xmlns:a="http://schemas.openxmlformats.org/drawingml/2006/main" w="12700">
            <a:solidFill>
              <a:srgbClr val="F37021"/>
            </a:solidFill>
            <a:prstDash val="solid"/>
          </a:ln>
        </p:spPr>
      </p:sp>
      <p:sp>
        <p:nvSpPr>
          <p:cNvPr id="45" name="Text 37">
            <a:extLst xmlns:a="http://schemas.openxmlformats.org/drawingml/2006/main">
              <a:ext uri="{FF2B5EF4-FFF2-40B4-BE49-F238E27FC236}">
                <a16:creationId xmlns:a16="http://schemas.microsoft.com/office/drawing/2014/main" id="{A7C0F5F8-72A9-4365-9384-AFEBC0DAD7B4}"/>
              </a:ext>
            </a:extLst>
          </p:cNvPr>
          <p:cNvSpPr>
            <a:spLocks xmlns:a="http://schemas.openxmlformats.org/drawingml/2006/main" noGrp="1"/>
          </p:cNvSpPr>
          <p:nvPr/>
        </p:nvSpPr>
        <p:spPr>
          <a:xfrm xmlns:a="http://schemas.openxmlformats.org/drawingml/2006/main">
            <a:off x="9843516" y="2971800"/>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Sejak 2014</a:t>
            </a:r>
            <a:endParaRPr sz="1000"/>
          </a:p>
        </p:txBody>
      </p:sp>
      <p:sp>
        <p:nvSpPr>
          <p:cNvPr id="46" name="Text 38">
            <a:extLst xmlns:a="http://schemas.openxmlformats.org/drawingml/2006/main">
              <a:ext uri="{FF2B5EF4-FFF2-40B4-BE49-F238E27FC236}">
                <a16:creationId xmlns:a16="http://schemas.microsoft.com/office/drawing/2014/main" id="{BED29B5C-6770-4E77-BE21-E7FA1214D237}"/>
              </a:ext>
            </a:extLst>
          </p:cNvPr>
          <p:cNvSpPr>
            <a:spLocks xmlns:a="http://schemas.openxmlformats.org/drawingml/2006/main" noGrp="1"/>
          </p:cNvSpPr>
          <p:nvPr/>
        </p:nvSpPr>
        <p:spPr>
          <a:xfrm xmlns:a="http://schemas.openxmlformats.org/drawingml/2006/main">
            <a:off x="9180576" y="3383280"/>
            <a:ext cx="242316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Bukan engine - tapi orchestrator yang manage banyak container engine di banyak server.</a:t>
            </a:r>
            <a:endParaRPr sz="1100"/>
          </a:p>
        </p:txBody>
      </p:sp>
      <p:sp>
        <p:nvSpPr>
          <p:cNvPr id="47" name="Shape 39">
            <a:extLst xmlns:a="http://schemas.openxmlformats.org/drawingml/2006/main">
              <a:ext uri="{FF2B5EF4-FFF2-40B4-BE49-F238E27FC236}">
                <a16:creationId xmlns:a16="http://schemas.microsoft.com/office/drawing/2014/main" id="{278201DA-C116-4DC1-B391-9FDCB37B8C62}"/>
              </a:ext>
            </a:extLst>
          </p:cNvPr>
          <p:cNvSpPr>
            <a:spLocks xmlns:a="http://schemas.openxmlformats.org/drawingml/2006/main" noGrp="1"/>
          </p:cNvSpPr>
          <p:nvPr/>
        </p:nvSpPr>
        <p:spPr>
          <a:xfrm xmlns:a="http://schemas.openxmlformats.org/drawingml/2006/main">
            <a:off x="9180576" y="5440680"/>
            <a:ext cx="242316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48" name="Text 40">
            <a:extLst xmlns:a="http://schemas.openxmlformats.org/drawingml/2006/main">
              <a:ext uri="{FF2B5EF4-FFF2-40B4-BE49-F238E27FC236}">
                <a16:creationId xmlns:a16="http://schemas.microsoft.com/office/drawing/2014/main" id="{FC19DC45-5E8E-4D85-B622-C1C7A58C0978}"/>
              </a:ext>
            </a:extLst>
          </p:cNvPr>
          <p:cNvSpPr>
            <a:spLocks xmlns:a="http://schemas.openxmlformats.org/drawingml/2006/main" noGrp="1"/>
          </p:cNvSpPr>
          <p:nvPr/>
        </p:nvSpPr>
        <p:spPr>
          <a:xfrm xmlns:a="http://schemas.openxmlformats.org/drawingml/2006/main">
            <a:off x="9180576" y="5532120"/>
            <a:ext cx="2423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64748B"/>
                </a:solidFill>
                <a:latin typeface="Calibri"/>
                <a:ea typeface="Calibri"/>
                <a:cs typeface="Calibri"/>
              </a:rPr>
              <a:t>Use case:</a:t>
            </a:r>
            <a:endParaRPr sz="900"/>
          </a:p>
        </p:txBody>
      </p:sp>
      <p:sp>
        <p:nvSpPr>
          <p:cNvPr id="49" name="Text 41">
            <a:extLst xmlns:a="http://schemas.openxmlformats.org/drawingml/2006/main">
              <a:ext uri="{FF2B5EF4-FFF2-40B4-BE49-F238E27FC236}">
                <a16:creationId xmlns:a16="http://schemas.microsoft.com/office/drawing/2014/main" id="{022B29A5-EA16-472A-90AA-AADB7FE14837}"/>
              </a:ext>
            </a:extLst>
          </p:cNvPr>
          <p:cNvSpPr>
            <a:spLocks xmlns:a="http://schemas.openxmlformats.org/drawingml/2006/main" noGrp="1"/>
          </p:cNvSpPr>
          <p:nvPr/>
        </p:nvSpPr>
        <p:spPr>
          <a:xfrm xmlns:a="http://schemas.openxmlformats.org/drawingml/2006/main">
            <a:off x="9180576" y="5760720"/>
            <a:ext cx="2423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002677"/>
                </a:solidFill>
                <a:latin typeface="Calibri"/>
                <a:ea typeface="Calibri"/>
                <a:cs typeface="Calibri"/>
              </a:rPr>
              <a:t>Production scale</a:t>
            </a:r>
            <a:endParaRPr sz="1100"/>
          </a:p>
        </p:txBody>
      </p:sp>
      <p:sp>
        <p:nvSpPr>
          <p:cNvPr id="50" name="Text 42">
            <a:extLst xmlns:a="http://schemas.openxmlformats.org/drawingml/2006/main">
              <a:ext uri="{FF2B5EF4-FFF2-40B4-BE49-F238E27FC236}">
                <a16:creationId xmlns:a16="http://schemas.microsoft.com/office/drawing/2014/main" id="{5AF331F3-0F49-455D-8237-F1B35CA06AB2}"/>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Untuk kuliah: </a:t>
            </a:r>
            <a:r>
              <a:rPr sz="1100" i="1">
                <a:solidFill>
                  <a:srgbClr val="1E293B"/>
                </a:solidFill>
                <a:latin typeface="Calibri"/>
                <a:ea typeface="Calibri"/>
                <a:cs typeface="Calibri"/>
              </a:rPr>
              <a:t>kita fokus Docker (Engine + CLI). </a:t>
            </a:r>
            <a:r>
              <a:rPr sz="1100" i="1">
                <a:solidFill>
                  <a:srgbClr val="1E293B"/>
                </a:solidFill>
                <a:latin typeface="Calibri"/>
                <a:ea typeface="Calibri"/>
                <a:cs typeface="Calibri"/>
              </a:rPr>
              <a:t>Kubernetes menjadi konteks produksi pada capstone.</a:t>
            </a:r>
            <a:endParaRPr sz="1100"/>
          </a:p>
        </p:txBody>
      </p:sp>
    </p:spTree>
    <p:extLst>
      <p:ext uri="{BB962C8B-B14F-4D97-AF65-F5344CB8AC3E}">
        <p14:creationId xmlns:p14="http://schemas.microsoft.com/office/powerpoint/2010/main" val="476353838"/>
      </p:ext>
    </p:extLst>
  </p:cSld>
</p:sld>
</file>

<file path=ppt/slides/slide17.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5D593BD-8FCA-4C86-9B95-20ABAA117D63}"/>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7AF94C31-DF7E-4FE2-93F7-48161A5104DC}"/>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86CD1A05-EB14-40BF-9666-A5FD10D16038}"/>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53954EF2-4925-4C11-9BCB-97FC0FF488A0}"/>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EA577F08-7DBA-491F-B61B-97341A1352E3}"/>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6405295E-F297-4BF1-832F-E8BF4536F243}"/>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58A10936-7130-4B56-B98D-BD03BD8C56D9}"/>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B0101D9C-7F3E-4E9B-B7E9-81632C2C6499}"/>
              </a:ext>
            </a:extLst>
          </p:cNvPr>
          <p:cNvPicPr>
            <a:picLocks xmlns:a="http://schemas.openxmlformats.org/drawingml/2006/main" noChangeAspect="1"/>
          </p:cNvPicPr>
          <p:nvPr/>
        </p:nvPicPr>
        <p:blipFill>
          <a:blip xmlns:r="http://schemas.openxmlformats.org/officeDocument/2006/relationships" xmlns:a="http://schemas.openxmlformats.org/drawingml/2006/main" r:embed="R16e51dbbf33846a9"/>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C913071E-5526-47EB-A3AC-4A0DFDE49756}"/>
              </a:ext>
            </a:extLst>
          </p:cNvPr>
          <p:cNvPicPr>
            <a:picLocks xmlns:a="http://schemas.openxmlformats.org/drawingml/2006/main" noChangeAspect="1"/>
          </p:cNvPicPr>
          <p:nvPr/>
        </p:nvPicPr>
        <p:blipFill>
          <a:blip xmlns:r="http://schemas.openxmlformats.org/officeDocument/2006/relationships" xmlns:a="http://schemas.openxmlformats.org/drawingml/2006/main" r:embed="R343b4eceab37471f"/>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4BFDF9-DCD3-4D92-9C36-6EB82617039D}"/>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04</a:t>
            </a:r>
            <a:endParaRPr sz="1600"/>
          </a:p>
        </p:txBody>
      </p:sp>
      <p:sp>
        <p:nvSpPr>
          <p:cNvPr id="12" name="Text 8">
            <a:extLst xmlns:a="http://schemas.openxmlformats.org/drawingml/2006/main">
              <a:ext uri="{FF2B5EF4-FFF2-40B4-BE49-F238E27FC236}">
                <a16:creationId xmlns:a16="http://schemas.microsoft.com/office/drawing/2014/main" id="{6E4F2EF7-849A-4618-99EA-56BEDDB770C8}"/>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Docker</a:t>
            </a:r>
            <a:endParaRPr sz="5200"/>
          </a:p>
          <a:p xmlns:a="http://schemas.openxmlformats.org/drawingml/2006/main">
            <a:pPr marL="0" indent="0" algn="ctr">
              <a:buNone/>
            </a:pPr>
            <a:r>
              <a:rPr sz="5200" b="1">
                <a:solidFill>
                  <a:srgbClr val="FFFFFF"/>
                </a:solidFill>
                <a:latin typeface="Calibri"/>
                <a:ea typeface="Calibri"/>
                <a:cs typeface="Calibri"/>
              </a:rPr>
              <a:t>Architecture</a:t>
            </a:r>
            <a:endParaRPr sz="5200"/>
          </a:p>
        </p:txBody>
      </p:sp>
      <p:sp>
        <p:nvSpPr>
          <p:cNvPr id="13" name="Shape 9">
            <a:extLst xmlns:a="http://schemas.openxmlformats.org/drawingml/2006/main">
              <a:ext uri="{FF2B5EF4-FFF2-40B4-BE49-F238E27FC236}">
                <a16:creationId xmlns:a16="http://schemas.microsoft.com/office/drawing/2014/main" id="{05DA5B6B-042C-4685-BC67-6347E50A959E}"/>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D8F9B3A6-5A09-4AE5-9EF3-7363145D4CC1}"/>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Cara Docker bekerja: daemon, CLI, image, container, registry.</a:t>
            </a:r>
            <a:endParaRPr sz="1400"/>
          </a:p>
        </p:txBody>
      </p:sp>
    </p:spTree>
    <p:extLst>
      <p:ext uri="{BB962C8B-B14F-4D97-AF65-F5344CB8AC3E}">
        <p14:creationId xmlns:p14="http://schemas.microsoft.com/office/powerpoint/2010/main" val="2144408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8EE666-746E-4809-BFD4-57E84D3B79C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2916EEB5-272A-4C70-9B5F-A0646B2073E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18</a:t>
            </a:r>
            <a:endParaRPr sz="900"/>
          </a:p>
        </p:txBody>
      </p:sp>
      <p:sp>
        <p:nvSpPr>
          <p:cNvPr id="4" name="Shape 2">
            <a:extLst xmlns:a="http://schemas.openxmlformats.org/drawingml/2006/main">
              <a:ext uri="{FF2B5EF4-FFF2-40B4-BE49-F238E27FC236}">
                <a16:creationId xmlns:a16="http://schemas.microsoft.com/office/drawing/2014/main" id="{91B4F2A1-C494-4B98-9D98-BF1188B2E00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0" name="Image 0">
            <a:extLst xmlns:a="http://schemas.openxmlformats.org/drawingml/2006/main">
              <a:ext uri="{FF2B5EF4-FFF2-40B4-BE49-F238E27FC236}">
                <a16:creationId xmlns:a16="http://schemas.microsoft.com/office/drawing/2014/main" id="{5F18AD06-5C77-4A12-9C20-C568C3910D62}"/>
              </a:ext>
            </a:extLst>
          </p:cNvPr>
          <p:cNvPicPr>
            <a:picLocks xmlns:a="http://schemas.openxmlformats.org/drawingml/2006/main" noChangeAspect="1"/>
          </p:cNvPicPr>
          <p:nvPr/>
        </p:nvPicPr>
        <p:blipFill>
          <a:blip xmlns:r="http://schemas.openxmlformats.org/officeDocument/2006/relationships" xmlns:a="http://schemas.openxmlformats.org/drawingml/2006/main" r:embed="Ree144f3f6ac1475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1" name="Image 1">
            <a:extLst xmlns:a="http://schemas.openxmlformats.org/drawingml/2006/main">
              <a:ext uri="{FF2B5EF4-FFF2-40B4-BE49-F238E27FC236}">
                <a16:creationId xmlns:a16="http://schemas.microsoft.com/office/drawing/2014/main" id="{80EE3140-FEC4-4C09-B5F9-28D99A274BD4}"/>
              </a:ext>
            </a:extLst>
          </p:cNvPr>
          <p:cNvPicPr>
            <a:picLocks xmlns:a="http://schemas.openxmlformats.org/drawingml/2006/main" noChangeAspect="1"/>
          </p:cNvPicPr>
          <p:nvPr/>
        </p:nvPicPr>
        <p:blipFill>
          <a:blip xmlns:r="http://schemas.openxmlformats.org/officeDocument/2006/relationships" xmlns:a="http://schemas.openxmlformats.org/drawingml/2006/main" r:embed="Raad90d71407848c0"/>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B3B3FDD-591D-468F-8841-34324293AF0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4A7BA95-C312-46AB-B772-B3223D6D1DC9}"/>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 Architecture</a:t>
            </a:r>
            <a:endParaRPr sz="2200"/>
          </a:p>
        </p:txBody>
      </p:sp>
      <p:sp>
        <p:nvSpPr>
          <p:cNvPr id="9" name="Text 5">
            <a:extLst xmlns:a="http://schemas.openxmlformats.org/drawingml/2006/main">
              <a:ext uri="{FF2B5EF4-FFF2-40B4-BE49-F238E27FC236}">
                <a16:creationId xmlns:a16="http://schemas.microsoft.com/office/drawing/2014/main" id="{A5DC362E-8F90-49AC-A7BE-CA1DD94DB53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Client-server model dengan registry sebagai katalog image</a:t>
            </a:r>
            <a:endParaRPr sz="1200"/>
          </a:p>
        </p:txBody>
      </p:sp>
      <p:sp>
        <p:nvSpPr>
          <p:cNvPr id="10" name="Shape 6">
            <a:extLst xmlns:a="http://schemas.openxmlformats.org/drawingml/2006/main">
              <a:ext uri="{FF2B5EF4-FFF2-40B4-BE49-F238E27FC236}">
                <a16:creationId xmlns:a16="http://schemas.microsoft.com/office/drawing/2014/main" id="{EC51B230-ACFB-4628-AFBD-8D0E1655E6C5}"/>
              </a:ext>
            </a:extLst>
          </p:cNvPr>
          <p:cNvSpPr>
            <a:spLocks xmlns:a="http://schemas.openxmlformats.org/drawingml/2006/main" noGrp="1"/>
          </p:cNvSpPr>
          <p:nvPr/>
        </p:nvSpPr>
        <p:spPr>
          <a:xfrm xmlns:a="http://schemas.openxmlformats.org/drawingml/2006/main">
            <a:off x="457200" y="1417320"/>
            <a:ext cx="3657600" cy="16459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6" name="Image 2">
            <a:extLst xmlns:a="http://schemas.openxmlformats.org/drawingml/2006/main">
              <a:ext uri="{FF2B5EF4-FFF2-40B4-BE49-F238E27FC236}">
                <a16:creationId xmlns:a16="http://schemas.microsoft.com/office/drawing/2014/main" id="{5EE4FA56-DA29-454F-A907-E7581E9715C5}"/>
              </a:ext>
            </a:extLst>
          </p:cNvPr>
          <p:cNvPicPr>
            <a:picLocks xmlns:a="http://schemas.openxmlformats.org/drawingml/2006/main" noChangeAspect="1"/>
          </p:cNvPicPr>
          <p:nvPr/>
        </p:nvPicPr>
        <p:blipFill>
          <a:blip xmlns:r="http://schemas.openxmlformats.org/officeDocument/2006/relationships" xmlns:a="http://schemas.openxmlformats.org/drawingml/2006/main" r:embed="R1b689b881d314ec2"/>
          <a:stretch xmlns:a="http://schemas.openxmlformats.org/drawingml/2006/main">
            <a:fillRect l="0" t="0" r="0" b="0"/>
          </a:stretch>
        </p:blipFill>
        <p:spPr>
          <a:xfrm xmlns:a="http://schemas.openxmlformats.org/drawingml/2006/main">
            <a:off x="685800" y="169164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B77BCBA9-5CBA-4601-A7A1-E34209797431}"/>
              </a:ext>
            </a:extLst>
          </p:cNvPr>
          <p:cNvSpPr>
            <a:spLocks xmlns:a="http://schemas.openxmlformats.org/drawingml/2006/main" noGrp="1"/>
          </p:cNvSpPr>
          <p:nvPr/>
        </p:nvSpPr>
        <p:spPr>
          <a:xfrm xmlns:a="http://schemas.openxmlformats.org/drawingml/2006/main">
            <a:off x="1371600" y="1554480"/>
            <a:ext cx="2651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DOCKER CLIENT</a:t>
            </a:r>
            <a:endParaRPr sz="1300"/>
          </a:p>
        </p:txBody>
      </p:sp>
      <p:sp>
        <p:nvSpPr>
          <p:cNvPr id="13" name="Text 8">
            <a:extLst xmlns:a="http://schemas.openxmlformats.org/drawingml/2006/main">
              <a:ext uri="{FF2B5EF4-FFF2-40B4-BE49-F238E27FC236}">
                <a16:creationId xmlns:a16="http://schemas.microsoft.com/office/drawing/2014/main" id="{707E22CC-5D4D-48D3-8F42-415AA29A6A0B}"/>
              </a:ext>
            </a:extLst>
          </p:cNvPr>
          <p:cNvSpPr>
            <a:spLocks xmlns:a="http://schemas.openxmlformats.org/drawingml/2006/main" noGrp="1"/>
          </p:cNvSpPr>
          <p:nvPr/>
        </p:nvSpPr>
        <p:spPr>
          <a:xfrm xmlns:a="http://schemas.openxmlformats.org/drawingml/2006/main">
            <a:off x="1371600" y="1920240"/>
            <a:ext cx="26517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FFFFFF"/>
                </a:solidFill>
                <a:latin typeface="Calibri"/>
                <a:ea typeface="Calibri"/>
                <a:cs typeface="Calibri"/>
              </a:rPr>
              <a:t>CLI tools: docker, docker compose</a:t>
            </a:r>
            <a:endParaRPr sz="1000"/>
          </a:p>
        </p:txBody>
      </p:sp>
      <p:sp>
        <p:nvSpPr>
          <p:cNvPr id="14" name="Text 9">
            <a:extLst xmlns:a="http://schemas.openxmlformats.org/drawingml/2006/main">
              <a:ext uri="{FF2B5EF4-FFF2-40B4-BE49-F238E27FC236}">
                <a16:creationId xmlns:a16="http://schemas.microsoft.com/office/drawing/2014/main" id="{F3A679C2-9D4E-43C5-A99B-C67B72F140DE}"/>
              </a:ext>
            </a:extLst>
          </p:cNvPr>
          <p:cNvSpPr>
            <a:spLocks xmlns:a="http://schemas.openxmlformats.org/drawingml/2006/main" noGrp="1"/>
          </p:cNvSpPr>
          <p:nvPr/>
        </p:nvSpPr>
        <p:spPr>
          <a:xfrm xmlns:a="http://schemas.openxmlformats.org/drawingml/2006/main">
            <a:off x="640080" y="2240280"/>
            <a:ext cx="329184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FFFFFF"/>
                </a:solidFill>
                <a:latin typeface="Calibri"/>
                <a:ea typeface="Calibri"/>
                <a:cs typeface="Calibri"/>
              </a:rPr>
              <a:t>Kirim command lewat REST API ke daemon</a:t>
            </a:r>
            <a:endParaRPr sz="1100"/>
          </a:p>
        </p:txBody>
      </p:sp>
      <p:sp>
        <p:nvSpPr>
          <p:cNvPr id="15" name="Shape 10">
            <a:extLst xmlns:a="http://schemas.openxmlformats.org/drawingml/2006/main">
              <a:ext uri="{FF2B5EF4-FFF2-40B4-BE49-F238E27FC236}">
                <a16:creationId xmlns:a16="http://schemas.microsoft.com/office/drawing/2014/main" id="{8A62527D-6C71-40DD-9640-23E85A422338}"/>
              </a:ext>
            </a:extLst>
          </p:cNvPr>
          <p:cNvSpPr>
            <a:spLocks xmlns:a="http://schemas.openxmlformats.org/drawingml/2006/main" noGrp="1"/>
          </p:cNvSpPr>
          <p:nvPr/>
        </p:nvSpPr>
        <p:spPr>
          <a:xfrm xmlns:a="http://schemas.openxmlformats.org/drawingml/2006/main">
            <a:off x="4206240" y="2148840"/>
            <a:ext cx="822960" cy="27432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16" name="Shape 11">
            <a:extLst xmlns:a="http://schemas.openxmlformats.org/drawingml/2006/main">
              <a:ext uri="{FF2B5EF4-FFF2-40B4-BE49-F238E27FC236}">
                <a16:creationId xmlns:a16="http://schemas.microsoft.com/office/drawing/2014/main" id="{4DAEF681-6A71-41B0-8582-136AB1F93C60}"/>
              </a:ext>
            </a:extLst>
          </p:cNvPr>
          <p:cNvSpPr>
            <a:spLocks xmlns:a="http://schemas.openxmlformats.org/drawingml/2006/main" noGrp="1"/>
          </p:cNvSpPr>
          <p:nvPr/>
        </p:nvSpPr>
        <p:spPr>
          <a:xfrm xmlns:a="http://schemas.openxmlformats.org/drawingml/2006/main">
            <a:off x="5120640" y="1417320"/>
            <a:ext cx="2926080" cy="411480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pic>
        <p:nvPicPr>
          <p:cNvPr id="62" name="Image 3">
            <a:extLst xmlns:a="http://schemas.openxmlformats.org/drawingml/2006/main">
              <a:ext uri="{FF2B5EF4-FFF2-40B4-BE49-F238E27FC236}">
                <a16:creationId xmlns:a16="http://schemas.microsoft.com/office/drawing/2014/main" id="{2E45BC2C-D497-4275-A170-D089711DEBC3}"/>
              </a:ext>
            </a:extLst>
          </p:cNvPr>
          <p:cNvPicPr>
            <a:picLocks xmlns:a="http://schemas.openxmlformats.org/drawingml/2006/main" noChangeAspect="1"/>
          </p:cNvPicPr>
          <p:nvPr/>
        </p:nvPicPr>
        <p:blipFill>
          <a:blip xmlns:r="http://schemas.openxmlformats.org/officeDocument/2006/relationships" xmlns:a="http://schemas.openxmlformats.org/drawingml/2006/main" r:embed="R4afccb6006104a26"/>
          <a:stretch xmlns:a="http://schemas.openxmlformats.org/drawingml/2006/main">
            <a:fillRect l="0" t="0" r="0" b="0"/>
          </a:stretch>
        </p:blipFill>
        <p:spPr>
          <a:xfrm xmlns:a="http://schemas.openxmlformats.org/drawingml/2006/main">
            <a:off x="5943600" y="1600200"/>
            <a:ext cx="1280160" cy="128016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7F877BB0-BF0E-468B-85A9-C567F17B2389}"/>
              </a:ext>
            </a:extLst>
          </p:cNvPr>
          <p:cNvSpPr>
            <a:spLocks xmlns:a="http://schemas.openxmlformats.org/drawingml/2006/main" noGrp="1"/>
          </p:cNvSpPr>
          <p:nvPr/>
        </p:nvSpPr>
        <p:spPr>
          <a:xfrm xmlns:a="http://schemas.openxmlformats.org/drawingml/2006/main">
            <a:off x="5120640" y="297180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DOCKER DAEMON</a:t>
            </a:r>
            <a:endParaRPr sz="1300"/>
          </a:p>
        </p:txBody>
      </p:sp>
      <p:sp>
        <p:nvSpPr>
          <p:cNvPr id="19" name="Text 13">
            <a:extLst xmlns:a="http://schemas.openxmlformats.org/drawingml/2006/main">
              <a:ext uri="{FF2B5EF4-FFF2-40B4-BE49-F238E27FC236}">
                <a16:creationId xmlns:a16="http://schemas.microsoft.com/office/drawing/2014/main" id="{F6AA701F-F9BE-4666-AC78-4113D18203FE}"/>
              </a:ext>
            </a:extLst>
          </p:cNvPr>
          <p:cNvSpPr>
            <a:spLocks xmlns:a="http://schemas.openxmlformats.org/drawingml/2006/main" noGrp="1"/>
          </p:cNvSpPr>
          <p:nvPr/>
        </p:nvSpPr>
        <p:spPr>
          <a:xfrm xmlns:a="http://schemas.openxmlformats.org/drawingml/2006/main">
            <a:off x="5120640" y="3291840"/>
            <a:ext cx="2926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i="1">
                <a:solidFill>
                  <a:srgbClr val="FFE0B2"/>
                </a:solidFill>
                <a:latin typeface="Consolas"/>
                <a:ea typeface="Consolas"/>
                <a:cs typeface="Consolas"/>
              </a:rPr>
              <a:t>(dockerd)</a:t>
            </a:r>
            <a:endParaRPr sz="1000"/>
          </a:p>
        </p:txBody>
      </p:sp>
      <p:sp>
        <p:nvSpPr>
          <p:cNvPr id="20" name="Text 14">
            <a:extLst xmlns:a="http://schemas.openxmlformats.org/drawingml/2006/main">
              <a:ext uri="{FF2B5EF4-FFF2-40B4-BE49-F238E27FC236}">
                <a16:creationId xmlns:a16="http://schemas.microsoft.com/office/drawing/2014/main" id="{E07ECA76-7E1F-4003-BE25-7274E90B2A20}"/>
              </a:ext>
            </a:extLst>
          </p:cNvPr>
          <p:cNvSpPr>
            <a:spLocks xmlns:a="http://schemas.openxmlformats.org/drawingml/2006/main" noGrp="1"/>
          </p:cNvSpPr>
          <p:nvPr/>
        </p:nvSpPr>
        <p:spPr>
          <a:xfrm xmlns:a="http://schemas.openxmlformats.org/drawingml/2006/main">
            <a:off x="5257800" y="3703320"/>
            <a:ext cx="2743200" cy="1691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400"/>
              </a:spcAft>
              <a:buSzPct val="100000"/>
              <a:buChar char="▸"/>
            </a:pPr>
            <a:r>
              <a:rPr sz="1000">
                <a:solidFill>
                  <a:srgbClr val="FFFFFF"/>
                </a:solidFill>
                <a:latin typeface="Calibri"/>
                <a:ea typeface="Calibri"/>
                <a:cs typeface="Calibri"/>
              </a:rPr>
              <a:t>Pull image dari registry</a:t>
            </a:r>
            <a:endParaRPr sz="1000"/>
          </a:p>
          <a:p xmlns:a="http://schemas.openxmlformats.org/drawingml/2006/main">
            <a:pPr marL="342900" indent="-342900">
              <a:spcAft>
                <a:spcPts val="400"/>
              </a:spcAft>
              <a:buSzPct val="100000"/>
              <a:buChar char="▸"/>
            </a:pPr>
            <a:r>
              <a:rPr sz="1000">
                <a:solidFill>
                  <a:srgbClr val="FFFFFF"/>
                </a:solidFill>
                <a:latin typeface="Calibri"/>
                <a:ea typeface="Calibri"/>
                <a:cs typeface="Calibri"/>
              </a:rPr>
              <a:t>Build image dari Dockerfile</a:t>
            </a:r>
            <a:endParaRPr sz="1000"/>
          </a:p>
          <a:p xmlns:a="http://schemas.openxmlformats.org/drawingml/2006/main">
            <a:pPr marL="342900" indent="-342900">
              <a:spcAft>
                <a:spcPts val="400"/>
              </a:spcAft>
              <a:buSzPct val="100000"/>
              <a:buChar char="▸"/>
            </a:pPr>
            <a:r>
              <a:rPr sz="1000">
                <a:solidFill>
                  <a:srgbClr val="FFFFFF"/>
                </a:solidFill>
                <a:latin typeface="Calibri"/>
                <a:ea typeface="Calibri"/>
                <a:cs typeface="Calibri"/>
              </a:rPr>
              <a:t>Run, stop, hapus container</a:t>
            </a:r>
            <a:endParaRPr sz="1000"/>
          </a:p>
          <a:p xmlns:a="http://schemas.openxmlformats.org/drawingml/2006/main">
            <a:pPr marL="342900" indent="-342900">
              <a:spcAft>
                <a:spcPts val="400"/>
              </a:spcAft>
              <a:buSzPct val="100000"/>
              <a:buChar char="▸"/>
            </a:pPr>
            <a:r>
              <a:rPr sz="1000">
                <a:solidFill>
                  <a:srgbClr val="FFFFFF"/>
                </a:solidFill>
                <a:latin typeface="Calibri"/>
                <a:ea typeface="Calibri"/>
                <a:cs typeface="Calibri"/>
              </a:rPr>
              <a:t>Manage volume + network</a:t>
            </a:r>
            <a:endParaRPr sz="1000"/>
          </a:p>
          <a:p xmlns:a="http://schemas.openxmlformats.org/drawingml/2006/main">
            <a:pPr marL="342900" indent="-342900">
              <a:spcAft>
                <a:spcPts val="400"/>
              </a:spcAft>
              <a:buSzPct val="100000"/>
              <a:buChar char="▸"/>
            </a:pPr>
            <a:r>
              <a:rPr sz="1000">
                <a:solidFill>
                  <a:srgbClr val="FFFFFF"/>
                </a:solidFill>
                <a:latin typeface="Calibri"/>
                <a:ea typeface="Calibri"/>
                <a:cs typeface="Calibri"/>
              </a:rPr>
              <a:t>Monitor lewat REST API</a:t>
            </a:r>
            <a:endParaRPr sz="1000"/>
          </a:p>
        </p:txBody>
      </p:sp>
      <p:sp>
        <p:nvSpPr>
          <p:cNvPr id="21" name="Shape 15">
            <a:extLst xmlns:a="http://schemas.openxmlformats.org/drawingml/2006/main">
              <a:ext uri="{FF2B5EF4-FFF2-40B4-BE49-F238E27FC236}">
                <a16:creationId xmlns:a16="http://schemas.microsoft.com/office/drawing/2014/main" id="{8DF0939B-8952-4FB6-A082-ADF48E2DF402}"/>
              </a:ext>
            </a:extLst>
          </p:cNvPr>
          <p:cNvSpPr>
            <a:spLocks xmlns:a="http://schemas.openxmlformats.org/drawingml/2006/main" noGrp="1"/>
          </p:cNvSpPr>
          <p:nvPr/>
        </p:nvSpPr>
        <p:spPr>
          <a:xfrm xmlns:a="http://schemas.openxmlformats.org/drawingml/2006/main">
            <a:off x="8138160" y="2148840"/>
            <a:ext cx="822960" cy="27432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22" name="Text 16">
            <a:extLst xmlns:a="http://schemas.openxmlformats.org/drawingml/2006/main">
              <a:ext uri="{FF2B5EF4-FFF2-40B4-BE49-F238E27FC236}">
                <a16:creationId xmlns:a16="http://schemas.microsoft.com/office/drawing/2014/main" id="{4F470258-E7E8-4954-835B-3DE229A840B8}"/>
              </a:ext>
            </a:extLst>
          </p:cNvPr>
          <p:cNvSpPr>
            <a:spLocks xmlns:a="http://schemas.openxmlformats.org/drawingml/2006/main" noGrp="1"/>
          </p:cNvSpPr>
          <p:nvPr/>
        </p:nvSpPr>
        <p:spPr>
          <a:xfrm xmlns:a="http://schemas.openxmlformats.org/drawingml/2006/main">
            <a:off x="8138160" y="246888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i="1">
                <a:solidFill>
                  <a:srgbClr val="64748B"/>
                </a:solidFill>
                <a:latin typeface="Calibri"/>
                <a:ea typeface="Calibri"/>
                <a:cs typeface="Calibri"/>
              </a:rPr>
              <a:t>pull/push</a:t>
            </a:r>
            <a:endParaRPr sz="900"/>
          </a:p>
        </p:txBody>
      </p:sp>
      <p:sp>
        <p:nvSpPr>
          <p:cNvPr id="23" name="Shape 17">
            <a:extLst xmlns:a="http://schemas.openxmlformats.org/drawingml/2006/main">
              <a:ext uri="{FF2B5EF4-FFF2-40B4-BE49-F238E27FC236}">
                <a16:creationId xmlns:a16="http://schemas.microsoft.com/office/drawing/2014/main" id="{A6DD6485-5259-4355-9544-F61DF6B08B71}"/>
              </a:ext>
            </a:extLst>
          </p:cNvPr>
          <p:cNvSpPr>
            <a:spLocks xmlns:a="http://schemas.openxmlformats.org/drawingml/2006/main" noGrp="1"/>
          </p:cNvSpPr>
          <p:nvPr/>
        </p:nvSpPr>
        <p:spPr>
          <a:xfrm xmlns:a="http://schemas.openxmlformats.org/drawingml/2006/main">
            <a:off x="9052560" y="1417320"/>
            <a:ext cx="2651760" cy="16459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69" name="Image 4">
            <a:extLst xmlns:a="http://schemas.openxmlformats.org/drawingml/2006/main">
              <a:ext uri="{FF2B5EF4-FFF2-40B4-BE49-F238E27FC236}">
                <a16:creationId xmlns:a16="http://schemas.microsoft.com/office/drawing/2014/main" id="{892DAD75-1325-4AC7-A222-53072FBD1A9A}"/>
              </a:ext>
            </a:extLst>
          </p:cNvPr>
          <p:cNvPicPr>
            <a:picLocks xmlns:a="http://schemas.openxmlformats.org/drawingml/2006/main" noChangeAspect="1"/>
          </p:cNvPicPr>
          <p:nvPr/>
        </p:nvPicPr>
        <p:blipFill>
          <a:blip xmlns:r="http://schemas.openxmlformats.org/officeDocument/2006/relationships" xmlns:a="http://schemas.openxmlformats.org/drawingml/2006/main" r:embed="R634d4c4e26054ca7"/>
          <a:stretch xmlns:a="http://schemas.openxmlformats.org/drawingml/2006/main">
            <a:fillRect l="0" t="0" r="0" b="0"/>
          </a:stretch>
        </p:blipFill>
        <p:spPr>
          <a:xfrm xmlns:a="http://schemas.openxmlformats.org/drawingml/2006/main">
            <a:off x="9235440" y="1691640"/>
            <a:ext cx="548640" cy="54864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F25F585E-1296-4F6A-9BB4-700A5AA75A06}"/>
              </a:ext>
            </a:extLst>
          </p:cNvPr>
          <p:cNvSpPr>
            <a:spLocks xmlns:a="http://schemas.openxmlformats.org/drawingml/2006/main" noGrp="1"/>
          </p:cNvSpPr>
          <p:nvPr/>
        </p:nvSpPr>
        <p:spPr>
          <a:xfrm xmlns:a="http://schemas.openxmlformats.org/drawingml/2006/main">
            <a:off x="9921240" y="155448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REGISTRY</a:t>
            </a:r>
            <a:endParaRPr sz="1300"/>
          </a:p>
        </p:txBody>
      </p:sp>
      <p:sp>
        <p:nvSpPr>
          <p:cNvPr id="26" name="Text 19">
            <a:extLst xmlns:a="http://schemas.openxmlformats.org/drawingml/2006/main">
              <a:ext uri="{FF2B5EF4-FFF2-40B4-BE49-F238E27FC236}">
                <a16:creationId xmlns:a16="http://schemas.microsoft.com/office/drawing/2014/main" id="{A3881EEF-B0F3-4311-863E-C8C10F8ECFE0}"/>
              </a:ext>
            </a:extLst>
          </p:cNvPr>
          <p:cNvSpPr>
            <a:spLocks xmlns:a="http://schemas.openxmlformats.org/drawingml/2006/main" noGrp="1"/>
          </p:cNvSpPr>
          <p:nvPr/>
        </p:nvSpPr>
        <p:spPr>
          <a:xfrm xmlns:a="http://schemas.openxmlformats.org/drawingml/2006/main">
            <a:off x="9921240" y="1920240"/>
            <a:ext cx="17373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FFFFFF"/>
                </a:solidFill>
                <a:latin typeface="Calibri"/>
                <a:ea typeface="Calibri"/>
                <a:cs typeface="Calibri"/>
              </a:rPr>
              <a:t>Image catalog</a:t>
            </a:r>
            <a:endParaRPr sz="1000"/>
          </a:p>
        </p:txBody>
      </p:sp>
      <p:sp>
        <p:nvSpPr>
          <p:cNvPr id="27" name="Text 20">
            <a:extLst xmlns:a="http://schemas.openxmlformats.org/drawingml/2006/main">
              <a:ext uri="{FF2B5EF4-FFF2-40B4-BE49-F238E27FC236}">
                <a16:creationId xmlns:a16="http://schemas.microsoft.com/office/drawing/2014/main" id="{70E50FC6-DC1A-4AF1-A1BF-96D54BAD076A}"/>
              </a:ext>
            </a:extLst>
          </p:cNvPr>
          <p:cNvSpPr>
            <a:spLocks xmlns:a="http://schemas.openxmlformats.org/drawingml/2006/main" noGrp="1"/>
          </p:cNvSpPr>
          <p:nvPr/>
        </p:nvSpPr>
        <p:spPr>
          <a:xfrm xmlns:a="http://schemas.openxmlformats.org/drawingml/2006/main">
            <a:off x="9235440" y="2240280"/>
            <a:ext cx="24688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FFFFFF"/>
                </a:solidFill>
                <a:latin typeface="Calibri"/>
                <a:ea typeface="Calibri"/>
                <a:cs typeface="Calibri"/>
              </a:rPr>
              <a:t>Docker Hub, ghcr.io, ECR, GCR, ACR</a:t>
            </a:r>
            <a:endParaRPr sz="1000"/>
          </a:p>
        </p:txBody>
      </p:sp>
      <p:sp>
        <p:nvSpPr>
          <p:cNvPr id="28" name="Shape 21">
            <a:extLst xmlns:a="http://schemas.openxmlformats.org/drawingml/2006/main">
              <a:ext uri="{FF2B5EF4-FFF2-40B4-BE49-F238E27FC236}">
                <a16:creationId xmlns:a16="http://schemas.microsoft.com/office/drawing/2014/main" id="{A8AE2580-7DA7-4AA1-87CA-7873670F4EE9}"/>
              </a:ext>
            </a:extLst>
          </p:cNvPr>
          <p:cNvSpPr>
            <a:spLocks xmlns:a="http://schemas.openxmlformats.org/drawingml/2006/main" noGrp="1"/>
          </p:cNvSpPr>
          <p:nvPr/>
        </p:nvSpPr>
        <p:spPr>
          <a:xfrm xmlns:a="http://schemas.openxmlformats.org/drawingml/2006/main">
            <a:off x="9052560" y="3291840"/>
            <a:ext cx="2651760" cy="1051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74" name="Image 5">
            <a:extLst xmlns:a="http://schemas.openxmlformats.org/drawingml/2006/main">
              <a:ext uri="{FF2B5EF4-FFF2-40B4-BE49-F238E27FC236}">
                <a16:creationId xmlns:a16="http://schemas.microsoft.com/office/drawing/2014/main" id="{336AACFC-1925-4A61-9A43-22F8B637CA2A}"/>
              </a:ext>
            </a:extLst>
          </p:cNvPr>
          <p:cNvPicPr>
            <a:picLocks xmlns:a="http://schemas.openxmlformats.org/drawingml/2006/main" noChangeAspect="1"/>
          </p:cNvPicPr>
          <p:nvPr/>
        </p:nvPicPr>
        <p:blipFill>
          <a:blip xmlns:r="http://schemas.openxmlformats.org/officeDocument/2006/relationships" xmlns:a="http://schemas.openxmlformats.org/drawingml/2006/main" r:embed="R80b7d610ecbd4609"/>
          <a:stretch xmlns:a="http://schemas.openxmlformats.org/drawingml/2006/main">
            <a:fillRect l="0" t="0" r="0" b="0"/>
          </a:stretch>
        </p:blipFill>
        <p:spPr>
          <a:xfrm xmlns:a="http://schemas.openxmlformats.org/drawingml/2006/main">
            <a:off x="9235440" y="3474720"/>
            <a:ext cx="457200" cy="457200"/>
          </a:xfrm>
          <a:prstGeom xmlns:a="http://schemas.openxmlformats.org/drawingml/2006/main" prst="rect">
            <a:avLst/>
          </a:prstGeom>
        </p:spPr>
      </p:pic>
      <p:sp>
        <p:nvSpPr>
          <p:cNvPr id="30" name="Text 22">
            <a:extLst xmlns:a="http://schemas.openxmlformats.org/drawingml/2006/main">
              <a:ext uri="{FF2B5EF4-FFF2-40B4-BE49-F238E27FC236}">
                <a16:creationId xmlns:a16="http://schemas.microsoft.com/office/drawing/2014/main" id="{384043A9-11A1-43C1-B2B6-336EBFCCB491}"/>
              </a:ext>
            </a:extLst>
          </p:cNvPr>
          <p:cNvSpPr>
            <a:spLocks xmlns:a="http://schemas.openxmlformats.org/drawingml/2006/main" noGrp="1"/>
          </p:cNvSpPr>
          <p:nvPr/>
        </p:nvSpPr>
        <p:spPr>
          <a:xfrm xmlns:a="http://schemas.openxmlformats.org/drawingml/2006/main">
            <a:off x="9829800" y="3337560"/>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IMAGES</a:t>
            </a:r>
            <a:endParaRPr sz="1200"/>
          </a:p>
        </p:txBody>
      </p:sp>
      <p:sp>
        <p:nvSpPr>
          <p:cNvPr id="31" name="Text 23">
            <a:extLst xmlns:a="http://schemas.openxmlformats.org/drawingml/2006/main">
              <a:ext uri="{FF2B5EF4-FFF2-40B4-BE49-F238E27FC236}">
                <a16:creationId xmlns:a16="http://schemas.microsoft.com/office/drawing/2014/main" id="{1B52149A-9AC1-44EC-B648-5DDE36DDD056}"/>
              </a:ext>
            </a:extLst>
          </p:cNvPr>
          <p:cNvSpPr>
            <a:spLocks xmlns:a="http://schemas.openxmlformats.org/drawingml/2006/main" noGrp="1"/>
          </p:cNvSpPr>
          <p:nvPr/>
        </p:nvSpPr>
        <p:spPr>
          <a:xfrm xmlns:a="http://schemas.openxmlformats.org/drawingml/2006/main">
            <a:off x="9235440" y="3749040"/>
            <a:ext cx="2468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Read-only template</a:t>
            </a:r>
            <a:endParaRPr sz="1000"/>
          </a:p>
        </p:txBody>
      </p:sp>
      <p:sp>
        <p:nvSpPr>
          <p:cNvPr id="32" name="Shape 24">
            <a:extLst xmlns:a="http://schemas.openxmlformats.org/drawingml/2006/main">
              <a:ext uri="{FF2B5EF4-FFF2-40B4-BE49-F238E27FC236}">
                <a16:creationId xmlns:a16="http://schemas.microsoft.com/office/drawing/2014/main" id="{78961107-A092-46D1-B31B-C49298B62044}"/>
              </a:ext>
            </a:extLst>
          </p:cNvPr>
          <p:cNvSpPr>
            <a:spLocks xmlns:a="http://schemas.openxmlformats.org/drawingml/2006/main" noGrp="1"/>
          </p:cNvSpPr>
          <p:nvPr/>
        </p:nvSpPr>
        <p:spPr>
          <a:xfrm xmlns:a="http://schemas.openxmlformats.org/drawingml/2006/main">
            <a:off x="9052560" y="4480560"/>
            <a:ext cx="2651760" cy="1051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78" name="Image 6">
            <a:extLst xmlns:a="http://schemas.openxmlformats.org/drawingml/2006/main">
              <a:ext uri="{FF2B5EF4-FFF2-40B4-BE49-F238E27FC236}">
                <a16:creationId xmlns:a16="http://schemas.microsoft.com/office/drawing/2014/main" id="{1A1F3407-786F-4DAC-A22B-F93159AE31EA}"/>
              </a:ext>
            </a:extLst>
          </p:cNvPr>
          <p:cNvPicPr>
            <a:picLocks xmlns:a="http://schemas.openxmlformats.org/drawingml/2006/main" noChangeAspect="1"/>
          </p:cNvPicPr>
          <p:nvPr/>
        </p:nvPicPr>
        <p:blipFill>
          <a:blip xmlns:r="http://schemas.openxmlformats.org/officeDocument/2006/relationships" xmlns:a="http://schemas.openxmlformats.org/drawingml/2006/main" r:embed="R0ca1907ddbb34915"/>
          <a:stretch xmlns:a="http://schemas.openxmlformats.org/drawingml/2006/main">
            <a:fillRect l="0" t="0" r="0" b="0"/>
          </a:stretch>
        </p:blipFill>
        <p:spPr>
          <a:xfrm xmlns:a="http://schemas.openxmlformats.org/drawingml/2006/main">
            <a:off x="9235440" y="4663440"/>
            <a:ext cx="457200" cy="457200"/>
          </a:xfrm>
          <a:prstGeom xmlns:a="http://schemas.openxmlformats.org/drawingml/2006/main" prst="rect">
            <a:avLst/>
          </a:prstGeom>
        </p:spPr>
      </p:pic>
      <p:sp>
        <p:nvSpPr>
          <p:cNvPr id="34" name="Text 25">
            <a:extLst xmlns:a="http://schemas.openxmlformats.org/drawingml/2006/main">
              <a:ext uri="{FF2B5EF4-FFF2-40B4-BE49-F238E27FC236}">
                <a16:creationId xmlns:a16="http://schemas.microsoft.com/office/drawing/2014/main" id="{B88B08AD-5A69-4D4A-BFA0-B283565071B9}"/>
              </a:ext>
            </a:extLst>
          </p:cNvPr>
          <p:cNvSpPr>
            <a:spLocks xmlns:a="http://schemas.openxmlformats.org/drawingml/2006/main" noGrp="1"/>
          </p:cNvSpPr>
          <p:nvPr/>
        </p:nvSpPr>
        <p:spPr>
          <a:xfrm xmlns:a="http://schemas.openxmlformats.org/drawingml/2006/main">
            <a:off x="9829800" y="4526280"/>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CONTAINERS</a:t>
            </a:r>
            <a:endParaRPr sz="1200"/>
          </a:p>
        </p:txBody>
      </p:sp>
      <p:sp>
        <p:nvSpPr>
          <p:cNvPr id="35" name="Text 26">
            <a:extLst xmlns:a="http://schemas.openxmlformats.org/drawingml/2006/main">
              <a:ext uri="{FF2B5EF4-FFF2-40B4-BE49-F238E27FC236}">
                <a16:creationId xmlns:a16="http://schemas.microsoft.com/office/drawing/2014/main" id="{F29A13BA-B70D-40DD-97A8-0CBB4328017F}"/>
              </a:ext>
            </a:extLst>
          </p:cNvPr>
          <p:cNvSpPr>
            <a:spLocks xmlns:a="http://schemas.openxmlformats.org/drawingml/2006/main" noGrp="1"/>
          </p:cNvSpPr>
          <p:nvPr/>
        </p:nvSpPr>
        <p:spPr>
          <a:xfrm xmlns:a="http://schemas.openxmlformats.org/drawingml/2006/main">
            <a:off x="9235440" y="4937760"/>
            <a:ext cx="2468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Running instance dari image</a:t>
            </a:r>
            <a:endParaRPr sz="1000"/>
          </a:p>
        </p:txBody>
      </p:sp>
      <p:sp>
        <p:nvSpPr>
          <p:cNvPr id="36" name="Shape 27">
            <a:extLst xmlns:a="http://schemas.openxmlformats.org/drawingml/2006/main">
              <a:ext uri="{FF2B5EF4-FFF2-40B4-BE49-F238E27FC236}">
                <a16:creationId xmlns:a16="http://schemas.microsoft.com/office/drawing/2014/main" id="{834FB5B6-FD82-4D60-92E6-7360EEF3D491}"/>
              </a:ext>
            </a:extLst>
          </p:cNvPr>
          <p:cNvSpPr>
            <a:spLocks xmlns:a="http://schemas.openxmlformats.org/drawingml/2006/main" noGrp="1"/>
          </p:cNvSpPr>
          <p:nvPr/>
        </p:nvSpPr>
        <p:spPr>
          <a:xfrm xmlns:a="http://schemas.openxmlformats.org/drawingml/2006/main">
            <a:off x="457200" y="3200400"/>
            <a:ext cx="3657600" cy="23317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7" name="Text 28">
            <a:extLst xmlns:a="http://schemas.openxmlformats.org/drawingml/2006/main">
              <a:ext uri="{FF2B5EF4-FFF2-40B4-BE49-F238E27FC236}">
                <a16:creationId xmlns:a16="http://schemas.microsoft.com/office/drawing/2014/main" id="{BBA4CC2F-AEE3-49E9-B7FF-B2B0FFE99DCC}"/>
              </a:ext>
            </a:extLst>
          </p:cNvPr>
          <p:cNvSpPr>
            <a:spLocks xmlns:a="http://schemas.openxmlformats.org/drawingml/2006/main" noGrp="1"/>
          </p:cNvSpPr>
          <p:nvPr/>
        </p:nvSpPr>
        <p:spPr>
          <a:xfrm xmlns:a="http://schemas.openxmlformats.org/drawingml/2006/main">
            <a:off x="640080" y="3291840"/>
            <a:ext cx="32918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F37021"/>
                </a:solidFill>
                <a:latin typeface="Calibri"/>
                <a:ea typeface="Calibri"/>
                <a:cs typeface="Calibri"/>
              </a:rPr>
              <a:t>Workflow Umum:</a:t>
            </a:r>
            <a:endParaRPr sz="1200"/>
          </a:p>
        </p:txBody>
      </p:sp>
      <p:sp>
        <p:nvSpPr>
          <p:cNvPr id="38" name="Text 29">
            <a:extLst xmlns:a="http://schemas.openxmlformats.org/drawingml/2006/main">
              <a:ext uri="{FF2B5EF4-FFF2-40B4-BE49-F238E27FC236}">
                <a16:creationId xmlns:a16="http://schemas.microsoft.com/office/drawing/2014/main" id="{8C464413-802E-40EE-A820-5BA991BD244D}"/>
              </a:ext>
            </a:extLst>
          </p:cNvPr>
          <p:cNvSpPr>
            <a:spLocks xmlns:a="http://schemas.openxmlformats.org/drawingml/2006/main" noGrp="1"/>
          </p:cNvSpPr>
          <p:nvPr/>
        </p:nvSpPr>
        <p:spPr>
          <a:xfrm xmlns:a="http://schemas.openxmlformats.org/drawingml/2006/main">
            <a:off x="640080" y="3611880"/>
            <a:ext cx="3291840" cy="1874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400"/>
              </a:spcAft>
              <a:buNone/>
            </a:pPr>
            <a:r>
              <a:rPr sz="1050">
                <a:solidFill>
                  <a:srgbClr val="1E293B"/>
                </a:solidFill>
                <a:latin typeface="Calibri"/>
                <a:ea typeface="Calibri"/>
                <a:cs typeface="Calibri"/>
              </a:rPr>
              <a:t>1. CLI: docker pull nginx</a:t>
            </a:r>
            <a:endParaRPr sz="1050"/>
          </a:p>
          <a:p xmlns:a="http://schemas.openxmlformats.org/drawingml/2006/main">
            <a:pPr marL="0" indent="0">
              <a:spcAft>
                <a:spcPts val="400"/>
              </a:spcAft>
              <a:buNone/>
            </a:pPr>
            <a:r>
              <a:rPr sz="1050">
                <a:solidFill>
                  <a:srgbClr val="1E293B"/>
                </a:solidFill>
                <a:latin typeface="Calibri"/>
                <a:ea typeface="Calibri"/>
                <a:cs typeface="Calibri"/>
              </a:rPr>
              <a:t>2. Daemon download image dari Docker Hub</a:t>
            </a:r>
            <a:endParaRPr sz="1050"/>
          </a:p>
          <a:p xmlns:a="http://schemas.openxmlformats.org/drawingml/2006/main">
            <a:pPr marL="0" indent="0">
              <a:spcAft>
                <a:spcPts val="400"/>
              </a:spcAft>
              <a:buNone/>
            </a:pPr>
            <a:r>
              <a:rPr sz="1050">
                <a:solidFill>
                  <a:srgbClr val="1E293B"/>
                </a:solidFill>
                <a:latin typeface="Calibri"/>
                <a:ea typeface="Calibri"/>
                <a:cs typeface="Calibri"/>
              </a:rPr>
              <a:t>3. CLI: docker run nginx</a:t>
            </a:r>
            <a:endParaRPr sz="1050"/>
          </a:p>
          <a:p xmlns:a="http://schemas.openxmlformats.org/drawingml/2006/main">
            <a:pPr marL="0" indent="0">
              <a:spcAft>
                <a:spcPts val="400"/>
              </a:spcAft>
              <a:buNone/>
            </a:pPr>
            <a:r>
              <a:rPr sz="1050">
                <a:solidFill>
                  <a:srgbClr val="1E293B"/>
                </a:solidFill>
                <a:latin typeface="Calibri"/>
                <a:ea typeface="Calibri"/>
                <a:cs typeface="Calibri"/>
              </a:rPr>
              <a:t>4. Daemon spawn container dari image</a:t>
            </a:r>
            <a:endParaRPr sz="1050"/>
          </a:p>
          <a:p xmlns:a="http://schemas.openxmlformats.org/drawingml/2006/main">
            <a:pPr marL="0" indent="0">
              <a:spcAft>
                <a:spcPts val="400"/>
              </a:spcAft>
              <a:buNone/>
            </a:pPr>
            <a:r>
              <a:rPr sz="1050">
                <a:solidFill>
                  <a:srgbClr val="1E293B"/>
                </a:solidFill>
                <a:latin typeface="Calibri"/>
                <a:ea typeface="Calibri"/>
                <a:cs typeface="Calibri"/>
              </a:rPr>
              <a:t>5. Container jalan, isolated process</a:t>
            </a:r>
            <a:endParaRPr sz="1050"/>
          </a:p>
        </p:txBody>
      </p:sp>
      <p:sp>
        <p:nvSpPr>
          <p:cNvPr id="39" name="Text 30">
            <a:extLst xmlns:a="http://schemas.openxmlformats.org/drawingml/2006/main">
              <a:ext uri="{FF2B5EF4-FFF2-40B4-BE49-F238E27FC236}">
                <a16:creationId xmlns:a16="http://schemas.microsoft.com/office/drawing/2014/main" id="{6F914771-B5EF-44D0-9F5E-0CA8939FC5D6}"/>
              </a:ext>
            </a:extLst>
          </p:cNvPr>
          <p:cNvSpPr>
            <a:spLocks xmlns:a="http://schemas.openxmlformats.org/drawingml/2006/main" noGrp="1"/>
          </p:cNvSpPr>
          <p:nvPr/>
        </p:nvSpPr>
        <p:spPr>
          <a:xfrm xmlns:a="http://schemas.openxmlformats.org/drawingml/2006/main">
            <a:off x="457200" y="585216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Penting: </a:t>
            </a:r>
            <a:r>
              <a:rPr sz="1100" i="1">
                <a:solidFill>
                  <a:srgbClr val="1E293B"/>
                </a:solidFill>
                <a:latin typeface="Calibri"/>
                <a:ea typeface="Calibri"/>
                <a:cs typeface="Calibri"/>
              </a:rPr>
              <a:t>image = blueprint (read-only), container = running instance dari image (mirip class vs object).</a:t>
            </a:r>
            <a:endParaRPr sz="1100"/>
          </a:p>
        </p:txBody>
      </p:sp>
    </p:spTree>
    <p:extLst>
      <p:ext uri="{BB962C8B-B14F-4D97-AF65-F5344CB8AC3E}">
        <p14:creationId xmlns:p14="http://schemas.microsoft.com/office/powerpoint/2010/main" val="8374817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1D7A7F-3BA9-4779-B92D-7FB2CA32E40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B8A0A6BD-BFF3-4B58-BB6A-4E21E12CD05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49D6D923-BEEC-4124-930D-232BB9D5391C}"/>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7" name="Image 0">
            <a:extLst xmlns:a="http://schemas.openxmlformats.org/drawingml/2006/main">
              <a:ext uri="{FF2B5EF4-FFF2-40B4-BE49-F238E27FC236}">
                <a16:creationId xmlns:a16="http://schemas.microsoft.com/office/drawing/2014/main" id="{19979AB1-FABC-400A-8A7C-6CC9FC398F50}"/>
              </a:ext>
            </a:extLst>
          </p:cNvPr>
          <p:cNvPicPr>
            <a:picLocks xmlns:a="http://schemas.openxmlformats.org/drawingml/2006/main" noChangeAspect="1"/>
          </p:cNvPicPr>
          <p:nvPr/>
        </p:nvPicPr>
        <p:blipFill>
          <a:blip xmlns:r="http://schemas.openxmlformats.org/officeDocument/2006/relationships" xmlns:a="http://schemas.openxmlformats.org/drawingml/2006/main" r:embed="R2fe14225dd854a1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8" name="Image 1">
            <a:extLst xmlns:a="http://schemas.openxmlformats.org/drawingml/2006/main">
              <a:ext uri="{FF2B5EF4-FFF2-40B4-BE49-F238E27FC236}">
                <a16:creationId xmlns:a16="http://schemas.microsoft.com/office/drawing/2014/main" id="{19D359ED-1CF2-486E-9CF2-2D814180DA29}"/>
              </a:ext>
            </a:extLst>
          </p:cNvPr>
          <p:cNvPicPr>
            <a:picLocks xmlns:a="http://schemas.openxmlformats.org/drawingml/2006/main" noChangeAspect="1"/>
          </p:cNvPicPr>
          <p:nvPr/>
        </p:nvPicPr>
        <p:blipFill>
          <a:blip xmlns:r="http://schemas.openxmlformats.org/officeDocument/2006/relationships" xmlns:a="http://schemas.openxmlformats.org/drawingml/2006/main" r:embed="Rd95b8360a8494e5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F4330F18-7C98-4DF0-9709-F19A1CA3ABC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5DF45A7-10D1-4564-A556-1CA6284F80A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Image vs Container</a:t>
            </a:r>
            <a:endParaRPr sz="2200"/>
          </a:p>
        </p:txBody>
      </p:sp>
      <p:sp>
        <p:nvSpPr>
          <p:cNvPr id="9" name="Text 5">
            <a:extLst xmlns:a="http://schemas.openxmlformats.org/drawingml/2006/main">
              <a:ext uri="{FF2B5EF4-FFF2-40B4-BE49-F238E27FC236}">
                <a16:creationId xmlns:a16="http://schemas.microsoft.com/office/drawing/2014/main" id="{45FFA382-36EF-4EF9-8F89-EA8673382541}"/>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Mirip dengan class vs object di OOP</a:t>
            </a:r>
            <a:endParaRPr sz="1200"/>
          </a:p>
        </p:txBody>
      </p:sp>
      <p:sp>
        <p:nvSpPr>
          <p:cNvPr id="10" name="Shape 6">
            <a:extLst xmlns:a="http://schemas.openxmlformats.org/drawingml/2006/main">
              <a:ext uri="{FF2B5EF4-FFF2-40B4-BE49-F238E27FC236}">
                <a16:creationId xmlns:a16="http://schemas.microsoft.com/office/drawing/2014/main" id="{CA1EC9F4-716F-4EE1-8824-CF35B43E16AF}"/>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076A5A32-9ACA-4220-913C-0F2D11ABE99A}"/>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pic>
        <p:nvPicPr>
          <p:cNvPr id="44" name="Image 2">
            <a:extLst xmlns:a="http://schemas.openxmlformats.org/drawingml/2006/main">
              <a:ext uri="{FF2B5EF4-FFF2-40B4-BE49-F238E27FC236}">
                <a16:creationId xmlns:a16="http://schemas.microsoft.com/office/drawing/2014/main" id="{B94BA874-DA30-4CA0-9EF2-21D4FA654756}"/>
              </a:ext>
            </a:extLst>
          </p:cNvPr>
          <p:cNvPicPr>
            <a:picLocks xmlns:a="http://schemas.openxmlformats.org/drawingml/2006/main" noChangeAspect="1"/>
          </p:cNvPicPr>
          <p:nvPr/>
        </p:nvPicPr>
        <p:blipFill>
          <a:blip xmlns:r="http://schemas.openxmlformats.org/officeDocument/2006/relationships" xmlns:a="http://schemas.openxmlformats.org/drawingml/2006/main" r:embed="R66ec7753c205460e"/>
          <a:stretch xmlns:a="http://schemas.openxmlformats.org/drawingml/2006/main">
            <a:fillRect l="0" t="0" r="0" b="0"/>
          </a:stretch>
        </p:blipFill>
        <p:spPr>
          <a:xfrm xmlns:a="http://schemas.openxmlformats.org/drawingml/2006/main">
            <a:off x="640080" y="1554480"/>
            <a:ext cx="365760" cy="36576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C694D9BE-A40D-403F-A6FD-66B88D709807}"/>
              </a:ext>
            </a:extLst>
          </p:cNvPr>
          <p:cNvSpPr>
            <a:spLocks xmlns:a="http://schemas.openxmlformats.org/drawingml/2006/main" noGrp="1"/>
          </p:cNvSpPr>
          <p:nvPr/>
        </p:nvSpPr>
        <p:spPr>
          <a:xfrm xmlns:a="http://schemas.openxmlformats.org/drawingml/2006/main">
            <a:off x="1143000" y="1417320"/>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IMAGE</a:t>
            </a:r>
            <a:endParaRPr sz="1800"/>
          </a:p>
        </p:txBody>
      </p:sp>
      <p:sp>
        <p:nvSpPr>
          <p:cNvPr id="14" name="Text 9">
            <a:extLst xmlns:a="http://schemas.openxmlformats.org/drawingml/2006/main">
              <a:ext uri="{FF2B5EF4-FFF2-40B4-BE49-F238E27FC236}">
                <a16:creationId xmlns:a16="http://schemas.microsoft.com/office/drawing/2014/main" id="{D32B20C1-2497-4E99-B0CA-F35CAFA2B7E5}"/>
              </a:ext>
            </a:extLst>
          </p:cNvPr>
          <p:cNvSpPr>
            <a:spLocks xmlns:a="http://schemas.openxmlformats.org/drawingml/2006/main" noGrp="1"/>
          </p:cNvSpPr>
          <p:nvPr/>
        </p:nvSpPr>
        <p:spPr>
          <a:xfrm xmlns:a="http://schemas.openxmlformats.org/drawingml/2006/main">
            <a:off x="1143000" y="1417320"/>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E0B2"/>
                </a:solidFill>
                <a:latin typeface="Calibri"/>
                <a:ea typeface="Calibri"/>
                <a:cs typeface="Calibri"/>
              </a:rPr>
              <a:t>Read-only template</a:t>
            </a:r>
            <a:endParaRPr sz="1100"/>
          </a:p>
        </p:txBody>
      </p:sp>
      <p:sp>
        <p:nvSpPr>
          <p:cNvPr id="15" name="Text 10">
            <a:extLst xmlns:a="http://schemas.openxmlformats.org/drawingml/2006/main">
              <a:ext uri="{FF2B5EF4-FFF2-40B4-BE49-F238E27FC236}">
                <a16:creationId xmlns:a16="http://schemas.microsoft.com/office/drawing/2014/main" id="{E0B70FEE-7DDC-4786-9492-98558A170518}"/>
              </a:ext>
            </a:extLst>
          </p:cNvPr>
          <p:cNvSpPr>
            <a:spLocks xmlns:a="http://schemas.openxmlformats.org/drawingml/2006/main" noGrp="1"/>
          </p:cNvSpPr>
          <p:nvPr/>
        </p:nvSpPr>
        <p:spPr>
          <a:xfrm xmlns:a="http://schemas.openxmlformats.org/drawingml/2006/main">
            <a:off x="640080" y="2194560"/>
            <a:ext cx="52120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Snapshot filesystem berisi: aplikasi + dependencies + runtime + system libraries. Bisa di-share ke orang lain via registry.</a:t>
            </a:r>
            <a:endParaRPr sz="1100"/>
          </a:p>
        </p:txBody>
      </p:sp>
      <p:sp>
        <p:nvSpPr>
          <p:cNvPr id="16" name="Text 11">
            <a:extLst xmlns:a="http://schemas.openxmlformats.org/drawingml/2006/main">
              <a:ext uri="{FF2B5EF4-FFF2-40B4-BE49-F238E27FC236}">
                <a16:creationId xmlns:a16="http://schemas.microsoft.com/office/drawing/2014/main" id="{08DC9EAF-C885-4092-B96B-9A4CAA1B0B35}"/>
              </a:ext>
            </a:extLst>
          </p:cNvPr>
          <p:cNvSpPr>
            <a:spLocks xmlns:a="http://schemas.openxmlformats.org/drawingml/2006/main" noGrp="1"/>
          </p:cNvSpPr>
          <p:nvPr/>
        </p:nvSpPr>
        <p:spPr>
          <a:xfrm xmlns:a="http://schemas.openxmlformats.org/drawingml/2006/main">
            <a:off x="640080" y="3063240"/>
            <a:ext cx="5212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F37021"/>
                </a:solidFill>
                <a:latin typeface="Calibri"/>
                <a:ea typeface="Calibri"/>
                <a:cs typeface="Calibri"/>
              </a:rPr>
              <a:t>Karakteristik:</a:t>
            </a:r>
            <a:endParaRPr sz="1100"/>
          </a:p>
        </p:txBody>
      </p:sp>
      <p:sp>
        <p:nvSpPr>
          <p:cNvPr id="17" name="Text 12">
            <a:extLst xmlns:a="http://schemas.openxmlformats.org/drawingml/2006/main">
              <a:ext uri="{FF2B5EF4-FFF2-40B4-BE49-F238E27FC236}">
                <a16:creationId xmlns:a16="http://schemas.microsoft.com/office/drawing/2014/main" id="{9209A4F0-579A-4580-ACCD-1FD638111B79}"/>
              </a:ext>
            </a:extLst>
          </p:cNvPr>
          <p:cNvSpPr>
            <a:spLocks xmlns:a="http://schemas.openxmlformats.org/drawingml/2006/main" noGrp="1"/>
          </p:cNvSpPr>
          <p:nvPr/>
        </p:nvSpPr>
        <p:spPr>
          <a:xfrm xmlns:a="http://schemas.openxmlformats.org/drawingml/2006/main">
            <a:off x="777240" y="3383280"/>
            <a:ext cx="502920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Immutable - tidak berubah setelah dibuat</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Layered - dibangun dari banyak layer (efisien storage)</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Identified by name:tag (nginx:1.27)</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Built from Dockerfile</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Pull dari registry (Docker Hub default)</a:t>
            </a:r>
            <a:endParaRPr sz="1100"/>
          </a:p>
        </p:txBody>
      </p:sp>
      <p:sp>
        <p:nvSpPr>
          <p:cNvPr id="18" name="Shape 13">
            <a:extLst xmlns:a="http://schemas.openxmlformats.org/drawingml/2006/main">
              <a:ext uri="{FF2B5EF4-FFF2-40B4-BE49-F238E27FC236}">
                <a16:creationId xmlns:a16="http://schemas.microsoft.com/office/drawing/2014/main" id="{7461ADED-56B6-4DF7-B781-9671BB1FC2D6}"/>
              </a:ext>
            </a:extLst>
          </p:cNvPr>
          <p:cNvSpPr>
            <a:spLocks xmlns:a="http://schemas.openxmlformats.org/drawingml/2006/main" noGrp="1"/>
          </p:cNvSpPr>
          <p:nvPr/>
        </p:nvSpPr>
        <p:spPr>
          <a:xfrm xmlns:a="http://schemas.openxmlformats.org/drawingml/2006/main">
            <a:off x="640080" y="5303520"/>
            <a:ext cx="5212080" cy="7772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9" name="Text 14">
            <a:extLst xmlns:a="http://schemas.openxmlformats.org/drawingml/2006/main">
              <a:ext uri="{FF2B5EF4-FFF2-40B4-BE49-F238E27FC236}">
                <a16:creationId xmlns:a16="http://schemas.microsoft.com/office/drawing/2014/main" id="{684B0EFD-5FAF-4B0A-8691-9F231927B8DF}"/>
              </a:ext>
            </a:extLst>
          </p:cNvPr>
          <p:cNvSpPr>
            <a:spLocks xmlns:a="http://schemas.openxmlformats.org/drawingml/2006/main" noGrp="1"/>
          </p:cNvSpPr>
          <p:nvPr/>
        </p:nvSpPr>
        <p:spPr>
          <a:xfrm xmlns:a="http://schemas.openxmlformats.org/drawingml/2006/main">
            <a:off x="777240" y="5349240"/>
            <a:ext cx="49377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10B981"/>
                </a:solidFill>
                <a:latin typeface="Consolas"/>
                <a:ea typeface="Consolas"/>
                <a:cs typeface="Consolas"/>
              </a:rPr>
              <a:t>$ </a:t>
            </a:r>
            <a:r>
              <a:rPr sz="1000">
                <a:solidFill>
                  <a:srgbClr val="E2E8F0"/>
                </a:solidFill>
                <a:latin typeface="Consolas"/>
                <a:ea typeface="Consolas"/>
                <a:cs typeface="Consolas"/>
              </a:rPr>
              <a:t>docker images</a:t>
            </a:r>
            <a:endParaRPr sz="1000"/>
          </a:p>
          <a:p xmlns:a="http://schemas.openxmlformats.org/drawingml/2006/main">
            <a:pPr marL="0" indent="0">
              <a:buNone/>
            </a:pPr>
            <a:r>
              <a:rPr sz="1000">
                <a:solidFill>
                  <a:srgbClr val="94A3B8"/>
                </a:solidFill>
                <a:latin typeface="Consolas"/>
                <a:ea typeface="Consolas"/>
                <a:cs typeface="Consolas"/>
              </a:rPr>
              <a:t>REPOSITORY   TAG     IMAGE ID     SIZE</a:t>
            </a:r>
            <a:endParaRPr sz="1000"/>
          </a:p>
          <a:p xmlns:a="http://schemas.openxmlformats.org/drawingml/2006/main">
            <a:pPr marL="0" indent="0">
              <a:buNone/>
            </a:pPr>
            <a:r>
              <a:rPr sz="1000">
                <a:solidFill>
                  <a:srgbClr val="E2E8F0"/>
                </a:solidFill>
                <a:latin typeface="Consolas"/>
                <a:ea typeface="Consolas"/>
                <a:cs typeface="Consolas"/>
              </a:rPr>
              <a:t>nginx        1.27    a8758716bb6  187MB</a:t>
            </a:r>
            <a:endParaRPr sz="1000"/>
          </a:p>
        </p:txBody>
      </p:sp>
      <p:sp>
        <p:nvSpPr>
          <p:cNvPr id="20" name="Shape 15">
            <a:extLst xmlns:a="http://schemas.openxmlformats.org/drawingml/2006/main">
              <a:ext uri="{FF2B5EF4-FFF2-40B4-BE49-F238E27FC236}">
                <a16:creationId xmlns:a16="http://schemas.microsoft.com/office/drawing/2014/main" id="{71C8C000-4E54-4DC0-8053-542333916035}"/>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1" name="Shape 16">
            <a:extLst xmlns:a="http://schemas.openxmlformats.org/drawingml/2006/main">
              <a:ext uri="{FF2B5EF4-FFF2-40B4-BE49-F238E27FC236}">
                <a16:creationId xmlns:a16="http://schemas.microsoft.com/office/drawing/2014/main" id="{E6E65407-9C08-43A0-819A-04E8A7E33498}"/>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4" name="Image 3">
            <a:extLst xmlns:a="http://schemas.openxmlformats.org/drawingml/2006/main">
              <a:ext uri="{FF2B5EF4-FFF2-40B4-BE49-F238E27FC236}">
                <a16:creationId xmlns:a16="http://schemas.microsoft.com/office/drawing/2014/main" id="{5B417E7F-0AA6-4AAE-83A5-0E5C67F70FEB}"/>
              </a:ext>
            </a:extLst>
          </p:cNvPr>
          <p:cNvPicPr>
            <a:picLocks xmlns:a="http://schemas.openxmlformats.org/drawingml/2006/main" noChangeAspect="1"/>
          </p:cNvPicPr>
          <p:nvPr/>
        </p:nvPicPr>
        <p:blipFill>
          <a:blip xmlns:r="http://schemas.openxmlformats.org/officeDocument/2006/relationships" xmlns:a="http://schemas.openxmlformats.org/drawingml/2006/main" r:embed="Refd15b4b90cb463b"/>
          <a:stretch xmlns:a="http://schemas.openxmlformats.org/drawingml/2006/main">
            <a:fillRect l="0" t="0" r="0" b="0"/>
          </a:stretch>
        </p:blipFill>
        <p:spPr>
          <a:xfrm xmlns:a="http://schemas.openxmlformats.org/drawingml/2006/main">
            <a:off x="6400800" y="1554480"/>
            <a:ext cx="365760" cy="36576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FD81238B-1D94-4414-9727-5ABB54A2232D}"/>
              </a:ext>
            </a:extLst>
          </p:cNvPr>
          <p:cNvSpPr>
            <a:spLocks xmlns:a="http://schemas.openxmlformats.org/drawingml/2006/main" noGrp="1"/>
          </p:cNvSpPr>
          <p:nvPr/>
        </p:nvSpPr>
        <p:spPr>
          <a:xfrm xmlns:a="http://schemas.openxmlformats.org/drawingml/2006/main">
            <a:off x="6903720" y="1417320"/>
            <a:ext cx="4663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CONTAINER</a:t>
            </a:r>
            <a:endParaRPr sz="1800"/>
          </a:p>
        </p:txBody>
      </p:sp>
      <p:sp>
        <p:nvSpPr>
          <p:cNvPr id="24" name="Text 18">
            <a:extLst xmlns:a="http://schemas.openxmlformats.org/drawingml/2006/main">
              <a:ext uri="{FF2B5EF4-FFF2-40B4-BE49-F238E27FC236}">
                <a16:creationId xmlns:a16="http://schemas.microsoft.com/office/drawing/2014/main" id="{478809A0-DF8E-4DB3-A205-6191ED85115A}"/>
              </a:ext>
            </a:extLst>
          </p:cNvPr>
          <p:cNvSpPr>
            <a:spLocks xmlns:a="http://schemas.openxmlformats.org/drawingml/2006/main" noGrp="1"/>
          </p:cNvSpPr>
          <p:nvPr/>
        </p:nvSpPr>
        <p:spPr>
          <a:xfrm xmlns:a="http://schemas.openxmlformats.org/drawingml/2006/main">
            <a:off x="6903720" y="1417320"/>
            <a:ext cx="4663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E0B2"/>
                </a:solidFill>
                <a:latin typeface="Calibri"/>
                <a:ea typeface="Calibri"/>
                <a:cs typeface="Calibri"/>
              </a:rPr>
              <a:t>Running instance</a:t>
            </a:r>
            <a:endParaRPr sz="1100"/>
          </a:p>
        </p:txBody>
      </p:sp>
      <p:sp>
        <p:nvSpPr>
          <p:cNvPr id="25" name="Text 19">
            <a:extLst xmlns:a="http://schemas.openxmlformats.org/drawingml/2006/main">
              <a:ext uri="{FF2B5EF4-FFF2-40B4-BE49-F238E27FC236}">
                <a16:creationId xmlns:a16="http://schemas.microsoft.com/office/drawing/2014/main" id="{1D102A19-ADA7-4F61-8A1C-883F7597C3B4}"/>
              </a:ext>
            </a:extLst>
          </p:cNvPr>
          <p:cNvSpPr>
            <a:spLocks xmlns:a="http://schemas.openxmlformats.org/drawingml/2006/main" noGrp="1"/>
          </p:cNvSpPr>
          <p:nvPr/>
        </p:nvSpPr>
        <p:spPr>
          <a:xfrm xmlns:a="http://schemas.openxmlformats.org/drawingml/2006/main">
            <a:off x="6400800" y="2194560"/>
            <a:ext cx="512064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i="1">
                <a:solidFill>
                  <a:srgbClr val="1E293B"/>
                </a:solidFill>
                <a:latin typeface="Calibri"/>
                <a:ea typeface="Calibri"/>
                <a:cs typeface="Calibri"/>
              </a:rPr>
              <a:t>Process aktif yang dibuat dari image. Bisa banyak container dari image yang sama. Punya writable layer di atas image-nya.</a:t>
            </a:r>
            <a:endParaRPr sz="1100"/>
          </a:p>
        </p:txBody>
      </p:sp>
      <p:sp>
        <p:nvSpPr>
          <p:cNvPr id="26" name="Text 20">
            <a:extLst xmlns:a="http://schemas.openxmlformats.org/drawingml/2006/main">
              <a:ext uri="{FF2B5EF4-FFF2-40B4-BE49-F238E27FC236}">
                <a16:creationId xmlns:a16="http://schemas.microsoft.com/office/drawing/2014/main" id="{6265E00F-C78A-4EA0-98F6-126C843AE849}"/>
              </a:ext>
            </a:extLst>
          </p:cNvPr>
          <p:cNvSpPr>
            <a:spLocks xmlns:a="http://schemas.openxmlformats.org/drawingml/2006/main" noGrp="1"/>
          </p:cNvSpPr>
          <p:nvPr/>
        </p:nvSpPr>
        <p:spPr>
          <a:xfrm xmlns:a="http://schemas.openxmlformats.org/drawingml/2006/main">
            <a:off x="6400800" y="3063240"/>
            <a:ext cx="5120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F37021"/>
                </a:solidFill>
                <a:latin typeface="Calibri"/>
                <a:ea typeface="Calibri"/>
                <a:cs typeface="Calibri"/>
              </a:rPr>
              <a:t>Karakteristik:</a:t>
            </a:r>
            <a:endParaRPr sz="1100"/>
          </a:p>
        </p:txBody>
      </p:sp>
      <p:sp>
        <p:nvSpPr>
          <p:cNvPr id="27" name="Text 21">
            <a:extLst xmlns:a="http://schemas.openxmlformats.org/drawingml/2006/main">
              <a:ext uri="{FF2B5EF4-FFF2-40B4-BE49-F238E27FC236}">
                <a16:creationId xmlns:a16="http://schemas.microsoft.com/office/drawing/2014/main" id="{BC09DAF9-5E28-4CA8-B63A-14DA53A2F6B3}"/>
              </a:ext>
            </a:extLst>
          </p:cNvPr>
          <p:cNvSpPr>
            <a:spLocks xmlns:a="http://schemas.openxmlformats.org/drawingml/2006/main" noGrp="1"/>
          </p:cNvSpPr>
          <p:nvPr/>
        </p:nvSpPr>
        <p:spPr>
          <a:xfrm xmlns:a="http://schemas.openxmlformats.org/drawingml/2006/main">
            <a:off x="6537960" y="3383280"/>
            <a:ext cx="493776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100">
                <a:solidFill>
                  <a:srgbClr val="1E293B"/>
                </a:solidFill>
                <a:latin typeface="Calibri"/>
                <a:ea typeface="Calibri"/>
                <a:cs typeface="Calibri"/>
              </a:rPr>
              <a:t>Stateful - ada filesystem layer yang bisa write</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Ephemeral - data hilang kalau container dihapus</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Identified by container ID (e.g. a8d3b2)</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Lifecycle: create -&gt; start -&gt; stop -&gt; rm</a:t>
            </a:r>
            <a:endParaRPr sz="1100"/>
          </a:p>
          <a:p xmlns:a="http://schemas.openxmlformats.org/drawingml/2006/main">
            <a:pPr marL="342900" indent="-342900">
              <a:spcAft>
                <a:spcPts val="300"/>
              </a:spcAft>
              <a:buSzPct val="100000"/>
              <a:buChar char="▸"/>
            </a:pPr>
            <a:r>
              <a:rPr sz="1100">
                <a:solidFill>
                  <a:srgbClr val="1E293B"/>
                </a:solidFill>
                <a:latin typeface="Calibri"/>
                <a:ea typeface="Calibri"/>
                <a:cs typeface="Calibri"/>
              </a:rPr>
              <a:t>Bisa di-restart, exec, atau attach</a:t>
            </a:r>
            <a:endParaRPr sz="1100"/>
          </a:p>
        </p:txBody>
      </p:sp>
      <p:sp>
        <p:nvSpPr>
          <p:cNvPr id="28" name="Shape 22">
            <a:extLst xmlns:a="http://schemas.openxmlformats.org/drawingml/2006/main">
              <a:ext uri="{FF2B5EF4-FFF2-40B4-BE49-F238E27FC236}">
                <a16:creationId xmlns:a16="http://schemas.microsoft.com/office/drawing/2014/main" id="{69BECDEC-5CF2-466A-80EA-80E33A3DE510}"/>
              </a:ext>
            </a:extLst>
          </p:cNvPr>
          <p:cNvSpPr>
            <a:spLocks xmlns:a="http://schemas.openxmlformats.org/drawingml/2006/main" noGrp="1"/>
          </p:cNvSpPr>
          <p:nvPr/>
        </p:nvSpPr>
        <p:spPr>
          <a:xfrm xmlns:a="http://schemas.openxmlformats.org/drawingml/2006/main">
            <a:off x="6400800" y="5303520"/>
            <a:ext cx="5120640" cy="7772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9" name="Text 23">
            <a:extLst xmlns:a="http://schemas.openxmlformats.org/drawingml/2006/main">
              <a:ext uri="{FF2B5EF4-FFF2-40B4-BE49-F238E27FC236}">
                <a16:creationId xmlns:a16="http://schemas.microsoft.com/office/drawing/2014/main" id="{7AB5AB10-9462-4074-8331-3FF279556E90}"/>
              </a:ext>
            </a:extLst>
          </p:cNvPr>
          <p:cNvSpPr>
            <a:spLocks xmlns:a="http://schemas.openxmlformats.org/drawingml/2006/main" noGrp="1"/>
          </p:cNvSpPr>
          <p:nvPr/>
        </p:nvSpPr>
        <p:spPr>
          <a:xfrm xmlns:a="http://schemas.openxmlformats.org/drawingml/2006/main">
            <a:off x="6537960" y="5349240"/>
            <a:ext cx="484632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10B981"/>
                </a:solidFill>
                <a:latin typeface="Consolas"/>
                <a:ea typeface="Consolas"/>
                <a:cs typeface="Consolas"/>
              </a:rPr>
              <a:t>$ </a:t>
            </a:r>
            <a:r>
              <a:rPr sz="1000">
                <a:solidFill>
                  <a:srgbClr val="E2E8F0"/>
                </a:solidFill>
                <a:latin typeface="Consolas"/>
                <a:ea typeface="Consolas"/>
                <a:cs typeface="Consolas"/>
              </a:rPr>
              <a:t>docker ps</a:t>
            </a:r>
            <a:endParaRPr sz="1000"/>
          </a:p>
          <a:p xmlns:a="http://schemas.openxmlformats.org/drawingml/2006/main">
            <a:pPr marL="0" indent="0">
              <a:buNone/>
            </a:pPr>
            <a:r>
              <a:rPr sz="1000">
                <a:solidFill>
                  <a:srgbClr val="94A3B8"/>
                </a:solidFill>
                <a:latin typeface="Consolas"/>
                <a:ea typeface="Consolas"/>
                <a:cs typeface="Consolas"/>
              </a:rPr>
              <a:t>CONTAINER ID   IMAGE      STATUS    NAMES</a:t>
            </a:r>
            <a:endParaRPr sz="1000"/>
          </a:p>
          <a:p xmlns:a="http://schemas.openxmlformats.org/drawingml/2006/main">
            <a:pPr marL="0" indent="0">
              <a:buNone/>
            </a:pPr>
            <a:r>
              <a:rPr sz="1000">
                <a:solidFill>
                  <a:srgbClr val="E2E8F0"/>
                </a:solidFill>
                <a:latin typeface="Consolas"/>
                <a:ea typeface="Consolas"/>
                <a:cs typeface="Consolas"/>
              </a:rPr>
              <a:t>a8d3b2f1c89e   nginx:1.27 Up 2h     web</a:t>
            </a:r>
            <a:endParaRPr sz="1000"/>
          </a:p>
        </p:txBody>
      </p:sp>
    </p:spTree>
    <p:extLst>
      <p:ext uri="{BB962C8B-B14F-4D97-AF65-F5344CB8AC3E}">
        <p14:creationId xmlns:p14="http://schemas.microsoft.com/office/powerpoint/2010/main" val="677621802"/>
      </p:ext>
    </p:extLst>
  </p:cSld>
</p:sld>
</file>

<file path=ppt/slides/slide20.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5174497-9F4E-431D-8EA3-A2C37F41CB9E}"/>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CDA46CCF-92ED-4627-A5D1-CAC740451917}"/>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6F019586-0C55-453B-A780-9529A86DA983}"/>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86326A69-43D6-4510-BD4D-4F76DA8075E8}"/>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34E98499-94B0-4A26-B280-199B4F97D97D}"/>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33A62924-15B9-49AA-A0FB-CE90B715842D}"/>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3492AEB5-8692-4746-8634-1B273A21766D}"/>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C1B87C89-0BF7-4E35-9399-D8F463457E86}"/>
              </a:ext>
            </a:extLst>
          </p:cNvPr>
          <p:cNvPicPr>
            <a:picLocks xmlns:a="http://schemas.openxmlformats.org/drawingml/2006/main" noChangeAspect="1"/>
          </p:cNvPicPr>
          <p:nvPr/>
        </p:nvPicPr>
        <p:blipFill>
          <a:blip xmlns:r="http://schemas.openxmlformats.org/officeDocument/2006/relationships" xmlns:a="http://schemas.openxmlformats.org/drawingml/2006/main" r:embed="R6ed07d5c456d47b3"/>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9D347B59-B94F-49A4-BA06-65AFFFF911D7}"/>
              </a:ext>
            </a:extLst>
          </p:cNvPr>
          <p:cNvPicPr>
            <a:picLocks xmlns:a="http://schemas.openxmlformats.org/drawingml/2006/main" noChangeAspect="1"/>
          </p:cNvPicPr>
          <p:nvPr/>
        </p:nvPicPr>
        <p:blipFill>
          <a:blip xmlns:r="http://schemas.openxmlformats.org/officeDocument/2006/relationships" xmlns:a="http://schemas.openxmlformats.org/drawingml/2006/main" r:embed="R26f3439ec2874011"/>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23117337-4F7B-4113-968B-91491129D940}"/>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05</a:t>
            </a:r>
            <a:endParaRPr sz="1600"/>
          </a:p>
        </p:txBody>
      </p:sp>
      <p:sp>
        <p:nvSpPr>
          <p:cNvPr id="12" name="Text 8">
            <a:extLst xmlns:a="http://schemas.openxmlformats.org/drawingml/2006/main">
              <a:ext uri="{FF2B5EF4-FFF2-40B4-BE49-F238E27FC236}">
                <a16:creationId xmlns:a16="http://schemas.microsoft.com/office/drawing/2014/main" id="{A622ECF3-1B4C-4D77-A19A-190F820A223E}"/>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Docker</a:t>
            </a:r>
            <a:endParaRPr sz="5200"/>
          </a:p>
          <a:p xmlns:a="http://schemas.openxmlformats.org/drawingml/2006/main">
            <a:pPr marL="0" indent="0" algn="ctr">
              <a:buNone/>
            </a:pPr>
            <a:r>
              <a:rPr sz="5200" b="1">
                <a:solidFill>
                  <a:srgbClr val="FFFFFF"/>
                </a:solidFill>
                <a:latin typeface="Calibri"/>
                <a:ea typeface="Calibri"/>
                <a:cs typeface="Calibri"/>
              </a:rPr>
              <a:t>Workflow</a:t>
            </a:r>
            <a:endParaRPr sz="5200"/>
          </a:p>
        </p:txBody>
      </p:sp>
      <p:sp>
        <p:nvSpPr>
          <p:cNvPr id="13" name="Shape 9">
            <a:extLst xmlns:a="http://schemas.openxmlformats.org/drawingml/2006/main">
              <a:ext uri="{FF2B5EF4-FFF2-40B4-BE49-F238E27FC236}">
                <a16:creationId xmlns:a16="http://schemas.microsoft.com/office/drawing/2014/main" id="{58DECD76-DC21-4656-B9D5-A77B4AAB914C}"/>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5978DA3C-8C24-4C5C-9B50-35D6D78D7559}"/>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Perintah-perintah yang akan Anda pakai sehari-hari.</a:t>
            </a:r>
            <a:endParaRPr sz="1400"/>
          </a:p>
        </p:txBody>
      </p:sp>
    </p:spTree>
    <p:extLst>
      <p:ext uri="{BB962C8B-B14F-4D97-AF65-F5344CB8AC3E}">
        <p14:creationId xmlns:p14="http://schemas.microsoft.com/office/powerpoint/2010/main" val="20268906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95F79A-45B7-4858-A13B-8113B04476E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30C3C9C4-552E-449D-9595-148C485312B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21</a:t>
            </a:r>
            <a:endParaRPr sz="900"/>
          </a:p>
        </p:txBody>
      </p:sp>
      <p:sp>
        <p:nvSpPr>
          <p:cNvPr id="4" name="Shape 2">
            <a:extLst xmlns:a="http://schemas.openxmlformats.org/drawingml/2006/main">
              <a:ext uri="{FF2B5EF4-FFF2-40B4-BE49-F238E27FC236}">
                <a16:creationId xmlns:a16="http://schemas.microsoft.com/office/drawing/2014/main" id="{8AE04ED4-B2C4-4BCD-874C-DA153A2A80A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6" name="Image 0">
            <a:extLst xmlns:a="http://schemas.openxmlformats.org/drawingml/2006/main">
              <a:ext uri="{FF2B5EF4-FFF2-40B4-BE49-F238E27FC236}">
                <a16:creationId xmlns:a16="http://schemas.microsoft.com/office/drawing/2014/main" id="{2A6EB672-E7A4-41C3-B3D1-CEE3D1B223DB}"/>
              </a:ext>
            </a:extLst>
          </p:cNvPr>
          <p:cNvPicPr>
            <a:picLocks xmlns:a="http://schemas.openxmlformats.org/drawingml/2006/main" noChangeAspect="1"/>
          </p:cNvPicPr>
          <p:nvPr/>
        </p:nvPicPr>
        <p:blipFill>
          <a:blip xmlns:r="http://schemas.openxmlformats.org/officeDocument/2006/relationships" xmlns:a="http://schemas.openxmlformats.org/drawingml/2006/main" r:embed="R941aeeef8fd6468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7" name="Image 1">
            <a:extLst xmlns:a="http://schemas.openxmlformats.org/drawingml/2006/main">
              <a:ext uri="{FF2B5EF4-FFF2-40B4-BE49-F238E27FC236}">
                <a16:creationId xmlns:a16="http://schemas.microsoft.com/office/drawing/2014/main" id="{E9EACD88-0F6A-4D36-841A-86C82B0A06B6}"/>
              </a:ext>
            </a:extLst>
          </p:cNvPr>
          <p:cNvPicPr>
            <a:picLocks xmlns:a="http://schemas.openxmlformats.org/drawingml/2006/main" noChangeAspect="1"/>
          </p:cNvPicPr>
          <p:nvPr/>
        </p:nvPicPr>
        <p:blipFill>
          <a:blip xmlns:r="http://schemas.openxmlformats.org/officeDocument/2006/relationships" xmlns:a="http://schemas.openxmlformats.org/drawingml/2006/main" r:embed="R0aa992c5fd0a424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45C1DBA-AC93-4C1F-B166-8579978ABBCB}"/>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1A476B26-AD99-4C33-ACA9-C0A13EBD1AEA}"/>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 Commands - Core Cycle</a:t>
            </a:r>
            <a:endParaRPr sz="2200"/>
          </a:p>
        </p:txBody>
      </p:sp>
      <p:sp>
        <p:nvSpPr>
          <p:cNvPr id="9" name="Text 5">
            <a:extLst xmlns:a="http://schemas.openxmlformats.org/drawingml/2006/main">
              <a:ext uri="{FF2B5EF4-FFF2-40B4-BE49-F238E27FC236}">
                <a16:creationId xmlns:a16="http://schemas.microsoft.com/office/drawing/2014/main" id="{8CC7A686-BE7B-4750-B9A2-A92B05DBE2F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5 perintah yang paling sering dipakai</a:t>
            </a:r>
            <a:endParaRPr sz="1200"/>
          </a:p>
        </p:txBody>
      </p:sp>
      <p:sp>
        <p:nvSpPr>
          <p:cNvPr id="10" name="Shape 6">
            <a:extLst xmlns:a="http://schemas.openxmlformats.org/drawingml/2006/main">
              <a:ext uri="{FF2B5EF4-FFF2-40B4-BE49-F238E27FC236}">
                <a16:creationId xmlns:a16="http://schemas.microsoft.com/office/drawing/2014/main" id="{64150C38-EB3C-4BAD-B928-2B7A689616D6}"/>
              </a:ext>
            </a:extLst>
          </p:cNvPr>
          <p:cNvSpPr>
            <a:spLocks xmlns:a="http://schemas.openxmlformats.org/drawingml/2006/main" noGrp="1"/>
          </p:cNvSpPr>
          <p:nvPr/>
        </p:nvSpPr>
        <p:spPr>
          <a:xfrm xmlns:a="http://schemas.openxmlformats.org/drawingml/2006/main">
            <a:off x="457200" y="1417320"/>
            <a:ext cx="112471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67742E45-081A-4D18-A896-1584E9AA398B}"/>
              </a:ext>
            </a:extLst>
          </p:cNvPr>
          <p:cNvSpPr>
            <a:spLocks xmlns:a="http://schemas.openxmlformats.org/drawingml/2006/main" noGrp="1"/>
          </p:cNvSpPr>
          <p:nvPr/>
        </p:nvSpPr>
        <p:spPr>
          <a:xfrm xmlns:a="http://schemas.openxmlformats.org/drawingml/2006/main">
            <a:off x="457200" y="1417320"/>
            <a:ext cx="2286000" cy="8686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2" name="Text 8">
            <a:extLst xmlns:a="http://schemas.openxmlformats.org/drawingml/2006/main">
              <a:ext uri="{FF2B5EF4-FFF2-40B4-BE49-F238E27FC236}">
                <a16:creationId xmlns:a16="http://schemas.microsoft.com/office/drawing/2014/main" id="{C0647E86-BC54-4A17-845E-1C3FE40DFE66}"/>
              </a:ext>
            </a:extLst>
          </p:cNvPr>
          <p:cNvSpPr>
            <a:spLocks xmlns:a="http://schemas.openxmlformats.org/drawingml/2006/main" noGrp="1"/>
          </p:cNvSpPr>
          <p:nvPr/>
        </p:nvSpPr>
        <p:spPr>
          <a:xfrm xmlns:a="http://schemas.openxmlformats.org/drawingml/2006/main">
            <a:off x="457200" y="141732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Consolas"/>
                <a:ea typeface="Consolas"/>
                <a:cs typeface="Consolas"/>
              </a:rPr>
              <a:t>docker pull</a:t>
            </a:r>
            <a:endParaRPr sz="1400"/>
          </a:p>
        </p:txBody>
      </p:sp>
      <p:sp>
        <p:nvSpPr>
          <p:cNvPr id="13" name="Text 9">
            <a:extLst xmlns:a="http://schemas.openxmlformats.org/drawingml/2006/main">
              <a:ext uri="{FF2B5EF4-FFF2-40B4-BE49-F238E27FC236}">
                <a16:creationId xmlns:a16="http://schemas.microsoft.com/office/drawing/2014/main" id="{F8BCD1DD-8FB2-4FFD-8D05-7056BBC442BB}"/>
              </a:ext>
            </a:extLst>
          </p:cNvPr>
          <p:cNvSpPr>
            <a:spLocks xmlns:a="http://schemas.openxmlformats.org/drawingml/2006/main" noGrp="1"/>
          </p:cNvSpPr>
          <p:nvPr/>
        </p:nvSpPr>
        <p:spPr>
          <a:xfrm xmlns:a="http://schemas.openxmlformats.org/drawingml/2006/main">
            <a:off x="2880360" y="1508760"/>
            <a:ext cx="4114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Download image dari registry ke local</a:t>
            </a:r>
            <a:endParaRPr sz="1200"/>
          </a:p>
        </p:txBody>
      </p:sp>
      <p:sp>
        <p:nvSpPr>
          <p:cNvPr id="14" name="Shape 10">
            <a:extLst xmlns:a="http://schemas.openxmlformats.org/drawingml/2006/main">
              <a:ext uri="{FF2B5EF4-FFF2-40B4-BE49-F238E27FC236}">
                <a16:creationId xmlns:a16="http://schemas.microsoft.com/office/drawing/2014/main" id="{7805D6B1-BD40-4674-A6FC-E57E3D1B8E0B}"/>
              </a:ext>
            </a:extLst>
          </p:cNvPr>
          <p:cNvSpPr>
            <a:spLocks xmlns:a="http://schemas.openxmlformats.org/drawingml/2006/main" noGrp="1"/>
          </p:cNvSpPr>
          <p:nvPr/>
        </p:nvSpPr>
        <p:spPr>
          <a:xfrm xmlns:a="http://schemas.openxmlformats.org/drawingml/2006/main">
            <a:off x="7178040" y="1581912"/>
            <a:ext cx="4434840" cy="5486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Text 11">
            <a:extLst xmlns:a="http://schemas.openxmlformats.org/drawingml/2006/main">
              <a:ext uri="{FF2B5EF4-FFF2-40B4-BE49-F238E27FC236}">
                <a16:creationId xmlns:a16="http://schemas.microsoft.com/office/drawing/2014/main" id="{297C5467-FF0F-4DF1-93A8-76BF3E81ADDD}"/>
              </a:ext>
            </a:extLst>
          </p:cNvPr>
          <p:cNvSpPr>
            <a:spLocks xmlns:a="http://schemas.openxmlformats.org/drawingml/2006/main" noGrp="1"/>
          </p:cNvSpPr>
          <p:nvPr/>
        </p:nvSpPr>
        <p:spPr>
          <a:xfrm xmlns:a="http://schemas.openxmlformats.org/drawingml/2006/main">
            <a:off x="7269480" y="1581912"/>
            <a:ext cx="4297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docker pull nginx:1.27</a:t>
            </a:r>
            <a:endParaRPr sz="1100"/>
          </a:p>
        </p:txBody>
      </p:sp>
      <p:sp>
        <p:nvSpPr>
          <p:cNvPr id="16" name="Shape 12">
            <a:extLst xmlns:a="http://schemas.openxmlformats.org/drawingml/2006/main">
              <a:ext uri="{FF2B5EF4-FFF2-40B4-BE49-F238E27FC236}">
                <a16:creationId xmlns:a16="http://schemas.microsoft.com/office/drawing/2014/main" id="{846B803D-7D77-4990-A953-5CA2789F40F6}"/>
              </a:ext>
            </a:extLst>
          </p:cNvPr>
          <p:cNvSpPr>
            <a:spLocks xmlns:a="http://schemas.openxmlformats.org/drawingml/2006/main" noGrp="1"/>
          </p:cNvSpPr>
          <p:nvPr/>
        </p:nvSpPr>
        <p:spPr>
          <a:xfrm xmlns:a="http://schemas.openxmlformats.org/drawingml/2006/main">
            <a:off x="457200" y="2377440"/>
            <a:ext cx="112471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3478AFCE-A53B-42F7-A35C-F62A1B073580}"/>
              </a:ext>
            </a:extLst>
          </p:cNvPr>
          <p:cNvSpPr>
            <a:spLocks xmlns:a="http://schemas.openxmlformats.org/drawingml/2006/main" noGrp="1"/>
          </p:cNvSpPr>
          <p:nvPr/>
        </p:nvSpPr>
        <p:spPr>
          <a:xfrm xmlns:a="http://schemas.openxmlformats.org/drawingml/2006/main">
            <a:off x="457200" y="2377440"/>
            <a:ext cx="2286000" cy="8686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8" name="Text 14">
            <a:extLst xmlns:a="http://schemas.openxmlformats.org/drawingml/2006/main">
              <a:ext uri="{FF2B5EF4-FFF2-40B4-BE49-F238E27FC236}">
                <a16:creationId xmlns:a16="http://schemas.microsoft.com/office/drawing/2014/main" id="{47C19F6C-ACA0-47E5-B0D7-41FA20C36407}"/>
              </a:ext>
            </a:extLst>
          </p:cNvPr>
          <p:cNvSpPr>
            <a:spLocks xmlns:a="http://schemas.openxmlformats.org/drawingml/2006/main" noGrp="1"/>
          </p:cNvSpPr>
          <p:nvPr/>
        </p:nvSpPr>
        <p:spPr>
          <a:xfrm xmlns:a="http://schemas.openxmlformats.org/drawingml/2006/main">
            <a:off x="457200" y="237744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Consolas"/>
                <a:ea typeface="Consolas"/>
                <a:cs typeface="Consolas"/>
              </a:rPr>
              <a:t>docker run</a:t>
            </a:r>
            <a:endParaRPr sz="1400"/>
          </a:p>
        </p:txBody>
      </p:sp>
      <p:sp>
        <p:nvSpPr>
          <p:cNvPr id="19" name="Text 15">
            <a:extLst xmlns:a="http://schemas.openxmlformats.org/drawingml/2006/main">
              <a:ext uri="{FF2B5EF4-FFF2-40B4-BE49-F238E27FC236}">
                <a16:creationId xmlns:a16="http://schemas.microsoft.com/office/drawing/2014/main" id="{2E8682D3-4794-45C4-AE12-3383901F827B}"/>
              </a:ext>
            </a:extLst>
          </p:cNvPr>
          <p:cNvSpPr>
            <a:spLocks xmlns:a="http://schemas.openxmlformats.org/drawingml/2006/main" noGrp="1"/>
          </p:cNvSpPr>
          <p:nvPr/>
        </p:nvSpPr>
        <p:spPr>
          <a:xfrm xmlns:a="http://schemas.openxmlformats.org/drawingml/2006/main">
            <a:off x="2880360" y="2468880"/>
            <a:ext cx="4114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Buat container baru + jalankan</a:t>
            </a:r>
            <a:endParaRPr sz="1200"/>
          </a:p>
        </p:txBody>
      </p:sp>
      <p:sp>
        <p:nvSpPr>
          <p:cNvPr id="20" name="Shape 16">
            <a:extLst xmlns:a="http://schemas.openxmlformats.org/drawingml/2006/main">
              <a:ext uri="{FF2B5EF4-FFF2-40B4-BE49-F238E27FC236}">
                <a16:creationId xmlns:a16="http://schemas.microsoft.com/office/drawing/2014/main" id="{954C0D35-6276-4684-9F16-0399C906CA34}"/>
              </a:ext>
            </a:extLst>
          </p:cNvPr>
          <p:cNvSpPr>
            <a:spLocks xmlns:a="http://schemas.openxmlformats.org/drawingml/2006/main" noGrp="1"/>
          </p:cNvSpPr>
          <p:nvPr/>
        </p:nvSpPr>
        <p:spPr>
          <a:xfrm xmlns:a="http://schemas.openxmlformats.org/drawingml/2006/main">
            <a:off x="7178040" y="2542032"/>
            <a:ext cx="4434840" cy="5486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1" name="Text 17">
            <a:extLst xmlns:a="http://schemas.openxmlformats.org/drawingml/2006/main">
              <a:ext uri="{FF2B5EF4-FFF2-40B4-BE49-F238E27FC236}">
                <a16:creationId xmlns:a16="http://schemas.microsoft.com/office/drawing/2014/main" id="{1F570EFA-B7AD-4C85-8182-74396B953641}"/>
              </a:ext>
            </a:extLst>
          </p:cNvPr>
          <p:cNvSpPr>
            <a:spLocks xmlns:a="http://schemas.openxmlformats.org/drawingml/2006/main" noGrp="1"/>
          </p:cNvSpPr>
          <p:nvPr/>
        </p:nvSpPr>
        <p:spPr>
          <a:xfrm xmlns:a="http://schemas.openxmlformats.org/drawingml/2006/main">
            <a:off x="7269480" y="2542032"/>
            <a:ext cx="4297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docker run -d -p 8080:80 nginx</a:t>
            </a:r>
            <a:endParaRPr sz="1100"/>
          </a:p>
        </p:txBody>
      </p:sp>
      <p:sp>
        <p:nvSpPr>
          <p:cNvPr id="22" name="Shape 18">
            <a:extLst xmlns:a="http://schemas.openxmlformats.org/drawingml/2006/main">
              <a:ext uri="{FF2B5EF4-FFF2-40B4-BE49-F238E27FC236}">
                <a16:creationId xmlns:a16="http://schemas.microsoft.com/office/drawing/2014/main" id="{92503B59-54AF-49B6-A03F-810A1B570E40}"/>
              </a:ext>
            </a:extLst>
          </p:cNvPr>
          <p:cNvSpPr>
            <a:spLocks xmlns:a="http://schemas.openxmlformats.org/drawingml/2006/main" noGrp="1"/>
          </p:cNvSpPr>
          <p:nvPr/>
        </p:nvSpPr>
        <p:spPr>
          <a:xfrm xmlns:a="http://schemas.openxmlformats.org/drawingml/2006/main">
            <a:off x="457200" y="3337560"/>
            <a:ext cx="112471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344D72D6-AB64-45B8-ADBB-B281A0DB6335}"/>
              </a:ext>
            </a:extLst>
          </p:cNvPr>
          <p:cNvSpPr>
            <a:spLocks xmlns:a="http://schemas.openxmlformats.org/drawingml/2006/main" noGrp="1"/>
          </p:cNvSpPr>
          <p:nvPr/>
        </p:nvSpPr>
        <p:spPr>
          <a:xfrm xmlns:a="http://schemas.openxmlformats.org/drawingml/2006/main">
            <a:off x="457200" y="3337560"/>
            <a:ext cx="2286000" cy="8686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4" name="Text 20">
            <a:extLst xmlns:a="http://schemas.openxmlformats.org/drawingml/2006/main">
              <a:ext uri="{FF2B5EF4-FFF2-40B4-BE49-F238E27FC236}">
                <a16:creationId xmlns:a16="http://schemas.microsoft.com/office/drawing/2014/main" id="{601861FE-5C0F-4C85-AFEF-A4E04CFD046B}"/>
              </a:ext>
            </a:extLst>
          </p:cNvPr>
          <p:cNvSpPr>
            <a:spLocks xmlns:a="http://schemas.openxmlformats.org/drawingml/2006/main" noGrp="1"/>
          </p:cNvSpPr>
          <p:nvPr/>
        </p:nvSpPr>
        <p:spPr>
          <a:xfrm xmlns:a="http://schemas.openxmlformats.org/drawingml/2006/main">
            <a:off x="457200" y="333756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Consolas"/>
                <a:ea typeface="Consolas"/>
                <a:cs typeface="Consolas"/>
              </a:rPr>
              <a:t>docker ps</a:t>
            </a:r>
            <a:endParaRPr sz="1400"/>
          </a:p>
        </p:txBody>
      </p:sp>
      <p:sp>
        <p:nvSpPr>
          <p:cNvPr id="25" name="Text 21">
            <a:extLst xmlns:a="http://schemas.openxmlformats.org/drawingml/2006/main">
              <a:ext uri="{FF2B5EF4-FFF2-40B4-BE49-F238E27FC236}">
                <a16:creationId xmlns:a16="http://schemas.microsoft.com/office/drawing/2014/main" id="{5ACBFF0A-BFAD-4A51-B60A-763A508F9C7D}"/>
              </a:ext>
            </a:extLst>
          </p:cNvPr>
          <p:cNvSpPr>
            <a:spLocks xmlns:a="http://schemas.openxmlformats.org/drawingml/2006/main" noGrp="1"/>
          </p:cNvSpPr>
          <p:nvPr/>
        </p:nvSpPr>
        <p:spPr>
          <a:xfrm xmlns:a="http://schemas.openxmlformats.org/drawingml/2006/main">
            <a:off x="2880360" y="3429000"/>
            <a:ext cx="4114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List container yang lagi jalan (-a all)</a:t>
            </a:r>
            <a:endParaRPr sz="1200"/>
          </a:p>
        </p:txBody>
      </p:sp>
      <p:sp>
        <p:nvSpPr>
          <p:cNvPr id="26" name="Shape 22">
            <a:extLst xmlns:a="http://schemas.openxmlformats.org/drawingml/2006/main">
              <a:ext uri="{FF2B5EF4-FFF2-40B4-BE49-F238E27FC236}">
                <a16:creationId xmlns:a16="http://schemas.microsoft.com/office/drawing/2014/main" id="{B9FE3D22-7210-48CC-95CD-A302BDB9C8CD}"/>
              </a:ext>
            </a:extLst>
          </p:cNvPr>
          <p:cNvSpPr>
            <a:spLocks xmlns:a="http://schemas.openxmlformats.org/drawingml/2006/main" noGrp="1"/>
          </p:cNvSpPr>
          <p:nvPr/>
        </p:nvSpPr>
        <p:spPr>
          <a:xfrm xmlns:a="http://schemas.openxmlformats.org/drawingml/2006/main">
            <a:off x="7178040" y="3502152"/>
            <a:ext cx="4434840" cy="5486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7" name="Text 23">
            <a:extLst xmlns:a="http://schemas.openxmlformats.org/drawingml/2006/main">
              <a:ext uri="{FF2B5EF4-FFF2-40B4-BE49-F238E27FC236}">
                <a16:creationId xmlns:a16="http://schemas.microsoft.com/office/drawing/2014/main" id="{A58B29AA-926D-44A6-A3F7-CDA19708C4BE}"/>
              </a:ext>
            </a:extLst>
          </p:cNvPr>
          <p:cNvSpPr>
            <a:spLocks xmlns:a="http://schemas.openxmlformats.org/drawingml/2006/main" noGrp="1"/>
          </p:cNvSpPr>
          <p:nvPr/>
        </p:nvSpPr>
        <p:spPr>
          <a:xfrm xmlns:a="http://schemas.openxmlformats.org/drawingml/2006/main">
            <a:off x="7269480" y="3502152"/>
            <a:ext cx="4297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docker ps -a</a:t>
            </a:r>
            <a:endParaRPr sz="1100"/>
          </a:p>
        </p:txBody>
      </p:sp>
      <p:sp>
        <p:nvSpPr>
          <p:cNvPr id="28" name="Shape 24">
            <a:extLst xmlns:a="http://schemas.openxmlformats.org/drawingml/2006/main">
              <a:ext uri="{FF2B5EF4-FFF2-40B4-BE49-F238E27FC236}">
                <a16:creationId xmlns:a16="http://schemas.microsoft.com/office/drawing/2014/main" id="{502387B0-37DA-4495-B836-06CD57E45182}"/>
              </a:ext>
            </a:extLst>
          </p:cNvPr>
          <p:cNvSpPr>
            <a:spLocks xmlns:a="http://schemas.openxmlformats.org/drawingml/2006/main" noGrp="1"/>
          </p:cNvSpPr>
          <p:nvPr/>
        </p:nvSpPr>
        <p:spPr>
          <a:xfrm xmlns:a="http://schemas.openxmlformats.org/drawingml/2006/main">
            <a:off x="457200" y="4297680"/>
            <a:ext cx="112471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51467579-FBA4-4858-B2FA-BA4C16F1D506}"/>
              </a:ext>
            </a:extLst>
          </p:cNvPr>
          <p:cNvSpPr>
            <a:spLocks xmlns:a="http://schemas.openxmlformats.org/drawingml/2006/main" noGrp="1"/>
          </p:cNvSpPr>
          <p:nvPr/>
        </p:nvSpPr>
        <p:spPr>
          <a:xfrm xmlns:a="http://schemas.openxmlformats.org/drawingml/2006/main">
            <a:off x="457200" y="4297680"/>
            <a:ext cx="2286000" cy="8686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0" name="Text 26">
            <a:extLst xmlns:a="http://schemas.openxmlformats.org/drawingml/2006/main">
              <a:ext uri="{FF2B5EF4-FFF2-40B4-BE49-F238E27FC236}">
                <a16:creationId xmlns:a16="http://schemas.microsoft.com/office/drawing/2014/main" id="{FF018D40-8E49-4D77-861E-E5259596569A}"/>
              </a:ext>
            </a:extLst>
          </p:cNvPr>
          <p:cNvSpPr>
            <a:spLocks xmlns:a="http://schemas.openxmlformats.org/drawingml/2006/main" noGrp="1"/>
          </p:cNvSpPr>
          <p:nvPr/>
        </p:nvSpPr>
        <p:spPr>
          <a:xfrm xmlns:a="http://schemas.openxmlformats.org/drawingml/2006/main">
            <a:off x="457200" y="429768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Consolas"/>
                <a:ea typeface="Consolas"/>
                <a:cs typeface="Consolas"/>
              </a:rPr>
              <a:t>docker stop</a:t>
            </a:r>
            <a:endParaRPr sz="1400"/>
          </a:p>
        </p:txBody>
      </p:sp>
      <p:sp>
        <p:nvSpPr>
          <p:cNvPr id="31" name="Text 27">
            <a:extLst xmlns:a="http://schemas.openxmlformats.org/drawingml/2006/main">
              <a:ext uri="{FF2B5EF4-FFF2-40B4-BE49-F238E27FC236}">
                <a16:creationId xmlns:a16="http://schemas.microsoft.com/office/drawing/2014/main" id="{EEAA6A4F-EC23-418B-80EE-7003BB7E32F1}"/>
              </a:ext>
            </a:extLst>
          </p:cNvPr>
          <p:cNvSpPr>
            <a:spLocks xmlns:a="http://schemas.openxmlformats.org/drawingml/2006/main" noGrp="1"/>
          </p:cNvSpPr>
          <p:nvPr/>
        </p:nvSpPr>
        <p:spPr>
          <a:xfrm xmlns:a="http://schemas.openxmlformats.org/drawingml/2006/main">
            <a:off x="2880360" y="4389120"/>
            <a:ext cx="4114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Stop container graceful (SIGTERM)</a:t>
            </a:r>
            <a:endParaRPr sz="1200"/>
          </a:p>
        </p:txBody>
      </p:sp>
      <p:sp>
        <p:nvSpPr>
          <p:cNvPr id="32" name="Shape 28">
            <a:extLst xmlns:a="http://schemas.openxmlformats.org/drawingml/2006/main">
              <a:ext uri="{FF2B5EF4-FFF2-40B4-BE49-F238E27FC236}">
                <a16:creationId xmlns:a16="http://schemas.microsoft.com/office/drawing/2014/main" id="{44E977A1-5394-419F-A27F-92CB16175291}"/>
              </a:ext>
            </a:extLst>
          </p:cNvPr>
          <p:cNvSpPr>
            <a:spLocks xmlns:a="http://schemas.openxmlformats.org/drawingml/2006/main" noGrp="1"/>
          </p:cNvSpPr>
          <p:nvPr/>
        </p:nvSpPr>
        <p:spPr>
          <a:xfrm xmlns:a="http://schemas.openxmlformats.org/drawingml/2006/main">
            <a:off x="7178040" y="4462272"/>
            <a:ext cx="4434840" cy="5486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3" name="Text 29">
            <a:extLst xmlns:a="http://schemas.openxmlformats.org/drawingml/2006/main">
              <a:ext uri="{FF2B5EF4-FFF2-40B4-BE49-F238E27FC236}">
                <a16:creationId xmlns:a16="http://schemas.microsoft.com/office/drawing/2014/main" id="{E751DDBA-0373-4164-8507-F7237E40DF7E}"/>
              </a:ext>
            </a:extLst>
          </p:cNvPr>
          <p:cNvSpPr>
            <a:spLocks xmlns:a="http://schemas.openxmlformats.org/drawingml/2006/main" noGrp="1"/>
          </p:cNvSpPr>
          <p:nvPr/>
        </p:nvSpPr>
        <p:spPr>
          <a:xfrm xmlns:a="http://schemas.openxmlformats.org/drawingml/2006/main">
            <a:off x="7269480" y="4462272"/>
            <a:ext cx="4297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docker stop web</a:t>
            </a:r>
            <a:endParaRPr sz="1100"/>
          </a:p>
        </p:txBody>
      </p:sp>
      <p:sp>
        <p:nvSpPr>
          <p:cNvPr id="34" name="Shape 30">
            <a:extLst xmlns:a="http://schemas.openxmlformats.org/drawingml/2006/main">
              <a:ext uri="{FF2B5EF4-FFF2-40B4-BE49-F238E27FC236}">
                <a16:creationId xmlns:a16="http://schemas.microsoft.com/office/drawing/2014/main" id="{BD53F76C-4601-44CB-B521-613ED1CC07BA}"/>
              </a:ext>
            </a:extLst>
          </p:cNvPr>
          <p:cNvSpPr>
            <a:spLocks xmlns:a="http://schemas.openxmlformats.org/drawingml/2006/main" noGrp="1"/>
          </p:cNvSpPr>
          <p:nvPr/>
        </p:nvSpPr>
        <p:spPr>
          <a:xfrm xmlns:a="http://schemas.openxmlformats.org/drawingml/2006/main">
            <a:off x="457200" y="5257800"/>
            <a:ext cx="112471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75866413-0024-49B1-A736-B7AE7411C55A}"/>
              </a:ext>
            </a:extLst>
          </p:cNvPr>
          <p:cNvSpPr>
            <a:spLocks xmlns:a="http://schemas.openxmlformats.org/drawingml/2006/main" noGrp="1"/>
          </p:cNvSpPr>
          <p:nvPr/>
        </p:nvSpPr>
        <p:spPr>
          <a:xfrm xmlns:a="http://schemas.openxmlformats.org/drawingml/2006/main">
            <a:off x="457200" y="5257800"/>
            <a:ext cx="2286000" cy="8686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6" name="Text 32">
            <a:extLst xmlns:a="http://schemas.openxmlformats.org/drawingml/2006/main">
              <a:ext uri="{FF2B5EF4-FFF2-40B4-BE49-F238E27FC236}">
                <a16:creationId xmlns:a16="http://schemas.microsoft.com/office/drawing/2014/main" id="{A14A8151-E1AA-40B8-A297-819891E6813B}"/>
              </a:ext>
            </a:extLst>
          </p:cNvPr>
          <p:cNvSpPr>
            <a:spLocks xmlns:a="http://schemas.openxmlformats.org/drawingml/2006/main" noGrp="1"/>
          </p:cNvSpPr>
          <p:nvPr/>
        </p:nvSpPr>
        <p:spPr>
          <a:xfrm xmlns:a="http://schemas.openxmlformats.org/drawingml/2006/main">
            <a:off x="457200" y="5257800"/>
            <a:ext cx="2286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Consolas"/>
                <a:ea typeface="Consolas"/>
                <a:cs typeface="Consolas"/>
              </a:rPr>
              <a:t>docker rm</a:t>
            </a:r>
            <a:endParaRPr sz="1400"/>
          </a:p>
        </p:txBody>
      </p:sp>
      <p:sp>
        <p:nvSpPr>
          <p:cNvPr id="37" name="Text 33">
            <a:extLst xmlns:a="http://schemas.openxmlformats.org/drawingml/2006/main">
              <a:ext uri="{FF2B5EF4-FFF2-40B4-BE49-F238E27FC236}">
                <a16:creationId xmlns:a16="http://schemas.microsoft.com/office/drawing/2014/main" id="{BDF6F5B5-32EB-4DEE-8E09-DD64442AEF49}"/>
              </a:ext>
            </a:extLst>
          </p:cNvPr>
          <p:cNvSpPr>
            <a:spLocks xmlns:a="http://schemas.openxmlformats.org/drawingml/2006/main" noGrp="1"/>
          </p:cNvSpPr>
          <p:nvPr/>
        </p:nvSpPr>
        <p:spPr>
          <a:xfrm xmlns:a="http://schemas.openxmlformats.org/drawingml/2006/main">
            <a:off x="2880360" y="5349240"/>
            <a:ext cx="41148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Hapus container (yang udah stop)</a:t>
            </a:r>
            <a:endParaRPr sz="1200"/>
          </a:p>
        </p:txBody>
      </p:sp>
      <p:sp>
        <p:nvSpPr>
          <p:cNvPr id="38" name="Shape 34">
            <a:extLst xmlns:a="http://schemas.openxmlformats.org/drawingml/2006/main">
              <a:ext uri="{FF2B5EF4-FFF2-40B4-BE49-F238E27FC236}">
                <a16:creationId xmlns:a16="http://schemas.microsoft.com/office/drawing/2014/main" id="{7F678A52-7100-4EA2-8069-C65467D7B105}"/>
              </a:ext>
            </a:extLst>
          </p:cNvPr>
          <p:cNvSpPr>
            <a:spLocks xmlns:a="http://schemas.openxmlformats.org/drawingml/2006/main" noGrp="1"/>
          </p:cNvSpPr>
          <p:nvPr/>
        </p:nvSpPr>
        <p:spPr>
          <a:xfrm xmlns:a="http://schemas.openxmlformats.org/drawingml/2006/main">
            <a:off x="7178040" y="5422392"/>
            <a:ext cx="4434840" cy="5486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9" name="Text 35">
            <a:extLst xmlns:a="http://schemas.openxmlformats.org/drawingml/2006/main">
              <a:ext uri="{FF2B5EF4-FFF2-40B4-BE49-F238E27FC236}">
                <a16:creationId xmlns:a16="http://schemas.microsoft.com/office/drawing/2014/main" id="{4A5F6745-7ADB-4CDA-8DDB-F63C41126D12}"/>
              </a:ext>
            </a:extLst>
          </p:cNvPr>
          <p:cNvSpPr>
            <a:spLocks xmlns:a="http://schemas.openxmlformats.org/drawingml/2006/main" noGrp="1"/>
          </p:cNvSpPr>
          <p:nvPr/>
        </p:nvSpPr>
        <p:spPr>
          <a:xfrm xmlns:a="http://schemas.openxmlformats.org/drawingml/2006/main">
            <a:off x="7269480" y="5422392"/>
            <a:ext cx="4297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 </a:t>
            </a:r>
            <a:r>
              <a:rPr sz="1100">
                <a:solidFill>
                  <a:srgbClr val="E2E8F0"/>
                </a:solidFill>
                <a:latin typeface="Consolas"/>
                <a:ea typeface="Consolas"/>
                <a:cs typeface="Consolas"/>
              </a:rPr>
              <a:t>docker rm web</a:t>
            </a:r>
            <a:endParaRPr sz="1100"/>
          </a:p>
        </p:txBody>
      </p:sp>
      <p:sp>
        <p:nvSpPr>
          <p:cNvPr id="40" name="Text 36">
            <a:extLst xmlns:a="http://schemas.openxmlformats.org/drawingml/2006/main">
              <a:ext uri="{FF2B5EF4-FFF2-40B4-BE49-F238E27FC236}">
                <a16:creationId xmlns:a16="http://schemas.microsoft.com/office/drawing/2014/main" id="{3EB30375-376B-4EC9-82CD-81A2FB24138A}"/>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i="1">
                <a:solidFill>
                  <a:srgbClr val="F37021"/>
                </a:solidFill>
                <a:latin typeface="Calibri"/>
                <a:ea typeface="Calibri"/>
                <a:cs typeface="Calibri"/>
              </a:rPr>
              <a:t>Flag run yang penting: </a:t>
            </a:r>
            <a:r>
              <a:rPr sz="1050" b="1" i="1">
                <a:solidFill>
                  <a:srgbClr val="002677"/>
                </a:solidFill>
                <a:latin typeface="Consolas"/>
                <a:ea typeface="Consolas"/>
                <a:cs typeface="Consolas"/>
              </a:rPr>
              <a:t>-d </a:t>
            </a:r>
            <a:r>
              <a:rPr sz="1050" i="1">
                <a:solidFill>
                  <a:srgbClr val="1E293B"/>
                </a:solidFill>
                <a:latin typeface="Calibri"/>
                <a:ea typeface="Calibri"/>
                <a:cs typeface="Calibri"/>
              </a:rPr>
              <a:t>(detached/background)  </a:t>
            </a:r>
            <a:r>
              <a:rPr sz="1050" b="1" i="1">
                <a:solidFill>
                  <a:srgbClr val="002677"/>
                </a:solidFill>
                <a:latin typeface="Consolas"/>
                <a:ea typeface="Consolas"/>
                <a:cs typeface="Consolas"/>
              </a:rPr>
              <a:t>-p host:container </a:t>
            </a:r>
            <a:r>
              <a:rPr sz="1050" i="1">
                <a:solidFill>
                  <a:srgbClr val="1E293B"/>
                </a:solidFill>
                <a:latin typeface="Calibri"/>
                <a:ea typeface="Calibri"/>
                <a:cs typeface="Calibri"/>
              </a:rPr>
              <a:t>(port mapping)  </a:t>
            </a:r>
            <a:r>
              <a:rPr sz="1050" b="1" i="1">
                <a:solidFill>
                  <a:srgbClr val="002677"/>
                </a:solidFill>
                <a:latin typeface="Consolas"/>
                <a:ea typeface="Consolas"/>
                <a:cs typeface="Consolas"/>
              </a:rPr>
              <a:t>--name </a:t>
            </a:r>
            <a:r>
              <a:rPr sz="1050" i="1">
                <a:solidFill>
                  <a:srgbClr val="1E293B"/>
                </a:solidFill>
                <a:latin typeface="Calibri"/>
                <a:ea typeface="Calibri"/>
                <a:cs typeface="Calibri"/>
              </a:rPr>
              <a:t>(beri nama)  </a:t>
            </a:r>
            <a:r>
              <a:rPr sz="1050" b="1" i="1">
                <a:solidFill>
                  <a:srgbClr val="002677"/>
                </a:solidFill>
                <a:latin typeface="Consolas"/>
                <a:ea typeface="Consolas"/>
                <a:cs typeface="Consolas"/>
              </a:rPr>
              <a:t>--rm </a:t>
            </a:r>
            <a:r>
              <a:rPr sz="1050" i="1">
                <a:solidFill>
                  <a:srgbClr val="1E293B"/>
                </a:solidFill>
                <a:latin typeface="Calibri"/>
                <a:ea typeface="Calibri"/>
                <a:cs typeface="Calibri"/>
              </a:rPr>
              <a:t>(auto-hapus setelah stop)</a:t>
            </a:r>
            <a:endParaRPr sz="1050"/>
          </a:p>
        </p:txBody>
      </p:sp>
    </p:spTree>
    <p:extLst>
      <p:ext uri="{BB962C8B-B14F-4D97-AF65-F5344CB8AC3E}">
        <p14:creationId xmlns:p14="http://schemas.microsoft.com/office/powerpoint/2010/main" val="5868518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82423F-196D-44FC-979D-F1E3CB3EE28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41DDD46D-8073-4E08-BED4-1C437347E6B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22</a:t>
            </a:r>
            <a:endParaRPr sz="900"/>
          </a:p>
        </p:txBody>
      </p:sp>
      <p:sp>
        <p:nvSpPr>
          <p:cNvPr id="4" name="Shape 2">
            <a:extLst xmlns:a="http://schemas.openxmlformats.org/drawingml/2006/main">
              <a:ext uri="{FF2B5EF4-FFF2-40B4-BE49-F238E27FC236}">
                <a16:creationId xmlns:a16="http://schemas.microsoft.com/office/drawing/2014/main" id="{DB917204-F283-4098-B494-308F62F96321}"/>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2" name="Image 0">
            <a:extLst xmlns:a="http://schemas.openxmlformats.org/drawingml/2006/main">
              <a:ext uri="{FF2B5EF4-FFF2-40B4-BE49-F238E27FC236}">
                <a16:creationId xmlns:a16="http://schemas.microsoft.com/office/drawing/2014/main" id="{5C0DDF80-AC8D-404E-A734-6C190F10D6BE}"/>
              </a:ext>
            </a:extLst>
          </p:cNvPr>
          <p:cNvPicPr>
            <a:picLocks xmlns:a="http://schemas.openxmlformats.org/drawingml/2006/main" noChangeAspect="1"/>
          </p:cNvPicPr>
          <p:nvPr/>
        </p:nvPicPr>
        <p:blipFill>
          <a:blip xmlns:r="http://schemas.openxmlformats.org/officeDocument/2006/relationships" xmlns:a="http://schemas.openxmlformats.org/drawingml/2006/main" r:embed="Ref4eeff74ebf443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3" name="Image 1">
            <a:extLst xmlns:a="http://schemas.openxmlformats.org/drawingml/2006/main">
              <a:ext uri="{FF2B5EF4-FFF2-40B4-BE49-F238E27FC236}">
                <a16:creationId xmlns:a16="http://schemas.microsoft.com/office/drawing/2014/main" id="{5D7759CF-B5FD-4EF7-80E8-5037611FB374}"/>
              </a:ext>
            </a:extLst>
          </p:cNvPr>
          <p:cNvPicPr>
            <a:picLocks xmlns:a="http://schemas.openxmlformats.org/drawingml/2006/main" noChangeAspect="1"/>
          </p:cNvPicPr>
          <p:nvPr/>
        </p:nvPicPr>
        <p:blipFill>
          <a:blip xmlns:r="http://schemas.openxmlformats.org/officeDocument/2006/relationships" xmlns:a="http://schemas.openxmlformats.org/drawingml/2006/main" r:embed="Rd36d055a2abe4773"/>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DD84E6F-75E0-480E-95C5-AB1D649B912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A30DE7D9-4041-4B84-96C7-69D840C5A8E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Practical Workflow</a:t>
            </a:r>
            <a:endParaRPr sz="2200"/>
          </a:p>
        </p:txBody>
      </p:sp>
      <p:sp>
        <p:nvSpPr>
          <p:cNvPr id="9" name="Text 5">
            <a:extLst xmlns:a="http://schemas.openxmlformats.org/drawingml/2006/main">
              <a:ext uri="{FF2B5EF4-FFF2-40B4-BE49-F238E27FC236}">
                <a16:creationId xmlns:a16="http://schemas.microsoft.com/office/drawing/2014/main" id="{D34912EA-622C-4A49-A4C6-CD81E250311D}"/>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Lifecycle satu container dari awal sampai akhir</a:t>
            </a:r>
            <a:endParaRPr sz="1200"/>
          </a:p>
        </p:txBody>
      </p:sp>
      <p:sp>
        <p:nvSpPr>
          <p:cNvPr id="10" name="Shape 6">
            <a:extLst xmlns:a="http://schemas.openxmlformats.org/drawingml/2006/main">
              <a:ext uri="{FF2B5EF4-FFF2-40B4-BE49-F238E27FC236}">
                <a16:creationId xmlns:a16="http://schemas.microsoft.com/office/drawing/2014/main" id="{8C1773DB-815D-4455-985E-BE249CB6B206}"/>
              </a:ext>
            </a:extLst>
          </p:cNvPr>
          <p:cNvSpPr>
            <a:spLocks xmlns:a="http://schemas.openxmlformats.org/drawingml/2006/main" noGrp="1"/>
          </p:cNvSpPr>
          <p:nvPr/>
        </p:nvSpPr>
        <p:spPr>
          <a:xfrm xmlns:a="http://schemas.openxmlformats.org/drawingml/2006/main">
            <a:off x="457200" y="1417320"/>
            <a:ext cx="11247120" cy="493776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1" name="Shape 7">
            <a:extLst xmlns:a="http://schemas.openxmlformats.org/drawingml/2006/main">
              <a:ext uri="{FF2B5EF4-FFF2-40B4-BE49-F238E27FC236}">
                <a16:creationId xmlns:a16="http://schemas.microsoft.com/office/drawing/2014/main" id="{8422DAE1-D87C-4C68-923C-D24D71F3CB4D}"/>
              </a:ext>
            </a:extLst>
          </p:cNvPr>
          <p:cNvSpPr>
            <a:spLocks xmlns:a="http://schemas.openxmlformats.org/drawingml/2006/main" noGrp="1"/>
          </p:cNvSpPr>
          <p:nvPr/>
        </p:nvSpPr>
        <p:spPr>
          <a:xfrm xmlns:a="http://schemas.openxmlformats.org/drawingml/2006/main">
            <a:off x="457200" y="141732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2" name="Shape 8">
            <a:extLst xmlns:a="http://schemas.openxmlformats.org/drawingml/2006/main">
              <a:ext uri="{FF2B5EF4-FFF2-40B4-BE49-F238E27FC236}">
                <a16:creationId xmlns:a16="http://schemas.microsoft.com/office/drawing/2014/main" id="{62AD107E-36AF-4AA9-97B3-BA5404583CC2}"/>
              </a:ext>
            </a:extLst>
          </p:cNvPr>
          <p:cNvSpPr>
            <a:spLocks xmlns:a="http://schemas.openxmlformats.org/drawingml/2006/main" noGrp="1"/>
          </p:cNvSpPr>
          <p:nvPr/>
        </p:nvSpPr>
        <p:spPr>
          <a:xfrm xmlns:a="http://schemas.openxmlformats.org/drawingml/2006/main">
            <a:off x="54864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3" name="Shape 9">
            <a:extLst xmlns:a="http://schemas.openxmlformats.org/drawingml/2006/main">
              <a:ext uri="{FF2B5EF4-FFF2-40B4-BE49-F238E27FC236}">
                <a16:creationId xmlns:a16="http://schemas.microsoft.com/office/drawing/2014/main" id="{CF4B57E3-C35A-466A-A5CD-6065AA024ADB}"/>
              </a:ext>
            </a:extLst>
          </p:cNvPr>
          <p:cNvSpPr>
            <a:spLocks xmlns:a="http://schemas.openxmlformats.org/drawingml/2006/main" noGrp="1"/>
          </p:cNvSpPr>
          <p:nvPr/>
        </p:nvSpPr>
        <p:spPr>
          <a:xfrm xmlns:a="http://schemas.openxmlformats.org/drawingml/2006/main">
            <a:off x="68580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4" name="Shape 10">
            <a:extLst xmlns:a="http://schemas.openxmlformats.org/drawingml/2006/main">
              <a:ext uri="{FF2B5EF4-FFF2-40B4-BE49-F238E27FC236}">
                <a16:creationId xmlns:a16="http://schemas.microsoft.com/office/drawing/2014/main" id="{275A2239-BEF0-4B4C-AC37-4786D48651A6}"/>
              </a:ext>
            </a:extLst>
          </p:cNvPr>
          <p:cNvSpPr>
            <a:spLocks xmlns:a="http://schemas.openxmlformats.org/drawingml/2006/main" noGrp="1"/>
          </p:cNvSpPr>
          <p:nvPr/>
        </p:nvSpPr>
        <p:spPr>
          <a:xfrm xmlns:a="http://schemas.openxmlformats.org/drawingml/2006/main">
            <a:off x="82296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1">
            <a:extLst xmlns:a="http://schemas.openxmlformats.org/drawingml/2006/main">
              <a:ext uri="{FF2B5EF4-FFF2-40B4-BE49-F238E27FC236}">
                <a16:creationId xmlns:a16="http://schemas.microsoft.com/office/drawing/2014/main" id="{441CF731-0EBF-4424-B358-F9D94CD9CB62}"/>
              </a:ext>
            </a:extLst>
          </p:cNvPr>
          <p:cNvSpPr>
            <a:spLocks xmlns:a="http://schemas.openxmlformats.org/drawingml/2006/main" noGrp="1"/>
          </p:cNvSpPr>
          <p:nvPr/>
        </p:nvSpPr>
        <p:spPr>
          <a:xfrm xmlns:a="http://schemas.openxmlformats.org/drawingml/2006/main">
            <a:off x="1005840" y="141732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docker workflow lengkap</a:t>
            </a:r>
            <a:endParaRPr sz="900"/>
          </a:p>
        </p:txBody>
      </p:sp>
      <p:sp>
        <p:nvSpPr>
          <p:cNvPr id="16" name="Text 12">
            <a:extLst xmlns:a="http://schemas.openxmlformats.org/drawingml/2006/main">
              <a:ext uri="{FF2B5EF4-FFF2-40B4-BE49-F238E27FC236}">
                <a16:creationId xmlns:a16="http://schemas.microsoft.com/office/drawing/2014/main" id="{C4E7A07D-7C01-4A85-8429-E9113C53B0DD}"/>
              </a:ext>
            </a:extLst>
          </p:cNvPr>
          <p:cNvSpPr>
            <a:spLocks xmlns:a="http://schemas.openxmlformats.org/drawingml/2006/main" noGrp="1"/>
          </p:cNvSpPr>
          <p:nvPr/>
        </p:nvSpPr>
        <p:spPr>
          <a:xfrm xmlns:a="http://schemas.openxmlformats.org/drawingml/2006/main">
            <a:off x="594360" y="1783080"/>
            <a:ext cx="10972800" cy="4480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1. Pull image dari Docker Hub</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pull nginx:1.27</a:t>
            </a:r>
            <a:endParaRPr sz="1000"/>
          </a:p>
          <a:p xmlns:a="http://schemas.openxmlformats.org/drawingml/2006/main">
            <a:pPr marL="0" indent="0">
              <a:spcAft>
                <a:spcPts val="200"/>
              </a:spcAft>
              <a:buNone/>
            </a:pPr>
            <a:r>
              <a:rPr sz="1000">
                <a:solidFill>
                  <a:srgbClr val="94A3B8"/>
                </a:solidFill>
                <a:latin typeface="Consolas"/>
                <a:ea typeface="Consolas"/>
                <a:cs typeface="Consolas"/>
              </a:rPr>
              <a:t>1.27: Pulling from library/nginx</a:t>
            </a:r>
            <a:endParaRPr sz="1000"/>
          </a:p>
          <a:p xmlns:a="http://schemas.openxmlformats.org/drawingml/2006/main">
            <a:pPr marL="0" indent="0">
              <a:spcAft>
                <a:spcPts val="200"/>
              </a:spcAft>
              <a:buNone/>
            </a:pPr>
            <a:r>
              <a:rPr sz="1000">
                <a:solidFill>
                  <a:srgbClr val="10B981"/>
                </a:solidFill>
                <a:latin typeface="Consolas"/>
                <a:ea typeface="Consolas"/>
                <a:cs typeface="Consolas"/>
              </a:rPr>
              <a:t>Status: Downloaded newer image for nginx:1.27</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2. Run container di background, expose port 80 ke 8080 host</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--name web -p 8080:80 nginx:1.27</a:t>
            </a:r>
            <a:endParaRPr sz="1000"/>
          </a:p>
          <a:p xmlns:a="http://schemas.openxmlformats.org/drawingml/2006/main">
            <a:pPr marL="0" indent="0">
              <a:spcAft>
                <a:spcPts val="200"/>
              </a:spcAft>
              <a:buNone/>
            </a:pPr>
            <a:r>
              <a:rPr sz="1000">
                <a:solidFill>
                  <a:srgbClr val="94A3B8"/>
                </a:solidFill>
                <a:latin typeface="Consolas"/>
                <a:ea typeface="Consolas"/>
                <a:cs typeface="Consolas"/>
              </a:rPr>
              <a:t>a8d3b2f1c89e7f4...</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3. Cek container yang jalan</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ps</a:t>
            </a:r>
            <a:endParaRPr sz="1000"/>
          </a:p>
          <a:p xmlns:a="http://schemas.openxmlformats.org/drawingml/2006/main">
            <a:pPr marL="0" indent="0">
              <a:spcAft>
                <a:spcPts val="200"/>
              </a:spcAft>
              <a:buNone/>
            </a:pPr>
            <a:r>
              <a:rPr sz="1000">
                <a:solidFill>
                  <a:srgbClr val="94A3B8"/>
                </a:solidFill>
                <a:latin typeface="Consolas"/>
                <a:ea typeface="Consolas"/>
                <a:cs typeface="Consolas"/>
              </a:rPr>
              <a:t>CONTAINER ID  IMAGE      PORTS                  NAMES</a:t>
            </a:r>
            <a:endParaRPr sz="1000"/>
          </a:p>
          <a:p xmlns:a="http://schemas.openxmlformats.org/drawingml/2006/main">
            <a:pPr marL="0" indent="0">
              <a:spcAft>
                <a:spcPts val="200"/>
              </a:spcAft>
              <a:buNone/>
            </a:pPr>
            <a:r>
              <a:rPr sz="1000">
                <a:solidFill>
                  <a:srgbClr val="94A3B8"/>
                </a:solidFill>
                <a:latin typeface="Consolas"/>
                <a:ea typeface="Consolas"/>
                <a:cs typeface="Consolas"/>
              </a:rPr>
              <a:t>a8d3b2f1c89e  nginx:1.27 0.0.0.0:8080-&gt;80/tcp   web</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4. Lihat log container</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logs -f web</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5. Masuk ke shell di dalam container (debug)</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exec -it web bash</a:t>
            </a:r>
            <a:endParaRPr sz="1000"/>
          </a:p>
          <a:p xmlns:a="http://schemas.openxmlformats.org/drawingml/2006/main">
            <a:pPr marL="0" indent="0">
              <a:spcAft>
                <a:spcPts val="200"/>
              </a:spcAft>
              <a:buNone/>
            </a:pPr>
            <a:r>
              <a:rPr sz="1000">
                <a:solidFill>
                  <a:srgbClr val="F37021"/>
                </a:solidFill>
                <a:latin typeface="Consolas"/>
                <a:ea typeface="Consolas"/>
                <a:cs typeface="Consolas"/>
              </a:rPr>
              <a:t>root@a8d3b2f1c89e:/# </a:t>
            </a:r>
            <a:endParaRPr sz="1000"/>
          </a:p>
          <a:p xmlns:a="http://schemas.openxmlformats.org/drawingml/2006/main">
            <a:pPr marL="0" indent="0">
              <a:spcAft>
                <a:spcPts val="200"/>
              </a:spcAft>
              <a:buNone/>
            </a:pPr>
            <a:r>
              <a:rPr sz="1000">
                <a:solidFill>
                  <a:srgbClr val="E2E8F0"/>
                </a:solidFill>
                <a:latin typeface="Consolas"/>
                <a:ea typeface="Consolas"/>
                <a:cs typeface="Consolas"/>
              </a:rPr>
              <a:t>exit</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6. Stop &amp; hapus container</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stop web &amp;&amp; docker rm web</a:t>
            </a:r>
            <a:endParaRPr sz="1000"/>
          </a:p>
        </p:txBody>
      </p:sp>
    </p:spTree>
    <p:extLst>
      <p:ext uri="{BB962C8B-B14F-4D97-AF65-F5344CB8AC3E}">
        <p14:creationId xmlns:p14="http://schemas.microsoft.com/office/powerpoint/2010/main" val="1882523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79BA5D-13E0-4D68-99CB-DB3E2F3DA00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4600CC44-5D36-4943-A26A-B187542E3C0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23</a:t>
            </a:r>
            <a:endParaRPr sz="900"/>
          </a:p>
        </p:txBody>
      </p:sp>
      <p:sp>
        <p:nvSpPr>
          <p:cNvPr id="4" name="Shape 2">
            <a:extLst xmlns:a="http://schemas.openxmlformats.org/drawingml/2006/main">
              <a:ext uri="{FF2B5EF4-FFF2-40B4-BE49-F238E27FC236}">
                <a16:creationId xmlns:a16="http://schemas.microsoft.com/office/drawing/2014/main" id="{B3650E6B-73C0-442E-BEAC-3DDADB0E4072}"/>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0" name="Image 0">
            <a:extLst xmlns:a="http://schemas.openxmlformats.org/drawingml/2006/main">
              <a:ext uri="{FF2B5EF4-FFF2-40B4-BE49-F238E27FC236}">
                <a16:creationId xmlns:a16="http://schemas.microsoft.com/office/drawing/2014/main" id="{FD319256-9D93-4C79-9020-3C5DDFF31236}"/>
              </a:ext>
            </a:extLst>
          </p:cNvPr>
          <p:cNvPicPr>
            <a:picLocks xmlns:a="http://schemas.openxmlformats.org/drawingml/2006/main" noChangeAspect="1"/>
          </p:cNvPicPr>
          <p:nvPr/>
        </p:nvPicPr>
        <p:blipFill>
          <a:blip xmlns:r="http://schemas.openxmlformats.org/officeDocument/2006/relationships" xmlns:a="http://schemas.openxmlformats.org/drawingml/2006/main" r:embed="Rac21f8651fc5441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1" name="Image 1">
            <a:extLst xmlns:a="http://schemas.openxmlformats.org/drawingml/2006/main">
              <a:ext uri="{FF2B5EF4-FFF2-40B4-BE49-F238E27FC236}">
                <a16:creationId xmlns:a16="http://schemas.microsoft.com/office/drawing/2014/main" id="{D92EE31D-DA07-4B7D-A837-C2F2F42F8B48}"/>
              </a:ext>
            </a:extLst>
          </p:cNvPr>
          <p:cNvPicPr>
            <a:picLocks xmlns:a="http://schemas.openxmlformats.org/drawingml/2006/main" noChangeAspect="1"/>
          </p:cNvPicPr>
          <p:nvPr/>
        </p:nvPicPr>
        <p:blipFill>
          <a:blip xmlns:r="http://schemas.openxmlformats.org/officeDocument/2006/relationships" xmlns:a="http://schemas.openxmlformats.org/drawingml/2006/main" r:embed="Rdffa843062e8445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D4A6CA6-8618-48AE-8184-86348753DB1F}"/>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3835BF5-DB79-459D-97B0-DA0D91A77A6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Container Lifecycle</a:t>
            </a:r>
            <a:endParaRPr sz="2200"/>
          </a:p>
        </p:txBody>
      </p:sp>
      <p:sp>
        <p:nvSpPr>
          <p:cNvPr id="9" name="Text 5">
            <a:extLst xmlns:a="http://schemas.openxmlformats.org/drawingml/2006/main">
              <a:ext uri="{FF2B5EF4-FFF2-40B4-BE49-F238E27FC236}">
                <a16:creationId xmlns:a16="http://schemas.microsoft.com/office/drawing/2014/main" id="{5A08069E-15AE-4508-B268-32F52C68ECF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State machine yang dilewati container</a:t>
            </a:r>
            <a:endParaRPr sz="1200"/>
          </a:p>
        </p:txBody>
      </p:sp>
      <p:sp>
        <p:nvSpPr>
          <p:cNvPr id="10" name="Shape 6">
            <a:extLst xmlns:a="http://schemas.openxmlformats.org/drawingml/2006/main">
              <a:ext uri="{FF2B5EF4-FFF2-40B4-BE49-F238E27FC236}">
                <a16:creationId xmlns:a16="http://schemas.microsoft.com/office/drawing/2014/main" id="{6E4F0E0E-CA56-4A33-98B6-BDA9302C135C}"/>
              </a:ext>
            </a:extLst>
          </p:cNvPr>
          <p:cNvSpPr>
            <a:spLocks xmlns:a="http://schemas.openxmlformats.org/drawingml/2006/main" noGrp="1"/>
          </p:cNvSpPr>
          <p:nvPr/>
        </p:nvSpPr>
        <p:spPr>
          <a:xfrm xmlns:a="http://schemas.openxmlformats.org/drawingml/2006/main">
            <a:off x="457200" y="1828800"/>
            <a:ext cx="214884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37F4716A-AA5D-4AB7-8798-D87A7E3E1443}"/>
              </a:ext>
            </a:extLst>
          </p:cNvPr>
          <p:cNvSpPr>
            <a:spLocks xmlns:a="http://schemas.openxmlformats.org/drawingml/2006/main" noGrp="1"/>
          </p:cNvSpPr>
          <p:nvPr/>
        </p:nvSpPr>
        <p:spPr>
          <a:xfrm xmlns:a="http://schemas.openxmlformats.org/drawingml/2006/main">
            <a:off x="457200" y="1828800"/>
            <a:ext cx="2148840" cy="73152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2" name="Text 8">
            <a:extLst xmlns:a="http://schemas.openxmlformats.org/drawingml/2006/main">
              <a:ext uri="{FF2B5EF4-FFF2-40B4-BE49-F238E27FC236}">
                <a16:creationId xmlns:a16="http://schemas.microsoft.com/office/drawing/2014/main" id="{52358A70-B5AB-480F-9D36-1658CA0E6AA3}"/>
              </a:ext>
            </a:extLst>
          </p:cNvPr>
          <p:cNvSpPr>
            <a:spLocks xmlns:a="http://schemas.openxmlformats.org/drawingml/2006/main" noGrp="1"/>
          </p:cNvSpPr>
          <p:nvPr/>
        </p:nvSpPr>
        <p:spPr>
          <a:xfrm xmlns:a="http://schemas.openxmlformats.org/drawingml/2006/main">
            <a:off x="457200" y="1828800"/>
            <a:ext cx="2148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300">
                <a:solidFill>
                  <a:srgbClr val="FFFFFF"/>
                </a:solidFill>
                <a:latin typeface="Calibri"/>
                <a:ea typeface="Calibri"/>
                <a:cs typeface="Calibri"/>
              </a:rPr>
              <a:t>CREATED</a:t>
            </a:r>
            <a:endParaRPr sz="1400"/>
          </a:p>
        </p:txBody>
      </p:sp>
      <p:sp>
        <p:nvSpPr>
          <p:cNvPr id="13" name="Text 9">
            <a:extLst xmlns:a="http://schemas.openxmlformats.org/drawingml/2006/main">
              <a:ext uri="{FF2B5EF4-FFF2-40B4-BE49-F238E27FC236}">
                <a16:creationId xmlns:a16="http://schemas.microsoft.com/office/drawing/2014/main" id="{F6480E6A-537A-4A8A-ACB4-8AECCACD7187}"/>
              </a:ext>
            </a:extLst>
          </p:cNvPr>
          <p:cNvSpPr>
            <a:spLocks xmlns:a="http://schemas.openxmlformats.org/drawingml/2006/main" noGrp="1"/>
          </p:cNvSpPr>
          <p:nvPr/>
        </p:nvSpPr>
        <p:spPr>
          <a:xfrm xmlns:a="http://schemas.openxmlformats.org/drawingml/2006/main">
            <a:off x="594360" y="2743200"/>
            <a:ext cx="187452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Container dibuat tapi belum jalan</a:t>
            </a:r>
            <a:endParaRPr sz="1100"/>
          </a:p>
        </p:txBody>
      </p:sp>
      <p:sp>
        <p:nvSpPr>
          <p:cNvPr id="14" name="Shape 10">
            <a:extLst xmlns:a="http://schemas.openxmlformats.org/drawingml/2006/main">
              <a:ext uri="{FF2B5EF4-FFF2-40B4-BE49-F238E27FC236}">
                <a16:creationId xmlns:a16="http://schemas.microsoft.com/office/drawing/2014/main" id="{AB69FB63-FDAE-4A8E-8E92-D7D046C61342}"/>
              </a:ext>
            </a:extLst>
          </p:cNvPr>
          <p:cNvSpPr>
            <a:spLocks xmlns:a="http://schemas.openxmlformats.org/drawingml/2006/main" noGrp="1"/>
          </p:cNvSpPr>
          <p:nvPr/>
        </p:nvSpPr>
        <p:spPr>
          <a:xfrm xmlns:a="http://schemas.openxmlformats.org/drawingml/2006/main">
            <a:off x="594360" y="3931920"/>
            <a:ext cx="1874520" cy="960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5" name="Text 11">
            <a:extLst xmlns:a="http://schemas.openxmlformats.org/drawingml/2006/main">
              <a:ext uri="{FF2B5EF4-FFF2-40B4-BE49-F238E27FC236}">
                <a16:creationId xmlns:a16="http://schemas.microsoft.com/office/drawing/2014/main" id="{2DDC8554-7003-4DCC-91DB-E9B719884941}"/>
              </a:ext>
            </a:extLst>
          </p:cNvPr>
          <p:cNvSpPr>
            <a:spLocks xmlns:a="http://schemas.openxmlformats.org/drawingml/2006/main" noGrp="1"/>
          </p:cNvSpPr>
          <p:nvPr/>
        </p:nvSpPr>
        <p:spPr>
          <a:xfrm xmlns:a="http://schemas.openxmlformats.org/drawingml/2006/main">
            <a:off x="594360" y="3931920"/>
            <a:ext cx="18745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0B981"/>
                </a:solidFill>
                <a:latin typeface="Consolas"/>
                <a:ea typeface="Consolas"/>
                <a:cs typeface="Consolas"/>
              </a:rPr>
              <a:t>docker create &lt;image&gt;</a:t>
            </a:r>
            <a:endParaRPr sz="1000"/>
          </a:p>
        </p:txBody>
      </p:sp>
      <p:sp>
        <p:nvSpPr>
          <p:cNvPr id="16" name="Shape 12">
            <a:extLst xmlns:a="http://schemas.openxmlformats.org/drawingml/2006/main">
              <a:ext uri="{FF2B5EF4-FFF2-40B4-BE49-F238E27FC236}">
                <a16:creationId xmlns:a16="http://schemas.microsoft.com/office/drawing/2014/main" id="{CD2C9ECB-D107-4F89-9ED1-5E8FFBEC8B0D}"/>
              </a:ext>
            </a:extLst>
          </p:cNvPr>
          <p:cNvSpPr>
            <a:spLocks xmlns:a="http://schemas.openxmlformats.org/drawingml/2006/main" noGrp="1"/>
          </p:cNvSpPr>
          <p:nvPr/>
        </p:nvSpPr>
        <p:spPr>
          <a:xfrm xmlns:a="http://schemas.openxmlformats.org/drawingml/2006/main">
            <a:off x="2651760" y="3246120"/>
            <a:ext cx="13716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17" name="Shape 13">
            <a:extLst xmlns:a="http://schemas.openxmlformats.org/drawingml/2006/main">
              <a:ext uri="{FF2B5EF4-FFF2-40B4-BE49-F238E27FC236}">
                <a16:creationId xmlns:a16="http://schemas.microsoft.com/office/drawing/2014/main" id="{7C33C839-9889-4519-858D-541E2001B911}"/>
              </a:ext>
            </a:extLst>
          </p:cNvPr>
          <p:cNvSpPr>
            <a:spLocks xmlns:a="http://schemas.openxmlformats.org/drawingml/2006/main" noGrp="1"/>
          </p:cNvSpPr>
          <p:nvPr/>
        </p:nvSpPr>
        <p:spPr>
          <a:xfrm xmlns:a="http://schemas.openxmlformats.org/drawingml/2006/main">
            <a:off x="2743200" y="1828800"/>
            <a:ext cx="214884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A204B6D3-0F73-4633-A0CA-4080CED20424}"/>
              </a:ext>
            </a:extLst>
          </p:cNvPr>
          <p:cNvSpPr>
            <a:spLocks xmlns:a="http://schemas.openxmlformats.org/drawingml/2006/main" noGrp="1"/>
          </p:cNvSpPr>
          <p:nvPr/>
        </p:nvSpPr>
        <p:spPr>
          <a:xfrm xmlns:a="http://schemas.openxmlformats.org/drawingml/2006/main">
            <a:off x="2743200" y="1828800"/>
            <a:ext cx="2148840" cy="73152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19" name="Text 15">
            <a:extLst xmlns:a="http://schemas.openxmlformats.org/drawingml/2006/main">
              <a:ext uri="{FF2B5EF4-FFF2-40B4-BE49-F238E27FC236}">
                <a16:creationId xmlns:a16="http://schemas.microsoft.com/office/drawing/2014/main" id="{5441B596-C07F-4986-BFA1-05BEA56E1ABE}"/>
              </a:ext>
            </a:extLst>
          </p:cNvPr>
          <p:cNvSpPr>
            <a:spLocks xmlns:a="http://schemas.openxmlformats.org/drawingml/2006/main" noGrp="1"/>
          </p:cNvSpPr>
          <p:nvPr/>
        </p:nvSpPr>
        <p:spPr>
          <a:xfrm xmlns:a="http://schemas.openxmlformats.org/drawingml/2006/main">
            <a:off x="2743200" y="1828800"/>
            <a:ext cx="2148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300">
                <a:solidFill>
                  <a:srgbClr val="FFFFFF"/>
                </a:solidFill>
                <a:latin typeface="Calibri"/>
                <a:ea typeface="Calibri"/>
                <a:cs typeface="Calibri"/>
              </a:rPr>
              <a:t>RUNNING</a:t>
            </a:r>
            <a:endParaRPr sz="1400"/>
          </a:p>
        </p:txBody>
      </p:sp>
      <p:sp>
        <p:nvSpPr>
          <p:cNvPr id="20" name="Text 16">
            <a:extLst xmlns:a="http://schemas.openxmlformats.org/drawingml/2006/main">
              <a:ext uri="{FF2B5EF4-FFF2-40B4-BE49-F238E27FC236}">
                <a16:creationId xmlns:a16="http://schemas.microsoft.com/office/drawing/2014/main" id="{96DF3FC4-7914-4D48-95EA-747DC66A07AB}"/>
              </a:ext>
            </a:extLst>
          </p:cNvPr>
          <p:cNvSpPr>
            <a:spLocks xmlns:a="http://schemas.openxmlformats.org/drawingml/2006/main" noGrp="1"/>
          </p:cNvSpPr>
          <p:nvPr/>
        </p:nvSpPr>
        <p:spPr>
          <a:xfrm xmlns:a="http://schemas.openxmlformats.org/drawingml/2006/main">
            <a:off x="2880360" y="2743200"/>
            <a:ext cx="187452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Process container aktif</a:t>
            </a:r>
            <a:endParaRPr sz="1100"/>
          </a:p>
        </p:txBody>
      </p:sp>
      <p:sp>
        <p:nvSpPr>
          <p:cNvPr id="21" name="Shape 17">
            <a:extLst xmlns:a="http://schemas.openxmlformats.org/drawingml/2006/main">
              <a:ext uri="{FF2B5EF4-FFF2-40B4-BE49-F238E27FC236}">
                <a16:creationId xmlns:a16="http://schemas.microsoft.com/office/drawing/2014/main" id="{AC3FB092-AF36-4B47-AE28-871F12D7BE9D}"/>
              </a:ext>
            </a:extLst>
          </p:cNvPr>
          <p:cNvSpPr>
            <a:spLocks xmlns:a="http://schemas.openxmlformats.org/drawingml/2006/main" noGrp="1"/>
          </p:cNvSpPr>
          <p:nvPr/>
        </p:nvSpPr>
        <p:spPr>
          <a:xfrm xmlns:a="http://schemas.openxmlformats.org/drawingml/2006/main">
            <a:off x="2880360" y="3931920"/>
            <a:ext cx="1874520" cy="960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2" name="Text 18">
            <a:extLst xmlns:a="http://schemas.openxmlformats.org/drawingml/2006/main">
              <a:ext uri="{FF2B5EF4-FFF2-40B4-BE49-F238E27FC236}">
                <a16:creationId xmlns:a16="http://schemas.microsoft.com/office/drawing/2014/main" id="{059E7202-7976-4E4C-AB90-F91B6D810D7C}"/>
              </a:ext>
            </a:extLst>
          </p:cNvPr>
          <p:cNvSpPr>
            <a:spLocks xmlns:a="http://schemas.openxmlformats.org/drawingml/2006/main" noGrp="1"/>
          </p:cNvSpPr>
          <p:nvPr/>
        </p:nvSpPr>
        <p:spPr>
          <a:xfrm xmlns:a="http://schemas.openxmlformats.org/drawingml/2006/main">
            <a:off x="2880360" y="3931920"/>
            <a:ext cx="18745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0B981"/>
                </a:solidFill>
                <a:latin typeface="Consolas"/>
                <a:ea typeface="Consolas"/>
                <a:cs typeface="Consolas"/>
              </a:rPr>
              <a:t>docker start / run</a:t>
            </a:r>
            <a:endParaRPr sz="1000"/>
          </a:p>
        </p:txBody>
      </p:sp>
      <p:sp>
        <p:nvSpPr>
          <p:cNvPr id="23" name="Shape 19">
            <a:extLst xmlns:a="http://schemas.openxmlformats.org/drawingml/2006/main">
              <a:ext uri="{FF2B5EF4-FFF2-40B4-BE49-F238E27FC236}">
                <a16:creationId xmlns:a16="http://schemas.microsoft.com/office/drawing/2014/main" id="{30FC3601-3B71-4539-A2CE-3E314BE7BA66}"/>
              </a:ext>
            </a:extLst>
          </p:cNvPr>
          <p:cNvSpPr>
            <a:spLocks xmlns:a="http://schemas.openxmlformats.org/drawingml/2006/main" noGrp="1"/>
          </p:cNvSpPr>
          <p:nvPr/>
        </p:nvSpPr>
        <p:spPr>
          <a:xfrm xmlns:a="http://schemas.openxmlformats.org/drawingml/2006/main">
            <a:off x="4937760" y="3246120"/>
            <a:ext cx="13716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24" name="Shape 20">
            <a:extLst xmlns:a="http://schemas.openxmlformats.org/drawingml/2006/main">
              <a:ext uri="{FF2B5EF4-FFF2-40B4-BE49-F238E27FC236}">
                <a16:creationId xmlns:a16="http://schemas.microsoft.com/office/drawing/2014/main" id="{F64EA3E9-E676-4C7A-B4DA-B310145B1754}"/>
              </a:ext>
            </a:extLst>
          </p:cNvPr>
          <p:cNvSpPr>
            <a:spLocks xmlns:a="http://schemas.openxmlformats.org/drawingml/2006/main" noGrp="1"/>
          </p:cNvSpPr>
          <p:nvPr/>
        </p:nvSpPr>
        <p:spPr>
          <a:xfrm xmlns:a="http://schemas.openxmlformats.org/drawingml/2006/main">
            <a:off x="5029200" y="1828800"/>
            <a:ext cx="214884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21">
            <a:extLst xmlns:a="http://schemas.openxmlformats.org/drawingml/2006/main">
              <a:ext uri="{FF2B5EF4-FFF2-40B4-BE49-F238E27FC236}">
                <a16:creationId xmlns:a16="http://schemas.microsoft.com/office/drawing/2014/main" id="{5B5F8CFA-616E-40EB-944E-4A73BFBAF60A}"/>
              </a:ext>
            </a:extLst>
          </p:cNvPr>
          <p:cNvSpPr>
            <a:spLocks xmlns:a="http://schemas.openxmlformats.org/drawingml/2006/main" noGrp="1"/>
          </p:cNvSpPr>
          <p:nvPr/>
        </p:nvSpPr>
        <p:spPr>
          <a:xfrm xmlns:a="http://schemas.openxmlformats.org/drawingml/2006/main">
            <a:off x="5029200" y="1828800"/>
            <a:ext cx="2148840" cy="731520"/>
          </a:xfrm>
          <a:prstGeom xmlns:a="http://schemas.openxmlformats.org/drawingml/2006/main" prst="rect">
            <a:avLst/>
          </a:prstGeom>
          <a:solidFill xmlns:a="http://schemas.openxmlformats.org/drawingml/2006/main">
            <a:srgbClr val="EAB308"/>
          </a:solidFill>
          <a:ln xmlns:a="http://schemas.openxmlformats.org/drawingml/2006/main" w="12700">
            <a:solidFill>
              <a:srgbClr val="EAB308"/>
            </a:solidFill>
            <a:prstDash val="solid"/>
          </a:ln>
        </p:spPr>
      </p:sp>
      <p:sp>
        <p:nvSpPr>
          <p:cNvPr id="26" name="Text 22">
            <a:extLst xmlns:a="http://schemas.openxmlformats.org/drawingml/2006/main">
              <a:ext uri="{FF2B5EF4-FFF2-40B4-BE49-F238E27FC236}">
                <a16:creationId xmlns:a16="http://schemas.microsoft.com/office/drawing/2014/main" id="{016E0DEC-3DD7-4CDE-9216-19EBCF5EC700}"/>
              </a:ext>
            </a:extLst>
          </p:cNvPr>
          <p:cNvSpPr>
            <a:spLocks xmlns:a="http://schemas.openxmlformats.org/drawingml/2006/main" noGrp="1"/>
          </p:cNvSpPr>
          <p:nvPr/>
        </p:nvSpPr>
        <p:spPr>
          <a:xfrm xmlns:a="http://schemas.openxmlformats.org/drawingml/2006/main">
            <a:off x="5029200" y="1828800"/>
            <a:ext cx="2148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300">
                <a:solidFill>
                  <a:srgbClr val="FFFFFF"/>
                </a:solidFill>
                <a:latin typeface="Calibri"/>
                <a:ea typeface="Calibri"/>
                <a:cs typeface="Calibri"/>
              </a:rPr>
              <a:t>PAUSED</a:t>
            </a:r>
            <a:endParaRPr sz="1400"/>
          </a:p>
        </p:txBody>
      </p:sp>
      <p:sp>
        <p:nvSpPr>
          <p:cNvPr id="27" name="Text 23">
            <a:extLst xmlns:a="http://schemas.openxmlformats.org/drawingml/2006/main">
              <a:ext uri="{FF2B5EF4-FFF2-40B4-BE49-F238E27FC236}">
                <a16:creationId xmlns:a16="http://schemas.microsoft.com/office/drawing/2014/main" id="{F92867E6-B745-44EC-B21E-935C74C090DD}"/>
              </a:ext>
            </a:extLst>
          </p:cNvPr>
          <p:cNvSpPr>
            <a:spLocks xmlns:a="http://schemas.openxmlformats.org/drawingml/2006/main" noGrp="1"/>
          </p:cNvSpPr>
          <p:nvPr/>
        </p:nvSpPr>
        <p:spPr>
          <a:xfrm xmlns:a="http://schemas.openxmlformats.org/drawingml/2006/main">
            <a:off x="5166360" y="2743200"/>
            <a:ext cx="187452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Proses dibekukan (freezer cgroup di Linux)</a:t>
            </a:r>
            <a:endParaRPr sz="1100"/>
          </a:p>
        </p:txBody>
      </p:sp>
      <p:sp>
        <p:nvSpPr>
          <p:cNvPr id="28" name="Shape 24">
            <a:extLst xmlns:a="http://schemas.openxmlformats.org/drawingml/2006/main">
              <a:ext uri="{FF2B5EF4-FFF2-40B4-BE49-F238E27FC236}">
                <a16:creationId xmlns:a16="http://schemas.microsoft.com/office/drawing/2014/main" id="{EDBA4357-196B-4C54-9D5B-D1D0EDFF2F01}"/>
              </a:ext>
            </a:extLst>
          </p:cNvPr>
          <p:cNvSpPr>
            <a:spLocks xmlns:a="http://schemas.openxmlformats.org/drawingml/2006/main" noGrp="1"/>
          </p:cNvSpPr>
          <p:nvPr/>
        </p:nvSpPr>
        <p:spPr>
          <a:xfrm xmlns:a="http://schemas.openxmlformats.org/drawingml/2006/main">
            <a:off x="5166360" y="3931920"/>
            <a:ext cx="1874520" cy="960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9" name="Text 25">
            <a:extLst xmlns:a="http://schemas.openxmlformats.org/drawingml/2006/main">
              <a:ext uri="{FF2B5EF4-FFF2-40B4-BE49-F238E27FC236}">
                <a16:creationId xmlns:a16="http://schemas.microsoft.com/office/drawing/2014/main" id="{81E6C795-8719-41C8-A88A-72F61A5F957A}"/>
              </a:ext>
            </a:extLst>
          </p:cNvPr>
          <p:cNvSpPr>
            <a:spLocks xmlns:a="http://schemas.openxmlformats.org/drawingml/2006/main" noGrp="1"/>
          </p:cNvSpPr>
          <p:nvPr/>
        </p:nvSpPr>
        <p:spPr>
          <a:xfrm xmlns:a="http://schemas.openxmlformats.org/drawingml/2006/main">
            <a:off x="5166360" y="3931920"/>
            <a:ext cx="18745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0B981"/>
                </a:solidFill>
                <a:latin typeface="Consolas"/>
                <a:ea typeface="Consolas"/>
                <a:cs typeface="Consolas"/>
              </a:rPr>
              <a:t>docker pause</a:t>
            </a:r>
            <a:endParaRPr sz="1000"/>
          </a:p>
        </p:txBody>
      </p:sp>
      <p:sp>
        <p:nvSpPr>
          <p:cNvPr id="30" name="Shape 26">
            <a:extLst xmlns:a="http://schemas.openxmlformats.org/drawingml/2006/main">
              <a:ext uri="{FF2B5EF4-FFF2-40B4-BE49-F238E27FC236}">
                <a16:creationId xmlns:a16="http://schemas.microsoft.com/office/drawing/2014/main" id="{9BB3D1BB-B807-4C71-8858-5224F86FC93D}"/>
              </a:ext>
            </a:extLst>
          </p:cNvPr>
          <p:cNvSpPr>
            <a:spLocks xmlns:a="http://schemas.openxmlformats.org/drawingml/2006/main" noGrp="1"/>
          </p:cNvSpPr>
          <p:nvPr/>
        </p:nvSpPr>
        <p:spPr>
          <a:xfrm xmlns:a="http://schemas.openxmlformats.org/drawingml/2006/main">
            <a:off x="7223760" y="3246120"/>
            <a:ext cx="13716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31" name="Shape 27">
            <a:extLst xmlns:a="http://schemas.openxmlformats.org/drawingml/2006/main">
              <a:ext uri="{FF2B5EF4-FFF2-40B4-BE49-F238E27FC236}">
                <a16:creationId xmlns:a16="http://schemas.microsoft.com/office/drawing/2014/main" id="{704C6E2D-9E20-42C4-B0F4-905B71D99E95}"/>
              </a:ext>
            </a:extLst>
          </p:cNvPr>
          <p:cNvSpPr>
            <a:spLocks xmlns:a="http://schemas.openxmlformats.org/drawingml/2006/main" noGrp="1"/>
          </p:cNvSpPr>
          <p:nvPr/>
        </p:nvSpPr>
        <p:spPr>
          <a:xfrm xmlns:a="http://schemas.openxmlformats.org/drawingml/2006/main">
            <a:off x="7315200" y="1828800"/>
            <a:ext cx="214884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8">
            <a:extLst xmlns:a="http://schemas.openxmlformats.org/drawingml/2006/main">
              <a:ext uri="{FF2B5EF4-FFF2-40B4-BE49-F238E27FC236}">
                <a16:creationId xmlns:a16="http://schemas.microsoft.com/office/drawing/2014/main" id="{B9F88C76-469D-4F79-B8DB-034FB128CE15}"/>
              </a:ext>
            </a:extLst>
          </p:cNvPr>
          <p:cNvSpPr>
            <a:spLocks xmlns:a="http://schemas.openxmlformats.org/drawingml/2006/main" noGrp="1"/>
          </p:cNvSpPr>
          <p:nvPr/>
        </p:nvSpPr>
        <p:spPr>
          <a:xfrm xmlns:a="http://schemas.openxmlformats.org/drawingml/2006/main">
            <a:off x="7315200" y="1828800"/>
            <a:ext cx="2148840" cy="7315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Text 29">
            <a:extLst xmlns:a="http://schemas.openxmlformats.org/drawingml/2006/main">
              <a:ext uri="{FF2B5EF4-FFF2-40B4-BE49-F238E27FC236}">
                <a16:creationId xmlns:a16="http://schemas.microsoft.com/office/drawing/2014/main" id="{879631BC-7912-446A-B116-3A0B2BDDA86F}"/>
              </a:ext>
            </a:extLst>
          </p:cNvPr>
          <p:cNvSpPr>
            <a:spLocks xmlns:a="http://schemas.openxmlformats.org/drawingml/2006/main" noGrp="1"/>
          </p:cNvSpPr>
          <p:nvPr/>
        </p:nvSpPr>
        <p:spPr>
          <a:xfrm xmlns:a="http://schemas.openxmlformats.org/drawingml/2006/main">
            <a:off x="7315200" y="1828800"/>
            <a:ext cx="2148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300">
                <a:solidFill>
                  <a:srgbClr val="FFFFFF"/>
                </a:solidFill>
                <a:latin typeface="Calibri"/>
                <a:ea typeface="Calibri"/>
                <a:cs typeface="Calibri"/>
              </a:rPr>
              <a:t>STOPPED</a:t>
            </a:r>
            <a:endParaRPr sz="1400"/>
          </a:p>
        </p:txBody>
      </p:sp>
      <p:sp>
        <p:nvSpPr>
          <p:cNvPr id="34" name="Text 30">
            <a:extLst xmlns:a="http://schemas.openxmlformats.org/drawingml/2006/main">
              <a:ext uri="{FF2B5EF4-FFF2-40B4-BE49-F238E27FC236}">
                <a16:creationId xmlns:a16="http://schemas.microsoft.com/office/drawing/2014/main" id="{2738CCA4-5592-44A3-8EE8-0EB2F2F69EBD}"/>
              </a:ext>
            </a:extLst>
          </p:cNvPr>
          <p:cNvSpPr>
            <a:spLocks xmlns:a="http://schemas.openxmlformats.org/drawingml/2006/main" noGrp="1"/>
          </p:cNvSpPr>
          <p:nvPr/>
        </p:nvSpPr>
        <p:spPr>
          <a:xfrm xmlns:a="http://schemas.openxmlformats.org/drawingml/2006/main">
            <a:off x="7452360" y="2743200"/>
            <a:ext cx="187452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Process exit / di-stop</a:t>
            </a:r>
            <a:endParaRPr sz="1100"/>
          </a:p>
        </p:txBody>
      </p:sp>
      <p:sp>
        <p:nvSpPr>
          <p:cNvPr id="35" name="Shape 31">
            <a:extLst xmlns:a="http://schemas.openxmlformats.org/drawingml/2006/main">
              <a:ext uri="{FF2B5EF4-FFF2-40B4-BE49-F238E27FC236}">
                <a16:creationId xmlns:a16="http://schemas.microsoft.com/office/drawing/2014/main" id="{ADEA8121-DCA0-403C-8C80-88BBC0026BD7}"/>
              </a:ext>
            </a:extLst>
          </p:cNvPr>
          <p:cNvSpPr>
            <a:spLocks xmlns:a="http://schemas.openxmlformats.org/drawingml/2006/main" noGrp="1"/>
          </p:cNvSpPr>
          <p:nvPr/>
        </p:nvSpPr>
        <p:spPr>
          <a:xfrm xmlns:a="http://schemas.openxmlformats.org/drawingml/2006/main">
            <a:off x="7452360" y="3931920"/>
            <a:ext cx="1874520" cy="960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6" name="Text 32">
            <a:extLst xmlns:a="http://schemas.openxmlformats.org/drawingml/2006/main">
              <a:ext uri="{FF2B5EF4-FFF2-40B4-BE49-F238E27FC236}">
                <a16:creationId xmlns:a16="http://schemas.microsoft.com/office/drawing/2014/main" id="{D86C6363-7B8D-48D8-84C4-5B89244CBA99}"/>
              </a:ext>
            </a:extLst>
          </p:cNvPr>
          <p:cNvSpPr>
            <a:spLocks xmlns:a="http://schemas.openxmlformats.org/drawingml/2006/main" noGrp="1"/>
          </p:cNvSpPr>
          <p:nvPr/>
        </p:nvSpPr>
        <p:spPr>
          <a:xfrm xmlns:a="http://schemas.openxmlformats.org/drawingml/2006/main">
            <a:off x="7452360" y="3931920"/>
            <a:ext cx="18745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0B981"/>
                </a:solidFill>
                <a:latin typeface="Consolas"/>
                <a:ea typeface="Consolas"/>
                <a:cs typeface="Consolas"/>
              </a:rPr>
              <a:t>docker stop</a:t>
            </a:r>
            <a:endParaRPr sz="1000"/>
          </a:p>
        </p:txBody>
      </p:sp>
      <p:sp>
        <p:nvSpPr>
          <p:cNvPr id="37" name="Shape 33">
            <a:extLst xmlns:a="http://schemas.openxmlformats.org/drawingml/2006/main">
              <a:ext uri="{FF2B5EF4-FFF2-40B4-BE49-F238E27FC236}">
                <a16:creationId xmlns:a16="http://schemas.microsoft.com/office/drawing/2014/main" id="{87C78329-B67D-4B32-B660-CD4C1E4C5DA6}"/>
              </a:ext>
            </a:extLst>
          </p:cNvPr>
          <p:cNvSpPr>
            <a:spLocks xmlns:a="http://schemas.openxmlformats.org/drawingml/2006/main" noGrp="1"/>
          </p:cNvSpPr>
          <p:nvPr/>
        </p:nvSpPr>
        <p:spPr>
          <a:xfrm xmlns:a="http://schemas.openxmlformats.org/drawingml/2006/main">
            <a:off x="9509760" y="3246120"/>
            <a:ext cx="13716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38" name="Shape 34">
            <a:extLst xmlns:a="http://schemas.openxmlformats.org/drawingml/2006/main">
              <a:ext uri="{FF2B5EF4-FFF2-40B4-BE49-F238E27FC236}">
                <a16:creationId xmlns:a16="http://schemas.microsoft.com/office/drawing/2014/main" id="{CC2E4601-43C9-4B6A-88C9-3050D7FC1EC2}"/>
              </a:ext>
            </a:extLst>
          </p:cNvPr>
          <p:cNvSpPr>
            <a:spLocks xmlns:a="http://schemas.openxmlformats.org/drawingml/2006/main" noGrp="1"/>
          </p:cNvSpPr>
          <p:nvPr/>
        </p:nvSpPr>
        <p:spPr>
          <a:xfrm xmlns:a="http://schemas.openxmlformats.org/drawingml/2006/main">
            <a:off x="9601200" y="1828800"/>
            <a:ext cx="2148840" cy="3200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37E7FCF6-04F1-4131-928A-3F8EA620189A}"/>
              </a:ext>
            </a:extLst>
          </p:cNvPr>
          <p:cNvSpPr>
            <a:spLocks xmlns:a="http://schemas.openxmlformats.org/drawingml/2006/main" noGrp="1"/>
          </p:cNvSpPr>
          <p:nvPr/>
        </p:nvSpPr>
        <p:spPr>
          <a:xfrm xmlns:a="http://schemas.openxmlformats.org/drawingml/2006/main">
            <a:off x="9601200" y="1828800"/>
            <a:ext cx="2148840" cy="73152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40" name="Text 36">
            <a:extLst xmlns:a="http://schemas.openxmlformats.org/drawingml/2006/main">
              <a:ext uri="{FF2B5EF4-FFF2-40B4-BE49-F238E27FC236}">
                <a16:creationId xmlns:a16="http://schemas.microsoft.com/office/drawing/2014/main" id="{7808FDAA-099D-4D0E-9488-BC9BE948D86C}"/>
              </a:ext>
            </a:extLst>
          </p:cNvPr>
          <p:cNvSpPr>
            <a:spLocks xmlns:a="http://schemas.openxmlformats.org/drawingml/2006/main" noGrp="1"/>
          </p:cNvSpPr>
          <p:nvPr/>
        </p:nvSpPr>
        <p:spPr>
          <a:xfrm xmlns:a="http://schemas.openxmlformats.org/drawingml/2006/main">
            <a:off x="9601200" y="1828800"/>
            <a:ext cx="2148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300">
                <a:solidFill>
                  <a:srgbClr val="FFFFFF"/>
                </a:solidFill>
                <a:latin typeface="Calibri"/>
                <a:ea typeface="Calibri"/>
                <a:cs typeface="Calibri"/>
              </a:rPr>
              <a:t>DELETED</a:t>
            </a:r>
            <a:endParaRPr sz="1400"/>
          </a:p>
        </p:txBody>
      </p:sp>
      <p:sp>
        <p:nvSpPr>
          <p:cNvPr id="41" name="Text 37">
            <a:extLst xmlns:a="http://schemas.openxmlformats.org/drawingml/2006/main">
              <a:ext uri="{FF2B5EF4-FFF2-40B4-BE49-F238E27FC236}">
                <a16:creationId xmlns:a16="http://schemas.microsoft.com/office/drawing/2014/main" id="{B10FC4F6-7C01-4DB8-82C7-C91C43DF24A2}"/>
              </a:ext>
            </a:extLst>
          </p:cNvPr>
          <p:cNvSpPr>
            <a:spLocks xmlns:a="http://schemas.openxmlformats.org/drawingml/2006/main" noGrp="1"/>
          </p:cNvSpPr>
          <p:nvPr/>
        </p:nvSpPr>
        <p:spPr>
          <a:xfrm xmlns:a="http://schemas.openxmlformats.org/drawingml/2006/main">
            <a:off x="9738360" y="2743200"/>
            <a:ext cx="187452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100">
                <a:solidFill>
                  <a:srgbClr val="1E293B"/>
                </a:solidFill>
                <a:latin typeface="Calibri"/>
                <a:ea typeface="Calibri"/>
                <a:cs typeface="Calibri"/>
              </a:rPr>
              <a:t>Container removed dari host</a:t>
            </a:r>
            <a:endParaRPr sz="1100"/>
          </a:p>
        </p:txBody>
      </p:sp>
      <p:sp>
        <p:nvSpPr>
          <p:cNvPr id="42" name="Shape 38">
            <a:extLst xmlns:a="http://schemas.openxmlformats.org/drawingml/2006/main">
              <a:ext uri="{FF2B5EF4-FFF2-40B4-BE49-F238E27FC236}">
                <a16:creationId xmlns:a16="http://schemas.microsoft.com/office/drawing/2014/main" id="{AB93C057-E1F6-4CE4-959E-DA1D7C85120C}"/>
              </a:ext>
            </a:extLst>
          </p:cNvPr>
          <p:cNvSpPr>
            <a:spLocks xmlns:a="http://schemas.openxmlformats.org/drawingml/2006/main" noGrp="1"/>
          </p:cNvSpPr>
          <p:nvPr/>
        </p:nvSpPr>
        <p:spPr>
          <a:xfrm xmlns:a="http://schemas.openxmlformats.org/drawingml/2006/main">
            <a:off x="9738360" y="3931920"/>
            <a:ext cx="1874520" cy="96012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3" name="Text 39">
            <a:extLst xmlns:a="http://schemas.openxmlformats.org/drawingml/2006/main">
              <a:ext uri="{FF2B5EF4-FFF2-40B4-BE49-F238E27FC236}">
                <a16:creationId xmlns:a16="http://schemas.microsoft.com/office/drawing/2014/main" id="{677464AF-B88F-4FF3-B620-D90E8BD7C91B}"/>
              </a:ext>
            </a:extLst>
          </p:cNvPr>
          <p:cNvSpPr>
            <a:spLocks xmlns:a="http://schemas.openxmlformats.org/drawingml/2006/main" noGrp="1"/>
          </p:cNvSpPr>
          <p:nvPr/>
        </p:nvSpPr>
        <p:spPr>
          <a:xfrm xmlns:a="http://schemas.openxmlformats.org/drawingml/2006/main">
            <a:off x="9738360" y="3931920"/>
            <a:ext cx="18745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0B981"/>
                </a:solidFill>
                <a:latin typeface="Consolas"/>
                <a:ea typeface="Consolas"/>
                <a:cs typeface="Consolas"/>
              </a:rPr>
              <a:t>docker rm</a:t>
            </a:r>
            <a:endParaRPr sz="1000"/>
          </a:p>
        </p:txBody>
      </p:sp>
      <p:sp>
        <p:nvSpPr>
          <p:cNvPr id="44" name="Text 40">
            <a:extLst xmlns:a="http://schemas.openxmlformats.org/drawingml/2006/main">
              <a:ext uri="{FF2B5EF4-FFF2-40B4-BE49-F238E27FC236}">
                <a16:creationId xmlns:a16="http://schemas.microsoft.com/office/drawing/2014/main" id="{AD69EFA6-16D9-41C6-AC2F-1EE06B9B4226}"/>
              </a:ext>
            </a:extLst>
          </p:cNvPr>
          <p:cNvSpPr>
            <a:spLocks xmlns:a="http://schemas.openxmlformats.org/drawingml/2006/main" noGrp="1"/>
          </p:cNvSpPr>
          <p:nvPr/>
        </p:nvSpPr>
        <p:spPr>
          <a:xfrm xmlns:a="http://schemas.openxmlformats.org/drawingml/2006/main">
            <a:off x="457200" y="5486400"/>
            <a:ext cx="112471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Lihat semua container (termasuk stopped): </a:t>
            </a:r>
            <a:r>
              <a:rPr sz="1100" b="1" i="1">
                <a:solidFill>
                  <a:srgbClr val="002677"/>
                </a:solidFill>
                <a:latin typeface="Consolas"/>
                <a:ea typeface="Consolas"/>
                <a:cs typeface="Consolas"/>
              </a:rPr>
              <a:t>docker ps -a   </a:t>
            </a:r>
            <a:r>
              <a:rPr sz="1100" i="1">
                <a:solidFill>
                  <a:srgbClr val="1E293B"/>
                </a:solidFill>
                <a:latin typeface="Calibri"/>
                <a:ea typeface="Calibri"/>
                <a:cs typeface="Calibri"/>
              </a:rPr>
              <a:t>  |  Hapus semua container stopped: </a:t>
            </a:r>
            <a:r>
              <a:rPr sz="1100" b="1" i="1">
                <a:solidFill>
                  <a:srgbClr val="002677"/>
                </a:solidFill>
                <a:latin typeface="Consolas"/>
                <a:ea typeface="Consolas"/>
                <a:cs typeface="Consolas"/>
              </a:rPr>
              <a:t>docker container prune</a:t>
            </a:r>
            <a:endParaRPr sz="1100"/>
          </a:p>
        </p:txBody>
      </p:sp>
    </p:spTree>
    <p:extLst>
      <p:ext uri="{BB962C8B-B14F-4D97-AF65-F5344CB8AC3E}">
        <p14:creationId xmlns:p14="http://schemas.microsoft.com/office/powerpoint/2010/main" val="873389371"/>
      </p:ext>
    </p:extLst>
  </p:cSld>
</p:sld>
</file>

<file path=ppt/slides/slide2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7E05365-6B15-43BF-8937-793B9EBF9CB2}"/>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79AD3014-8871-4BE8-A9D7-830C06BC8D28}"/>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5FB55B43-CCE0-4209-B19A-C4D3C80FD3A6}"/>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DF3E21A1-C390-4624-8513-474A22103DD6}"/>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940138E9-055B-420A-B3B1-80DC40667C6C}"/>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4ED54131-2093-4D4D-A578-73FCDD35A96A}"/>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C7920354-6669-4700-903D-7E297A50CDB6}"/>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8F5F66E6-FE08-4BC4-9D7E-0385C5B364E8}"/>
              </a:ext>
            </a:extLst>
          </p:cNvPr>
          <p:cNvPicPr>
            <a:picLocks xmlns:a="http://schemas.openxmlformats.org/drawingml/2006/main" noChangeAspect="1"/>
          </p:cNvPicPr>
          <p:nvPr/>
        </p:nvPicPr>
        <p:blipFill>
          <a:blip xmlns:r="http://schemas.openxmlformats.org/officeDocument/2006/relationships" xmlns:a="http://schemas.openxmlformats.org/drawingml/2006/main" r:embed="R771fa2703d194e0e"/>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2EE14E00-67F1-4031-B049-59760D37EE68}"/>
              </a:ext>
            </a:extLst>
          </p:cNvPr>
          <p:cNvPicPr>
            <a:picLocks xmlns:a="http://schemas.openxmlformats.org/drawingml/2006/main" noChangeAspect="1"/>
          </p:cNvPicPr>
          <p:nvPr/>
        </p:nvPicPr>
        <p:blipFill>
          <a:blip xmlns:r="http://schemas.openxmlformats.org/officeDocument/2006/relationships" xmlns:a="http://schemas.openxmlformats.org/drawingml/2006/main" r:embed="R535f265f3f32408a"/>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0E7301B-055D-4D22-9DD8-9C56B03C57C4}"/>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06</a:t>
            </a:r>
            <a:endParaRPr sz="1600"/>
          </a:p>
        </p:txBody>
      </p:sp>
      <p:sp>
        <p:nvSpPr>
          <p:cNvPr id="12" name="Text 8">
            <a:extLst xmlns:a="http://schemas.openxmlformats.org/drawingml/2006/main">
              <a:ext uri="{FF2B5EF4-FFF2-40B4-BE49-F238E27FC236}">
                <a16:creationId xmlns:a16="http://schemas.microsoft.com/office/drawing/2014/main" id="{2FDC3471-E8E5-4C28-B372-F072DAFE5813}"/>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Image Layers</a:t>
            </a:r>
            <a:endParaRPr sz="5200"/>
          </a:p>
          <a:p xmlns:a="http://schemas.openxmlformats.org/drawingml/2006/main">
            <a:pPr marL="0" indent="0" algn="ctr">
              <a:buNone/>
            </a:pPr>
            <a:r>
              <a:rPr sz="5200" b="1">
                <a:solidFill>
                  <a:srgbClr val="FFFFFF"/>
                </a:solidFill>
                <a:latin typeface="Calibri"/>
                <a:ea typeface="Calibri"/>
                <a:cs typeface="Calibri"/>
              </a:rPr>
              <a:t>&amp; Storage</a:t>
            </a:r>
            <a:endParaRPr sz="5200"/>
          </a:p>
        </p:txBody>
      </p:sp>
      <p:sp>
        <p:nvSpPr>
          <p:cNvPr id="13" name="Shape 9">
            <a:extLst xmlns:a="http://schemas.openxmlformats.org/drawingml/2006/main">
              <a:ext uri="{FF2B5EF4-FFF2-40B4-BE49-F238E27FC236}">
                <a16:creationId xmlns:a16="http://schemas.microsoft.com/office/drawing/2014/main" id="{14AE8C58-8AB1-4819-84B7-EC7B643A9A65}"/>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7FF8C261-E2D8-4625-B889-6D5CB310BF49}"/>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Bagaimana image dibuat dan data persistent disimpan.</a:t>
            </a:r>
            <a:endParaRPr sz="1400"/>
          </a:p>
        </p:txBody>
      </p:sp>
    </p:spTree>
    <p:extLst>
      <p:ext uri="{BB962C8B-B14F-4D97-AF65-F5344CB8AC3E}">
        <p14:creationId xmlns:p14="http://schemas.microsoft.com/office/powerpoint/2010/main" val="45593274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9D5621-049F-47A3-AA3B-A3EF6650BD5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F771B703-D858-4163-BDA2-A43C3C477997}"/>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D3269765-0BF6-4530-AD9E-35518443FED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8" name="Image 0">
            <a:extLst xmlns:a="http://schemas.openxmlformats.org/drawingml/2006/main">
              <a:ext uri="{FF2B5EF4-FFF2-40B4-BE49-F238E27FC236}">
                <a16:creationId xmlns:a16="http://schemas.microsoft.com/office/drawing/2014/main" id="{04431DCE-A20F-4671-9950-879B8BDDC422}"/>
              </a:ext>
            </a:extLst>
          </p:cNvPr>
          <p:cNvPicPr>
            <a:picLocks xmlns:a="http://schemas.openxmlformats.org/drawingml/2006/main" noChangeAspect="1"/>
          </p:cNvPicPr>
          <p:nvPr/>
        </p:nvPicPr>
        <p:blipFill>
          <a:blip xmlns:r="http://schemas.openxmlformats.org/officeDocument/2006/relationships" xmlns:a="http://schemas.openxmlformats.org/drawingml/2006/main" r:embed="R47b61ddc24b2443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9" name="Image 1">
            <a:extLst xmlns:a="http://schemas.openxmlformats.org/drawingml/2006/main">
              <a:ext uri="{FF2B5EF4-FFF2-40B4-BE49-F238E27FC236}">
                <a16:creationId xmlns:a16="http://schemas.microsoft.com/office/drawing/2014/main" id="{D2E8E28B-66B0-40C9-8BA8-DC89D0A6F956}"/>
              </a:ext>
            </a:extLst>
          </p:cNvPr>
          <p:cNvPicPr>
            <a:picLocks xmlns:a="http://schemas.openxmlformats.org/drawingml/2006/main" noChangeAspect="1"/>
          </p:cNvPicPr>
          <p:nvPr/>
        </p:nvPicPr>
        <p:blipFill>
          <a:blip xmlns:r="http://schemas.openxmlformats.org/officeDocument/2006/relationships" xmlns:a="http://schemas.openxmlformats.org/drawingml/2006/main" r:embed="R963eeb521dc44df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540B5AF-BA83-4E71-BFBA-808C0052209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182BFAF-7EEA-4527-AA25-F0DC24C1FB9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Image Layers - Union Filesystem</a:t>
            </a:r>
            <a:endParaRPr sz="2200"/>
          </a:p>
        </p:txBody>
      </p:sp>
      <p:sp>
        <p:nvSpPr>
          <p:cNvPr id="9" name="Text 5">
            <a:extLst xmlns:a="http://schemas.openxmlformats.org/drawingml/2006/main">
              <a:ext uri="{FF2B5EF4-FFF2-40B4-BE49-F238E27FC236}">
                <a16:creationId xmlns:a16="http://schemas.microsoft.com/office/drawing/2014/main" id="{A7533065-4ACB-47B3-A575-2F1BA3DA897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Image dibangun dari banyak layer - efisien &amp; shareable</a:t>
            </a:r>
            <a:endParaRPr sz="1200"/>
          </a:p>
        </p:txBody>
      </p:sp>
      <p:sp>
        <p:nvSpPr>
          <p:cNvPr id="10" name="Shape 6">
            <a:extLst xmlns:a="http://schemas.openxmlformats.org/drawingml/2006/main">
              <a:ext uri="{FF2B5EF4-FFF2-40B4-BE49-F238E27FC236}">
                <a16:creationId xmlns:a16="http://schemas.microsoft.com/office/drawing/2014/main" id="{692098C0-7A8B-482C-BB79-68A65659666D}"/>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DC630D50-CE05-4118-A895-DE583DA3B243}"/>
              </a:ext>
            </a:extLst>
          </p:cNvPr>
          <p:cNvSpPr>
            <a:spLocks xmlns:a="http://schemas.openxmlformats.org/drawingml/2006/main" noGrp="1"/>
          </p:cNvSpPr>
          <p:nvPr/>
        </p:nvSpPr>
        <p:spPr>
          <a:xfrm xmlns:a="http://schemas.openxmlformats.org/drawingml/2006/main">
            <a:off x="640080" y="155448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Anatomy Image: nginx:1.27</a:t>
            </a:r>
            <a:endParaRPr sz="1400"/>
          </a:p>
        </p:txBody>
      </p:sp>
      <p:sp>
        <p:nvSpPr>
          <p:cNvPr id="12" name="Shape 8">
            <a:extLst xmlns:a="http://schemas.openxmlformats.org/drawingml/2006/main">
              <a:ext uri="{FF2B5EF4-FFF2-40B4-BE49-F238E27FC236}">
                <a16:creationId xmlns:a16="http://schemas.microsoft.com/office/drawing/2014/main" id="{3ADE7510-1561-4F70-B50B-3C20067F57ED}"/>
              </a:ext>
            </a:extLst>
          </p:cNvPr>
          <p:cNvSpPr>
            <a:spLocks xmlns:a="http://schemas.openxmlformats.org/drawingml/2006/main" noGrp="1"/>
          </p:cNvSpPr>
          <p:nvPr/>
        </p:nvSpPr>
        <p:spPr>
          <a:xfrm xmlns:a="http://schemas.openxmlformats.org/drawingml/2006/main">
            <a:off x="640080" y="2011680"/>
            <a:ext cx="5212080" cy="54864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3" name="Text 9">
            <a:extLst xmlns:a="http://schemas.openxmlformats.org/drawingml/2006/main">
              <a:ext uri="{FF2B5EF4-FFF2-40B4-BE49-F238E27FC236}">
                <a16:creationId xmlns:a16="http://schemas.microsoft.com/office/drawing/2014/main" id="{26566982-EE3F-49E3-95A5-E6A340B43D2F}"/>
              </a:ext>
            </a:extLst>
          </p:cNvPr>
          <p:cNvSpPr>
            <a:spLocks xmlns:a="http://schemas.openxmlformats.org/drawingml/2006/main" noGrp="1"/>
          </p:cNvSpPr>
          <p:nvPr/>
        </p:nvSpPr>
        <p:spPr>
          <a:xfrm xmlns:a="http://schemas.openxmlformats.org/drawingml/2006/main">
            <a:off x="777240" y="201168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Container layer (writable)</a:t>
            </a:r>
            <a:endParaRPr sz="1100"/>
          </a:p>
        </p:txBody>
      </p:sp>
      <p:sp>
        <p:nvSpPr>
          <p:cNvPr id="14" name="Text 10">
            <a:extLst xmlns:a="http://schemas.openxmlformats.org/drawingml/2006/main">
              <a:ext uri="{FF2B5EF4-FFF2-40B4-BE49-F238E27FC236}">
                <a16:creationId xmlns:a16="http://schemas.microsoft.com/office/drawing/2014/main" id="{DFC1C4B3-546E-48F5-92A7-7F2BCFCFD1A6}"/>
              </a:ext>
            </a:extLst>
          </p:cNvPr>
          <p:cNvSpPr>
            <a:spLocks xmlns:a="http://schemas.openxmlformats.org/drawingml/2006/main" noGrp="1"/>
          </p:cNvSpPr>
          <p:nvPr/>
        </p:nvSpPr>
        <p:spPr>
          <a:xfrm xmlns:a="http://schemas.openxmlformats.org/drawingml/2006/main">
            <a:off x="4297680" y="201168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Saat container jalan</a:t>
            </a:r>
            <a:endParaRPr sz="900"/>
          </a:p>
        </p:txBody>
      </p:sp>
      <p:sp>
        <p:nvSpPr>
          <p:cNvPr id="15" name="Shape 11">
            <a:extLst xmlns:a="http://schemas.openxmlformats.org/drawingml/2006/main">
              <a:ext uri="{FF2B5EF4-FFF2-40B4-BE49-F238E27FC236}">
                <a16:creationId xmlns:a16="http://schemas.microsoft.com/office/drawing/2014/main" id="{E3137A06-CE39-4B90-B171-B8645D8C2322}"/>
              </a:ext>
            </a:extLst>
          </p:cNvPr>
          <p:cNvSpPr>
            <a:spLocks xmlns:a="http://schemas.openxmlformats.org/drawingml/2006/main" noGrp="1"/>
          </p:cNvSpPr>
          <p:nvPr/>
        </p:nvSpPr>
        <p:spPr>
          <a:xfrm xmlns:a="http://schemas.openxmlformats.org/drawingml/2006/main">
            <a:off x="640080" y="2651760"/>
            <a:ext cx="5212080" cy="548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6" name="Text 12">
            <a:extLst xmlns:a="http://schemas.openxmlformats.org/drawingml/2006/main">
              <a:ext uri="{FF2B5EF4-FFF2-40B4-BE49-F238E27FC236}">
                <a16:creationId xmlns:a16="http://schemas.microsoft.com/office/drawing/2014/main" id="{B89EDDC4-E16A-454C-AC3C-B632A012F71B}"/>
              </a:ext>
            </a:extLst>
          </p:cNvPr>
          <p:cNvSpPr>
            <a:spLocks xmlns:a="http://schemas.openxmlformats.org/drawingml/2006/main" noGrp="1"/>
          </p:cNvSpPr>
          <p:nvPr/>
        </p:nvSpPr>
        <p:spPr>
          <a:xfrm xmlns:a="http://schemas.openxmlformats.org/drawingml/2006/main">
            <a:off x="777240" y="265176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Layer 5: CMD ['nginx']</a:t>
            </a:r>
            <a:endParaRPr sz="1100"/>
          </a:p>
        </p:txBody>
      </p:sp>
      <p:sp>
        <p:nvSpPr>
          <p:cNvPr id="17" name="Text 13">
            <a:extLst xmlns:a="http://schemas.openxmlformats.org/drawingml/2006/main">
              <a:ext uri="{FF2B5EF4-FFF2-40B4-BE49-F238E27FC236}">
                <a16:creationId xmlns:a16="http://schemas.microsoft.com/office/drawing/2014/main" id="{BB40F8AC-8A12-49AC-A9EB-6D8B3FC5C7F3}"/>
              </a:ext>
            </a:extLst>
          </p:cNvPr>
          <p:cNvSpPr>
            <a:spLocks xmlns:a="http://schemas.openxmlformats.org/drawingml/2006/main" noGrp="1"/>
          </p:cNvSpPr>
          <p:nvPr/>
        </p:nvSpPr>
        <p:spPr>
          <a:xfrm xmlns:a="http://schemas.openxmlformats.org/drawingml/2006/main">
            <a:off x="4297680" y="26517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Read-only</a:t>
            </a:r>
            <a:endParaRPr sz="900"/>
          </a:p>
        </p:txBody>
      </p:sp>
      <p:sp>
        <p:nvSpPr>
          <p:cNvPr id="18" name="Shape 14">
            <a:extLst xmlns:a="http://schemas.openxmlformats.org/drawingml/2006/main">
              <a:ext uri="{FF2B5EF4-FFF2-40B4-BE49-F238E27FC236}">
                <a16:creationId xmlns:a16="http://schemas.microsoft.com/office/drawing/2014/main" id="{4F57A6BF-416A-46F8-8EAC-9239DB4E7F26}"/>
              </a:ext>
            </a:extLst>
          </p:cNvPr>
          <p:cNvSpPr>
            <a:spLocks xmlns:a="http://schemas.openxmlformats.org/drawingml/2006/main" noGrp="1"/>
          </p:cNvSpPr>
          <p:nvPr/>
        </p:nvSpPr>
        <p:spPr>
          <a:xfrm xmlns:a="http://schemas.openxmlformats.org/drawingml/2006/main">
            <a:off x="640080" y="3291840"/>
            <a:ext cx="5212080" cy="548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9" name="Text 15">
            <a:extLst xmlns:a="http://schemas.openxmlformats.org/drawingml/2006/main">
              <a:ext uri="{FF2B5EF4-FFF2-40B4-BE49-F238E27FC236}">
                <a16:creationId xmlns:a16="http://schemas.microsoft.com/office/drawing/2014/main" id="{3A23B4B0-B99D-4B9A-B92A-A47C1A89FCCF}"/>
              </a:ext>
            </a:extLst>
          </p:cNvPr>
          <p:cNvSpPr>
            <a:spLocks xmlns:a="http://schemas.openxmlformats.org/drawingml/2006/main" noGrp="1"/>
          </p:cNvSpPr>
          <p:nvPr/>
        </p:nvSpPr>
        <p:spPr>
          <a:xfrm xmlns:a="http://schemas.openxmlformats.org/drawingml/2006/main">
            <a:off x="777240" y="329184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Layer 4: EXPOSE 80</a:t>
            </a:r>
            <a:endParaRPr sz="1100"/>
          </a:p>
        </p:txBody>
      </p:sp>
      <p:sp>
        <p:nvSpPr>
          <p:cNvPr id="20" name="Text 16">
            <a:extLst xmlns:a="http://schemas.openxmlformats.org/drawingml/2006/main">
              <a:ext uri="{FF2B5EF4-FFF2-40B4-BE49-F238E27FC236}">
                <a16:creationId xmlns:a16="http://schemas.microsoft.com/office/drawing/2014/main" id="{39F99039-7B3D-4BF2-BBB4-E2F37FEF0691}"/>
              </a:ext>
            </a:extLst>
          </p:cNvPr>
          <p:cNvSpPr>
            <a:spLocks xmlns:a="http://schemas.openxmlformats.org/drawingml/2006/main" noGrp="1"/>
          </p:cNvSpPr>
          <p:nvPr/>
        </p:nvSpPr>
        <p:spPr>
          <a:xfrm xmlns:a="http://schemas.openxmlformats.org/drawingml/2006/main">
            <a:off x="4297680" y="329184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Read-only</a:t>
            </a:r>
            <a:endParaRPr sz="900"/>
          </a:p>
        </p:txBody>
      </p:sp>
      <p:sp>
        <p:nvSpPr>
          <p:cNvPr id="21" name="Shape 17">
            <a:extLst xmlns:a="http://schemas.openxmlformats.org/drawingml/2006/main">
              <a:ext uri="{FF2B5EF4-FFF2-40B4-BE49-F238E27FC236}">
                <a16:creationId xmlns:a16="http://schemas.microsoft.com/office/drawing/2014/main" id="{156E6623-1800-4D4E-8A61-4899C3453C81}"/>
              </a:ext>
            </a:extLst>
          </p:cNvPr>
          <p:cNvSpPr>
            <a:spLocks xmlns:a="http://schemas.openxmlformats.org/drawingml/2006/main" noGrp="1"/>
          </p:cNvSpPr>
          <p:nvPr/>
        </p:nvSpPr>
        <p:spPr>
          <a:xfrm xmlns:a="http://schemas.openxmlformats.org/drawingml/2006/main">
            <a:off x="640080" y="3931920"/>
            <a:ext cx="5212080" cy="548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2" name="Text 18">
            <a:extLst xmlns:a="http://schemas.openxmlformats.org/drawingml/2006/main">
              <a:ext uri="{FF2B5EF4-FFF2-40B4-BE49-F238E27FC236}">
                <a16:creationId xmlns:a16="http://schemas.microsoft.com/office/drawing/2014/main" id="{C1990907-1188-4D7A-AFC1-70D16ABF35B5}"/>
              </a:ext>
            </a:extLst>
          </p:cNvPr>
          <p:cNvSpPr>
            <a:spLocks xmlns:a="http://schemas.openxmlformats.org/drawingml/2006/main" noGrp="1"/>
          </p:cNvSpPr>
          <p:nvPr/>
        </p:nvSpPr>
        <p:spPr>
          <a:xfrm xmlns:a="http://schemas.openxmlformats.org/drawingml/2006/main">
            <a:off x="777240" y="393192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Layer 3: COPY nginx.conf</a:t>
            </a:r>
            <a:endParaRPr sz="1100"/>
          </a:p>
        </p:txBody>
      </p:sp>
      <p:sp>
        <p:nvSpPr>
          <p:cNvPr id="23" name="Text 19">
            <a:extLst xmlns:a="http://schemas.openxmlformats.org/drawingml/2006/main">
              <a:ext uri="{FF2B5EF4-FFF2-40B4-BE49-F238E27FC236}">
                <a16:creationId xmlns:a16="http://schemas.microsoft.com/office/drawing/2014/main" id="{8307B286-CB65-4A03-A457-14CB200C46E5}"/>
              </a:ext>
            </a:extLst>
          </p:cNvPr>
          <p:cNvSpPr>
            <a:spLocks xmlns:a="http://schemas.openxmlformats.org/drawingml/2006/main" noGrp="1"/>
          </p:cNvSpPr>
          <p:nvPr/>
        </p:nvSpPr>
        <p:spPr>
          <a:xfrm xmlns:a="http://schemas.openxmlformats.org/drawingml/2006/main">
            <a:off x="4297680" y="393192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Read-only</a:t>
            </a:r>
            <a:endParaRPr sz="900"/>
          </a:p>
        </p:txBody>
      </p:sp>
      <p:sp>
        <p:nvSpPr>
          <p:cNvPr id="24" name="Shape 20">
            <a:extLst xmlns:a="http://schemas.openxmlformats.org/drawingml/2006/main">
              <a:ext uri="{FF2B5EF4-FFF2-40B4-BE49-F238E27FC236}">
                <a16:creationId xmlns:a16="http://schemas.microsoft.com/office/drawing/2014/main" id="{D64B036B-F87A-4448-892B-8FEF8F42C8F9}"/>
              </a:ext>
            </a:extLst>
          </p:cNvPr>
          <p:cNvSpPr>
            <a:spLocks xmlns:a="http://schemas.openxmlformats.org/drawingml/2006/main" noGrp="1"/>
          </p:cNvSpPr>
          <p:nvPr/>
        </p:nvSpPr>
        <p:spPr>
          <a:xfrm xmlns:a="http://schemas.openxmlformats.org/drawingml/2006/main">
            <a:off x="640080" y="4572000"/>
            <a:ext cx="5212080" cy="548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5" name="Text 21">
            <a:extLst xmlns:a="http://schemas.openxmlformats.org/drawingml/2006/main">
              <a:ext uri="{FF2B5EF4-FFF2-40B4-BE49-F238E27FC236}">
                <a16:creationId xmlns:a16="http://schemas.microsoft.com/office/drawing/2014/main" id="{75F38A77-11C4-475A-B9FA-38CD10AC816F}"/>
              </a:ext>
            </a:extLst>
          </p:cNvPr>
          <p:cNvSpPr>
            <a:spLocks xmlns:a="http://schemas.openxmlformats.org/drawingml/2006/main" noGrp="1"/>
          </p:cNvSpPr>
          <p:nvPr/>
        </p:nvSpPr>
        <p:spPr>
          <a:xfrm xmlns:a="http://schemas.openxmlformats.org/drawingml/2006/main">
            <a:off x="777240" y="457200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Layer 2: RUN apt install nginx</a:t>
            </a:r>
            <a:endParaRPr sz="1100"/>
          </a:p>
        </p:txBody>
      </p:sp>
      <p:sp>
        <p:nvSpPr>
          <p:cNvPr id="26" name="Text 22">
            <a:extLst xmlns:a="http://schemas.openxmlformats.org/drawingml/2006/main">
              <a:ext uri="{FF2B5EF4-FFF2-40B4-BE49-F238E27FC236}">
                <a16:creationId xmlns:a16="http://schemas.microsoft.com/office/drawing/2014/main" id="{6A56EBFB-C167-4917-890F-3784F20CF1EA}"/>
              </a:ext>
            </a:extLst>
          </p:cNvPr>
          <p:cNvSpPr>
            <a:spLocks xmlns:a="http://schemas.openxmlformats.org/drawingml/2006/main" noGrp="1"/>
          </p:cNvSpPr>
          <p:nvPr/>
        </p:nvSpPr>
        <p:spPr>
          <a:xfrm xmlns:a="http://schemas.openxmlformats.org/drawingml/2006/main">
            <a:off x="4297680" y="457200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Read-only</a:t>
            </a:r>
            <a:endParaRPr sz="900"/>
          </a:p>
        </p:txBody>
      </p:sp>
      <p:sp>
        <p:nvSpPr>
          <p:cNvPr id="27" name="Shape 23">
            <a:extLst xmlns:a="http://schemas.openxmlformats.org/drawingml/2006/main">
              <a:ext uri="{FF2B5EF4-FFF2-40B4-BE49-F238E27FC236}">
                <a16:creationId xmlns:a16="http://schemas.microsoft.com/office/drawing/2014/main" id="{30156DD3-23BB-4445-9723-5E0F0E714416}"/>
              </a:ext>
            </a:extLst>
          </p:cNvPr>
          <p:cNvSpPr>
            <a:spLocks xmlns:a="http://schemas.openxmlformats.org/drawingml/2006/main" noGrp="1"/>
          </p:cNvSpPr>
          <p:nvPr/>
        </p:nvSpPr>
        <p:spPr>
          <a:xfrm xmlns:a="http://schemas.openxmlformats.org/drawingml/2006/main">
            <a:off x="640080" y="5212080"/>
            <a:ext cx="5212080" cy="54864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8" name="Text 24">
            <a:extLst xmlns:a="http://schemas.openxmlformats.org/drawingml/2006/main">
              <a:ext uri="{FF2B5EF4-FFF2-40B4-BE49-F238E27FC236}">
                <a16:creationId xmlns:a16="http://schemas.microsoft.com/office/drawing/2014/main" id="{ED4EF5D5-962F-4F58-846F-BFEED6C51B08}"/>
              </a:ext>
            </a:extLst>
          </p:cNvPr>
          <p:cNvSpPr>
            <a:spLocks xmlns:a="http://schemas.openxmlformats.org/drawingml/2006/main" noGrp="1"/>
          </p:cNvSpPr>
          <p:nvPr/>
        </p:nvSpPr>
        <p:spPr>
          <a:xfrm xmlns:a="http://schemas.openxmlformats.org/drawingml/2006/main">
            <a:off x="777240" y="5212080"/>
            <a:ext cx="3520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Layer 1: FROM debian:bookworm</a:t>
            </a:r>
            <a:endParaRPr sz="1100"/>
          </a:p>
        </p:txBody>
      </p:sp>
      <p:sp>
        <p:nvSpPr>
          <p:cNvPr id="29" name="Text 25">
            <a:extLst xmlns:a="http://schemas.openxmlformats.org/drawingml/2006/main">
              <a:ext uri="{FF2B5EF4-FFF2-40B4-BE49-F238E27FC236}">
                <a16:creationId xmlns:a16="http://schemas.microsoft.com/office/drawing/2014/main" id="{93AFA90C-04B9-46B7-B606-4C3F39A4148F}"/>
              </a:ext>
            </a:extLst>
          </p:cNvPr>
          <p:cNvSpPr>
            <a:spLocks xmlns:a="http://schemas.openxmlformats.org/drawingml/2006/main" noGrp="1"/>
          </p:cNvSpPr>
          <p:nvPr/>
        </p:nvSpPr>
        <p:spPr>
          <a:xfrm xmlns:a="http://schemas.openxmlformats.org/drawingml/2006/main">
            <a:off x="4297680" y="521208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FFFFFF"/>
                </a:solidFill>
                <a:latin typeface="Calibri"/>
                <a:ea typeface="Calibri"/>
                <a:cs typeface="Calibri"/>
              </a:rPr>
              <a:t>Base layer</a:t>
            </a:r>
            <a:endParaRPr sz="900"/>
          </a:p>
        </p:txBody>
      </p:sp>
      <p:sp>
        <p:nvSpPr>
          <p:cNvPr id="30" name="Shape 26">
            <a:extLst xmlns:a="http://schemas.openxmlformats.org/drawingml/2006/main">
              <a:ext uri="{FF2B5EF4-FFF2-40B4-BE49-F238E27FC236}">
                <a16:creationId xmlns:a16="http://schemas.microsoft.com/office/drawing/2014/main" id="{354491BA-98EF-4B01-9F9C-DD9BF9A04173}"/>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Text 27">
            <a:extLst xmlns:a="http://schemas.openxmlformats.org/drawingml/2006/main">
              <a:ext uri="{FF2B5EF4-FFF2-40B4-BE49-F238E27FC236}">
                <a16:creationId xmlns:a16="http://schemas.microsoft.com/office/drawing/2014/main" id="{A6066430-139B-4C37-8ABF-C96CF04758ED}"/>
              </a:ext>
            </a:extLst>
          </p:cNvPr>
          <p:cNvSpPr>
            <a:spLocks xmlns:a="http://schemas.openxmlformats.org/drawingml/2006/main" noGrp="1"/>
          </p:cNvSpPr>
          <p:nvPr/>
        </p:nvSpPr>
        <p:spPr>
          <a:xfrm xmlns:a="http://schemas.openxmlformats.org/drawingml/2006/main">
            <a:off x="6400800" y="1554480"/>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Kenapa pakai Layered FS?</a:t>
            </a:r>
            <a:endParaRPr sz="1400"/>
          </a:p>
        </p:txBody>
      </p:sp>
      <p:sp>
        <p:nvSpPr>
          <p:cNvPr id="32" name="Shape 28">
            <a:extLst xmlns:a="http://schemas.openxmlformats.org/drawingml/2006/main">
              <a:ext uri="{FF2B5EF4-FFF2-40B4-BE49-F238E27FC236}">
                <a16:creationId xmlns:a16="http://schemas.microsoft.com/office/drawing/2014/main" id="{E0089D1E-107F-4836-95A0-3A4493128576}"/>
              </a:ext>
            </a:extLst>
          </p:cNvPr>
          <p:cNvSpPr>
            <a:spLocks xmlns:a="http://schemas.openxmlformats.org/drawingml/2006/main" noGrp="1"/>
          </p:cNvSpPr>
          <p:nvPr/>
        </p:nvSpPr>
        <p:spPr>
          <a:xfrm xmlns:a="http://schemas.openxmlformats.org/drawingml/2006/main">
            <a:off x="6400800" y="2011680"/>
            <a:ext cx="5120640" cy="8686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86" name="Image 2">
            <a:extLst xmlns:a="http://schemas.openxmlformats.org/drawingml/2006/main">
              <a:ext uri="{FF2B5EF4-FFF2-40B4-BE49-F238E27FC236}">
                <a16:creationId xmlns:a16="http://schemas.microsoft.com/office/drawing/2014/main" id="{C8A08C43-60D5-45BC-AAAF-E95AD2E65657}"/>
              </a:ext>
            </a:extLst>
          </p:cNvPr>
          <p:cNvPicPr>
            <a:picLocks xmlns:a="http://schemas.openxmlformats.org/drawingml/2006/main" noChangeAspect="1"/>
          </p:cNvPicPr>
          <p:nvPr/>
        </p:nvPicPr>
        <p:blipFill>
          <a:blip xmlns:r="http://schemas.openxmlformats.org/officeDocument/2006/relationships" xmlns:a="http://schemas.openxmlformats.org/drawingml/2006/main" r:embed="R28c5c7eaeba84051"/>
          <a:stretch xmlns:a="http://schemas.openxmlformats.org/drawingml/2006/main">
            <a:fillRect l="0" t="0" r="0" b="0"/>
          </a:stretch>
        </p:blipFill>
        <p:spPr>
          <a:xfrm xmlns:a="http://schemas.openxmlformats.org/drawingml/2006/main">
            <a:off x="6537960" y="2194560"/>
            <a:ext cx="502920" cy="502920"/>
          </a:xfrm>
          <a:prstGeom xmlns:a="http://schemas.openxmlformats.org/drawingml/2006/main" prst="rect">
            <a:avLst/>
          </a:prstGeom>
        </p:spPr>
      </p:pic>
      <p:sp>
        <p:nvSpPr>
          <p:cNvPr id="34" name="Text 29">
            <a:extLst xmlns:a="http://schemas.openxmlformats.org/drawingml/2006/main">
              <a:ext uri="{FF2B5EF4-FFF2-40B4-BE49-F238E27FC236}">
                <a16:creationId xmlns:a16="http://schemas.microsoft.com/office/drawing/2014/main" id="{962C61DE-FF1B-42BA-B74E-1E2B554F0D9B}"/>
              </a:ext>
            </a:extLst>
          </p:cNvPr>
          <p:cNvSpPr>
            <a:spLocks xmlns:a="http://schemas.openxmlformats.org/drawingml/2006/main" noGrp="1"/>
          </p:cNvSpPr>
          <p:nvPr/>
        </p:nvSpPr>
        <p:spPr>
          <a:xfrm xmlns:a="http://schemas.openxmlformats.org/drawingml/2006/main">
            <a:off x="7178040" y="210312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Hemat Storage</a:t>
            </a:r>
            <a:endParaRPr sz="1300"/>
          </a:p>
        </p:txBody>
      </p:sp>
      <p:sp>
        <p:nvSpPr>
          <p:cNvPr id="35" name="Text 30">
            <a:extLst xmlns:a="http://schemas.openxmlformats.org/drawingml/2006/main">
              <a:ext uri="{FF2B5EF4-FFF2-40B4-BE49-F238E27FC236}">
                <a16:creationId xmlns:a16="http://schemas.microsoft.com/office/drawing/2014/main" id="{4218393E-8B13-4330-9BAC-8D481D1B0B44}"/>
              </a:ext>
            </a:extLst>
          </p:cNvPr>
          <p:cNvSpPr>
            <a:spLocks xmlns:a="http://schemas.openxmlformats.org/drawingml/2006/main" noGrp="1"/>
          </p:cNvSpPr>
          <p:nvPr/>
        </p:nvSpPr>
        <p:spPr>
          <a:xfrm xmlns:a="http://schemas.openxmlformats.org/drawingml/2006/main">
            <a:off x="7178040" y="24231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Layer yang sama (mis. ubuntu base) cuma disimpan sekali, di-share banyak image.</a:t>
            </a:r>
            <a:endParaRPr sz="1000"/>
          </a:p>
        </p:txBody>
      </p:sp>
      <p:sp>
        <p:nvSpPr>
          <p:cNvPr id="36" name="Shape 31">
            <a:extLst xmlns:a="http://schemas.openxmlformats.org/drawingml/2006/main">
              <a:ext uri="{FF2B5EF4-FFF2-40B4-BE49-F238E27FC236}">
                <a16:creationId xmlns:a16="http://schemas.microsoft.com/office/drawing/2014/main" id="{4C807483-C095-4011-9C46-57C975372001}"/>
              </a:ext>
            </a:extLst>
          </p:cNvPr>
          <p:cNvSpPr>
            <a:spLocks xmlns:a="http://schemas.openxmlformats.org/drawingml/2006/main" noGrp="1"/>
          </p:cNvSpPr>
          <p:nvPr/>
        </p:nvSpPr>
        <p:spPr>
          <a:xfrm xmlns:a="http://schemas.openxmlformats.org/drawingml/2006/main">
            <a:off x="6400800" y="2971800"/>
            <a:ext cx="5120640" cy="8686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90" name="Image 3">
            <a:extLst xmlns:a="http://schemas.openxmlformats.org/drawingml/2006/main">
              <a:ext uri="{FF2B5EF4-FFF2-40B4-BE49-F238E27FC236}">
                <a16:creationId xmlns:a16="http://schemas.microsoft.com/office/drawing/2014/main" id="{6D8D4BA6-FBF1-431A-AEDE-43D8420627F9}"/>
              </a:ext>
            </a:extLst>
          </p:cNvPr>
          <p:cNvPicPr>
            <a:picLocks xmlns:a="http://schemas.openxmlformats.org/drawingml/2006/main" noChangeAspect="1"/>
          </p:cNvPicPr>
          <p:nvPr/>
        </p:nvPicPr>
        <p:blipFill>
          <a:blip xmlns:r="http://schemas.openxmlformats.org/officeDocument/2006/relationships" xmlns:a="http://schemas.openxmlformats.org/drawingml/2006/main" r:embed="R1a222643113144a9"/>
          <a:stretch xmlns:a="http://schemas.openxmlformats.org/drawingml/2006/main">
            <a:fillRect l="0" t="0" r="0" b="0"/>
          </a:stretch>
        </p:blipFill>
        <p:spPr>
          <a:xfrm xmlns:a="http://schemas.openxmlformats.org/drawingml/2006/main">
            <a:off x="6537960" y="3154680"/>
            <a:ext cx="502920" cy="502920"/>
          </a:xfrm>
          <a:prstGeom xmlns:a="http://schemas.openxmlformats.org/drawingml/2006/main" prst="rect">
            <a:avLst/>
          </a:prstGeom>
        </p:spPr>
      </p:pic>
      <p:sp>
        <p:nvSpPr>
          <p:cNvPr id="38" name="Text 32">
            <a:extLst xmlns:a="http://schemas.openxmlformats.org/drawingml/2006/main">
              <a:ext uri="{FF2B5EF4-FFF2-40B4-BE49-F238E27FC236}">
                <a16:creationId xmlns:a16="http://schemas.microsoft.com/office/drawing/2014/main" id="{7317AFC4-0964-4D9A-A3A2-1B4E7385A002}"/>
              </a:ext>
            </a:extLst>
          </p:cNvPr>
          <p:cNvSpPr>
            <a:spLocks xmlns:a="http://schemas.openxmlformats.org/drawingml/2006/main" noGrp="1"/>
          </p:cNvSpPr>
          <p:nvPr/>
        </p:nvSpPr>
        <p:spPr>
          <a:xfrm xmlns:a="http://schemas.openxmlformats.org/drawingml/2006/main">
            <a:off x="7178040" y="306324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Pull Cepat</a:t>
            </a:r>
            <a:endParaRPr sz="1300"/>
          </a:p>
        </p:txBody>
      </p:sp>
      <p:sp>
        <p:nvSpPr>
          <p:cNvPr id="39" name="Text 33">
            <a:extLst xmlns:a="http://schemas.openxmlformats.org/drawingml/2006/main">
              <a:ext uri="{FF2B5EF4-FFF2-40B4-BE49-F238E27FC236}">
                <a16:creationId xmlns:a16="http://schemas.microsoft.com/office/drawing/2014/main" id="{C9549FAC-DC64-48D5-871B-66471F65C5C3}"/>
              </a:ext>
            </a:extLst>
          </p:cNvPr>
          <p:cNvSpPr>
            <a:spLocks xmlns:a="http://schemas.openxmlformats.org/drawingml/2006/main" noGrp="1"/>
          </p:cNvSpPr>
          <p:nvPr/>
        </p:nvSpPr>
        <p:spPr>
          <a:xfrm xmlns:a="http://schemas.openxmlformats.org/drawingml/2006/main">
            <a:off x="7178040" y="338328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Cuma download layer yang baru/berubah. Hemat bandwidth.</a:t>
            </a:r>
            <a:endParaRPr sz="1000"/>
          </a:p>
        </p:txBody>
      </p:sp>
      <p:sp>
        <p:nvSpPr>
          <p:cNvPr id="40" name="Shape 34">
            <a:extLst xmlns:a="http://schemas.openxmlformats.org/drawingml/2006/main">
              <a:ext uri="{FF2B5EF4-FFF2-40B4-BE49-F238E27FC236}">
                <a16:creationId xmlns:a16="http://schemas.microsoft.com/office/drawing/2014/main" id="{B9FBE869-A33C-4143-A2BE-744935E27DA2}"/>
              </a:ext>
            </a:extLst>
          </p:cNvPr>
          <p:cNvSpPr>
            <a:spLocks xmlns:a="http://schemas.openxmlformats.org/drawingml/2006/main" noGrp="1"/>
          </p:cNvSpPr>
          <p:nvPr/>
        </p:nvSpPr>
        <p:spPr>
          <a:xfrm xmlns:a="http://schemas.openxmlformats.org/drawingml/2006/main">
            <a:off x="6400800" y="3931920"/>
            <a:ext cx="5120640" cy="8686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94" name="Image 4">
            <a:extLst xmlns:a="http://schemas.openxmlformats.org/drawingml/2006/main">
              <a:ext uri="{FF2B5EF4-FFF2-40B4-BE49-F238E27FC236}">
                <a16:creationId xmlns:a16="http://schemas.microsoft.com/office/drawing/2014/main" id="{EB65845F-B76F-420D-A398-411BFA86814A}"/>
              </a:ext>
            </a:extLst>
          </p:cNvPr>
          <p:cNvPicPr>
            <a:picLocks xmlns:a="http://schemas.openxmlformats.org/drawingml/2006/main" noChangeAspect="1"/>
          </p:cNvPicPr>
          <p:nvPr/>
        </p:nvPicPr>
        <p:blipFill>
          <a:blip xmlns:r="http://schemas.openxmlformats.org/officeDocument/2006/relationships" xmlns:a="http://schemas.openxmlformats.org/drawingml/2006/main" r:embed="R7993167f895041a4"/>
          <a:stretch xmlns:a="http://schemas.openxmlformats.org/drawingml/2006/main">
            <a:fillRect l="0" t="0" r="0" b="0"/>
          </a:stretch>
        </p:blipFill>
        <p:spPr>
          <a:xfrm xmlns:a="http://schemas.openxmlformats.org/drawingml/2006/main">
            <a:off x="6537960" y="4114800"/>
            <a:ext cx="502920" cy="50292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73FA25E2-3CD7-4A16-93C6-44A4C67827C4}"/>
              </a:ext>
            </a:extLst>
          </p:cNvPr>
          <p:cNvSpPr>
            <a:spLocks xmlns:a="http://schemas.openxmlformats.org/drawingml/2006/main" noGrp="1"/>
          </p:cNvSpPr>
          <p:nvPr/>
        </p:nvSpPr>
        <p:spPr>
          <a:xfrm xmlns:a="http://schemas.openxmlformats.org/drawingml/2006/main">
            <a:off x="7178040" y="402336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Build Cache</a:t>
            </a:r>
            <a:endParaRPr sz="1300"/>
          </a:p>
        </p:txBody>
      </p:sp>
      <p:sp>
        <p:nvSpPr>
          <p:cNvPr id="43" name="Text 36">
            <a:extLst xmlns:a="http://schemas.openxmlformats.org/drawingml/2006/main">
              <a:ext uri="{FF2B5EF4-FFF2-40B4-BE49-F238E27FC236}">
                <a16:creationId xmlns:a16="http://schemas.microsoft.com/office/drawing/2014/main" id="{E7DB9B56-D167-4657-B9EA-F7847E1055AC}"/>
              </a:ext>
            </a:extLst>
          </p:cNvPr>
          <p:cNvSpPr>
            <a:spLocks xmlns:a="http://schemas.openxmlformats.org/drawingml/2006/main" noGrp="1"/>
          </p:cNvSpPr>
          <p:nvPr/>
        </p:nvSpPr>
        <p:spPr>
          <a:xfrm xmlns:a="http://schemas.openxmlformats.org/drawingml/2006/main">
            <a:off x="7178040" y="434340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Layer yang tidak berubah di-cache saat rebuild. Build cepat.</a:t>
            </a:r>
            <a:endParaRPr sz="1000"/>
          </a:p>
        </p:txBody>
      </p:sp>
      <p:sp>
        <p:nvSpPr>
          <p:cNvPr id="44" name="Shape 37">
            <a:extLst xmlns:a="http://schemas.openxmlformats.org/drawingml/2006/main">
              <a:ext uri="{FF2B5EF4-FFF2-40B4-BE49-F238E27FC236}">
                <a16:creationId xmlns:a16="http://schemas.microsoft.com/office/drawing/2014/main" id="{95998C67-3ADD-4856-8A50-AFD99AD45FD8}"/>
              </a:ext>
            </a:extLst>
          </p:cNvPr>
          <p:cNvSpPr>
            <a:spLocks xmlns:a="http://schemas.openxmlformats.org/drawingml/2006/main" noGrp="1"/>
          </p:cNvSpPr>
          <p:nvPr/>
        </p:nvSpPr>
        <p:spPr>
          <a:xfrm xmlns:a="http://schemas.openxmlformats.org/drawingml/2006/main">
            <a:off x="6400800" y="4892040"/>
            <a:ext cx="5120640" cy="8686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pic>
        <p:nvPicPr>
          <p:cNvPr id="98" name="Image 5">
            <a:extLst xmlns:a="http://schemas.openxmlformats.org/drawingml/2006/main">
              <a:ext uri="{FF2B5EF4-FFF2-40B4-BE49-F238E27FC236}">
                <a16:creationId xmlns:a16="http://schemas.microsoft.com/office/drawing/2014/main" id="{CBF87C58-2564-489A-B439-F0722427CE14}"/>
              </a:ext>
            </a:extLst>
          </p:cNvPr>
          <p:cNvPicPr>
            <a:picLocks xmlns:a="http://schemas.openxmlformats.org/drawingml/2006/main" noChangeAspect="1"/>
          </p:cNvPicPr>
          <p:nvPr/>
        </p:nvPicPr>
        <p:blipFill>
          <a:blip xmlns:r="http://schemas.openxmlformats.org/officeDocument/2006/relationships" xmlns:a="http://schemas.openxmlformats.org/drawingml/2006/main" r:embed="Rd43392d82dfc454b"/>
          <a:stretch xmlns:a="http://schemas.openxmlformats.org/drawingml/2006/main">
            <a:fillRect l="0" t="0" r="0" b="0"/>
          </a:stretch>
        </p:blipFill>
        <p:spPr>
          <a:xfrm xmlns:a="http://schemas.openxmlformats.org/drawingml/2006/main">
            <a:off x="6537960" y="5074920"/>
            <a:ext cx="502920" cy="502920"/>
          </a:xfrm>
          <a:prstGeom xmlns:a="http://schemas.openxmlformats.org/drawingml/2006/main" prst="rect">
            <a:avLst/>
          </a:prstGeom>
        </p:spPr>
      </p:pic>
      <p:sp>
        <p:nvSpPr>
          <p:cNvPr id="46" name="Text 38">
            <a:extLst xmlns:a="http://schemas.openxmlformats.org/drawingml/2006/main">
              <a:ext uri="{FF2B5EF4-FFF2-40B4-BE49-F238E27FC236}">
                <a16:creationId xmlns:a16="http://schemas.microsoft.com/office/drawing/2014/main" id="{F4BA7E59-CCD3-4110-89A8-AD5195BD5ECA}"/>
              </a:ext>
            </a:extLst>
          </p:cNvPr>
          <p:cNvSpPr>
            <a:spLocks xmlns:a="http://schemas.openxmlformats.org/drawingml/2006/main" noGrp="1"/>
          </p:cNvSpPr>
          <p:nvPr/>
        </p:nvSpPr>
        <p:spPr>
          <a:xfrm xmlns:a="http://schemas.openxmlformats.org/drawingml/2006/main">
            <a:off x="7178040" y="498348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Auditable</a:t>
            </a:r>
            <a:endParaRPr sz="1300"/>
          </a:p>
        </p:txBody>
      </p:sp>
      <p:sp>
        <p:nvSpPr>
          <p:cNvPr id="47" name="Text 39">
            <a:extLst xmlns:a="http://schemas.openxmlformats.org/drawingml/2006/main">
              <a:ext uri="{FF2B5EF4-FFF2-40B4-BE49-F238E27FC236}">
                <a16:creationId xmlns:a16="http://schemas.microsoft.com/office/drawing/2014/main" id="{FFAAC1E4-3CA7-43E0-9575-81D53EF8471F}"/>
              </a:ext>
            </a:extLst>
          </p:cNvPr>
          <p:cNvSpPr>
            <a:spLocks xmlns:a="http://schemas.openxmlformats.org/drawingml/2006/main" noGrp="1"/>
          </p:cNvSpPr>
          <p:nvPr/>
        </p:nvSpPr>
        <p:spPr>
          <a:xfrm xmlns:a="http://schemas.openxmlformats.org/drawingml/2006/main">
            <a:off x="7178040" y="530352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Tiap layer = 1 instruksi Dockerfile. Mudah debug.</a:t>
            </a:r>
            <a:endParaRPr sz="1000"/>
          </a:p>
        </p:txBody>
      </p:sp>
      <p:sp>
        <p:nvSpPr>
          <p:cNvPr id="48" name="Text 40">
            <a:extLst xmlns:a="http://schemas.openxmlformats.org/drawingml/2006/main">
              <a:ext uri="{FF2B5EF4-FFF2-40B4-BE49-F238E27FC236}">
                <a16:creationId xmlns:a16="http://schemas.microsoft.com/office/drawing/2014/main" id="{17E121A0-5C33-4BB1-9AE4-61A3AE31A18D}"/>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Cek layer image: </a:t>
            </a:r>
            <a:r>
              <a:rPr sz="1100" b="1" i="1">
                <a:solidFill>
                  <a:srgbClr val="002677"/>
                </a:solidFill>
                <a:latin typeface="Consolas"/>
                <a:ea typeface="Consolas"/>
                <a:cs typeface="Consolas"/>
              </a:rPr>
              <a:t>docker history &lt;image&gt;</a:t>
            </a:r>
            <a:r>
              <a:rPr sz="1100" i="1">
                <a:solidFill>
                  <a:srgbClr val="1E293B"/>
                </a:solidFill>
                <a:latin typeface="Calibri"/>
                <a:ea typeface="Calibri"/>
                <a:cs typeface="Calibri"/>
              </a:rPr>
              <a:t>  |  Tiap baris Dockerfile = 1 layer baru.</a:t>
            </a:r>
            <a:endParaRPr sz="1100"/>
          </a:p>
        </p:txBody>
      </p:sp>
    </p:spTree>
    <p:extLst>
      <p:ext uri="{BB962C8B-B14F-4D97-AF65-F5344CB8AC3E}">
        <p14:creationId xmlns:p14="http://schemas.microsoft.com/office/powerpoint/2010/main" val="18064237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196D42-2AC3-435A-8A48-F1BE445AAC8D}"/>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4C348E98-A38D-40F0-88A3-CBA11A984A1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26</a:t>
            </a:r>
            <a:endParaRPr sz="900"/>
          </a:p>
        </p:txBody>
      </p:sp>
      <p:sp>
        <p:nvSpPr>
          <p:cNvPr id="4" name="Shape 2">
            <a:extLst xmlns:a="http://schemas.openxmlformats.org/drawingml/2006/main">
              <a:ext uri="{FF2B5EF4-FFF2-40B4-BE49-F238E27FC236}">
                <a16:creationId xmlns:a16="http://schemas.microsoft.com/office/drawing/2014/main" id="{A0C79286-164A-40DC-924E-CB7250DA209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a:extLst xmlns:a="http://schemas.openxmlformats.org/drawingml/2006/main">
              <a:ext uri="{FF2B5EF4-FFF2-40B4-BE49-F238E27FC236}">
                <a16:creationId xmlns:a16="http://schemas.microsoft.com/office/drawing/2014/main" id="{D3870C0E-1B57-4782-8B99-C102A9BD8A87}"/>
              </a:ext>
            </a:extLst>
          </p:cNvPr>
          <p:cNvPicPr>
            <a:picLocks xmlns:a="http://schemas.openxmlformats.org/drawingml/2006/main" noChangeAspect="1"/>
          </p:cNvPicPr>
          <p:nvPr/>
        </p:nvPicPr>
        <p:blipFill>
          <a:blip xmlns:r="http://schemas.openxmlformats.org/officeDocument/2006/relationships" xmlns:a="http://schemas.openxmlformats.org/drawingml/2006/main" r:embed="Ra8c4670af1bd4ebb"/>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a:extLst xmlns:a="http://schemas.openxmlformats.org/drawingml/2006/main">
              <a:ext uri="{FF2B5EF4-FFF2-40B4-BE49-F238E27FC236}">
                <a16:creationId xmlns:a16="http://schemas.microsoft.com/office/drawing/2014/main" id="{C161B9D2-3571-4108-BC36-659560427F4F}"/>
              </a:ext>
            </a:extLst>
          </p:cNvPr>
          <p:cNvPicPr>
            <a:picLocks xmlns:a="http://schemas.openxmlformats.org/drawingml/2006/main" noChangeAspect="1"/>
          </p:cNvPicPr>
          <p:nvPr/>
        </p:nvPicPr>
        <p:blipFill>
          <a:blip xmlns:r="http://schemas.openxmlformats.org/officeDocument/2006/relationships" xmlns:a="http://schemas.openxmlformats.org/drawingml/2006/main" r:embed="R83552aa861194e9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05A8BE57-9786-415E-BFCB-813FFE86FBC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9B7AE702-8356-4253-AD40-35056334263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Persistent Storage - Volumes</a:t>
            </a:r>
            <a:endParaRPr sz="2200"/>
          </a:p>
        </p:txBody>
      </p:sp>
      <p:sp>
        <p:nvSpPr>
          <p:cNvPr id="9" name="Text 5">
            <a:extLst xmlns:a="http://schemas.openxmlformats.org/drawingml/2006/main">
              <a:ext uri="{FF2B5EF4-FFF2-40B4-BE49-F238E27FC236}">
                <a16:creationId xmlns:a16="http://schemas.microsoft.com/office/drawing/2014/main" id="{87BFE231-E9BF-4EC2-B372-5791D039D246}"/>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Container ephemeral - tapi data harus tetap ada</a:t>
            </a:r>
            <a:endParaRPr sz="1200"/>
          </a:p>
        </p:txBody>
      </p:sp>
      <p:sp>
        <p:nvSpPr>
          <p:cNvPr id="10" name="Shape 6">
            <a:extLst xmlns:a="http://schemas.openxmlformats.org/drawingml/2006/main">
              <a:ext uri="{FF2B5EF4-FFF2-40B4-BE49-F238E27FC236}">
                <a16:creationId xmlns:a16="http://schemas.microsoft.com/office/drawing/2014/main" id="{45C88D36-425D-4FD7-8DB4-3221AC944A41}"/>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1" name="Image 2">
            <a:extLst xmlns:a="http://schemas.openxmlformats.org/drawingml/2006/main">
              <a:ext uri="{FF2B5EF4-FFF2-40B4-BE49-F238E27FC236}">
                <a16:creationId xmlns:a16="http://schemas.microsoft.com/office/drawing/2014/main" id="{779FC1D6-68BD-41B6-B9AA-14647E2CF1D4}"/>
              </a:ext>
            </a:extLst>
          </p:cNvPr>
          <p:cNvPicPr>
            <a:picLocks xmlns:a="http://schemas.openxmlformats.org/drawingml/2006/main" noChangeAspect="1"/>
          </p:cNvPicPr>
          <p:nvPr/>
        </p:nvPicPr>
        <p:blipFill>
          <a:blip xmlns:r="http://schemas.openxmlformats.org/officeDocument/2006/relationships" xmlns:a="http://schemas.openxmlformats.org/drawingml/2006/main" r:embed="R09d1ce36e5294f6f"/>
          <a:stretch xmlns:a="http://schemas.openxmlformats.org/drawingml/2006/main">
            <a:fillRect l="0" t="0" r="0" b="0"/>
          </a:stretch>
        </p:blipFill>
        <p:spPr>
          <a:xfrm xmlns:a="http://schemas.openxmlformats.org/drawingml/2006/main">
            <a:off x="777240" y="160020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C7ACF8BE-9E64-41BF-A597-95458399EAB1}"/>
              </a:ext>
            </a:extLst>
          </p:cNvPr>
          <p:cNvSpPr>
            <a:spLocks xmlns:a="http://schemas.openxmlformats.org/drawingml/2006/main" noGrp="1"/>
          </p:cNvSpPr>
          <p:nvPr/>
        </p:nvSpPr>
        <p:spPr>
          <a:xfrm xmlns:a="http://schemas.openxmlformats.org/drawingml/2006/main">
            <a:off x="1508760" y="150876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37021"/>
                </a:solidFill>
                <a:latin typeface="Calibri"/>
                <a:ea typeface="Calibri"/>
                <a:cs typeface="Calibri"/>
              </a:rPr>
              <a:t>Masalah: </a:t>
            </a:r>
            <a:endParaRPr sz="1400"/>
          </a:p>
        </p:txBody>
      </p:sp>
      <p:sp>
        <p:nvSpPr>
          <p:cNvPr id="13" name="Text 8">
            <a:extLst xmlns:a="http://schemas.openxmlformats.org/drawingml/2006/main">
              <a:ext uri="{FF2B5EF4-FFF2-40B4-BE49-F238E27FC236}">
                <a16:creationId xmlns:a16="http://schemas.microsoft.com/office/drawing/2014/main" id="{07BE359F-9749-43BE-9D55-4D51D45F5CFA}"/>
              </a:ext>
            </a:extLst>
          </p:cNvPr>
          <p:cNvSpPr>
            <a:spLocks xmlns:a="http://schemas.openxmlformats.org/drawingml/2006/main" noGrp="1"/>
          </p:cNvSpPr>
          <p:nvPr/>
        </p:nvSpPr>
        <p:spPr>
          <a:xfrm xmlns:a="http://schemas.openxmlformats.org/drawingml/2006/main">
            <a:off x="2743200" y="1508760"/>
            <a:ext cx="868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data di container hilang saat container dihapus.</a:t>
            </a:r>
            <a:endParaRPr sz="1400"/>
          </a:p>
        </p:txBody>
      </p:sp>
      <p:sp>
        <p:nvSpPr>
          <p:cNvPr id="14" name="Text 9">
            <a:extLst xmlns:a="http://schemas.openxmlformats.org/drawingml/2006/main">
              <a:ext uri="{FF2B5EF4-FFF2-40B4-BE49-F238E27FC236}">
                <a16:creationId xmlns:a16="http://schemas.microsoft.com/office/drawing/2014/main" id="{A8863D54-9F7E-4F00-885E-F92534AA1BDF}"/>
              </a:ext>
            </a:extLst>
          </p:cNvPr>
          <p:cNvSpPr>
            <a:spLocks xmlns:a="http://schemas.openxmlformats.org/drawingml/2006/main" noGrp="1"/>
          </p:cNvSpPr>
          <p:nvPr/>
        </p:nvSpPr>
        <p:spPr>
          <a:xfrm xmlns:a="http://schemas.openxmlformats.org/drawingml/2006/main">
            <a:off x="1508760" y="1874520"/>
            <a:ext cx="99212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FFE0B2"/>
                </a:solidFill>
                <a:latin typeface="Calibri"/>
                <a:ea typeface="Calibri"/>
                <a:cs typeface="Calibri"/>
              </a:rPr>
              <a:t>Solusi: simpan data di luar container - di host filesystem - lewat volume.</a:t>
            </a:r>
            <a:endParaRPr sz="1100"/>
          </a:p>
        </p:txBody>
      </p:sp>
      <p:sp>
        <p:nvSpPr>
          <p:cNvPr id="15" name="Shape 10">
            <a:extLst xmlns:a="http://schemas.openxmlformats.org/drawingml/2006/main">
              <a:ext uri="{FF2B5EF4-FFF2-40B4-BE49-F238E27FC236}">
                <a16:creationId xmlns:a16="http://schemas.microsoft.com/office/drawing/2014/main" id="{D10262CB-43A4-47B7-A91B-E5F2BF32CD10}"/>
              </a:ext>
            </a:extLst>
          </p:cNvPr>
          <p:cNvSpPr>
            <a:spLocks xmlns:a="http://schemas.openxmlformats.org/drawingml/2006/main" noGrp="1"/>
          </p:cNvSpPr>
          <p:nvPr/>
        </p:nvSpPr>
        <p:spPr>
          <a:xfrm xmlns:a="http://schemas.openxmlformats.org/drawingml/2006/main">
            <a:off x="457200" y="2514600"/>
            <a:ext cx="3657600" cy="3749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6" name="Shape 11">
            <a:extLst xmlns:a="http://schemas.openxmlformats.org/drawingml/2006/main">
              <a:ext uri="{FF2B5EF4-FFF2-40B4-BE49-F238E27FC236}">
                <a16:creationId xmlns:a16="http://schemas.microsoft.com/office/drawing/2014/main" id="{C057082F-F822-416E-833A-88B971A20524}"/>
              </a:ext>
            </a:extLst>
          </p:cNvPr>
          <p:cNvSpPr>
            <a:spLocks xmlns:a="http://schemas.openxmlformats.org/drawingml/2006/main" noGrp="1"/>
          </p:cNvSpPr>
          <p:nvPr/>
        </p:nvSpPr>
        <p:spPr>
          <a:xfrm xmlns:a="http://schemas.openxmlformats.org/drawingml/2006/main">
            <a:off x="457200" y="2514600"/>
            <a:ext cx="3657600" cy="54864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7" name="Text 12">
            <a:extLst xmlns:a="http://schemas.openxmlformats.org/drawingml/2006/main">
              <a:ext uri="{FF2B5EF4-FFF2-40B4-BE49-F238E27FC236}">
                <a16:creationId xmlns:a16="http://schemas.microsoft.com/office/drawing/2014/main" id="{05891DE5-35D9-4E13-93A6-8AD88A11C024}"/>
              </a:ext>
            </a:extLst>
          </p:cNvPr>
          <p:cNvSpPr>
            <a:spLocks xmlns:a="http://schemas.openxmlformats.org/drawingml/2006/main" noGrp="1"/>
          </p:cNvSpPr>
          <p:nvPr/>
        </p:nvSpPr>
        <p:spPr>
          <a:xfrm xmlns:a="http://schemas.openxmlformats.org/drawingml/2006/main">
            <a:off x="457200" y="2514600"/>
            <a:ext cx="3657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Named Volume</a:t>
            </a:r>
            <a:endParaRPr sz="1400"/>
          </a:p>
        </p:txBody>
      </p:sp>
      <p:sp>
        <p:nvSpPr>
          <p:cNvPr id="18" name="Text 13">
            <a:extLst xmlns:a="http://schemas.openxmlformats.org/drawingml/2006/main">
              <a:ext uri="{FF2B5EF4-FFF2-40B4-BE49-F238E27FC236}">
                <a16:creationId xmlns:a16="http://schemas.microsoft.com/office/drawing/2014/main" id="{4B9E40F7-B9E9-4D5F-8CEC-4AD3C0AAFE79}"/>
              </a:ext>
            </a:extLst>
          </p:cNvPr>
          <p:cNvSpPr>
            <a:spLocks xmlns:a="http://schemas.openxmlformats.org/drawingml/2006/main" noGrp="1"/>
          </p:cNvSpPr>
          <p:nvPr/>
        </p:nvSpPr>
        <p:spPr>
          <a:xfrm xmlns:a="http://schemas.openxmlformats.org/drawingml/2006/main">
            <a:off x="594360" y="3200400"/>
            <a:ext cx="338328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Docker mengelola storage volume. Password contoh kelas: lab-demo. PostgreSQL 17 memakai target data pada command ini.</a:t>
            </a:r>
            <a:endParaRPr sz="1050"/>
          </a:p>
        </p:txBody>
      </p:sp>
      <p:sp>
        <p:nvSpPr>
          <p:cNvPr id="19" name="Shape 14">
            <a:extLst xmlns:a="http://schemas.openxmlformats.org/drawingml/2006/main">
              <a:ext uri="{FF2B5EF4-FFF2-40B4-BE49-F238E27FC236}">
                <a16:creationId xmlns:a16="http://schemas.microsoft.com/office/drawing/2014/main" id="{E14E7F80-7BB7-4511-97E8-341AF5E61DC9}"/>
              </a:ext>
            </a:extLst>
          </p:cNvPr>
          <p:cNvSpPr>
            <a:spLocks xmlns:a="http://schemas.openxmlformats.org/drawingml/2006/main" noGrp="1"/>
          </p:cNvSpPr>
          <p:nvPr/>
        </p:nvSpPr>
        <p:spPr>
          <a:xfrm xmlns:a="http://schemas.openxmlformats.org/drawingml/2006/main">
            <a:off x="594360" y="4343400"/>
            <a:ext cx="3383280" cy="5943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0" name="Text 15">
            <a:extLst xmlns:a="http://schemas.openxmlformats.org/drawingml/2006/main">
              <a:ext uri="{FF2B5EF4-FFF2-40B4-BE49-F238E27FC236}">
                <a16:creationId xmlns:a16="http://schemas.microsoft.com/office/drawing/2014/main" id="{CAEEE46A-8955-4247-96C7-73020EF19B5F}"/>
              </a:ext>
            </a:extLst>
          </p:cNvPr>
          <p:cNvSpPr>
            <a:spLocks xmlns:a="http://schemas.openxmlformats.org/drawingml/2006/main" noGrp="1"/>
          </p:cNvSpPr>
          <p:nvPr/>
        </p:nvSpPr>
        <p:spPr>
          <a:xfrm xmlns:a="http://schemas.openxmlformats.org/drawingml/2006/main">
            <a:off x="640080" y="4343400"/>
            <a:ext cx="32918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E2E8F0"/>
                </a:solidFill>
                <a:latin typeface="Consolas"/>
                <a:ea typeface="Consolas"/>
                <a:cs typeface="Consolas"/>
              </a:rPr>
              <a:t>docker run --rm -e POSTGRES_PASSWORD=lab-demo \</a:t>
            </a:r>
            <a:endParaRPr sz="900"/>
          </a:p>
          <a:p xmlns:a="http://schemas.openxmlformats.org/drawingml/2006/main">
            <a:pPr marL="0" indent="0">
              <a:buNone/>
            </a:pPr>
            <a:r>
              <a:rPr sz="900">
                <a:solidFill>
                  <a:srgbClr val="E2E8F0"/>
                </a:solidFill>
                <a:latin typeface="Consolas"/>
                <a:ea typeface="Consolas"/>
                <a:cs typeface="Consolas"/>
              </a:rPr>
              <a:t>  -v db_data:/var/lib/postgresql/data \</a:t>
            </a:r>
          </a:p>
          <a:p xmlns:a="http://schemas.openxmlformats.org/drawingml/2006/main">
            <a:pPr marL="0" indent="0">
              <a:buNone/>
            </a:pPr>
            <a:r>
              <a:rPr sz="900">
                <a:solidFill>
                  <a:srgbClr val="E2E8F0"/>
                </a:solidFill>
                <a:latin typeface="Consolas"/>
                <a:ea typeface="Consolas"/>
                <a:cs typeface="Consolas"/>
              </a:rPr>
              <a:t>  postgres:17-alpine</a:t>
            </a:r>
          </a:p>
        </p:txBody>
      </p:sp>
      <p:sp>
        <p:nvSpPr>
          <p:cNvPr id="21" name="Text 16">
            <a:extLst xmlns:a="http://schemas.openxmlformats.org/drawingml/2006/main">
              <a:ext uri="{FF2B5EF4-FFF2-40B4-BE49-F238E27FC236}">
                <a16:creationId xmlns:a16="http://schemas.microsoft.com/office/drawing/2014/main" id="{E491CBBC-D405-43A8-B249-62B6FAE07B7C}"/>
              </a:ext>
            </a:extLst>
          </p:cNvPr>
          <p:cNvSpPr>
            <a:spLocks xmlns:a="http://schemas.openxmlformats.org/drawingml/2006/main" noGrp="1"/>
          </p:cNvSpPr>
          <p:nvPr/>
        </p:nvSpPr>
        <p:spPr>
          <a:xfrm xmlns:a="http://schemas.openxmlformats.org/drawingml/2006/main">
            <a:off x="594360" y="502920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 Portable, di-manage Docker, backup mudah</a:t>
            </a:r>
            <a:endParaRPr sz="1000"/>
          </a:p>
        </p:txBody>
      </p:sp>
      <p:sp>
        <p:nvSpPr>
          <p:cNvPr id="22" name="Text 17">
            <a:extLst xmlns:a="http://schemas.openxmlformats.org/drawingml/2006/main">
              <a:ext uri="{FF2B5EF4-FFF2-40B4-BE49-F238E27FC236}">
                <a16:creationId xmlns:a16="http://schemas.microsoft.com/office/drawing/2014/main" id="{808639AA-FAFA-4D09-B490-36DC3554FF4B}"/>
              </a:ext>
            </a:extLst>
          </p:cNvPr>
          <p:cNvSpPr>
            <a:spLocks xmlns:a="http://schemas.openxmlformats.org/drawingml/2006/main" noGrp="1"/>
          </p:cNvSpPr>
          <p:nvPr/>
        </p:nvSpPr>
        <p:spPr>
          <a:xfrm xmlns:a="http://schemas.openxmlformats.org/drawingml/2006/main">
            <a:off x="594360" y="544068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 Path tidak intuitif</a:t>
            </a:r>
            <a:endParaRPr sz="1000"/>
          </a:p>
        </p:txBody>
      </p:sp>
      <p:sp>
        <p:nvSpPr>
          <p:cNvPr id="23" name="Shape 18">
            <a:extLst xmlns:a="http://schemas.openxmlformats.org/drawingml/2006/main">
              <a:ext uri="{FF2B5EF4-FFF2-40B4-BE49-F238E27FC236}">
                <a16:creationId xmlns:a16="http://schemas.microsoft.com/office/drawing/2014/main" id="{6B8554F6-C44E-4EED-B348-960ADEFCD809}"/>
              </a:ext>
            </a:extLst>
          </p:cNvPr>
          <p:cNvSpPr>
            <a:spLocks xmlns:a="http://schemas.openxmlformats.org/drawingml/2006/main" noGrp="1"/>
          </p:cNvSpPr>
          <p:nvPr/>
        </p:nvSpPr>
        <p:spPr>
          <a:xfrm xmlns:a="http://schemas.openxmlformats.org/drawingml/2006/main">
            <a:off x="4297680" y="2514600"/>
            <a:ext cx="3657600" cy="3749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4" name="Shape 19">
            <a:extLst xmlns:a="http://schemas.openxmlformats.org/drawingml/2006/main">
              <a:ext uri="{FF2B5EF4-FFF2-40B4-BE49-F238E27FC236}">
                <a16:creationId xmlns:a16="http://schemas.microsoft.com/office/drawing/2014/main" id="{E8844B36-D360-47BE-B4BD-F8D2C55BBBE0}"/>
              </a:ext>
            </a:extLst>
          </p:cNvPr>
          <p:cNvSpPr>
            <a:spLocks xmlns:a="http://schemas.openxmlformats.org/drawingml/2006/main" noGrp="1"/>
          </p:cNvSpPr>
          <p:nvPr/>
        </p:nvSpPr>
        <p:spPr>
          <a:xfrm xmlns:a="http://schemas.openxmlformats.org/drawingml/2006/main">
            <a:off x="4297680" y="2514600"/>
            <a:ext cx="3657600" cy="548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5" name="Text 20">
            <a:extLst xmlns:a="http://schemas.openxmlformats.org/drawingml/2006/main">
              <a:ext uri="{FF2B5EF4-FFF2-40B4-BE49-F238E27FC236}">
                <a16:creationId xmlns:a16="http://schemas.microsoft.com/office/drawing/2014/main" id="{F3F8CA02-21B9-4A56-AAE3-EA85A671EFC7}"/>
              </a:ext>
            </a:extLst>
          </p:cNvPr>
          <p:cNvSpPr>
            <a:spLocks xmlns:a="http://schemas.openxmlformats.org/drawingml/2006/main" noGrp="1"/>
          </p:cNvSpPr>
          <p:nvPr/>
        </p:nvSpPr>
        <p:spPr>
          <a:xfrm xmlns:a="http://schemas.openxmlformats.org/drawingml/2006/main">
            <a:off x="4297680" y="2514600"/>
            <a:ext cx="3657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Bind Mount (Bash)</a:t>
            </a:r>
            <a:endParaRPr sz="1400"/>
          </a:p>
        </p:txBody>
      </p:sp>
      <p:sp>
        <p:nvSpPr>
          <p:cNvPr id="26" name="Text 21">
            <a:extLst xmlns:a="http://schemas.openxmlformats.org/drawingml/2006/main">
              <a:ext uri="{FF2B5EF4-FFF2-40B4-BE49-F238E27FC236}">
                <a16:creationId xmlns:a16="http://schemas.microsoft.com/office/drawing/2014/main" id="{D7D1EEB7-7E9A-4E0A-B968-F2C5C42C499E}"/>
              </a:ext>
            </a:extLst>
          </p:cNvPr>
          <p:cNvSpPr>
            <a:spLocks xmlns:a="http://schemas.openxmlformats.org/drawingml/2006/main" noGrp="1"/>
          </p:cNvSpPr>
          <p:nvPr/>
        </p:nvSpPr>
        <p:spPr>
          <a:xfrm xmlns:a="http://schemas.openxmlformats.org/drawingml/2006/main">
            <a:off x="4434840" y="3200400"/>
            <a:ext cx="338328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Mount folder host ke container. Contoh Bash Linux: source app/ harus ada.</a:t>
            </a:r>
            <a:endParaRPr sz="1050"/>
          </a:p>
        </p:txBody>
      </p:sp>
      <p:sp>
        <p:nvSpPr>
          <p:cNvPr id="27" name="Shape 22">
            <a:extLst xmlns:a="http://schemas.openxmlformats.org/drawingml/2006/main">
              <a:ext uri="{FF2B5EF4-FFF2-40B4-BE49-F238E27FC236}">
                <a16:creationId xmlns:a16="http://schemas.microsoft.com/office/drawing/2014/main" id="{ED88F2E6-5EA7-427F-AB0F-D61E500DA331}"/>
              </a:ext>
            </a:extLst>
          </p:cNvPr>
          <p:cNvSpPr>
            <a:spLocks xmlns:a="http://schemas.openxmlformats.org/drawingml/2006/main" noGrp="1"/>
          </p:cNvSpPr>
          <p:nvPr/>
        </p:nvSpPr>
        <p:spPr>
          <a:xfrm xmlns:a="http://schemas.openxmlformats.org/drawingml/2006/main">
            <a:off x="4434840" y="4343400"/>
            <a:ext cx="3383280" cy="5943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8" name="Text 23">
            <a:extLst xmlns:a="http://schemas.openxmlformats.org/drawingml/2006/main">
              <a:ext uri="{FF2B5EF4-FFF2-40B4-BE49-F238E27FC236}">
                <a16:creationId xmlns:a16="http://schemas.microsoft.com/office/drawing/2014/main" id="{55A1E991-D378-4381-BF53-705C41E8377B}"/>
              </a:ext>
            </a:extLst>
          </p:cNvPr>
          <p:cNvSpPr>
            <a:spLocks xmlns:a="http://schemas.openxmlformats.org/drawingml/2006/main" noGrp="1"/>
          </p:cNvSpPr>
          <p:nvPr/>
        </p:nvSpPr>
        <p:spPr>
          <a:xfrm xmlns:a="http://schemas.openxmlformats.org/drawingml/2006/main">
            <a:off x="4480560" y="4343400"/>
            <a:ext cx="32918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E2E8F0"/>
                </a:solidFill>
                <a:latin typeface="Consolas"/>
                <a:ea typeface="Consolas"/>
                <a:cs typeface="Consolas"/>
              </a:rPr>
              <a:t>test -d './app' &amp;&amp; docker run -v \</a:t>
            </a:r>
            <a:endParaRPr sz="900"/>
          </a:p>
          <a:p xmlns:a="http://schemas.openxmlformats.org/drawingml/2006/main">
            <a:pPr marL="0" indent="0">
              <a:buNone/>
            </a:pPr>
            <a:r>
              <a:rPr sz="900">
                <a:solidFill>
                  <a:srgbClr val="E2E8F0"/>
                </a:solidFill>
                <a:latin typeface="Consolas"/>
                <a:ea typeface="Consolas"/>
                <a:cs typeface="Consolas"/>
              </a:rPr>
              <a:t>  "$(pwd)/app:/usr/src/app" node</a:t>
            </a:r>
          </a:p>
        </p:txBody>
      </p:sp>
      <p:sp>
        <p:nvSpPr>
          <p:cNvPr id="29" name="Text 24">
            <a:extLst xmlns:a="http://schemas.openxmlformats.org/drawingml/2006/main">
              <a:ext uri="{FF2B5EF4-FFF2-40B4-BE49-F238E27FC236}">
                <a16:creationId xmlns:a16="http://schemas.microsoft.com/office/drawing/2014/main" id="{BDE2E0F0-5CE4-471E-8068-58FF18D74D4D}"/>
              </a:ext>
            </a:extLst>
          </p:cNvPr>
          <p:cNvSpPr>
            <a:spLocks xmlns:a="http://schemas.openxmlformats.org/drawingml/2006/main" noGrp="1"/>
          </p:cNvSpPr>
          <p:nvPr/>
        </p:nvSpPr>
        <p:spPr>
          <a:xfrm xmlns:a="http://schemas.openxmlformats.org/drawingml/2006/main">
            <a:off x="4434840" y="502920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 Live reload code dari host</a:t>
            </a:r>
            <a:endParaRPr sz="1000"/>
          </a:p>
        </p:txBody>
      </p:sp>
      <p:sp>
        <p:nvSpPr>
          <p:cNvPr id="30" name="Text 25">
            <a:extLst xmlns:a="http://schemas.openxmlformats.org/drawingml/2006/main">
              <a:ext uri="{FF2B5EF4-FFF2-40B4-BE49-F238E27FC236}">
                <a16:creationId xmlns:a16="http://schemas.microsoft.com/office/drawing/2014/main" id="{F32F2FE7-3C53-4D9E-923B-AD853781BBB3}"/>
              </a:ext>
            </a:extLst>
          </p:cNvPr>
          <p:cNvSpPr>
            <a:spLocks xmlns:a="http://schemas.openxmlformats.org/drawingml/2006/main" noGrp="1"/>
          </p:cNvSpPr>
          <p:nvPr/>
        </p:nvSpPr>
        <p:spPr>
          <a:xfrm xmlns:a="http://schemas.openxmlformats.org/drawingml/2006/main">
            <a:off x="4434840" y="544068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 Tidak portable, depend OS path</a:t>
            </a:r>
            <a:endParaRPr sz="1000"/>
          </a:p>
        </p:txBody>
      </p:sp>
      <p:sp>
        <p:nvSpPr>
          <p:cNvPr id="31" name="Shape 26">
            <a:extLst xmlns:a="http://schemas.openxmlformats.org/drawingml/2006/main">
              <a:ext uri="{FF2B5EF4-FFF2-40B4-BE49-F238E27FC236}">
                <a16:creationId xmlns:a16="http://schemas.microsoft.com/office/drawing/2014/main" id="{36451AD7-F19F-40AF-9310-D94DE8FC0E27}"/>
              </a:ext>
            </a:extLst>
          </p:cNvPr>
          <p:cNvSpPr>
            <a:spLocks xmlns:a="http://schemas.openxmlformats.org/drawingml/2006/main" noGrp="1"/>
          </p:cNvSpPr>
          <p:nvPr/>
        </p:nvSpPr>
        <p:spPr>
          <a:xfrm xmlns:a="http://schemas.openxmlformats.org/drawingml/2006/main">
            <a:off x="8138160" y="2514600"/>
            <a:ext cx="3657600" cy="37490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7">
            <a:extLst xmlns:a="http://schemas.openxmlformats.org/drawingml/2006/main">
              <a:ext uri="{FF2B5EF4-FFF2-40B4-BE49-F238E27FC236}">
                <a16:creationId xmlns:a16="http://schemas.microsoft.com/office/drawing/2014/main" id="{4BD81D4E-5C43-4798-9BA9-A50FDF10957B}"/>
              </a:ext>
            </a:extLst>
          </p:cNvPr>
          <p:cNvSpPr>
            <a:spLocks xmlns:a="http://schemas.openxmlformats.org/drawingml/2006/main" noGrp="1"/>
          </p:cNvSpPr>
          <p:nvPr/>
        </p:nvSpPr>
        <p:spPr>
          <a:xfrm xmlns:a="http://schemas.openxmlformats.org/drawingml/2006/main">
            <a:off x="8138160" y="2514600"/>
            <a:ext cx="3657600" cy="548640"/>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33" name="Text 28">
            <a:extLst xmlns:a="http://schemas.openxmlformats.org/drawingml/2006/main">
              <a:ext uri="{FF2B5EF4-FFF2-40B4-BE49-F238E27FC236}">
                <a16:creationId xmlns:a16="http://schemas.microsoft.com/office/drawing/2014/main" id="{64A493A6-125C-44AC-BBF8-89FA73801D27}"/>
              </a:ext>
            </a:extLst>
          </p:cNvPr>
          <p:cNvSpPr>
            <a:spLocks xmlns:a="http://schemas.openxmlformats.org/drawingml/2006/main" noGrp="1"/>
          </p:cNvSpPr>
          <p:nvPr/>
        </p:nvSpPr>
        <p:spPr>
          <a:xfrm xmlns:a="http://schemas.openxmlformats.org/drawingml/2006/main">
            <a:off x="8138160" y="2514600"/>
            <a:ext cx="3657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tmpfs Mount</a:t>
            </a:r>
            <a:endParaRPr sz="1400"/>
          </a:p>
        </p:txBody>
      </p:sp>
      <p:sp>
        <p:nvSpPr>
          <p:cNvPr id="34" name="Text 29">
            <a:extLst xmlns:a="http://schemas.openxmlformats.org/drawingml/2006/main">
              <a:ext uri="{FF2B5EF4-FFF2-40B4-BE49-F238E27FC236}">
                <a16:creationId xmlns:a16="http://schemas.microsoft.com/office/drawing/2014/main" id="{FFA8F967-3B9D-4718-929B-956F8B699E35}"/>
              </a:ext>
            </a:extLst>
          </p:cNvPr>
          <p:cNvSpPr>
            <a:spLocks xmlns:a="http://schemas.openxmlformats.org/drawingml/2006/main" noGrp="1"/>
          </p:cNvSpPr>
          <p:nvPr/>
        </p:nvSpPr>
        <p:spPr>
          <a:xfrm xmlns:a="http://schemas.openxmlformats.org/drawingml/2006/main">
            <a:off x="8275320" y="3200400"/>
            <a:ext cx="338328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Disimpan di RAM, tidak persist. Cepat tapi hilang saat restart.</a:t>
            </a:r>
            <a:endParaRPr sz="1050"/>
          </a:p>
        </p:txBody>
      </p:sp>
      <p:sp>
        <p:nvSpPr>
          <p:cNvPr id="35" name="Shape 30">
            <a:extLst xmlns:a="http://schemas.openxmlformats.org/drawingml/2006/main">
              <a:ext uri="{FF2B5EF4-FFF2-40B4-BE49-F238E27FC236}">
                <a16:creationId xmlns:a16="http://schemas.microsoft.com/office/drawing/2014/main" id="{D7EF5083-1122-4199-BB19-FEB7B2FE825C}"/>
              </a:ext>
            </a:extLst>
          </p:cNvPr>
          <p:cNvSpPr>
            <a:spLocks xmlns:a="http://schemas.openxmlformats.org/drawingml/2006/main" noGrp="1"/>
          </p:cNvSpPr>
          <p:nvPr/>
        </p:nvSpPr>
        <p:spPr>
          <a:xfrm xmlns:a="http://schemas.openxmlformats.org/drawingml/2006/main">
            <a:off x="8275320" y="4343400"/>
            <a:ext cx="3383280" cy="5943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6" name="Text 31">
            <a:extLst xmlns:a="http://schemas.openxmlformats.org/drawingml/2006/main">
              <a:ext uri="{FF2B5EF4-FFF2-40B4-BE49-F238E27FC236}">
                <a16:creationId xmlns:a16="http://schemas.microsoft.com/office/drawing/2014/main" id="{93E4D9D2-1A16-4645-8910-9D8E0A442CA8}"/>
              </a:ext>
            </a:extLst>
          </p:cNvPr>
          <p:cNvSpPr>
            <a:spLocks xmlns:a="http://schemas.openxmlformats.org/drawingml/2006/main" noGrp="1"/>
          </p:cNvSpPr>
          <p:nvPr/>
        </p:nvSpPr>
        <p:spPr>
          <a:xfrm xmlns:a="http://schemas.openxmlformats.org/drawingml/2006/main">
            <a:off x="8321040" y="4343400"/>
            <a:ext cx="32918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E2E8F0"/>
                </a:solidFill>
                <a:latin typeface="Consolas"/>
                <a:ea typeface="Consolas"/>
                <a:cs typeface="Consolas"/>
              </a:rPr>
              <a:t>docker run --tmpfs /tmp nginx</a:t>
            </a:r>
            <a:endParaRPr sz="900"/>
          </a:p>
        </p:txBody>
      </p:sp>
      <p:sp>
        <p:nvSpPr>
          <p:cNvPr id="37" name="Text 32">
            <a:extLst xmlns:a="http://schemas.openxmlformats.org/drawingml/2006/main">
              <a:ext uri="{FF2B5EF4-FFF2-40B4-BE49-F238E27FC236}">
                <a16:creationId xmlns:a16="http://schemas.microsoft.com/office/drawing/2014/main" id="{236CD194-0D1F-4E3F-8A45-7DE2042F3EF2}"/>
              </a:ext>
            </a:extLst>
          </p:cNvPr>
          <p:cNvSpPr>
            <a:spLocks xmlns:a="http://schemas.openxmlformats.org/drawingml/2006/main" noGrp="1"/>
          </p:cNvSpPr>
          <p:nvPr/>
        </p:nvSpPr>
        <p:spPr>
          <a:xfrm xmlns:a="http://schemas.openxmlformats.org/drawingml/2006/main">
            <a:off x="8275320" y="502920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 Sangat cepat (RAM)</a:t>
            </a:r>
            <a:endParaRPr sz="1000"/>
          </a:p>
        </p:txBody>
      </p:sp>
      <p:sp>
        <p:nvSpPr>
          <p:cNvPr id="38" name="Text 33">
            <a:extLst xmlns:a="http://schemas.openxmlformats.org/drawingml/2006/main">
              <a:ext uri="{FF2B5EF4-FFF2-40B4-BE49-F238E27FC236}">
                <a16:creationId xmlns:a16="http://schemas.microsoft.com/office/drawing/2014/main" id="{BE207420-A719-45CF-9327-14516E829A82}"/>
              </a:ext>
            </a:extLst>
          </p:cNvPr>
          <p:cNvSpPr>
            <a:spLocks xmlns:a="http://schemas.openxmlformats.org/drawingml/2006/main" noGrp="1"/>
          </p:cNvSpPr>
          <p:nvPr/>
        </p:nvSpPr>
        <p:spPr>
          <a:xfrm xmlns:a="http://schemas.openxmlformats.org/drawingml/2006/main">
            <a:off x="8275320" y="5440680"/>
            <a:ext cx="33832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DC2626"/>
                </a:solidFill>
                <a:latin typeface="Calibri"/>
                <a:ea typeface="Calibri"/>
                <a:cs typeface="Calibri"/>
              </a:rPr>
              <a:t>- Hilang saat container stop</a:t>
            </a:r>
            <a:endParaRPr sz="1000"/>
          </a:p>
        </p:txBody>
      </p:sp>
    </p:spTree>
    <p:extLst>
      <p:ext uri="{BB962C8B-B14F-4D97-AF65-F5344CB8AC3E}">
        <p14:creationId xmlns:p14="http://schemas.microsoft.com/office/powerpoint/2010/main" val="4656768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3F2A73-E1E9-4A9B-B31F-21C91365DFFC}"/>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48E08206-25D2-4793-A812-EFDF40FC5DD9}"/>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12D242A2-CCAA-4CF6-8F32-81B5E3ED236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8" name="Image 0">
            <a:extLst xmlns:a="http://schemas.openxmlformats.org/drawingml/2006/main">
              <a:ext uri="{FF2B5EF4-FFF2-40B4-BE49-F238E27FC236}">
                <a16:creationId xmlns:a16="http://schemas.microsoft.com/office/drawing/2014/main" id="{2CA0E17A-F244-464E-869B-295DBFB2D45E}"/>
              </a:ext>
            </a:extLst>
          </p:cNvPr>
          <p:cNvPicPr>
            <a:picLocks xmlns:a="http://schemas.openxmlformats.org/drawingml/2006/main" noChangeAspect="1"/>
          </p:cNvPicPr>
          <p:nvPr/>
        </p:nvPicPr>
        <p:blipFill>
          <a:blip xmlns:r="http://schemas.openxmlformats.org/officeDocument/2006/relationships" xmlns:a="http://schemas.openxmlformats.org/drawingml/2006/main" r:embed="R02dd787ddc304da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9" name="Image 1">
            <a:extLst xmlns:a="http://schemas.openxmlformats.org/drawingml/2006/main">
              <a:ext uri="{FF2B5EF4-FFF2-40B4-BE49-F238E27FC236}">
                <a16:creationId xmlns:a16="http://schemas.microsoft.com/office/drawing/2014/main" id="{403AE8EB-E4BB-4FF3-85CF-66128C384344}"/>
              </a:ext>
            </a:extLst>
          </p:cNvPr>
          <p:cNvPicPr>
            <a:picLocks xmlns:a="http://schemas.openxmlformats.org/drawingml/2006/main" noChangeAspect="1"/>
          </p:cNvPicPr>
          <p:nvPr/>
        </p:nvPicPr>
        <p:blipFill>
          <a:blip xmlns:r="http://schemas.openxmlformats.org/officeDocument/2006/relationships" xmlns:a="http://schemas.openxmlformats.org/drawingml/2006/main" r:embed="R3751b33c466d46d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A6A7A60-061A-4126-8637-5F1B89C8D01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022E827C-149B-4ADB-BA13-F7DF400688B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 Networking</a:t>
            </a:r>
            <a:endParaRPr sz="2200"/>
          </a:p>
        </p:txBody>
      </p:sp>
      <p:sp>
        <p:nvSpPr>
          <p:cNvPr id="9" name="Text 5">
            <a:extLst xmlns:a="http://schemas.openxmlformats.org/drawingml/2006/main">
              <a:ext uri="{FF2B5EF4-FFF2-40B4-BE49-F238E27FC236}">
                <a16:creationId xmlns:a16="http://schemas.microsoft.com/office/drawing/2014/main" id="{682F5D17-95B1-4DC3-82C0-24099F3B5576}"/>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Bagaimana container berkomunikasi</a:t>
            </a:r>
            <a:endParaRPr sz="1200"/>
          </a:p>
        </p:txBody>
      </p:sp>
      <p:sp>
        <p:nvSpPr>
          <p:cNvPr id="10" name="Shape 6">
            <a:extLst xmlns:a="http://schemas.openxmlformats.org/drawingml/2006/main">
              <a:ext uri="{FF2B5EF4-FFF2-40B4-BE49-F238E27FC236}">
                <a16:creationId xmlns:a16="http://schemas.microsoft.com/office/drawing/2014/main" id="{9E4A6911-A3D7-4878-9644-32234FC8046F}"/>
              </a:ext>
            </a:extLst>
          </p:cNvPr>
          <p:cNvSpPr>
            <a:spLocks xmlns:a="http://schemas.openxmlformats.org/drawingml/2006/main" noGrp="1"/>
          </p:cNvSpPr>
          <p:nvPr/>
        </p:nvSpPr>
        <p:spPr>
          <a:xfrm xmlns:a="http://schemas.openxmlformats.org/drawingml/2006/main">
            <a:off x="457200" y="1417320"/>
            <a:ext cx="1124712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6E650382-5DA1-4A74-9669-16C63CEF8E4D}"/>
              </a:ext>
            </a:extLst>
          </p:cNvPr>
          <p:cNvSpPr>
            <a:spLocks xmlns:a="http://schemas.openxmlformats.org/drawingml/2006/main" noGrp="1"/>
          </p:cNvSpPr>
          <p:nvPr/>
        </p:nvSpPr>
        <p:spPr>
          <a:xfrm xmlns:a="http://schemas.openxmlformats.org/drawingml/2006/main">
            <a:off x="685800" y="1508760"/>
            <a:ext cx="10789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37021"/>
                </a:solidFill>
                <a:latin typeface="Calibri"/>
                <a:ea typeface="Calibri"/>
                <a:cs typeface="Calibri"/>
              </a:rPr>
              <a:t>Default: </a:t>
            </a:r>
            <a:r>
              <a:rPr sz="1300">
                <a:solidFill>
                  <a:srgbClr val="FFFFFF"/>
                </a:solidFill>
                <a:latin typeface="Calibri"/>
                <a:ea typeface="Calibri"/>
                <a:cs typeface="Calibri"/>
              </a:rPr>
              <a:t>tiap container dapat IP di network 'bridge'. Bisa komunikasi via IP / container name.</a:t>
            </a:r>
            <a:endParaRPr sz="1400"/>
          </a:p>
        </p:txBody>
      </p:sp>
      <p:sp>
        <p:nvSpPr>
          <p:cNvPr id="12" name="Shape 8">
            <a:extLst xmlns:a="http://schemas.openxmlformats.org/drawingml/2006/main">
              <a:ext uri="{FF2B5EF4-FFF2-40B4-BE49-F238E27FC236}">
                <a16:creationId xmlns:a16="http://schemas.microsoft.com/office/drawing/2014/main" id="{59B77283-9959-4955-A313-B79554531C2E}"/>
              </a:ext>
            </a:extLst>
          </p:cNvPr>
          <p:cNvSpPr>
            <a:spLocks xmlns:a="http://schemas.openxmlformats.org/drawingml/2006/main" noGrp="1"/>
          </p:cNvSpPr>
          <p:nvPr/>
        </p:nvSpPr>
        <p:spPr>
          <a:xfrm xmlns:a="http://schemas.openxmlformats.org/drawingml/2006/main">
            <a:off x="457200" y="2377440"/>
            <a:ext cx="5577840" cy="1691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E3AB39DC-A582-4803-9711-28C45D5FAB12}"/>
              </a:ext>
            </a:extLst>
          </p:cNvPr>
          <p:cNvSpPr>
            <a:spLocks xmlns:a="http://schemas.openxmlformats.org/drawingml/2006/main" noGrp="1"/>
          </p:cNvSpPr>
          <p:nvPr/>
        </p:nvSpPr>
        <p:spPr>
          <a:xfrm xmlns:a="http://schemas.openxmlformats.org/drawingml/2006/main">
            <a:off x="457200" y="2377440"/>
            <a:ext cx="1554480" cy="169164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4C2EF08E-DF2A-456D-B215-598290EA1136}"/>
              </a:ext>
            </a:extLst>
          </p:cNvPr>
          <p:cNvSpPr>
            <a:spLocks xmlns:a="http://schemas.openxmlformats.org/drawingml/2006/main" noGrp="1"/>
          </p:cNvSpPr>
          <p:nvPr/>
        </p:nvSpPr>
        <p:spPr>
          <a:xfrm xmlns:a="http://schemas.openxmlformats.org/drawingml/2006/main">
            <a:off x="457200" y="2377440"/>
            <a:ext cx="155448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bridge</a:t>
            </a:r>
            <a:endParaRPr sz="1800"/>
          </a:p>
        </p:txBody>
      </p:sp>
      <p:sp>
        <p:nvSpPr>
          <p:cNvPr id="15" name="Text 11">
            <a:extLst xmlns:a="http://schemas.openxmlformats.org/drawingml/2006/main">
              <a:ext uri="{FF2B5EF4-FFF2-40B4-BE49-F238E27FC236}">
                <a16:creationId xmlns:a16="http://schemas.microsoft.com/office/drawing/2014/main" id="{15753CF7-F931-424C-8723-48ABE556127A}"/>
              </a:ext>
            </a:extLst>
          </p:cNvPr>
          <p:cNvSpPr>
            <a:spLocks xmlns:a="http://schemas.openxmlformats.org/drawingml/2006/main" noGrp="1"/>
          </p:cNvSpPr>
          <p:nvPr/>
        </p:nvSpPr>
        <p:spPr>
          <a:xfrm xmlns:a="http://schemas.openxmlformats.org/drawingml/2006/main">
            <a:off x="2148840" y="2468880"/>
            <a:ext cx="37490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Default network. Container dapat IP private (172.x). Untuk komunikasi antar container di host yang sama.</a:t>
            </a:r>
            <a:endParaRPr sz="1100"/>
          </a:p>
        </p:txBody>
      </p:sp>
      <p:sp>
        <p:nvSpPr>
          <p:cNvPr id="16" name="Text 12">
            <a:extLst xmlns:a="http://schemas.openxmlformats.org/drawingml/2006/main">
              <a:ext uri="{FF2B5EF4-FFF2-40B4-BE49-F238E27FC236}">
                <a16:creationId xmlns:a16="http://schemas.microsoft.com/office/drawing/2014/main" id="{C484432E-4FED-4279-B1ED-21C0B42B0226}"/>
              </a:ext>
            </a:extLst>
          </p:cNvPr>
          <p:cNvSpPr>
            <a:spLocks xmlns:a="http://schemas.openxmlformats.org/drawingml/2006/main" noGrp="1"/>
          </p:cNvSpPr>
          <p:nvPr/>
        </p:nvSpPr>
        <p:spPr>
          <a:xfrm xmlns:a="http://schemas.openxmlformats.org/drawingml/2006/main">
            <a:off x="2148840" y="3429000"/>
            <a:ext cx="374904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b="1">
                <a:solidFill>
                  <a:srgbClr val="F37021"/>
                </a:solidFill>
                <a:latin typeface="Calibri"/>
                <a:ea typeface="Calibri"/>
                <a:cs typeface="Calibri"/>
              </a:rPr>
              <a:t>Pakai untuk: </a:t>
            </a:r>
            <a:r>
              <a:rPr sz="1000" i="1">
                <a:solidFill>
                  <a:srgbClr val="002677"/>
                </a:solidFill>
                <a:latin typeface="Calibri"/>
                <a:ea typeface="Calibri"/>
                <a:cs typeface="Calibri"/>
              </a:rPr>
              <a:t>Default - sebagian besar use case</a:t>
            </a:r>
            <a:endParaRPr sz="1000"/>
          </a:p>
        </p:txBody>
      </p:sp>
      <p:sp>
        <p:nvSpPr>
          <p:cNvPr id="17" name="Shape 13">
            <a:extLst xmlns:a="http://schemas.openxmlformats.org/drawingml/2006/main">
              <a:ext uri="{FF2B5EF4-FFF2-40B4-BE49-F238E27FC236}">
                <a16:creationId xmlns:a16="http://schemas.microsoft.com/office/drawing/2014/main" id="{90DD6ACA-8739-4BC0-9885-FC0CC18221CF}"/>
              </a:ext>
            </a:extLst>
          </p:cNvPr>
          <p:cNvSpPr>
            <a:spLocks xmlns:a="http://schemas.openxmlformats.org/drawingml/2006/main" noGrp="1"/>
          </p:cNvSpPr>
          <p:nvPr/>
        </p:nvSpPr>
        <p:spPr>
          <a:xfrm xmlns:a="http://schemas.openxmlformats.org/drawingml/2006/main">
            <a:off x="6309360" y="2377440"/>
            <a:ext cx="5577840" cy="1691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4">
            <a:extLst xmlns:a="http://schemas.openxmlformats.org/drawingml/2006/main">
              <a:ext uri="{FF2B5EF4-FFF2-40B4-BE49-F238E27FC236}">
                <a16:creationId xmlns:a16="http://schemas.microsoft.com/office/drawing/2014/main" id="{024F9A7F-150B-41BF-B681-A22AF6A7AF32}"/>
              </a:ext>
            </a:extLst>
          </p:cNvPr>
          <p:cNvSpPr>
            <a:spLocks xmlns:a="http://schemas.openxmlformats.org/drawingml/2006/main" noGrp="1"/>
          </p:cNvSpPr>
          <p:nvPr/>
        </p:nvSpPr>
        <p:spPr>
          <a:xfrm xmlns:a="http://schemas.openxmlformats.org/drawingml/2006/main">
            <a:off x="6309360" y="2377440"/>
            <a:ext cx="1554480" cy="16916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9" name="Text 15">
            <a:extLst xmlns:a="http://schemas.openxmlformats.org/drawingml/2006/main">
              <a:ext uri="{FF2B5EF4-FFF2-40B4-BE49-F238E27FC236}">
                <a16:creationId xmlns:a16="http://schemas.microsoft.com/office/drawing/2014/main" id="{25A43FD2-D7E0-4B0F-8498-2DFE5930C956}"/>
              </a:ext>
            </a:extLst>
          </p:cNvPr>
          <p:cNvSpPr>
            <a:spLocks xmlns:a="http://schemas.openxmlformats.org/drawingml/2006/main" noGrp="1"/>
          </p:cNvSpPr>
          <p:nvPr/>
        </p:nvSpPr>
        <p:spPr>
          <a:xfrm xmlns:a="http://schemas.openxmlformats.org/drawingml/2006/main">
            <a:off x="6309360" y="2377440"/>
            <a:ext cx="155448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host</a:t>
            </a:r>
            <a:endParaRPr sz="1800"/>
          </a:p>
        </p:txBody>
      </p:sp>
      <p:sp>
        <p:nvSpPr>
          <p:cNvPr id="20" name="Text 16">
            <a:extLst xmlns:a="http://schemas.openxmlformats.org/drawingml/2006/main">
              <a:ext uri="{FF2B5EF4-FFF2-40B4-BE49-F238E27FC236}">
                <a16:creationId xmlns:a16="http://schemas.microsoft.com/office/drawing/2014/main" id="{670DDE6A-8F1E-48CE-B415-688B0133A29F}"/>
              </a:ext>
            </a:extLst>
          </p:cNvPr>
          <p:cNvSpPr>
            <a:spLocks xmlns:a="http://schemas.openxmlformats.org/drawingml/2006/main" noGrp="1"/>
          </p:cNvSpPr>
          <p:nvPr/>
        </p:nvSpPr>
        <p:spPr>
          <a:xfrm xmlns:a="http://schemas.openxmlformats.org/drawingml/2006/main">
            <a:off x="8001000" y="2468880"/>
            <a:ext cx="37490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Container share network stack dengan host. Tidak ada isolasi network. Performa max.</a:t>
            </a:r>
            <a:endParaRPr sz="1100"/>
          </a:p>
        </p:txBody>
      </p:sp>
      <p:sp>
        <p:nvSpPr>
          <p:cNvPr id="21" name="Text 17">
            <a:extLst xmlns:a="http://schemas.openxmlformats.org/drawingml/2006/main">
              <a:ext uri="{FF2B5EF4-FFF2-40B4-BE49-F238E27FC236}">
                <a16:creationId xmlns:a16="http://schemas.microsoft.com/office/drawing/2014/main" id="{0DD436F7-5D9D-466E-8A25-2EABD8855F93}"/>
              </a:ext>
            </a:extLst>
          </p:cNvPr>
          <p:cNvSpPr>
            <a:spLocks xmlns:a="http://schemas.openxmlformats.org/drawingml/2006/main" noGrp="1"/>
          </p:cNvSpPr>
          <p:nvPr/>
        </p:nvSpPr>
        <p:spPr>
          <a:xfrm xmlns:a="http://schemas.openxmlformats.org/drawingml/2006/main">
            <a:off x="8001000" y="3429000"/>
            <a:ext cx="374904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b="1">
                <a:solidFill>
                  <a:srgbClr val="F37021"/>
                </a:solidFill>
                <a:latin typeface="Calibri"/>
                <a:ea typeface="Calibri"/>
                <a:cs typeface="Calibri"/>
              </a:rPr>
              <a:t>Pakai untuk: </a:t>
            </a:r>
            <a:r>
              <a:rPr sz="1000" i="1">
                <a:solidFill>
                  <a:srgbClr val="002677"/>
                </a:solidFill>
                <a:latin typeface="Calibri"/>
                <a:ea typeface="Calibri"/>
                <a:cs typeface="Calibri"/>
              </a:rPr>
              <a:t>Performance-critical apps</a:t>
            </a:r>
            <a:endParaRPr sz="1000"/>
          </a:p>
        </p:txBody>
      </p:sp>
      <p:sp>
        <p:nvSpPr>
          <p:cNvPr id="22" name="Shape 18">
            <a:extLst xmlns:a="http://schemas.openxmlformats.org/drawingml/2006/main">
              <a:ext uri="{FF2B5EF4-FFF2-40B4-BE49-F238E27FC236}">
                <a16:creationId xmlns:a16="http://schemas.microsoft.com/office/drawing/2014/main" id="{A3A680B9-586A-4446-A024-E7A0DB3237FB}"/>
              </a:ext>
            </a:extLst>
          </p:cNvPr>
          <p:cNvSpPr>
            <a:spLocks xmlns:a="http://schemas.openxmlformats.org/drawingml/2006/main" noGrp="1"/>
          </p:cNvSpPr>
          <p:nvPr/>
        </p:nvSpPr>
        <p:spPr>
          <a:xfrm xmlns:a="http://schemas.openxmlformats.org/drawingml/2006/main">
            <a:off x="457200" y="4206240"/>
            <a:ext cx="5577840" cy="1691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491FD196-97CC-49EE-B500-92146385C9CF}"/>
              </a:ext>
            </a:extLst>
          </p:cNvPr>
          <p:cNvSpPr>
            <a:spLocks xmlns:a="http://schemas.openxmlformats.org/drawingml/2006/main" noGrp="1"/>
          </p:cNvSpPr>
          <p:nvPr/>
        </p:nvSpPr>
        <p:spPr>
          <a:xfrm xmlns:a="http://schemas.openxmlformats.org/drawingml/2006/main">
            <a:off x="457200" y="4206240"/>
            <a:ext cx="1554480" cy="1691640"/>
          </a:xfrm>
          <a:prstGeom xmlns:a="http://schemas.openxmlformats.org/drawingml/2006/main" prst="rect">
            <a:avLst/>
          </a:prstGeom>
          <a:solidFill xmlns:a="http://schemas.openxmlformats.org/drawingml/2006/main">
            <a:srgbClr val="64748B"/>
          </a:solidFill>
          <a:ln xmlns:a="http://schemas.openxmlformats.org/drawingml/2006/main" w="12700">
            <a:solidFill>
              <a:srgbClr val="64748B"/>
            </a:solidFill>
            <a:prstDash val="solid"/>
          </a:ln>
        </p:spPr>
      </p:sp>
      <p:sp>
        <p:nvSpPr>
          <p:cNvPr id="24" name="Text 20">
            <a:extLst xmlns:a="http://schemas.openxmlformats.org/drawingml/2006/main">
              <a:ext uri="{FF2B5EF4-FFF2-40B4-BE49-F238E27FC236}">
                <a16:creationId xmlns:a16="http://schemas.microsoft.com/office/drawing/2014/main" id="{6BF172DE-419C-4DBB-9DC4-CF92F2AC320C}"/>
              </a:ext>
            </a:extLst>
          </p:cNvPr>
          <p:cNvSpPr>
            <a:spLocks xmlns:a="http://schemas.openxmlformats.org/drawingml/2006/main" noGrp="1"/>
          </p:cNvSpPr>
          <p:nvPr/>
        </p:nvSpPr>
        <p:spPr>
          <a:xfrm xmlns:a="http://schemas.openxmlformats.org/drawingml/2006/main">
            <a:off x="457200" y="4206240"/>
            <a:ext cx="155448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none</a:t>
            </a:r>
            <a:endParaRPr sz="1800"/>
          </a:p>
        </p:txBody>
      </p:sp>
      <p:sp>
        <p:nvSpPr>
          <p:cNvPr id="25" name="Text 21">
            <a:extLst xmlns:a="http://schemas.openxmlformats.org/drawingml/2006/main">
              <a:ext uri="{FF2B5EF4-FFF2-40B4-BE49-F238E27FC236}">
                <a16:creationId xmlns:a16="http://schemas.microsoft.com/office/drawing/2014/main" id="{669BB2CA-6E3A-4D20-8C6E-EE89388E95FB}"/>
              </a:ext>
            </a:extLst>
          </p:cNvPr>
          <p:cNvSpPr>
            <a:spLocks xmlns:a="http://schemas.openxmlformats.org/drawingml/2006/main" noGrp="1"/>
          </p:cNvSpPr>
          <p:nvPr/>
        </p:nvSpPr>
        <p:spPr>
          <a:xfrm xmlns:a="http://schemas.openxmlformats.org/drawingml/2006/main">
            <a:off x="2148840" y="4297680"/>
            <a:ext cx="37490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Tidak ada network. Container fully isolated dari network.</a:t>
            </a:r>
            <a:endParaRPr sz="1100"/>
          </a:p>
        </p:txBody>
      </p:sp>
      <p:sp>
        <p:nvSpPr>
          <p:cNvPr id="26" name="Text 22">
            <a:extLst xmlns:a="http://schemas.openxmlformats.org/drawingml/2006/main">
              <a:ext uri="{FF2B5EF4-FFF2-40B4-BE49-F238E27FC236}">
                <a16:creationId xmlns:a16="http://schemas.microsoft.com/office/drawing/2014/main" id="{CE7D05A1-05D3-490C-97F4-DE661ABC2996}"/>
              </a:ext>
            </a:extLst>
          </p:cNvPr>
          <p:cNvSpPr>
            <a:spLocks xmlns:a="http://schemas.openxmlformats.org/drawingml/2006/main" noGrp="1"/>
          </p:cNvSpPr>
          <p:nvPr/>
        </p:nvSpPr>
        <p:spPr>
          <a:xfrm xmlns:a="http://schemas.openxmlformats.org/drawingml/2006/main">
            <a:off x="2148840" y="5257800"/>
            <a:ext cx="374904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b="1">
                <a:solidFill>
                  <a:srgbClr val="F37021"/>
                </a:solidFill>
                <a:latin typeface="Calibri"/>
                <a:ea typeface="Calibri"/>
                <a:cs typeface="Calibri"/>
              </a:rPr>
              <a:t>Pakai untuk: </a:t>
            </a:r>
            <a:r>
              <a:rPr sz="1000" i="1">
                <a:solidFill>
                  <a:srgbClr val="002677"/>
                </a:solidFill>
                <a:latin typeface="Calibri"/>
                <a:ea typeface="Calibri"/>
                <a:cs typeface="Calibri"/>
              </a:rPr>
              <a:t>Batch job, isolated processing</a:t>
            </a:r>
            <a:endParaRPr sz="1000"/>
          </a:p>
        </p:txBody>
      </p:sp>
      <p:sp>
        <p:nvSpPr>
          <p:cNvPr id="27" name="Shape 23">
            <a:extLst xmlns:a="http://schemas.openxmlformats.org/drawingml/2006/main">
              <a:ext uri="{FF2B5EF4-FFF2-40B4-BE49-F238E27FC236}">
                <a16:creationId xmlns:a16="http://schemas.microsoft.com/office/drawing/2014/main" id="{788680D6-E8A5-4775-BDC1-4AE72FA645D9}"/>
              </a:ext>
            </a:extLst>
          </p:cNvPr>
          <p:cNvSpPr>
            <a:spLocks xmlns:a="http://schemas.openxmlformats.org/drawingml/2006/main" noGrp="1"/>
          </p:cNvSpPr>
          <p:nvPr/>
        </p:nvSpPr>
        <p:spPr>
          <a:xfrm xmlns:a="http://schemas.openxmlformats.org/drawingml/2006/main">
            <a:off x="6309360" y="4206240"/>
            <a:ext cx="5577840" cy="16916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8" name="Shape 24">
            <a:extLst xmlns:a="http://schemas.openxmlformats.org/drawingml/2006/main">
              <a:ext uri="{FF2B5EF4-FFF2-40B4-BE49-F238E27FC236}">
                <a16:creationId xmlns:a16="http://schemas.microsoft.com/office/drawing/2014/main" id="{98EB4B1B-E880-46E2-8911-E5149EC521A3}"/>
              </a:ext>
            </a:extLst>
          </p:cNvPr>
          <p:cNvSpPr>
            <a:spLocks xmlns:a="http://schemas.openxmlformats.org/drawingml/2006/main" noGrp="1"/>
          </p:cNvSpPr>
          <p:nvPr/>
        </p:nvSpPr>
        <p:spPr>
          <a:xfrm xmlns:a="http://schemas.openxmlformats.org/drawingml/2006/main">
            <a:off x="6309360" y="4206240"/>
            <a:ext cx="1554480" cy="169164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29" name="Text 25">
            <a:extLst xmlns:a="http://schemas.openxmlformats.org/drawingml/2006/main">
              <a:ext uri="{FF2B5EF4-FFF2-40B4-BE49-F238E27FC236}">
                <a16:creationId xmlns:a16="http://schemas.microsoft.com/office/drawing/2014/main" id="{36E07661-FBDE-4363-BB5C-633B15CCED50}"/>
              </a:ext>
            </a:extLst>
          </p:cNvPr>
          <p:cNvSpPr>
            <a:spLocks xmlns:a="http://schemas.openxmlformats.org/drawingml/2006/main" noGrp="1"/>
          </p:cNvSpPr>
          <p:nvPr/>
        </p:nvSpPr>
        <p:spPr>
          <a:xfrm xmlns:a="http://schemas.openxmlformats.org/drawingml/2006/main">
            <a:off x="6309360" y="4206240"/>
            <a:ext cx="155448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onsolas"/>
                <a:ea typeface="Consolas"/>
                <a:cs typeface="Consolas"/>
              </a:rPr>
              <a:t>custom</a:t>
            </a:r>
            <a:endParaRPr sz="1800"/>
          </a:p>
        </p:txBody>
      </p:sp>
      <p:sp>
        <p:nvSpPr>
          <p:cNvPr id="30" name="Text 26">
            <a:extLst xmlns:a="http://schemas.openxmlformats.org/drawingml/2006/main">
              <a:ext uri="{FF2B5EF4-FFF2-40B4-BE49-F238E27FC236}">
                <a16:creationId xmlns:a16="http://schemas.microsoft.com/office/drawing/2014/main" id="{96024FD0-E046-44AA-BBA4-0C77E3F4EA2F}"/>
              </a:ext>
            </a:extLst>
          </p:cNvPr>
          <p:cNvSpPr>
            <a:spLocks xmlns:a="http://schemas.openxmlformats.org/drawingml/2006/main" noGrp="1"/>
          </p:cNvSpPr>
          <p:nvPr/>
        </p:nvSpPr>
        <p:spPr>
          <a:xfrm xmlns:a="http://schemas.openxmlformats.org/drawingml/2006/main">
            <a:off x="8001000" y="4297680"/>
            <a:ext cx="374904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Buat sendiri network. Container di network sama bisa resolve by name (DNS).</a:t>
            </a:r>
            <a:endParaRPr sz="1100"/>
          </a:p>
        </p:txBody>
      </p:sp>
      <p:sp>
        <p:nvSpPr>
          <p:cNvPr id="31" name="Text 27">
            <a:extLst xmlns:a="http://schemas.openxmlformats.org/drawingml/2006/main">
              <a:ext uri="{FF2B5EF4-FFF2-40B4-BE49-F238E27FC236}">
                <a16:creationId xmlns:a16="http://schemas.microsoft.com/office/drawing/2014/main" id="{BC35D3ED-E3E8-49D5-A2D1-0DAE350C6AE6}"/>
              </a:ext>
            </a:extLst>
          </p:cNvPr>
          <p:cNvSpPr>
            <a:spLocks xmlns:a="http://schemas.openxmlformats.org/drawingml/2006/main" noGrp="1"/>
          </p:cNvSpPr>
          <p:nvPr/>
        </p:nvSpPr>
        <p:spPr>
          <a:xfrm xmlns:a="http://schemas.openxmlformats.org/drawingml/2006/main">
            <a:off x="8001000" y="5257800"/>
            <a:ext cx="374904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b="1">
                <a:solidFill>
                  <a:srgbClr val="F37021"/>
                </a:solidFill>
                <a:latin typeface="Calibri"/>
                <a:ea typeface="Calibri"/>
                <a:cs typeface="Calibri"/>
              </a:rPr>
              <a:t>Pakai untuk: </a:t>
            </a:r>
            <a:r>
              <a:rPr sz="1000" i="1">
                <a:solidFill>
                  <a:srgbClr val="002677"/>
                </a:solidFill>
                <a:latin typeface="Calibri"/>
                <a:ea typeface="Calibri"/>
                <a:cs typeface="Calibri"/>
              </a:rPr>
              <a:t>Multi-container apps (compose)</a:t>
            </a:r>
            <a:endParaRPr sz="1000"/>
          </a:p>
        </p:txBody>
      </p:sp>
      <p:sp>
        <p:nvSpPr>
          <p:cNvPr id="32" name="Text 28">
            <a:extLst xmlns:a="http://schemas.openxmlformats.org/drawingml/2006/main">
              <a:ext uri="{FF2B5EF4-FFF2-40B4-BE49-F238E27FC236}">
                <a16:creationId xmlns:a16="http://schemas.microsoft.com/office/drawing/2014/main" id="{0521EC60-AC35-4D43-BC6A-BFAA5C9C329E}"/>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Cek network: </a:t>
            </a:r>
            <a:r>
              <a:rPr sz="1100" b="1" i="1">
                <a:solidFill>
                  <a:srgbClr val="002677"/>
                </a:solidFill>
                <a:latin typeface="Consolas"/>
                <a:ea typeface="Consolas"/>
                <a:cs typeface="Consolas"/>
              </a:rPr>
              <a:t>docker network ls   </a:t>
            </a:r>
            <a:r>
              <a:rPr sz="1100" i="1">
                <a:solidFill>
                  <a:srgbClr val="1E293B"/>
                </a:solidFill>
                <a:latin typeface="Calibri"/>
                <a:ea typeface="Calibri"/>
                <a:cs typeface="Calibri"/>
              </a:rPr>
              <a:t>  |  Buat custom: </a:t>
            </a:r>
            <a:r>
              <a:rPr sz="1100" b="1" i="1">
                <a:solidFill>
                  <a:srgbClr val="002677"/>
                </a:solidFill>
                <a:latin typeface="Consolas"/>
                <a:ea typeface="Consolas"/>
                <a:cs typeface="Consolas"/>
              </a:rPr>
              <a:t>docker network create myapp</a:t>
            </a:r>
            <a:endParaRPr sz="1100"/>
          </a:p>
        </p:txBody>
      </p:sp>
    </p:spTree>
    <p:extLst>
      <p:ext uri="{BB962C8B-B14F-4D97-AF65-F5344CB8AC3E}">
        <p14:creationId xmlns:p14="http://schemas.microsoft.com/office/powerpoint/2010/main" val="18754232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A584446-2A9E-47DC-B824-6EC0381AAFC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634E0F98-C37A-448D-BEC5-8A8AD024BCD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28</a:t>
            </a:r>
            <a:endParaRPr sz="900"/>
          </a:p>
        </p:txBody>
      </p:sp>
      <p:sp>
        <p:nvSpPr>
          <p:cNvPr id="4" name="Shape 2">
            <a:extLst xmlns:a="http://schemas.openxmlformats.org/drawingml/2006/main">
              <a:ext uri="{FF2B5EF4-FFF2-40B4-BE49-F238E27FC236}">
                <a16:creationId xmlns:a16="http://schemas.microsoft.com/office/drawing/2014/main" id="{BE157184-00EE-4784-9BFF-46F6DFC79F99}"/>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9" name="Image 0">
            <a:extLst xmlns:a="http://schemas.openxmlformats.org/drawingml/2006/main">
              <a:ext uri="{FF2B5EF4-FFF2-40B4-BE49-F238E27FC236}">
                <a16:creationId xmlns:a16="http://schemas.microsoft.com/office/drawing/2014/main" id="{22320527-1C2E-455E-AC32-CB8343FBDF77}"/>
              </a:ext>
            </a:extLst>
          </p:cNvPr>
          <p:cNvPicPr>
            <a:picLocks xmlns:a="http://schemas.openxmlformats.org/drawingml/2006/main" noChangeAspect="1"/>
          </p:cNvPicPr>
          <p:nvPr/>
        </p:nvPicPr>
        <p:blipFill>
          <a:blip xmlns:r="http://schemas.openxmlformats.org/officeDocument/2006/relationships" xmlns:a="http://schemas.openxmlformats.org/drawingml/2006/main" r:embed="R18cf9c4ec19c45b4"/>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0" name="Image 1">
            <a:extLst xmlns:a="http://schemas.openxmlformats.org/drawingml/2006/main">
              <a:ext uri="{FF2B5EF4-FFF2-40B4-BE49-F238E27FC236}">
                <a16:creationId xmlns:a16="http://schemas.microsoft.com/office/drawing/2014/main" id="{7C72642F-EDD2-407A-9272-85AFF6FB37F6}"/>
              </a:ext>
            </a:extLst>
          </p:cNvPr>
          <p:cNvPicPr>
            <a:picLocks xmlns:a="http://schemas.openxmlformats.org/drawingml/2006/main" noChangeAspect="1"/>
          </p:cNvPicPr>
          <p:nvPr/>
        </p:nvPicPr>
        <p:blipFill>
          <a:blip xmlns:r="http://schemas.openxmlformats.org/officeDocument/2006/relationships" xmlns:a="http://schemas.openxmlformats.org/drawingml/2006/main" r:embed="R5684039a329a422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F9F0CC89-6376-4BFA-ACF0-187D88870E3A}"/>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32138F69-1E18-4145-BBF7-60FD8023460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Port Mapping - Expose Container ke Host</a:t>
            </a:r>
            <a:endParaRPr sz="2200"/>
          </a:p>
        </p:txBody>
      </p:sp>
      <p:sp>
        <p:nvSpPr>
          <p:cNvPr id="9" name="Text 5">
            <a:extLst xmlns:a="http://schemas.openxmlformats.org/drawingml/2006/main">
              <a:ext uri="{FF2B5EF4-FFF2-40B4-BE49-F238E27FC236}">
                <a16:creationId xmlns:a16="http://schemas.microsoft.com/office/drawing/2014/main" id="{0B15F8FF-ED1D-4AE7-8FD1-620C0199D451}"/>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Flag -p HOST:CONTAINER yang wajib hafal</a:t>
            </a:r>
            <a:endParaRPr sz="1200"/>
          </a:p>
        </p:txBody>
      </p:sp>
      <p:sp>
        <p:nvSpPr>
          <p:cNvPr id="10" name="Shape 6">
            <a:extLst xmlns:a="http://schemas.openxmlformats.org/drawingml/2006/main">
              <a:ext uri="{FF2B5EF4-FFF2-40B4-BE49-F238E27FC236}">
                <a16:creationId xmlns:a16="http://schemas.microsoft.com/office/drawing/2014/main" id="{75C24A01-22F0-4797-925F-D2F475CCFD70}"/>
              </a:ext>
            </a:extLst>
          </p:cNvPr>
          <p:cNvSpPr>
            <a:spLocks xmlns:a="http://schemas.openxmlformats.org/drawingml/2006/main" noGrp="1"/>
          </p:cNvSpPr>
          <p:nvPr/>
        </p:nvSpPr>
        <p:spPr>
          <a:xfrm xmlns:a="http://schemas.openxmlformats.org/drawingml/2006/main">
            <a:off x="457200" y="1417320"/>
            <a:ext cx="11247120" cy="23774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7FF809E5-1C92-4C61-A97C-C5C6644D8D3A}"/>
              </a:ext>
            </a:extLst>
          </p:cNvPr>
          <p:cNvSpPr>
            <a:spLocks xmlns:a="http://schemas.openxmlformats.org/drawingml/2006/main" noGrp="1"/>
          </p:cNvSpPr>
          <p:nvPr/>
        </p:nvSpPr>
        <p:spPr>
          <a:xfrm xmlns:a="http://schemas.openxmlformats.org/drawingml/2006/main">
            <a:off x="914400" y="1828800"/>
            <a:ext cx="2286000" cy="15544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pic>
        <p:nvPicPr>
          <p:cNvPr id="46" name="Image 2">
            <a:extLst xmlns:a="http://schemas.openxmlformats.org/drawingml/2006/main">
              <a:ext uri="{FF2B5EF4-FFF2-40B4-BE49-F238E27FC236}">
                <a16:creationId xmlns:a16="http://schemas.microsoft.com/office/drawing/2014/main" id="{E3060DE7-C61F-45BA-AB98-BCD212FDD821}"/>
              </a:ext>
            </a:extLst>
          </p:cNvPr>
          <p:cNvPicPr>
            <a:picLocks xmlns:a="http://schemas.openxmlformats.org/drawingml/2006/main" noChangeAspect="1"/>
          </p:cNvPicPr>
          <p:nvPr/>
        </p:nvPicPr>
        <p:blipFill>
          <a:blip xmlns:r="http://schemas.openxmlformats.org/officeDocument/2006/relationships" xmlns:a="http://schemas.openxmlformats.org/drawingml/2006/main" r:embed="Ra8545d3846194cb7"/>
          <a:stretch xmlns:a="http://schemas.openxmlformats.org/drawingml/2006/main">
            <a:fillRect l="0" t="0" r="0" b="0"/>
          </a:stretch>
        </p:blipFill>
        <p:spPr>
          <a:xfrm xmlns:a="http://schemas.openxmlformats.org/drawingml/2006/main">
            <a:off x="1600200" y="2011680"/>
            <a:ext cx="914400" cy="91440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F4CF166A-E380-4E89-8663-0F5713425162}"/>
              </a:ext>
            </a:extLst>
          </p:cNvPr>
          <p:cNvSpPr>
            <a:spLocks xmlns:a="http://schemas.openxmlformats.org/drawingml/2006/main" noGrp="1"/>
          </p:cNvSpPr>
          <p:nvPr/>
        </p:nvSpPr>
        <p:spPr>
          <a:xfrm xmlns:a="http://schemas.openxmlformats.org/drawingml/2006/main">
            <a:off x="914400" y="292608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INTERNET</a:t>
            </a:r>
            <a:endParaRPr sz="1300"/>
          </a:p>
        </p:txBody>
      </p:sp>
      <p:sp>
        <p:nvSpPr>
          <p:cNvPr id="14" name="Shape 9">
            <a:extLst xmlns:a="http://schemas.openxmlformats.org/drawingml/2006/main">
              <a:ext uri="{FF2B5EF4-FFF2-40B4-BE49-F238E27FC236}">
                <a16:creationId xmlns:a16="http://schemas.microsoft.com/office/drawing/2014/main" id="{902E9D13-1762-460F-A418-0C7B2E1FC6F5}"/>
              </a:ext>
            </a:extLst>
          </p:cNvPr>
          <p:cNvSpPr>
            <a:spLocks xmlns:a="http://schemas.openxmlformats.org/drawingml/2006/main" noGrp="1"/>
          </p:cNvSpPr>
          <p:nvPr/>
        </p:nvSpPr>
        <p:spPr>
          <a:xfrm xmlns:a="http://schemas.openxmlformats.org/drawingml/2006/main">
            <a:off x="3383280" y="2468880"/>
            <a:ext cx="137160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FA027FB6-EE60-49A3-A3A6-D79A7241BAC2}"/>
              </a:ext>
            </a:extLst>
          </p:cNvPr>
          <p:cNvSpPr>
            <a:spLocks xmlns:a="http://schemas.openxmlformats.org/drawingml/2006/main" noGrp="1"/>
          </p:cNvSpPr>
          <p:nvPr/>
        </p:nvSpPr>
        <p:spPr>
          <a:xfrm xmlns:a="http://schemas.openxmlformats.org/drawingml/2006/main">
            <a:off x="3383280" y="246888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:8080</a:t>
            </a:r>
            <a:endParaRPr sz="1100"/>
          </a:p>
        </p:txBody>
      </p:sp>
      <p:sp>
        <p:nvSpPr>
          <p:cNvPr id="16" name="Shape 11">
            <a:extLst xmlns:a="http://schemas.openxmlformats.org/drawingml/2006/main">
              <a:ext uri="{FF2B5EF4-FFF2-40B4-BE49-F238E27FC236}">
                <a16:creationId xmlns:a16="http://schemas.microsoft.com/office/drawing/2014/main" id="{8194E300-E84F-4D4E-AADF-B1EC42CEBF0D}"/>
              </a:ext>
            </a:extLst>
          </p:cNvPr>
          <p:cNvSpPr>
            <a:spLocks xmlns:a="http://schemas.openxmlformats.org/drawingml/2006/main" noGrp="1"/>
          </p:cNvSpPr>
          <p:nvPr/>
        </p:nvSpPr>
        <p:spPr>
          <a:xfrm xmlns:a="http://schemas.openxmlformats.org/drawingml/2006/main">
            <a:off x="4937760" y="1828800"/>
            <a:ext cx="2286000" cy="15544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1" name="Image 3">
            <a:extLst xmlns:a="http://schemas.openxmlformats.org/drawingml/2006/main">
              <a:ext uri="{FF2B5EF4-FFF2-40B4-BE49-F238E27FC236}">
                <a16:creationId xmlns:a16="http://schemas.microsoft.com/office/drawing/2014/main" id="{82B7F156-C09B-4633-BE53-9D7DD4EB66DA}"/>
              </a:ext>
            </a:extLst>
          </p:cNvPr>
          <p:cNvPicPr>
            <a:picLocks xmlns:a="http://schemas.openxmlformats.org/drawingml/2006/main" noChangeAspect="1"/>
          </p:cNvPicPr>
          <p:nvPr/>
        </p:nvPicPr>
        <p:blipFill>
          <a:blip xmlns:r="http://schemas.openxmlformats.org/officeDocument/2006/relationships" xmlns:a="http://schemas.openxmlformats.org/drawingml/2006/main" r:embed="R7fd3cda8fba34982"/>
          <a:stretch xmlns:a="http://schemas.openxmlformats.org/drawingml/2006/main">
            <a:fillRect l="0" t="0" r="0" b="0"/>
          </a:stretch>
        </p:blipFill>
        <p:spPr>
          <a:xfrm xmlns:a="http://schemas.openxmlformats.org/drawingml/2006/main">
            <a:off x="5623560" y="2011680"/>
            <a:ext cx="914400" cy="91440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155AFC4D-A92D-4495-8F3B-9EDB7E590796}"/>
              </a:ext>
            </a:extLst>
          </p:cNvPr>
          <p:cNvSpPr>
            <a:spLocks xmlns:a="http://schemas.openxmlformats.org/drawingml/2006/main" noGrp="1"/>
          </p:cNvSpPr>
          <p:nvPr/>
        </p:nvSpPr>
        <p:spPr>
          <a:xfrm xmlns:a="http://schemas.openxmlformats.org/drawingml/2006/main">
            <a:off x="4937760" y="292608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37021"/>
                </a:solidFill>
                <a:latin typeface="Calibri"/>
                <a:ea typeface="Calibri"/>
                <a:cs typeface="Calibri"/>
              </a:rPr>
              <a:t>HOST</a:t>
            </a:r>
            <a:endParaRPr sz="1300"/>
          </a:p>
        </p:txBody>
      </p:sp>
      <p:sp>
        <p:nvSpPr>
          <p:cNvPr id="19" name="Shape 13">
            <a:extLst xmlns:a="http://schemas.openxmlformats.org/drawingml/2006/main">
              <a:ext uri="{FF2B5EF4-FFF2-40B4-BE49-F238E27FC236}">
                <a16:creationId xmlns:a16="http://schemas.microsoft.com/office/drawing/2014/main" id="{DB7575CF-9BD7-4565-BA8E-D7229D5287CA}"/>
              </a:ext>
            </a:extLst>
          </p:cNvPr>
          <p:cNvSpPr>
            <a:spLocks xmlns:a="http://schemas.openxmlformats.org/drawingml/2006/main" noGrp="1"/>
          </p:cNvSpPr>
          <p:nvPr/>
        </p:nvSpPr>
        <p:spPr>
          <a:xfrm xmlns:a="http://schemas.openxmlformats.org/drawingml/2006/main">
            <a:off x="7406640" y="2468880"/>
            <a:ext cx="1371600" cy="365760"/>
          </a:xfrm>
          <a:prstGeom xmlns:a="http://schemas.openxmlformats.org/drawingml/2006/main" prst="rightArrow">
            <a:avLst/>
          </a:prstGeom>
          <a:solidFill xmlns:a="http://schemas.openxmlformats.org/drawingml/2006/main">
            <a:srgbClr val="059669"/>
          </a:solidFill>
          <a:ln xmlns:a="http://schemas.openxmlformats.org/drawingml/2006/main" w="12700">
            <a:solidFill>
              <a:srgbClr val="059669"/>
            </a:solidFill>
            <a:prstDash val="solid"/>
          </a:ln>
        </p:spPr>
      </p:sp>
      <p:sp>
        <p:nvSpPr>
          <p:cNvPr id="20" name="Text 14">
            <a:extLst xmlns:a="http://schemas.openxmlformats.org/drawingml/2006/main">
              <a:ext uri="{FF2B5EF4-FFF2-40B4-BE49-F238E27FC236}">
                <a16:creationId xmlns:a16="http://schemas.microsoft.com/office/drawing/2014/main" id="{599782F6-8DA1-400A-A14F-C03772B423EB}"/>
              </a:ext>
            </a:extLst>
          </p:cNvPr>
          <p:cNvSpPr>
            <a:spLocks xmlns:a="http://schemas.openxmlformats.org/drawingml/2006/main" noGrp="1"/>
          </p:cNvSpPr>
          <p:nvPr/>
        </p:nvSpPr>
        <p:spPr>
          <a:xfrm xmlns:a="http://schemas.openxmlformats.org/drawingml/2006/main">
            <a:off x="7406640" y="246888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onsolas"/>
                <a:ea typeface="Consolas"/>
                <a:cs typeface="Consolas"/>
              </a:rPr>
              <a:t>:80</a:t>
            </a:r>
            <a:endParaRPr sz="1100"/>
          </a:p>
        </p:txBody>
      </p:sp>
      <p:sp>
        <p:nvSpPr>
          <p:cNvPr id="21" name="Shape 15">
            <a:extLst xmlns:a="http://schemas.openxmlformats.org/drawingml/2006/main">
              <a:ext uri="{FF2B5EF4-FFF2-40B4-BE49-F238E27FC236}">
                <a16:creationId xmlns:a16="http://schemas.microsoft.com/office/drawing/2014/main" id="{3F9C6ECB-4453-476C-B8D7-6EFC0A0BC611}"/>
              </a:ext>
            </a:extLst>
          </p:cNvPr>
          <p:cNvSpPr>
            <a:spLocks xmlns:a="http://schemas.openxmlformats.org/drawingml/2006/main" noGrp="1"/>
          </p:cNvSpPr>
          <p:nvPr/>
        </p:nvSpPr>
        <p:spPr>
          <a:xfrm xmlns:a="http://schemas.openxmlformats.org/drawingml/2006/main">
            <a:off x="8961120" y="1828800"/>
            <a:ext cx="2286000" cy="15544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6" name="Image 4">
            <a:extLst xmlns:a="http://schemas.openxmlformats.org/drawingml/2006/main">
              <a:ext uri="{FF2B5EF4-FFF2-40B4-BE49-F238E27FC236}">
                <a16:creationId xmlns:a16="http://schemas.microsoft.com/office/drawing/2014/main" id="{850C5B41-4FC7-4FA9-9AF0-6F0CC87F4373}"/>
              </a:ext>
            </a:extLst>
          </p:cNvPr>
          <p:cNvPicPr>
            <a:picLocks xmlns:a="http://schemas.openxmlformats.org/drawingml/2006/main" noChangeAspect="1"/>
          </p:cNvPicPr>
          <p:nvPr/>
        </p:nvPicPr>
        <p:blipFill>
          <a:blip xmlns:r="http://schemas.openxmlformats.org/officeDocument/2006/relationships" xmlns:a="http://schemas.openxmlformats.org/drawingml/2006/main" r:embed="R4d71d36439c54d5f"/>
          <a:stretch xmlns:a="http://schemas.openxmlformats.org/drawingml/2006/main">
            <a:fillRect l="0" t="0" r="0" b="0"/>
          </a:stretch>
        </p:blipFill>
        <p:spPr>
          <a:xfrm xmlns:a="http://schemas.openxmlformats.org/drawingml/2006/main">
            <a:off x="9646920" y="2011680"/>
            <a:ext cx="914400" cy="914400"/>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1199CFB5-E6B1-40F2-9C21-4A065A5F6A77}"/>
              </a:ext>
            </a:extLst>
          </p:cNvPr>
          <p:cNvSpPr>
            <a:spLocks xmlns:a="http://schemas.openxmlformats.org/drawingml/2006/main" noGrp="1"/>
          </p:cNvSpPr>
          <p:nvPr/>
        </p:nvSpPr>
        <p:spPr>
          <a:xfrm xmlns:a="http://schemas.openxmlformats.org/drawingml/2006/main">
            <a:off x="8961120" y="292608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CONTAINER</a:t>
            </a:r>
            <a:endParaRPr sz="1300"/>
          </a:p>
        </p:txBody>
      </p:sp>
      <p:sp>
        <p:nvSpPr>
          <p:cNvPr id="24" name="Shape 17">
            <a:extLst xmlns:a="http://schemas.openxmlformats.org/drawingml/2006/main">
              <a:ext uri="{FF2B5EF4-FFF2-40B4-BE49-F238E27FC236}">
                <a16:creationId xmlns:a16="http://schemas.microsoft.com/office/drawing/2014/main" id="{0BE13640-C4B1-4C1F-B1B1-CD3715A982DE}"/>
              </a:ext>
            </a:extLst>
          </p:cNvPr>
          <p:cNvSpPr>
            <a:spLocks xmlns:a="http://schemas.openxmlformats.org/drawingml/2006/main" noGrp="1"/>
          </p:cNvSpPr>
          <p:nvPr/>
        </p:nvSpPr>
        <p:spPr>
          <a:xfrm xmlns:a="http://schemas.openxmlformats.org/drawingml/2006/main">
            <a:off x="457200" y="3931920"/>
            <a:ext cx="11247120" cy="22860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5" name="Shape 18">
            <a:extLst xmlns:a="http://schemas.openxmlformats.org/drawingml/2006/main">
              <a:ext uri="{FF2B5EF4-FFF2-40B4-BE49-F238E27FC236}">
                <a16:creationId xmlns:a16="http://schemas.microsoft.com/office/drawing/2014/main" id="{47D9BFC1-E9C0-46B5-8769-111098E3762C}"/>
              </a:ext>
            </a:extLst>
          </p:cNvPr>
          <p:cNvSpPr>
            <a:spLocks xmlns:a="http://schemas.openxmlformats.org/drawingml/2006/main" noGrp="1"/>
          </p:cNvSpPr>
          <p:nvPr/>
        </p:nvSpPr>
        <p:spPr>
          <a:xfrm xmlns:a="http://schemas.openxmlformats.org/drawingml/2006/main">
            <a:off x="457200" y="393192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6" name="Shape 19">
            <a:extLst xmlns:a="http://schemas.openxmlformats.org/drawingml/2006/main">
              <a:ext uri="{FF2B5EF4-FFF2-40B4-BE49-F238E27FC236}">
                <a16:creationId xmlns:a16="http://schemas.microsoft.com/office/drawing/2014/main" id="{9620A4EE-D24D-4B63-8681-3BDF99434857}"/>
              </a:ext>
            </a:extLst>
          </p:cNvPr>
          <p:cNvSpPr>
            <a:spLocks xmlns:a="http://schemas.openxmlformats.org/drawingml/2006/main" noGrp="1"/>
          </p:cNvSpPr>
          <p:nvPr/>
        </p:nvSpPr>
        <p:spPr>
          <a:xfrm xmlns:a="http://schemas.openxmlformats.org/drawingml/2006/main">
            <a:off x="548640" y="40142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7" name="Shape 20">
            <a:extLst xmlns:a="http://schemas.openxmlformats.org/drawingml/2006/main">
              <a:ext uri="{FF2B5EF4-FFF2-40B4-BE49-F238E27FC236}">
                <a16:creationId xmlns:a16="http://schemas.microsoft.com/office/drawing/2014/main" id="{4C91B370-08F6-4DE7-A751-18A49C2A107C}"/>
              </a:ext>
            </a:extLst>
          </p:cNvPr>
          <p:cNvSpPr>
            <a:spLocks xmlns:a="http://schemas.openxmlformats.org/drawingml/2006/main" noGrp="1"/>
          </p:cNvSpPr>
          <p:nvPr/>
        </p:nvSpPr>
        <p:spPr>
          <a:xfrm xmlns:a="http://schemas.openxmlformats.org/drawingml/2006/main">
            <a:off x="685800" y="40142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8" name="Shape 21">
            <a:extLst xmlns:a="http://schemas.openxmlformats.org/drawingml/2006/main">
              <a:ext uri="{FF2B5EF4-FFF2-40B4-BE49-F238E27FC236}">
                <a16:creationId xmlns:a16="http://schemas.microsoft.com/office/drawing/2014/main" id="{060C557E-DFF9-47E4-9207-84EDEC481999}"/>
              </a:ext>
            </a:extLst>
          </p:cNvPr>
          <p:cNvSpPr>
            <a:spLocks xmlns:a="http://schemas.openxmlformats.org/drawingml/2006/main" noGrp="1"/>
          </p:cNvSpPr>
          <p:nvPr/>
        </p:nvSpPr>
        <p:spPr>
          <a:xfrm xmlns:a="http://schemas.openxmlformats.org/drawingml/2006/main">
            <a:off x="822960" y="40142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9" name="Text 22">
            <a:extLst xmlns:a="http://schemas.openxmlformats.org/drawingml/2006/main">
              <a:ext uri="{FF2B5EF4-FFF2-40B4-BE49-F238E27FC236}">
                <a16:creationId xmlns:a16="http://schemas.microsoft.com/office/drawing/2014/main" id="{130F6E60-AC91-4625-916B-F80AA1061F03}"/>
              </a:ext>
            </a:extLst>
          </p:cNvPr>
          <p:cNvSpPr>
            <a:spLocks xmlns:a="http://schemas.openxmlformats.org/drawingml/2006/main" noGrp="1"/>
          </p:cNvSpPr>
          <p:nvPr/>
        </p:nvSpPr>
        <p:spPr>
          <a:xfrm xmlns:a="http://schemas.openxmlformats.org/drawingml/2006/main">
            <a:off x="1005840" y="393192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port mapping examples</a:t>
            </a:r>
            <a:endParaRPr sz="900"/>
          </a:p>
        </p:txBody>
      </p:sp>
      <p:sp>
        <p:nvSpPr>
          <p:cNvPr id="30" name="Text 23">
            <a:extLst xmlns:a="http://schemas.openxmlformats.org/drawingml/2006/main">
              <a:ext uri="{FF2B5EF4-FFF2-40B4-BE49-F238E27FC236}">
                <a16:creationId xmlns:a16="http://schemas.microsoft.com/office/drawing/2014/main" id="{17CBB8E9-E0B6-4B50-9800-B59333BE3F8E}"/>
              </a:ext>
            </a:extLst>
          </p:cNvPr>
          <p:cNvSpPr>
            <a:spLocks xmlns:a="http://schemas.openxmlformats.org/drawingml/2006/main" noGrp="1"/>
          </p:cNvSpPr>
          <p:nvPr/>
        </p:nvSpPr>
        <p:spPr>
          <a:xfrm xmlns:a="http://schemas.openxmlformats.org/drawingml/2006/main">
            <a:off x="594360" y="4297680"/>
            <a:ext cx="1097280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Map port 8080 host -&gt; 80 container (HTTP)</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-p 8080:80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Akses dari browser: http://localhost:8080</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Map banyak port sekaligus</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-p 80:80 -p 443:443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Cuma terima dari localhost host</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-p 127.0.0.1:5432:5432 postgres</a:t>
            </a:r>
            <a:endParaRPr sz="1000"/>
          </a:p>
        </p:txBody>
      </p:sp>
    </p:spTree>
    <p:extLst>
      <p:ext uri="{BB962C8B-B14F-4D97-AF65-F5344CB8AC3E}">
        <p14:creationId xmlns:p14="http://schemas.microsoft.com/office/powerpoint/2010/main" val="38833998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4F712E-25AD-4BE9-8A6E-6108A6BD48B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19F89DFF-5570-4961-8EC4-912C86D90D9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BFCFED77-47AB-48A0-A0BF-6BF411D5A1D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6" name="Image 0">
            <a:extLst xmlns:a="http://schemas.openxmlformats.org/drawingml/2006/main">
              <a:ext uri="{FF2B5EF4-FFF2-40B4-BE49-F238E27FC236}">
                <a16:creationId xmlns:a16="http://schemas.microsoft.com/office/drawing/2014/main" id="{2CACF090-0251-4731-AA8D-C54DF83C8F15}"/>
              </a:ext>
            </a:extLst>
          </p:cNvPr>
          <p:cNvPicPr>
            <a:picLocks xmlns:a="http://schemas.openxmlformats.org/drawingml/2006/main" noChangeAspect="1"/>
          </p:cNvPicPr>
          <p:nvPr/>
        </p:nvPicPr>
        <p:blipFill>
          <a:blip xmlns:r="http://schemas.openxmlformats.org/officeDocument/2006/relationships" xmlns:a="http://schemas.openxmlformats.org/drawingml/2006/main" r:embed="R5c47d838643e4fc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7" name="Image 1">
            <a:extLst xmlns:a="http://schemas.openxmlformats.org/drawingml/2006/main">
              <a:ext uri="{FF2B5EF4-FFF2-40B4-BE49-F238E27FC236}">
                <a16:creationId xmlns:a16="http://schemas.microsoft.com/office/drawing/2014/main" id="{A0779064-FC97-41A5-8E44-7A59BD03F11C}"/>
              </a:ext>
            </a:extLst>
          </p:cNvPr>
          <p:cNvPicPr>
            <a:picLocks xmlns:a="http://schemas.openxmlformats.org/drawingml/2006/main" noChangeAspect="1"/>
          </p:cNvPicPr>
          <p:nvPr/>
        </p:nvPicPr>
        <p:blipFill>
          <a:blip xmlns:r="http://schemas.openxmlformats.org/officeDocument/2006/relationships" xmlns:a="http://schemas.openxmlformats.org/drawingml/2006/main" r:embed="Rcae0311ebc4a4c7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F7F652A-C99E-4900-BF4D-6F48B2B95E6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177F723-23D0-4F1F-81BE-36F28FFB5D3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 Commands - Lainnya yang Berguna</a:t>
            </a:r>
            <a:endParaRPr sz="2200"/>
          </a:p>
        </p:txBody>
      </p:sp>
      <p:sp>
        <p:nvSpPr>
          <p:cNvPr id="9" name="Text 5">
            <a:extLst xmlns:a="http://schemas.openxmlformats.org/drawingml/2006/main">
              <a:ext uri="{FF2B5EF4-FFF2-40B4-BE49-F238E27FC236}">
                <a16:creationId xmlns:a16="http://schemas.microsoft.com/office/drawing/2014/main" id="{857509B3-0F6C-40AB-B412-9ED35AC36D8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Untuk inspeksi, cleanup, dan debugging</a:t>
            </a:r>
            <a:endParaRPr sz="1200"/>
          </a:p>
        </p:txBody>
      </p:sp>
      <p:sp>
        <p:nvSpPr>
          <p:cNvPr id="10" name="Shape 6">
            <a:extLst xmlns:a="http://schemas.openxmlformats.org/drawingml/2006/main">
              <a:ext uri="{FF2B5EF4-FFF2-40B4-BE49-F238E27FC236}">
                <a16:creationId xmlns:a16="http://schemas.microsoft.com/office/drawing/2014/main" id="{17BF1199-37E9-4116-BB4E-A88CEE5BD22A}"/>
              </a:ext>
            </a:extLst>
          </p:cNvPr>
          <p:cNvSpPr>
            <a:spLocks xmlns:a="http://schemas.openxmlformats.org/drawingml/2006/main" noGrp="1"/>
          </p:cNvSpPr>
          <p:nvPr/>
        </p:nvSpPr>
        <p:spPr>
          <a:xfrm xmlns:a="http://schemas.openxmlformats.org/drawingml/2006/main">
            <a:off x="45720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AA7FF9C4-8D24-49EF-93EB-228DAF62F7E3}"/>
              </a:ext>
            </a:extLst>
          </p:cNvPr>
          <p:cNvSpPr>
            <a:spLocks xmlns:a="http://schemas.openxmlformats.org/drawingml/2006/main" noGrp="1"/>
          </p:cNvSpPr>
          <p:nvPr/>
        </p:nvSpPr>
        <p:spPr>
          <a:xfrm xmlns:a="http://schemas.openxmlformats.org/drawingml/2006/main">
            <a:off x="45720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2" name="Text 8">
            <a:extLst xmlns:a="http://schemas.openxmlformats.org/drawingml/2006/main">
              <a:ext uri="{FF2B5EF4-FFF2-40B4-BE49-F238E27FC236}">
                <a16:creationId xmlns:a16="http://schemas.microsoft.com/office/drawing/2014/main" id="{609A81F8-9767-427C-BC8D-B316A3B48F6A}"/>
              </a:ext>
            </a:extLst>
          </p:cNvPr>
          <p:cNvSpPr>
            <a:spLocks xmlns:a="http://schemas.openxmlformats.org/drawingml/2006/main" noGrp="1"/>
          </p:cNvSpPr>
          <p:nvPr/>
        </p:nvSpPr>
        <p:spPr>
          <a:xfrm xmlns:a="http://schemas.openxmlformats.org/drawingml/2006/main">
            <a:off x="59436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inspect &lt;id&gt;</a:t>
            </a:r>
            <a:endParaRPr sz="1050"/>
          </a:p>
        </p:txBody>
      </p:sp>
      <p:sp>
        <p:nvSpPr>
          <p:cNvPr id="13" name="Text 9">
            <a:extLst xmlns:a="http://schemas.openxmlformats.org/drawingml/2006/main">
              <a:ext uri="{FF2B5EF4-FFF2-40B4-BE49-F238E27FC236}">
                <a16:creationId xmlns:a16="http://schemas.microsoft.com/office/drawing/2014/main" id="{1694A955-4E69-4D91-B923-BF480CA89585}"/>
              </a:ext>
            </a:extLst>
          </p:cNvPr>
          <p:cNvSpPr>
            <a:spLocks xmlns:a="http://schemas.openxmlformats.org/drawingml/2006/main" noGrp="1"/>
          </p:cNvSpPr>
          <p:nvPr/>
        </p:nvSpPr>
        <p:spPr>
          <a:xfrm xmlns:a="http://schemas.openxmlformats.org/drawingml/2006/main">
            <a:off x="59436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Detail JSON container/image (IP, mount, env)</a:t>
            </a:r>
            <a:endParaRPr sz="1000"/>
          </a:p>
        </p:txBody>
      </p:sp>
      <p:sp>
        <p:nvSpPr>
          <p:cNvPr id="14" name="Shape 10">
            <a:extLst xmlns:a="http://schemas.openxmlformats.org/drawingml/2006/main">
              <a:ext uri="{FF2B5EF4-FFF2-40B4-BE49-F238E27FC236}">
                <a16:creationId xmlns:a16="http://schemas.microsoft.com/office/drawing/2014/main" id="{549E6CEA-06EF-4BDB-9C46-AF4666AA9E5B}"/>
              </a:ext>
            </a:extLst>
          </p:cNvPr>
          <p:cNvSpPr>
            <a:spLocks xmlns:a="http://schemas.openxmlformats.org/drawingml/2006/main" noGrp="1"/>
          </p:cNvSpPr>
          <p:nvPr/>
        </p:nvSpPr>
        <p:spPr>
          <a:xfrm xmlns:a="http://schemas.openxmlformats.org/drawingml/2006/main">
            <a:off x="429768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5" name="Shape 11">
            <a:extLst xmlns:a="http://schemas.openxmlformats.org/drawingml/2006/main">
              <a:ext uri="{FF2B5EF4-FFF2-40B4-BE49-F238E27FC236}">
                <a16:creationId xmlns:a16="http://schemas.microsoft.com/office/drawing/2014/main" id="{21F7E668-D0A7-426F-A191-7C2F134C12BE}"/>
              </a:ext>
            </a:extLst>
          </p:cNvPr>
          <p:cNvSpPr>
            <a:spLocks xmlns:a="http://schemas.openxmlformats.org/drawingml/2006/main" noGrp="1"/>
          </p:cNvSpPr>
          <p:nvPr/>
        </p:nvSpPr>
        <p:spPr>
          <a:xfrm xmlns:a="http://schemas.openxmlformats.org/drawingml/2006/main">
            <a:off x="429768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6" name="Text 12">
            <a:extLst xmlns:a="http://schemas.openxmlformats.org/drawingml/2006/main">
              <a:ext uri="{FF2B5EF4-FFF2-40B4-BE49-F238E27FC236}">
                <a16:creationId xmlns:a16="http://schemas.microsoft.com/office/drawing/2014/main" id="{9F8AA2B5-7491-4C58-BB08-E0E73B481ACC}"/>
              </a:ext>
            </a:extLst>
          </p:cNvPr>
          <p:cNvSpPr>
            <a:spLocks xmlns:a="http://schemas.openxmlformats.org/drawingml/2006/main" noGrp="1"/>
          </p:cNvSpPr>
          <p:nvPr/>
        </p:nvSpPr>
        <p:spPr>
          <a:xfrm xmlns:a="http://schemas.openxmlformats.org/drawingml/2006/main">
            <a:off x="443484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logs -f &lt;id&gt;</a:t>
            </a:r>
            <a:endParaRPr sz="1050"/>
          </a:p>
        </p:txBody>
      </p:sp>
      <p:sp>
        <p:nvSpPr>
          <p:cNvPr id="17" name="Text 13">
            <a:extLst xmlns:a="http://schemas.openxmlformats.org/drawingml/2006/main">
              <a:ext uri="{FF2B5EF4-FFF2-40B4-BE49-F238E27FC236}">
                <a16:creationId xmlns:a16="http://schemas.microsoft.com/office/drawing/2014/main" id="{AE8175CD-10AC-4C21-9891-0FDC407E1185}"/>
              </a:ext>
            </a:extLst>
          </p:cNvPr>
          <p:cNvSpPr>
            <a:spLocks xmlns:a="http://schemas.openxmlformats.org/drawingml/2006/main" noGrp="1"/>
          </p:cNvSpPr>
          <p:nvPr/>
        </p:nvSpPr>
        <p:spPr>
          <a:xfrm xmlns:a="http://schemas.openxmlformats.org/drawingml/2006/main">
            <a:off x="443484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Follow log stdout/stderr (-f tail real-time)</a:t>
            </a:r>
            <a:endParaRPr sz="1000"/>
          </a:p>
        </p:txBody>
      </p:sp>
      <p:sp>
        <p:nvSpPr>
          <p:cNvPr id="18" name="Shape 14">
            <a:extLst xmlns:a="http://schemas.openxmlformats.org/drawingml/2006/main">
              <a:ext uri="{FF2B5EF4-FFF2-40B4-BE49-F238E27FC236}">
                <a16:creationId xmlns:a16="http://schemas.microsoft.com/office/drawing/2014/main" id="{208CBBC5-1626-4407-8E93-D167E1646E59}"/>
              </a:ext>
            </a:extLst>
          </p:cNvPr>
          <p:cNvSpPr>
            <a:spLocks xmlns:a="http://schemas.openxmlformats.org/drawingml/2006/main" noGrp="1"/>
          </p:cNvSpPr>
          <p:nvPr/>
        </p:nvSpPr>
        <p:spPr>
          <a:xfrm xmlns:a="http://schemas.openxmlformats.org/drawingml/2006/main">
            <a:off x="813816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9" name="Shape 15">
            <a:extLst xmlns:a="http://schemas.openxmlformats.org/drawingml/2006/main">
              <a:ext uri="{FF2B5EF4-FFF2-40B4-BE49-F238E27FC236}">
                <a16:creationId xmlns:a16="http://schemas.microsoft.com/office/drawing/2014/main" id="{A76FBFC1-B8AC-4C46-9138-6AA819BE6B98}"/>
              </a:ext>
            </a:extLst>
          </p:cNvPr>
          <p:cNvSpPr>
            <a:spLocks xmlns:a="http://schemas.openxmlformats.org/drawingml/2006/main" noGrp="1"/>
          </p:cNvSpPr>
          <p:nvPr/>
        </p:nvSpPr>
        <p:spPr>
          <a:xfrm xmlns:a="http://schemas.openxmlformats.org/drawingml/2006/main">
            <a:off x="813816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0" name="Text 16">
            <a:extLst xmlns:a="http://schemas.openxmlformats.org/drawingml/2006/main">
              <a:ext uri="{FF2B5EF4-FFF2-40B4-BE49-F238E27FC236}">
                <a16:creationId xmlns:a16="http://schemas.microsoft.com/office/drawing/2014/main" id="{A632A0CE-A8A4-487D-A6D0-43ED214D57A6}"/>
              </a:ext>
            </a:extLst>
          </p:cNvPr>
          <p:cNvSpPr>
            <a:spLocks xmlns:a="http://schemas.openxmlformats.org/drawingml/2006/main" noGrp="1"/>
          </p:cNvSpPr>
          <p:nvPr/>
        </p:nvSpPr>
        <p:spPr>
          <a:xfrm xmlns:a="http://schemas.openxmlformats.org/drawingml/2006/main">
            <a:off x="827532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exec -it &lt;id&gt; bash</a:t>
            </a:r>
            <a:endParaRPr sz="1050"/>
          </a:p>
        </p:txBody>
      </p:sp>
      <p:sp>
        <p:nvSpPr>
          <p:cNvPr id="21" name="Text 17">
            <a:extLst xmlns:a="http://schemas.openxmlformats.org/drawingml/2006/main">
              <a:ext uri="{FF2B5EF4-FFF2-40B4-BE49-F238E27FC236}">
                <a16:creationId xmlns:a16="http://schemas.microsoft.com/office/drawing/2014/main" id="{8BB6C077-FF28-4577-B080-F05871698C38}"/>
              </a:ext>
            </a:extLst>
          </p:cNvPr>
          <p:cNvSpPr>
            <a:spLocks xmlns:a="http://schemas.openxmlformats.org/drawingml/2006/main" noGrp="1"/>
          </p:cNvSpPr>
          <p:nvPr/>
        </p:nvSpPr>
        <p:spPr>
          <a:xfrm xmlns:a="http://schemas.openxmlformats.org/drawingml/2006/main">
            <a:off x="827532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Buka shell di container (debug)</a:t>
            </a:r>
            <a:endParaRPr sz="1000"/>
          </a:p>
        </p:txBody>
      </p:sp>
      <p:sp>
        <p:nvSpPr>
          <p:cNvPr id="22" name="Shape 18">
            <a:extLst xmlns:a="http://schemas.openxmlformats.org/drawingml/2006/main">
              <a:ext uri="{FF2B5EF4-FFF2-40B4-BE49-F238E27FC236}">
                <a16:creationId xmlns:a16="http://schemas.microsoft.com/office/drawing/2014/main" id="{CB1A307D-F6C1-4318-894D-034714D7AF51}"/>
              </a:ext>
            </a:extLst>
          </p:cNvPr>
          <p:cNvSpPr>
            <a:spLocks xmlns:a="http://schemas.openxmlformats.org/drawingml/2006/main" noGrp="1"/>
          </p:cNvSpPr>
          <p:nvPr/>
        </p:nvSpPr>
        <p:spPr>
          <a:xfrm xmlns:a="http://schemas.openxmlformats.org/drawingml/2006/main">
            <a:off x="45720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806BAED9-9CA9-4885-BEA5-A76145A02C82}"/>
              </a:ext>
            </a:extLst>
          </p:cNvPr>
          <p:cNvSpPr>
            <a:spLocks xmlns:a="http://schemas.openxmlformats.org/drawingml/2006/main" noGrp="1"/>
          </p:cNvSpPr>
          <p:nvPr/>
        </p:nvSpPr>
        <p:spPr>
          <a:xfrm xmlns:a="http://schemas.openxmlformats.org/drawingml/2006/main">
            <a:off x="45720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4" name="Text 20">
            <a:extLst xmlns:a="http://schemas.openxmlformats.org/drawingml/2006/main">
              <a:ext uri="{FF2B5EF4-FFF2-40B4-BE49-F238E27FC236}">
                <a16:creationId xmlns:a16="http://schemas.microsoft.com/office/drawing/2014/main" id="{DD1654D5-0070-4E8C-B51D-AFB42A154842}"/>
              </a:ext>
            </a:extLst>
          </p:cNvPr>
          <p:cNvSpPr>
            <a:spLocks xmlns:a="http://schemas.openxmlformats.org/drawingml/2006/main" noGrp="1"/>
          </p:cNvSpPr>
          <p:nvPr/>
        </p:nvSpPr>
        <p:spPr>
          <a:xfrm xmlns:a="http://schemas.openxmlformats.org/drawingml/2006/main">
            <a:off x="59436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cp &lt;id&gt;:/path .</a:t>
            </a:r>
            <a:endParaRPr sz="1050"/>
          </a:p>
        </p:txBody>
      </p:sp>
      <p:sp>
        <p:nvSpPr>
          <p:cNvPr id="25" name="Text 21">
            <a:extLst xmlns:a="http://schemas.openxmlformats.org/drawingml/2006/main">
              <a:ext uri="{FF2B5EF4-FFF2-40B4-BE49-F238E27FC236}">
                <a16:creationId xmlns:a16="http://schemas.microsoft.com/office/drawing/2014/main" id="{5C4976A1-987C-4E8D-8035-48ACFC4FE935}"/>
              </a:ext>
            </a:extLst>
          </p:cNvPr>
          <p:cNvSpPr>
            <a:spLocks xmlns:a="http://schemas.openxmlformats.org/drawingml/2006/main" noGrp="1"/>
          </p:cNvSpPr>
          <p:nvPr/>
        </p:nvSpPr>
        <p:spPr>
          <a:xfrm xmlns:a="http://schemas.openxmlformats.org/drawingml/2006/main">
            <a:off x="59436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Copy file dari container ke host</a:t>
            </a:r>
            <a:endParaRPr sz="1000"/>
          </a:p>
        </p:txBody>
      </p:sp>
      <p:sp>
        <p:nvSpPr>
          <p:cNvPr id="26" name="Shape 22">
            <a:extLst xmlns:a="http://schemas.openxmlformats.org/drawingml/2006/main">
              <a:ext uri="{FF2B5EF4-FFF2-40B4-BE49-F238E27FC236}">
                <a16:creationId xmlns:a16="http://schemas.microsoft.com/office/drawing/2014/main" id="{31C355E3-B6AC-4B25-9C9A-7BC3C2CE13BD}"/>
              </a:ext>
            </a:extLst>
          </p:cNvPr>
          <p:cNvSpPr>
            <a:spLocks xmlns:a="http://schemas.openxmlformats.org/drawingml/2006/main" noGrp="1"/>
          </p:cNvSpPr>
          <p:nvPr/>
        </p:nvSpPr>
        <p:spPr>
          <a:xfrm xmlns:a="http://schemas.openxmlformats.org/drawingml/2006/main">
            <a:off x="429768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FDEA9406-68D0-41AB-B814-6F38A608F6AF}"/>
              </a:ext>
            </a:extLst>
          </p:cNvPr>
          <p:cNvSpPr>
            <a:spLocks xmlns:a="http://schemas.openxmlformats.org/drawingml/2006/main" noGrp="1"/>
          </p:cNvSpPr>
          <p:nvPr/>
        </p:nvSpPr>
        <p:spPr>
          <a:xfrm xmlns:a="http://schemas.openxmlformats.org/drawingml/2006/main">
            <a:off x="429768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8" name="Text 24">
            <a:extLst xmlns:a="http://schemas.openxmlformats.org/drawingml/2006/main">
              <a:ext uri="{FF2B5EF4-FFF2-40B4-BE49-F238E27FC236}">
                <a16:creationId xmlns:a16="http://schemas.microsoft.com/office/drawing/2014/main" id="{CE0EE99E-3A6C-4579-8AEC-D9522E084781}"/>
              </a:ext>
            </a:extLst>
          </p:cNvPr>
          <p:cNvSpPr>
            <a:spLocks xmlns:a="http://schemas.openxmlformats.org/drawingml/2006/main" noGrp="1"/>
          </p:cNvSpPr>
          <p:nvPr/>
        </p:nvSpPr>
        <p:spPr>
          <a:xfrm xmlns:a="http://schemas.openxmlformats.org/drawingml/2006/main">
            <a:off x="443484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stats</a:t>
            </a:r>
            <a:endParaRPr sz="1050"/>
          </a:p>
        </p:txBody>
      </p:sp>
      <p:sp>
        <p:nvSpPr>
          <p:cNvPr id="29" name="Text 25">
            <a:extLst xmlns:a="http://schemas.openxmlformats.org/drawingml/2006/main">
              <a:ext uri="{FF2B5EF4-FFF2-40B4-BE49-F238E27FC236}">
                <a16:creationId xmlns:a16="http://schemas.microsoft.com/office/drawing/2014/main" id="{B4FA49F6-E37C-4F9F-8AD7-BF4174C6ADDD}"/>
              </a:ext>
            </a:extLst>
          </p:cNvPr>
          <p:cNvSpPr>
            <a:spLocks xmlns:a="http://schemas.openxmlformats.org/drawingml/2006/main" noGrp="1"/>
          </p:cNvSpPr>
          <p:nvPr/>
        </p:nvSpPr>
        <p:spPr>
          <a:xfrm xmlns:a="http://schemas.openxmlformats.org/drawingml/2006/main">
            <a:off x="443484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Real-time CPU/RAM/IO tiap container</a:t>
            </a:r>
            <a:endParaRPr sz="1000"/>
          </a:p>
        </p:txBody>
      </p:sp>
      <p:sp>
        <p:nvSpPr>
          <p:cNvPr id="30" name="Shape 26">
            <a:extLst xmlns:a="http://schemas.openxmlformats.org/drawingml/2006/main">
              <a:ext uri="{FF2B5EF4-FFF2-40B4-BE49-F238E27FC236}">
                <a16:creationId xmlns:a16="http://schemas.microsoft.com/office/drawing/2014/main" id="{EA8C20B4-16EE-4C31-A610-47DA0929819B}"/>
              </a:ext>
            </a:extLst>
          </p:cNvPr>
          <p:cNvSpPr>
            <a:spLocks xmlns:a="http://schemas.openxmlformats.org/drawingml/2006/main" noGrp="1"/>
          </p:cNvSpPr>
          <p:nvPr/>
        </p:nvSpPr>
        <p:spPr>
          <a:xfrm xmlns:a="http://schemas.openxmlformats.org/drawingml/2006/main">
            <a:off x="813816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6D8C85BF-8212-4CD1-82F4-8B5E7E32399B}"/>
              </a:ext>
            </a:extLst>
          </p:cNvPr>
          <p:cNvSpPr>
            <a:spLocks xmlns:a="http://schemas.openxmlformats.org/drawingml/2006/main" noGrp="1"/>
          </p:cNvSpPr>
          <p:nvPr/>
        </p:nvSpPr>
        <p:spPr>
          <a:xfrm xmlns:a="http://schemas.openxmlformats.org/drawingml/2006/main">
            <a:off x="813816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2" name="Text 28">
            <a:extLst xmlns:a="http://schemas.openxmlformats.org/drawingml/2006/main">
              <a:ext uri="{FF2B5EF4-FFF2-40B4-BE49-F238E27FC236}">
                <a16:creationId xmlns:a16="http://schemas.microsoft.com/office/drawing/2014/main" id="{A06486B1-B16F-4094-A97C-0F4C627AD51E}"/>
              </a:ext>
            </a:extLst>
          </p:cNvPr>
          <p:cNvSpPr>
            <a:spLocks xmlns:a="http://schemas.openxmlformats.org/drawingml/2006/main" noGrp="1"/>
          </p:cNvSpPr>
          <p:nvPr/>
        </p:nvSpPr>
        <p:spPr>
          <a:xfrm xmlns:a="http://schemas.openxmlformats.org/drawingml/2006/main">
            <a:off x="827532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system df</a:t>
            </a:r>
            <a:endParaRPr sz="1050"/>
          </a:p>
        </p:txBody>
      </p:sp>
      <p:sp>
        <p:nvSpPr>
          <p:cNvPr id="33" name="Text 29">
            <a:extLst xmlns:a="http://schemas.openxmlformats.org/drawingml/2006/main">
              <a:ext uri="{FF2B5EF4-FFF2-40B4-BE49-F238E27FC236}">
                <a16:creationId xmlns:a16="http://schemas.microsoft.com/office/drawing/2014/main" id="{CC9E1D2B-D701-4D89-8175-6FF24C6B3307}"/>
              </a:ext>
            </a:extLst>
          </p:cNvPr>
          <p:cNvSpPr>
            <a:spLocks xmlns:a="http://schemas.openxmlformats.org/drawingml/2006/main" noGrp="1"/>
          </p:cNvSpPr>
          <p:nvPr/>
        </p:nvSpPr>
        <p:spPr>
          <a:xfrm xmlns:a="http://schemas.openxmlformats.org/drawingml/2006/main">
            <a:off x="827532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Lihat disk usage Docker</a:t>
            </a:r>
            <a:endParaRPr sz="1000"/>
          </a:p>
        </p:txBody>
      </p:sp>
      <p:sp>
        <p:nvSpPr>
          <p:cNvPr id="34" name="Shape 30">
            <a:extLst xmlns:a="http://schemas.openxmlformats.org/drawingml/2006/main">
              <a:ext uri="{FF2B5EF4-FFF2-40B4-BE49-F238E27FC236}">
                <a16:creationId xmlns:a16="http://schemas.microsoft.com/office/drawing/2014/main" id="{7B3DF594-41B6-481D-95C7-06EFB23B2D1A}"/>
              </a:ext>
            </a:extLst>
          </p:cNvPr>
          <p:cNvSpPr>
            <a:spLocks xmlns:a="http://schemas.openxmlformats.org/drawingml/2006/main" noGrp="1"/>
          </p:cNvSpPr>
          <p:nvPr/>
        </p:nvSpPr>
        <p:spPr>
          <a:xfrm xmlns:a="http://schemas.openxmlformats.org/drawingml/2006/main">
            <a:off x="45720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E5F5C9BF-BDE2-4E22-A240-FB6C8E5DCA00}"/>
              </a:ext>
            </a:extLst>
          </p:cNvPr>
          <p:cNvSpPr>
            <a:spLocks xmlns:a="http://schemas.openxmlformats.org/drawingml/2006/main" noGrp="1"/>
          </p:cNvSpPr>
          <p:nvPr/>
        </p:nvSpPr>
        <p:spPr>
          <a:xfrm xmlns:a="http://schemas.openxmlformats.org/drawingml/2006/main">
            <a:off x="45720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6" name="Text 32">
            <a:extLst xmlns:a="http://schemas.openxmlformats.org/drawingml/2006/main">
              <a:ext uri="{FF2B5EF4-FFF2-40B4-BE49-F238E27FC236}">
                <a16:creationId xmlns:a16="http://schemas.microsoft.com/office/drawing/2014/main" id="{131C62DF-333D-4709-B1C7-1F1008727058}"/>
              </a:ext>
            </a:extLst>
          </p:cNvPr>
          <p:cNvSpPr>
            <a:spLocks xmlns:a="http://schemas.openxmlformats.org/drawingml/2006/main" noGrp="1"/>
          </p:cNvSpPr>
          <p:nvPr/>
        </p:nvSpPr>
        <p:spPr>
          <a:xfrm xmlns:a="http://schemas.openxmlformats.org/drawingml/2006/main">
            <a:off x="59436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system prune -a</a:t>
            </a:r>
            <a:endParaRPr sz="1050"/>
          </a:p>
        </p:txBody>
      </p:sp>
      <p:sp>
        <p:nvSpPr>
          <p:cNvPr id="37" name="Text 33">
            <a:extLst xmlns:a="http://schemas.openxmlformats.org/drawingml/2006/main">
              <a:ext uri="{FF2B5EF4-FFF2-40B4-BE49-F238E27FC236}">
                <a16:creationId xmlns:a16="http://schemas.microsoft.com/office/drawing/2014/main" id="{7FDC320E-6A48-4A0D-9532-F0BADE431C0C}"/>
              </a:ext>
            </a:extLst>
          </p:cNvPr>
          <p:cNvSpPr>
            <a:spLocks xmlns:a="http://schemas.openxmlformats.org/drawingml/2006/main" noGrp="1"/>
          </p:cNvSpPr>
          <p:nvPr/>
        </p:nvSpPr>
        <p:spPr>
          <a:xfrm xmlns:a="http://schemas.openxmlformats.org/drawingml/2006/main">
            <a:off x="59436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Hapus image/container/cache yang tidak dipakai</a:t>
            </a:r>
            <a:endParaRPr sz="1000"/>
          </a:p>
        </p:txBody>
      </p:sp>
      <p:sp>
        <p:nvSpPr>
          <p:cNvPr id="38" name="Shape 34">
            <a:extLst xmlns:a="http://schemas.openxmlformats.org/drawingml/2006/main">
              <a:ext uri="{FF2B5EF4-FFF2-40B4-BE49-F238E27FC236}">
                <a16:creationId xmlns:a16="http://schemas.microsoft.com/office/drawing/2014/main" id="{9835DBCE-64E7-475D-9F05-D2E7CF2EA2E6}"/>
              </a:ext>
            </a:extLst>
          </p:cNvPr>
          <p:cNvSpPr>
            <a:spLocks xmlns:a="http://schemas.openxmlformats.org/drawingml/2006/main" noGrp="1"/>
          </p:cNvSpPr>
          <p:nvPr/>
        </p:nvSpPr>
        <p:spPr>
          <a:xfrm xmlns:a="http://schemas.openxmlformats.org/drawingml/2006/main">
            <a:off x="429768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9356AFF6-0F10-4AAE-A99C-19214E885F7A}"/>
              </a:ext>
            </a:extLst>
          </p:cNvPr>
          <p:cNvSpPr>
            <a:spLocks xmlns:a="http://schemas.openxmlformats.org/drawingml/2006/main" noGrp="1"/>
          </p:cNvSpPr>
          <p:nvPr/>
        </p:nvSpPr>
        <p:spPr>
          <a:xfrm xmlns:a="http://schemas.openxmlformats.org/drawingml/2006/main">
            <a:off x="429768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0" name="Text 36">
            <a:extLst xmlns:a="http://schemas.openxmlformats.org/drawingml/2006/main">
              <a:ext uri="{FF2B5EF4-FFF2-40B4-BE49-F238E27FC236}">
                <a16:creationId xmlns:a16="http://schemas.microsoft.com/office/drawing/2014/main" id="{B3E95BEF-0574-4855-B77C-F1729B6B6167}"/>
              </a:ext>
            </a:extLst>
          </p:cNvPr>
          <p:cNvSpPr>
            <a:spLocks xmlns:a="http://schemas.openxmlformats.org/drawingml/2006/main" noGrp="1"/>
          </p:cNvSpPr>
          <p:nvPr/>
        </p:nvSpPr>
        <p:spPr>
          <a:xfrm xmlns:a="http://schemas.openxmlformats.org/drawingml/2006/main">
            <a:off x="443484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volume ls / prune</a:t>
            </a:r>
            <a:endParaRPr sz="1050"/>
          </a:p>
        </p:txBody>
      </p:sp>
      <p:sp>
        <p:nvSpPr>
          <p:cNvPr id="41" name="Text 37">
            <a:extLst xmlns:a="http://schemas.openxmlformats.org/drawingml/2006/main">
              <a:ext uri="{FF2B5EF4-FFF2-40B4-BE49-F238E27FC236}">
                <a16:creationId xmlns:a16="http://schemas.microsoft.com/office/drawing/2014/main" id="{F6EC9C5D-2B25-44EC-A7A5-5364E977AD7A}"/>
              </a:ext>
            </a:extLst>
          </p:cNvPr>
          <p:cNvSpPr>
            <a:spLocks xmlns:a="http://schemas.openxmlformats.org/drawingml/2006/main" noGrp="1"/>
          </p:cNvSpPr>
          <p:nvPr/>
        </p:nvSpPr>
        <p:spPr>
          <a:xfrm xmlns:a="http://schemas.openxmlformats.org/drawingml/2006/main">
            <a:off x="443484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List / cleanup volumes</a:t>
            </a:r>
            <a:endParaRPr sz="1000"/>
          </a:p>
        </p:txBody>
      </p:sp>
      <p:sp>
        <p:nvSpPr>
          <p:cNvPr id="42" name="Shape 38">
            <a:extLst xmlns:a="http://schemas.openxmlformats.org/drawingml/2006/main">
              <a:ext uri="{FF2B5EF4-FFF2-40B4-BE49-F238E27FC236}">
                <a16:creationId xmlns:a16="http://schemas.microsoft.com/office/drawing/2014/main" id="{9C3B6B17-99AD-4888-9366-5A3524F4BA4B}"/>
              </a:ext>
            </a:extLst>
          </p:cNvPr>
          <p:cNvSpPr>
            <a:spLocks xmlns:a="http://schemas.openxmlformats.org/drawingml/2006/main" noGrp="1"/>
          </p:cNvSpPr>
          <p:nvPr/>
        </p:nvSpPr>
        <p:spPr>
          <a:xfrm xmlns:a="http://schemas.openxmlformats.org/drawingml/2006/main">
            <a:off x="813816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3" name="Shape 39">
            <a:extLst xmlns:a="http://schemas.openxmlformats.org/drawingml/2006/main">
              <a:ext uri="{FF2B5EF4-FFF2-40B4-BE49-F238E27FC236}">
                <a16:creationId xmlns:a16="http://schemas.microsoft.com/office/drawing/2014/main" id="{99B370F5-D3C1-4DD1-B29C-2025A17134F9}"/>
              </a:ext>
            </a:extLst>
          </p:cNvPr>
          <p:cNvSpPr>
            <a:spLocks xmlns:a="http://schemas.openxmlformats.org/drawingml/2006/main" noGrp="1"/>
          </p:cNvSpPr>
          <p:nvPr/>
        </p:nvSpPr>
        <p:spPr>
          <a:xfrm xmlns:a="http://schemas.openxmlformats.org/drawingml/2006/main">
            <a:off x="813816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4" name="Text 40">
            <a:extLst xmlns:a="http://schemas.openxmlformats.org/drawingml/2006/main">
              <a:ext uri="{FF2B5EF4-FFF2-40B4-BE49-F238E27FC236}">
                <a16:creationId xmlns:a16="http://schemas.microsoft.com/office/drawing/2014/main" id="{E0A8F7B5-6020-4B78-B41E-1BA50225F04B}"/>
              </a:ext>
            </a:extLst>
          </p:cNvPr>
          <p:cNvSpPr>
            <a:spLocks xmlns:a="http://schemas.openxmlformats.org/drawingml/2006/main" noGrp="1"/>
          </p:cNvSpPr>
          <p:nvPr/>
        </p:nvSpPr>
        <p:spPr>
          <a:xfrm xmlns:a="http://schemas.openxmlformats.org/drawingml/2006/main">
            <a:off x="827532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image rm &lt;id&gt;</a:t>
            </a:r>
            <a:endParaRPr sz="1050"/>
          </a:p>
        </p:txBody>
      </p:sp>
      <p:sp>
        <p:nvSpPr>
          <p:cNvPr id="45" name="Text 41">
            <a:extLst xmlns:a="http://schemas.openxmlformats.org/drawingml/2006/main">
              <a:ext uri="{FF2B5EF4-FFF2-40B4-BE49-F238E27FC236}">
                <a16:creationId xmlns:a16="http://schemas.microsoft.com/office/drawing/2014/main" id="{D2127666-C40F-498D-A433-78B7CDD68209}"/>
              </a:ext>
            </a:extLst>
          </p:cNvPr>
          <p:cNvSpPr>
            <a:spLocks xmlns:a="http://schemas.openxmlformats.org/drawingml/2006/main" noGrp="1"/>
          </p:cNvSpPr>
          <p:nvPr/>
        </p:nvSpPr>
        <p:spPr>
          <a:xfrm xmlns:a="http://schemas.openxmlformats.org/drawingml/2006/main">
            <a:off x="827532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Hapus image (kalau tidak dipakai)</a:t>
            </a:r>
            <a:endParaRPr sz="1000"/>
          </a:p>
        </p:txBody>
      </p:sp>
      <p:sp>
        <p:nvSpPr>
          <p:cNvPr id="46" name="Shape 42">
            <a:extLst xmlns:a="http://schemas.openxmlformats.org/drawingml/2006/main">
              <a:ext uri="{FF2B5EF4-FFF2-40B4-BE49-F238E27FC236}">
                <a16:creationId xmlns:a16="http://schemas.microsoft.com/office/drawing/2014/main" id="{D63FC678-977D-4994-AEAF-1E7D9B56CB0D}"/>
              </a:ext>
            </a:extLst>
          </p:cNvPr>
          <p:cNvSpPr>
            <a:spLocks xmlns:a="http://schemas.openxmlformats.org/drawingml/2006/main" noGrp="1"/>
          </p:cNvSpPr>
          <p:nvPr/>
        </p:nvSpPr>
        <p:spPr>
          <a:xfrm xmlns:a="http://schemas.openxmlformats.org/drawingml/2006/main">
            <a:off x="457200" y="429768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7" name="Shape 43">
            <a:extLst xmlns:a="http://schemas.openxmlformats.org/drawingml/2006/main">
              <a:ext uri="{FF2B5EF4-FFF2-40B4-BE49-F238E27FC236}">
                <a16:creationId xmlns:a16="http://schemas.microsoft.com/office/drawing/2014/main" id="{AB8018DC-0321-4F8E-A6A0-8A450B605D30}"/>
              </a:ext>
            </a:extLst>
          </p:cNvPr>
          <p:cNvSpPr>
            <a:spLocks xmlns:a="http://schemas.openxmlformats.org/drawingml/2006/main" noGrp="1"/>
          </p:cNvSpPr>
          <p:nvPr/>
        </p:nvSpPr>
        <p:spPr>
          <a:xfrm xmlns:a="http://schemas.openxmlformats.org/drawingml/2006/main">
            <a:off x="457200" y="429768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8" name="Text 44">
            <a:extLst xmlns:a="http://schemas.openxmlformats.org/drawingml/2006/main">
              <a:ext uri="{FF2B5EF4-FFF2-40B4-BE49-F238E27FC236}">
                <a16:creationId xmlns:a16="http://schemas.microsoft.com/office/drawing/2014/main" id="{9CF98A6F-4C6D-4A2B-8299-2E7B7D677DEB}"/>
              </a:ext>
            </a:extLst>
          </p:cNvPr>
          <p:cNvSpPr>
            <a:spLocks xmlns:a="http://schemas.openxmlformats.org/drawingml/2006/main" noGrp="1"/>
          </p:cNvSpPr>
          <p:nvPr/>
        </p:nvSpPr>
        <p:spPr>
          <a:xfrm xmlns:a="http://schemas.openxmlformats.org/drawingml/2006/main">
            <a:off x="594360" y="429768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restart &lt;id&gt;</a:t>
            </a:r>
            <a:endParaRPr sz="1050"/>
          </a:p>
        </p:txBody>
      </p:sp>
      <p:sp>
        <p:nvSpPr>
          <p:cNvPr id="49" name="Text 45">
            <a:extLst xmlns:a="http://schemas.openxmlformats.org/drawingml/2006/main">
              <a:ext uri="{FF2B5EF4-FFF2-40B4-BE49-F238E27FC236}">
                <a16:creationId xmlns:a16="http://schemas.microsoft.com/office/drawing/2014/main" id="{87E59AF0-7BF7-4FE5-B0B9-D84FA738545A}"/>
              </a:ext>
            </a:extLst>
          </p:cNvPr>
          <p:cNvSpPr>
            <a:spLocks xmlns:a="http://schemas.openxmlformats.org/drawingml/2006/main" noGrp="1"/>
          </p:cNvSpPr>
          <p:nvPr/>
        </p:nvSpPr>
        <p:spPr>
          <a:xfrm xmlns:a="http://schemas.openxmlformats.org/drawingml/2006/main">
            <a:off x="594360" y="470916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Restart container yang jalan</a:t>
            </a:r>
            <a:endParaRPr sz="1000"/>
          </a:p>
        </p:txBody>
      </p:sp>
      <p:sp>
        <p:nvSpPr>
          <p:cNvPr id="50" name="Text 46">
            <a:extLst xmlns:a="http://schemas.openxmlformats.org/drawingml/2006/main">
              <a:ext uri="{FF2B5EF4-FFF2-40B4-BE49-F238E27FC236}">
                <a16:creationId xmlns:a16="http://schemas.microsoft.com/office/drawing/2014/main" id="{022E7D10-C1C3-44E6-A9D9-EE63A77DC631}"/>
              </a:ext>
            </a:extLst>
          </p:cNvPr>
          <p:cNvSpPr>
            <a:spLocks xmlns:a="http://schemas.openxmlformats.org/drawingml/2006/main" noGrp="1"/>
          </p:cNvSpPr>
          <p:nvPr/>
        </p:nvSpPr>
        <p:spPr>
          <a:xfrm xmlns:a="http://schemas.openxmlformats.org/drawingml/2006/main">
            <a:off x="457200" y="594360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i="1">
                <a:solidFill>
                  <a:srgbClr val="F37021"/>
                </a:solidFill>
                <a:latin typeface="Calibri"/>
                <a:ea typeface="Calibri"/>
                <a:cs typeface="Calibri"/>
              </a:rPr>
              <a:t>Pro tip: </a:t>
            </a:r>
            <a:r>
              <a:rPr sz="1100" b="1" i="1">
                <a:solidFill>
                  <a:srgbClr val="002677"/>
                </a:solidFill>
                <a:latin typeface="Consolas"/>
                <a:ea typeface="Consolas"/>
                <a:cs typeface="Consolas"/>
              </a:rPr>
              <a:t>docker system prune -a --volumes </a:t>
            </a:r>
            <a:r>
              <a:rPr sz="1100" i="1">
                <a:solidFill>
                  <a:srgbClr val="1E293B"/>
                </a:solidFill>
                <a:latin typeface="Calibri"/>
                <a:ea typeface="Calibri"/>
                <a:cs typeface="Calibri"/>
              </a:rPr>
              <a:t>buat reset Docker. </a:t>
            </a:r>
            <a:r>
              <a:rPr sz="1100" b="1" i="1">
                <a:solidFill>
                  <a:srgbClr val="DC2626"/>
                </a:solidFill>
                <a:latin typeface="Calibri"/>
                <a:ea typeface="Calibri"/>
                <a:cs typeface="Calibri"/>
              </a:rPr>
              <a:t>Hati-hati: </a:t>
            </a:r>
            <a:r>
              <a:rPr sz="1100" i="1">
                <a:solidFill>
                  <a:srgbClr val="1E293B"/>
                </a:solidFill>
                <a:latin typeface="Calibri"/>
                <a:ea typeface="Calibri"/>
                <a:cs typeface="Calibri"/>
              </a:rPr>
              <a:t>ini hapus semua image, container, dan volume yang tidak dipakai.</a:t>
            </a:r>
            <a:endParaRPr sz="1100"/>
          </a:p>
        </p:txBody>
      </p:sp>
    </p:spTree>
    <p:extLst>
      <p:ext uri="{BB962C8B-B14F-4D97-AF65-F5344CB8AC3E}">
        <p14:creationId xmlns:p14="http://schemas.microsoft.com/office/powerpoint/2010/main" val="1538114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E7FAA3-C8B5-4161-A634-A25DA522697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35C874FE-ED88-4603-9A6C-C628F6E77F5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30</a:t>
            </a:r>
            <a:endParaRPr sz="900"/>
          </a:p>
        </p:txBody>
      </p:sp>
      <p:sp>
        <p:nvSpPr>
          <p:cNvPr id="4" name="Shape 2">
            <a:extLst xmlns:a="http://schemas.openxmlformats.org/drawingml/2006/main">
              <a:ext uri="{FF2B5EF4-FFF2-40B4-BE49-F238E27FC236}">
                <a16:creationId xmlns:a16="http://schemas.microsoft.com/office/drawing/2014/main" id="{FA509B55-5985-4AEA-9A80-6BE9E84ECE2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0">
            <a:extLst xmlns:a="http://schemas.openxmlformats.org/drawingml/2006/main">
              <a:ext uri="{FF2B5EF4-FFF2-40B4-BE49-F238E27FC236}">
                <a16:creationId xmlns:a16="http://schemas.microsoft.com/office/drawing/2014/main" id="{FB9B7237-1AB8-4806-A911-22442656C4F6}"/>
              </a:ext>
            </a:extLst>
          </p:cNvPr>
          <p:cNvPicPr>
            <a:picLocks xmlns:a="http://schemas.openxmlformats.org/drawingml/2006/main" noChangeAspect="1"/>
          </p:cNvPicPr>
          <p:nvPr/>
        </p:nvPicPr>
        <p:blipFill>
          <a:blip xmlns:r="http://schemas.openxmlformats.org/officeDocument/2006/relationships" xmlns:a="http://schemas.openxmlformats.org/drawingml/2006/main" r:embed="Rdfb47511b1c44a2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8" name="Image 1">
            <a:extLst xmlns:a="http://schemas.openxmlformats.org/drawingml/2006/main">
              <a:ext uri="{FF2B5EF4-FFF2-40B4-BE49-F238E27FC236}">
                <a16:creationId xmlns:a16="http://schemas.microsoft.com/office/drawing/2014/main" id="{24AEF2C1-D0AB-4519-A48C-1175CEA4E669}"/>
              </a:ext>
            </a:extLst>
          </p:cNvPr>
          <p:cNvPicPr>
            <a:picLocks xmlns:a="http://schemas.openxmlformats.org/drawingml/2006/main" noChangeAspect="1"/>
          </p:cNvPicPr>
          <p:nvPr/>
        </p:nvPicPr>
        <p:blipFill>
          <a:blip xmlns:r="http://schemas.openxmlformats.org/officeDocument/2006/relationships" xmlns:a="http://schemas.openxmlformats.org/drawingml/2006/main" r:embed="Rae7f6d8945914362"/>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F48D542-3FD9-4A92-AC8D-EEC64B222819}"/>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4D142B2C-70BE-4788-AF34-D153F2C61A9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Cheat Sheet - Virtualisasi &amp; Docker</a:t>
            </a:r>
            <a:endParaRPr sz="2200"/>
          </a:p>
        </p:txBody>
      </p:sp>
      <p:sp>
        <p:nvSpPr>
          <p:cNvPr id="9" name="Text 5">
            <a:extLst xmlns:a="http://schemas.openxmlformats.org/drawingml/2006/main">
              <a:ext uri="{FF2B5EF4-FFF2-40B4-BE49-F238E27FC236}">
                <a16:creationId xmlns:a16="http://schemas.microsoft.com/office/drawing/2014/main" id="{5EE0B170-6B08-4692-894A-E83ABB7E05C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Print, tempel di samping laptop</a:t>
            </a:r>
            <a:endParaRPr sz="1200"/>
          </a:p>
        </p:txBody>
      </p:sp>
      <p:sp>
        <p:nvSpPr>
          <p:cNvPr id="10" name="Shape 6">
            <a:extLst xmlns:a="http://schemas.openxmlformats.org/drawingml/2006/main">
              <a:ext uri="{FF2B5EF4-FFF2-40B4-BE49-F238E27FC236}">
                <a16:creationId xmlns:a16="http://schemas.microsoft.com/office/drawing/2014/main" id="{FB2CB097-8B4A-49CD-9FA7-8B2F13FA750A}"/>
              </a:ext>
            </a:extLst>
          </p:cNvPr>
          <p:cNvSpPr>
            <a:spLocks xmlns:a="http://schemas.openxmlformats.org/drawingml/2006/main" noGrp="1"/>
          </p:cNvSpPr>
          <p:nvPr/>
        </p:nvSpPr>
        <p:spPr>
          <a:xfrm xmlns:a="http://schemas.openxmlformats.org/drawingml/2006/main">
            <a:off x="457200"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F55602AB-114E-4BED-8843-E76E4D6CE9F3}"/>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A316CCFC-7367-4583-92AC-DDAB462AD845}"/>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Concept</a:t>
            </a:r>
            <a:endParaRPr sz="1300"/>
          </a:p>
        </p:txBody>
      </p:sp>
      <p:sp>
        <p:nvSpPr>
          <p:cNvPr id="13" name="Text 9">
            <a:extLst xmlns:a="http://schemas.openxmlformats.org/drawingml/2006/main">
              <a:ext uri="{FF2B5EF4-FFF2-40B4-BE49-F238E27FC236}">
                <a16:creationId xmlns:a16="http://schemas.microsoft.com/office/drawing/2014/main" id="{2C7B1317-ECB0-4F51-9C93-A5D52D4F0856}"/>
              </a:ext>
            </a:extLst>
          </p:cNvPr>
          <p:cNvSpPr>
            <a:spLocks xmlns:a="http://schemas.openxmlformats.org/drawingml/2006/main" noGrp="1"/>
          </p:cNvSpPr>
          <p:nvPr/>
        </p:nvSpPr>
        <p:spPr>
          <a:xfrm xmlns:a="http://schemas.openxmlformats.org/drawingml/2006/main">
            <a:off x="640080"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VM = full OS isolated</a:t>
            </a:r>
            <a:endParaRPr sz="1100"/>
          </a:p>
          <a:p xmlns:a="http://schemas.openxmlformats.org/drawingml/2006/main">
            <a:pPr marL="0" indent="0">
              <a:spcAft>
                <a:spcPts val="300"/>
              </a:spcAft>
              <a:buNone/>
            </a:pPr>
            <a:r>
              <a:rPr sz="1100">
                <a:solidFill>
                  <a:srgbClr val="1E293B"/>
                </a:solidFill>
                <a:latin typeface="Consolas"/>
                <a:ea typeface="Consolas"/>
                <a:cs typeface="Consolas"/>
              </a:rPr>
              <a:t>Container = isolated proc</a:t>
            </a:r>
            <a:endParaRPr sz="1100"/>
          </a:p>
          <a:p xmlns:a="http://schemas.openxmlformats.org/drawingml/2006/main">
            <a:pPr marL="0" indent="0">
              <a:spcAft>
                <a:spcPts val="300"/>
              </a:spcAft>
              <a:buNone/>
            </a:pPr>
            <a:r>
              <a:rPr sz="1100">
                <a:solidFill>
                  <a:srgbClr val="1E293B"/>
                </a:solidFill>
                <a:latin typeface="Consolas"/>
                <a:ea typeface="Consolas"/>
                <a:cs typeface="Consolas"/>
              </a:rPr>
              <a:t>Hypervisor T1 = bare metal</a:t>
            </a:r>
            <a:endParaRPr sz="1100"/>
          </a:p>
          <a:p xmlns:a="http://schemas.openxmlformats.org/drawingml/2006/main">
            <a:pPr marL="0" indent="0">
              <a:spcAft>
                <a:spcPts val="300"/>
              </a:spcAft>
              <a:buNone/>
            </a:pPr>
            <a:r>
              <a:rPr sz="1100">
                <a:solidFill>
                  <a:srgbClr val="1E293B"/>
                </a:solidFill>
                <a:latin typeface="Consolas"/>
                <a:ea typeface="Consolas"/>
                <a:cs typeface="Consolas"/>
              </a:rPr>
              <a:t>Hypervisor T2 = hosted</a:t>
            </a:r>
            <a:endParaRPr sz="1100"/>
          </a:p>
          <a:p xmlns:a="http://schemas.openxmlformats.org/drawingml/2006/main">
            <a:pPr marL="0" indent="0">
              <a:spcAft>
                <a:spcPts val="300"/>
              </a:spcAft>
              <a:buNone/>
            </a:pPr>
            <a:r>
              <a:rPr sz="1100">
                <a:solidFill>
                  <a:srgbClr val="1E293B"/>
                </a:solidFill>
                <a:latin typeface="Consolas"/>
                <a:ea typeface="Consolas"/>
                <a:cs typeface="Consolas"/>
              </a:rPr>
              <a:t>namespace = view isolation</a:t>
            </a:r>
            <a:endParaRPr sz="1100"/>
          </a:p>
          <a:p xmlns:a="http://schemas.openxmlformats.org/drawingml/2006/main">
            <a:pPr marL="0" indent="0">
              <a:spcAft>
                <a:spcPts val="300"/>
              </a:spcAft>
              <a:buNone/>
            </a:pPr>
            <a:r>
              <a:rPr sz="1100">
                <a:solidFill>
                  <a:srgbClr val="1E293B"/>
                </a:solidFill>
                <a:latin typeface="Consolas"/>
                <a:ea typeface="Consolas"/>
                <a:cs typeface="Consolas"/>
              </a:rPr>
              <a:t>cgroup = resource limit</a:t>
            </a:r>
            <a:endParaRPr sz="1100"/>
          </a:p>
        </p:txBody>
      </p:sp>
      <p:sp>
        <p:nvSpPr>
          <p:cNvPr id="14" name="Shape 10">
            <a:extLst xmlns:a="http://schemas.openxmlformats.org/drawingml/2006/main">
              <a:ext uri="{FF2B5EF4-FFF2-40B4-BE49-F238E27FC236}">
                <a16:creationId xmlns:a16="http://schemas.microsoft.com/office/drawing/2014/main" id="{5A74AF3E-9D4D-4726-8DC4-D8B67D19D7B1}"/>
              </a:ext>
            </a:extLst>
          </p:cNvPr>
          <p:cNvSpPr>
            <a:spLocks xmlns:a="http://schemas.openxmlformats.org/drawingml/2006/main" noGrp="1"/>
          </p:cNvSpPr>
          <p:nvPr/>
        </p:nvSpPr>
        <p:spPr>
          <a:xfrm xmlns:a="http://schemas.openxmlformats.org/drawingml/2006/main">
            <a:off x="3364992"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5" name="Shape 11">
            <a:extLst xmlns:a="http://schemas.openxmlformats.org/drawingml/2006/main">
              <a:ext uri="{FF2B5EF4-FFF2-40B4-BE49-F238E27FC236}">
                <a16:creationId xmlns:a16="http://schemas.microsoft.com/office/drawing/2014/main" id="{3C8D5E5F-CBB1-4B62-9996-B93F0D9DE010}"/>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2">
            <a:extLst xmlns:a="http://schemas.openxmlformats.org/drawingml/2006/main">
              <a:ext uri="{FF2B5EF4-FFF2-40B4-BE49-F238E27FC236}">
                <a16:creationId xmlns:a16="http://schemas.microsoft.com/office/drawing/2014/main" id="{C17FE7C6-FEBA-4926-A6BB-FC3EAACE7A14}"/>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Image</a:t>
            </a:r>
            <a:endParaRPr sz="1300"/>
          </a:p>
        </p:txBody>
      </p:sp>
      <p:sp>
        <p:nvSpPr>
          <p:cNvPr id="17" name="Text 13">
            <a:extLst xmlns:a="http://schemas.openxmlformats.org/drawingml/2006/main">
              <a:ext uri="{FF2B5EF4-FFF2-40B4-BE49-F238E27FC236}">
                <a16:creationId xmlns:a16="http://schemas.microsoft.com/office/drawing/2014/main" id="{B455DB11-E08A-4E2D-9C74-C3C19D949A65}"/>
              </a:ext>
            </a:extLst>
          </p:cNvPr>
          <p:cNvSpPr>
            <a:spLocks xmlns:a="http://schemas.openxmlformats.org/drawingml/2006/main" noGrp="1"/>
          </p:cNvSpPr>
          <p:nvPr/>
        </p:nvSpPr>
        <p:spPr>
          <a:xfrm xmlns:a="http://schemas.openxmlformats.org/drawingml/2006/main">
            <a:off x="3547872"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pull &lt;img&gt;:&lt;tag&gt;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images</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history &lt;img&gt;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image rm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tag &lt;id&gt; name</a:t>
            </a:r>
            <a:endParaRPr sz="1100"/>
          </a:p>
          <a:p xmlns:a="http://schemas.openxmlformats.org/drawingml/2006/main">
            <a:pPr marL="0" indent="0">
              <a:spcAft>
                <a:spcPts val="300"/>
              </a:spcAft>
              <a:buNone/>
            </a:pPr>
            <a:r>
              <a:rPr sz="1100">
                <a:solidFill>
                  <a:srgbClr val="1E293B"/>
                </a:solidFill>
                <a:latin typeface="Consolas"/>
                <a:ea typeface="Consolas"/>
                <a:cs typeface="Consolas"/>
              </a:rPr>
              <a:t>Layered + read-only</a:t>
            </a:r>
            <a:endParaRPr sz="1100"/>
          </a:p>
        </p:txBody>
      </p:sp>
      <p:sp>
        <p:nvSpPr>
          <p:cNvPr id="18" name="Shape 14">
            <a:extLst xmlns:a="http://schemas.openxmlformats.org/drawingml/2006/main">
              <a:ext uri="{FF2B5EF4-FFF2-40B4-BE49-F238E27FC236}">
                <a16:creationId xmlns:a16="http://schemas.microsoft.com/office/drawing/2014/main" id="{1859C3E1-37BF-4E89-A1CE-7AA8F7633434}"/>
              </a:ext>
            </a:extLst>
          </p:cNvPr>
          <p:cNvSpPr>
            <a:spLocks xmlns:a="http://schemas.openxmlformats.org/drawingml/2006/main" noGrp="1"/>
          </p:cNvSpPr>
          <p:nvPr/>
        </p:nvSpPr>
        <p:spPr>
          <a:xfrm xmlns:a="http://schemas.openxmlformats.org/drawingml/2006/main">
            <a:off x="6272784"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9" name="Shape 15">
            <a:extLst xmlns:a="http://schemas.openxmlformats.org/drawingml/2006/main">
              <a:ext uri="{FF2B5EF4-FFF2-40B4-BE49-F238E27FC236}">
                <a16:creationId xmlns:a16="http://schemas.microsoft.com/office/drawing/2014/main" id="{1EB4EA44-C290-4EF3-9883-91D2B619A26C}"/>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ABC4FE81-281B-4246-9D8E-3B7089BB0B1D}"/>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Container</a:t>
            </a:r>
            <a:endParaRPr sz="1300"/>
          </a:p>
        </p:txBody>
      </p:sp>
      <p:sp>
        <p:nvSpPr>
          <p:cNvPr id="21" name="Text 17">
            <a:extLst xmlns:a="http://schemas.openxmlformats.org/drawingml/2006/main">
              <a:ext uri="{FF2B5EF4-FFF2-40B4-BE49-F238E27FC236}">
                <a16:creationId xmlns:a16="http://schemas.microsoft.com/office/drawing/2014/main" id="{4D56FA56-6BD6-4BA1-A585-B5B7A408229F}"/>
              </a:ext>
            </a:extLst>
          </p:cNvPr>
          <p:cNvSpPr>
            <a:spLocks xmlns:a="http://schemas.openxmlformats.org/drawingml/2006/main" noGrp="1"/>
          </p:cNvSpPr>
          <p:nvPr/>
        </p:nvSpPr>
        <p:spPr>
          <a:xfrm xmlns:a="http://schemas.openxmlformats.org/drawingml/2006/main">
            <a:off x="6455664"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run -d -p 80:80</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ps -a</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stop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rm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restart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logs -f &lt;id&gt;</a:t>
            </a:r>
            <a:endParaRPr sz="1100"/>
          </a:p>
        </p:txBody>
      </p:sp>
      <p:sp>
        <p:nvSpPr>
          <p:cNvPr id="22" name="Shape 18">
            <a:extLst xmlns:a="http://schemas.openxmlformats.org/drawingml/2006/main">
              <a:ext uri="{FF2B5EF4-FFF2-40B4-BE49-F238E27FC236}">
                <a16:creationId xmlns:a16="http://schemas.microsoft.com/office/drawing/2014/main" id="{ECDF8244-B3CA-4290-BB44-91909452F2B1}"/>
              </a:ext>
            </a:extLst>
          </p:cNvPr>
          <p:cNvSpPr>
            <a:spLocks xmlns:a="http://schemas.openxmlformats.org/drawingml/2006/main" noGrp="1"/>
          </p:cNvSpPr>
          <p:nvPr/>
        </p:nvSpPr>
        <p:spPr>
          <a:xfrm xmlns:a="http://schemas.openxmlformats.org/drawingml/2006/main">
            <a:off x="9180576"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119AC525-6943-42D1-8C82-1A33006DE676}"/>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59791275-6C5A-4EC8-AC3E-041001828D56}"/>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Debug</a:t>
            </a:r>
            <a:endParaRPr sz="1300"/>
          </a:p>
        </p:txBody>
      </p:sp>
      <p:sp>
        <p:nvSpPr>
          <p:cNvPr id="25" name="Text 21">
            <a:extLst xmlns:a="http://schemas.openxmlformats.org/drawingml/2006/main">
              <a:ext uri="{FF2B5EF4-FFF2-40B4-BE49-F238E27FC236}">
                <a16:creationId xmlns:a16="http://schemas.microsoft.com/office/drawing/2014/main" id="{9A482520-1629-40FC-BD5C-4EA0D6755621}"/>
              </a:ext>
            </a:extLst>
          </p:cNvPr>
          <p:cNvSpPr>
            <a:spLocks xmlns:a="http://schemas.openxmlformats.org/drawingml/2006/main" noGrp="1"/>
          </p:cNvSpPr>
          <p:nvPr/>
        </p:nvSpPr>
        <p:spPr>
          <a:xfrm xmlns:a="http://schemas.openxmlformats.org/drawingml/2006/main">
            <a:off x="9363456"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exec -it &lt;id&gt; bash</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inspect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stats</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port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top &lt;id&gt;</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logs --tail 100</a:t>
            </a:r>
            <a:endParaRPr sz="1100"/>
          </a:p>
        </p:txBody>
      </p:sp>
      <p:sp>
        <p:nvSpPr>
          <p:cNvPr id="26" name="Shape 22">
            <a:extLst xmlns:a="http://schemas.openxmlformats.org/drawingml/2006/main">
              <a:ext uri="{FF2B5EF4-FFF2-40B4-BE49-F238E27FC236}">
                <a16:creationId xmlns:a16="http://schemas.microsoft.com/office/drawing/2014/main" id="{AF0F22C7-7596-4A7E-AC26-96F68EAF707C}"/>
              </a:ext>
            </a:extLst>
          </p:cNvPr>
          <p:cNvSpPr>
            <a:spLocks xmlns:a="http://schemas.openxmlformats.org/drawingml/2006/main" noGrp="1"/>
          </p:cNvSpPr>
          <p:nvPr/>
        </p:nvSpPr>
        <p:spPr>
          <a:xfrm xmlns:a="http://schemas.openxmlformats.org/drawingml/2006/main">
            <a:off x="457200"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481271B6-B3B9-4620-BA02-20DCEBA85183}"/>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8" name="Text 24">
            <a:extLst xmlns:a="http://schemas.openxmlformats.org/drawingml/2006/main">
              <a:ext uri="{FF2B5EF4-FFF2-40B4-BE49-F238E27FC236}">
                <a16:creationId xmlns:a16="http://schemas.microsoft.com/office/drawing/2014/main" id="{60C2B46A-0AA1-4D1F-8730-6AC7A285C46D}"/>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Volume (Bash)</a:t>
            </a:r>
            <a:endParaRPr sz="1300"/>
          </a:p>
        </p:txBody>
      </p:sp>
      <p:sp>
        <p:nvSpPr>
          <p:cNvPr id="29" name="Text 25">
            <a:extLst xmlns:a="http://schemas.openxmlformats.org/drawingml/2006/main">
              <a:ext uri="{FF2B5EF4-FFF2-40B4-BE49-F238E27FC236}">
                <a16:creationId xmlns:a16="http://schemas.microsoft.com/office/drawing/2014/main" id="{E2FC971E-FB38-41EF-BB86-0E7C02A915EF}"/>
              </a:ext>
            </a:extLst>
          </p:cNvPr>
          <p:cNvSpPr>
            <a:spLocks xmlns:a="http://schemas.openxmlformats.org/drawingml/2006/main" noGrp="1"/>
          </p:cNvSpPr>
          <p:nvPr/>
        </p:nvSpPr>
        <p:spPr>
          <a:xfrm xmlns:a="http://schemas.openxmlformats.org/drawingml/2006/main">
            <a:off x="640080"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volume ls</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volume create db</a:t>
            </a:r>
          </a:p>
          <a:p xmlns:a="http://schemas.openxmlformats.org/drawingml/2006/main">
            <a:pPr marL="0" indent="0">
              <a:spcAft>
                <a:spcPts val="300"/>
              </a:spcAft>
              <a:buNone/>
            </a:pPr>
            <a:r>
              <a:rPr sz="1100">
                <a:solidFill>
                  <a:srgbClr val="1E293B"/>
                </a:solidFill>
                <a:latin typeface="Consolas"/>
                <a:ea typeface="Consolas"/>
                <a:cs typeface="Consolas"/>
              </a:rPr>
              <a:t>-v db:/data (named)</a:t>
            </a:r>
          </a:p>
          <a:p xmlns:a="http://schemas.openxmlformats.org/drawingml/2006/main">
            <a:pPr marL="0" indent="0">
              <a:spcAft>
                <a:spcPts val="300"/>
              </a:spcAft>
              <a:buNone/>
            </a:pPr>
            <a:r>
              <a:rPr sz="1100">
                <a:solidFill>
                  <a:srgbClr val="1E293B"/>
                </a:solidFill>
                <a:latin typeface="Consolas"/>
                <a:ea typeface="Consolas"/>
                <a:cs typeface="Consolas"/>
              </a:rPr>
              <a:t>-v "$(pwd):/app" (bind)</a:t>
            </a:r>
          </a:p>
          <a:p xmlns:a="http://schemas.openxmlformats.org/drawingml/2006/main">
            <a:pPr marL="0" indent="0">
              <a:spcAft>
                <a:spcPts val="300"/>
              </a:spcAft>
              <a:buNone/>
            </a:pPr>
            <a:r>
              <a:rPr sz="1100">
                <a:solidFill>
                  <a:srgbClr val="1E293B"/>
                </a:solidFill>
                <a:latin typeface="Consolas"/>
                <a:ea typeface="Consolas"/>
                <a:cs typeface="Consolas"/>
              </a:rPr>
              <a:t># source: cwd harus ada</a:t>
            </a:r>
          </a:p>
          <a:p xmlns:a="http://schemas.openxmlformats.org/drawingml/2006/main">
            <a:pPr marL="0" indent="0">
              <a:spcAft>
                <a:spcPts val="300"/>
              </a:spcAft>
              <a:buNone/>
            </a:pPr>
            <a:r>
              <a:rPr sz="1100">
                <a:solidFill>
                  <a:srgbClr val="1E293B"/>
                </a:solidFill>
                <a:latin typeface="Consolas"/>
                <a:ea typeface="Consolas"/>
                <a:cs typeface="Consolas"/>
              </a:rPr>
              <a:t>--tmpfs /tmp</a:t>
            </a:r>
          </a:p>
          <a:p xmlns:a="http://schemas.openxmlformats.org/drawingml/2006/main">
            <a:pPr marL="0" indent="0">
              <a:spcAft>
                <a:spcPts val="300"/>
              </a:spcAft>
              <a:buNone/>
            </a:pPr>
            <a:r>
              <a:rPr sz="1100">
                <a:solidFill>
                  <a:srgbClr val="1E293B"/>
                </a:solidFill>
                <a:latin typeface="Consolas"/>
                <a:ea typeface="Consolas"/>
                <a:cs typeface="Consolas"/>
              </a:rPr>
              <a:t>volume prune</a:t>
            </a:r>
          </a:p>
        </p:txBody>
      </p:sp>
      <p:sp>
        <p:nvSpPr>
          <p:cNvPr id="30" name="Shape 26">
            <a:extLst xmlns:a="http://schemas.openxmlformats.org/drawingml/2006/main">
              <a:ext uri="{FF2B5EF4-FFF2-40B4-BE49-F238E27FC236}">
                <a16:creationId xmlns:a16="http://schemas.microsoft.com/office/drawing/2014/main" id="{5408E13D-F013-4A56-B50A-724D3F0C1DFF}"/>
              </a:ext>
            </a:extLst>
          </p:cNvPr>
          <p:cNvSpPr>
            <a:spLocks xmlns:a="http://schemas.openxmlformats.org/drawingml/2006/main" noGrp="1"/>
          </p:cNvSpPr>
          <p:nvPr/>
        </p:nvSpPr>
        <p:spPr>
          <a:xfrm xmlns:a="http://schemas.openxmlformats.org/drawingml/2006/main">
            <a:off x="3364992"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21C10749-C88B-4B83-9177-C006CE5819EF}"/>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2" name="Text 28">
            <a:extLst xmlns:a="http://schemas.openxmlformats.org/drawingml/2006/main">
              <a:ext uri="{FF2B5EF4-FFF2-40B4-BE49-F238E27FC236}">
                <a16:creationId xmlns:a16="http://schemas.microsoft.com/office/drawing/2014/main" id="{59E78EB7-7C3D-4843-988C-7F01F736F675}"/>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Network</a:t>
            </a:r>
            <a:endParaRPr sz="1300"/>
          </a:p>
        </p:txBody>
      </p:sp>
      <p:sp>
        <p:nvSpPr>
          <p:cNvPr id="33" name="Text 29">
            <a:extLst xmlns:a="http://schemas.openxmlformats.org/drawingml/2006/main">
              <a:ext uri="{FF2B5EF4-FFF2-40B4-BE49-F238E27FC236}">
                <a16:creationId xmlns:a16="http://schemas.microsoft.com/office/drawing/2014/main" id="{ADE01689-8EA7-4D9A-9C43-EFD417F245B6}"/>
              </a:ext>
            </a:extLst>
          </p:cNvPr>
          <p:cNvSpPr>
            <a:spLocks xmlns:a="http://schemas.openxmlformats.org/drawingml/2006/main" noGrp="1"/>
          </p:cNvSpPr>
          <p:nvPr/>
        </p:nvSpPr>
        <p:spPr>
          <a:xfrm xmlns:a="http://schemas.openxmlformats.org/drawingml/2006/main">
            <a:off x="3547872"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network ls</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network create web</a:t>
            </a:r>
            <a:endParaRPr sz="1100"/>
          </a:p>
          <a:p xmlns:a="http://schemas.openxmlformats.org/drawingml/2006/main">
            <a:pPr marL="0" indent="0">
              <a:spcAft>
                <a:spcPts val="300"/>
              </a:spcAft>
              <a:buNone/>
            </a:pPr>
            <a:r>
              <a:rPr sz="1100">
                <a:solidFill>
                  <a:srgbClr val="1E293B"/>
                </a:solidFill>
                <a:latin typeface="Consolas"/>
                <a:ea typeface="Consolas"/>
                <a:cs typeface="Consolas"/>
              </a:rPr>
              <a:t>--network web</a:t>
            </a:r>
            <a:endParaRPr sz="1100"/>
          </a:p>
          <a:p xmlns:a="http://schemas.openxmlformats.org/drawingml/2006/main">
            <a:pPr marL="0" indent="0">
              <a:spcAft>
                <a:spcPts val="300"/>
              </a:spcAft>
              <a:buNone/>
            </a:pPr>
            <a:r>
              <a:rPr sz="1100">
                <a:solidFill>
                  <a:srgbClr val="1E293B"/>
                </a:solidFill>
                <a:latin typeface="Consolas"/>
                <a:ea typeface="Consolas"/>
                <a:cs typeface="Consolas"/>
              </a:rPr>
              <a:t>bridge (default)</a:t>
            </a:r>
            <a:endParaRPr sz="1100"/>
          </a:p>
          <a:p xmlns:a="http://schemas.openxmlformats.org/drawingml/2006/main">
            <a:pPr marL="0" indent="0">
              <a:spcAft>
                <a:spcPts val="300"/>
              </a:spcAft>
              <a:buNone/>
            </a:pPr>
            <a:r>
              <a:rPr sz="1100">
                <a:solidFill>
                  <a:srgbClr val="1E293B"/>
                </a:solidFill>
                <a:latin typeface="Consolas"/>
                <a:ea typeface="Consolas"/>
                <a:cs typeface="Consolas"/>
              </a:rPr>
              <a:t>host (no isolation)</a:t>
            </a:r>
            <a:endParaRPr sz="1100"/>
          </a:p>
          <a:p xmlns:a="http://schemas.openxmlformats.org/drawingml/2006/main">
            <a:pPr marL="0" indent="0">
              <a:spcAft>
                <a:spcPts val="300"/>
              </a:spcAft>
              <a:buNone/>
            </a:pPr>
            <a:r>
              <a:rPr sz="1100">
                <a:solidFill>
                  <a:srgbClr val="1E293B"/>
                </a:solidFill>
                <a:latin typeface="Consolas"/>
                <a:ea typeface="Consolas"/>
                <a:cs typeface="Consolas"/>
              </a:rPr>
              <a:t>none (isolated)</a:t>
            </a:r>
            <a:endParaRPr sz="1100"/>
          </a:p>
        </p:txBody>
      </p:sp>
      <p:sp>
        <p:nvSpPr>
          <p:cNvPr id="34" name="Shape 30">
            <a:extLst xmlns:a="http://schemas.openxmlformats.org/drawingml/2006/main">
              <a:ext uri="{FF2B5EF4-FFF2-40B4-BE49-F238E27FC236}">
                <a16:creationId xmlns:a16="http://schemas.microsoft.com/office/drawing/2014/main" id="{A40168C1-7F03-4921-81A3-6F58E1E677BE}"/>
              </a:ext>
            </a:extLst>
          </p:cNvPr>
          <p:cNvSpPr>
            <a:spLocks xmlns:a="http://schemas.openxmlformats.org/drawingml/2006/main" noGrp="1"/>
          </p:cNvSpPr>
          <p:nvPr/>
        </p:nvSpPr>
        <p:spPr>
          <a:xfrm xmlns:a="http://schemas.openxmlformats.org/drawingml/2006/main">
            <a:off x="6272784"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9137FAC8-2B6D-4063-8403-710E32C5E17B}"/>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36" name="Text 32">
            <a:extLst xmlns:a="http://schemas.openxmlformats.org/drawingml/2006/main">
              <a:ext uri="{FF2B5EF4-FFF2-40B4-BE49-F238E27FC236}">
                <a16:creationId xmlns:a16="http://schemas.microsoft.com/office/drawing/2014/main" id="{5E4C9196-350F-40FB-B1AB-DB2EA4BE8A31}"/>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Run Flags</a:t>
            </a:r>
            <a:endParaRPr sz="1300"/>
          </a:p>
        </p:txBody>
      </p:sp>
      <p:sp>
        <p:nvSpPr>
          <p:cNvPr id="37" name="Text 33">
            <a:extLst xmlns:a="http://schemas.openxmlformats.org/drawingml/2006/main">
              <a:ext uri="{FF2B5EF4-FFF2-40B4-BE49-F238E27FC236}">
                <a16:creationId xmlns:a16="http://schemas.microsoft.com/office/drawing/2014/main" id="{FE9C5FC1-6803-4F55-AFB5-04C19B1FBB8E}"/>
              </a:ext>
            </a:extLst>
          </p:cNvPr>
          <p:cNvSpPr>
            <a:spLocks xmlns:a="http://schemas.openxmlformats.org/drawingml/2006/main" noGrp="1"/>
          </p:cNvSpPr>
          <p:nvPr/>
        </p:nvSpPr>
        <p:spPr>
          <a:xfrm xmlns:a="http://schemas.openxmlformats.org/drawingml/2006/main">
            <a:off x="6455664"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 (detached)</a:t>
            </a:r>
            <a:endParaRPr sz="1100"/>
          </a:p>
          <a:p xmlns:a="http://schemas.openxmlformats.org/drawingml/2006/main">
            <a:pPr marL="0" indent="0">
              <a:spcAft>
                <a:spcPts val="300"/>
              </a:spcAft>
              <a:buNone/>
            </a:pPr>
            <a:r>
              <a:rPr sz="1100">
                <a:solidFill>
                  <a:srgbClr val="1E293B"/>
                </a:solidFill>
                <a:latin typeface="Consolas"/>
                <a:ea typeface="Consolas"/>
                <a:cs typeface="Consolas"/>
              </a:rPr>
              <a:t>-p host:cont (port)</a:t>
            </a:r>
            <a:endParaRPr sz="1100"/>
          </a:p>
          <a:p xmlns:a="http://schemas.openxmlformats.org/drawingml/2006/main">
            <a:pPr marL="0" indent="0">
              <a:spcAft>
                <a:spcPts val="300"/>
              </a:spcAft>
              <a:buNone/>
            </a:pPr>
            <a:r>
              <a:rPr sz="1100">
                <a:solidFill>
                  <a:srgbClr val="1E293B"/>
                </a:solidFill>
                <a:latin typeface="Consolas"/>
                <a:ea typeface="Consolas"/>
                <a:cs typeface="Consolas"/>
              </a:rPr>
              <a:t>--name &lt;name&gt;</a:t>
            </a:r>
            <a:endParaRPr sz="1100"/>
          </a:p>
          <a:p xmlns:a="http://schemas.openxmlformats.org/drawingml/2006/main">
            <a:pPr marL="0" indent="0">
              <a:spcAft>
                <a:spcPts val="300"/>
              </a:spcAft>
              <a:buNone/>
            </a:pPr>
            <a:r>
              <a:rPr sz="1100">
                <a:solidFill>
                  <a:srgbClr val="1E293B"/>
                </a:solidFill>
                <a:latin typeface="Consolas"/>
                <a:ea typeface="Consolas"/>
                <a:cs typeface="Consolas"/>
              </a:rPr>
              <a:t>--rm (auto-remove)</a:t>
            </a:r>
            <a:endParaRPr sz="1100"/>
          </a:p>
          <a:p xmlns:a="http://schemas.openxmlformats.org/drawingml/2006/main">
            <a:pPr marL="0" indent="0">
              <a:spcAft>
                <a:spcPts val="300"/>
              </a:spcAft>
              <a:buNone/>
            </a:pPr>
            <a:r>
              <a:rPr sz="1100">
                <a:solidFill>
                  <a:srgbClr val="1E293B"/>
                </a:solidFill>
                <a:latin typeface="Consolas"/>
                <a:ea typeface="Consolas"/>
                <a:cs typeface="Consolas"/>
              </a:rPr>
              <a:t>-e KEY=VAL (env)</a:t>
            </a:r>
            <a:endParaRPr sz="1100"/>
          </a:p>
          <a:p xmlns:a="http://schemas.openxmlformats.org/drawingml/2006/main">
            <a:pPr marL="0" indent="0">
              <a:spcAft>
                <a:spcPts val="300"/>
              </a:spcAft>
              <a:buNone/>
            </a:pPr>
            <a:r>
              <a:rPr sz="1100">
                <a:solidFill>
                  <a:srgbClr val="1E293B"/>
                </a:solidFill>
                <a:latin typeface="Consolas"/>
                <a:ea typeface="Consolas"/>
                <a:cs typeface="Consolas"/>
              </a:rPr>
              <a:t>-v src:dst (volume)</a:t>
            </a:r>
            <a:endParaRPr sz="1100"/>
          </a:p>
        </p:txBody>
      </p:sp>
      <p:sp>
        <p:nvSpPr>
          <p:cNvPr id="38" name="Shape 34">
            <a:extLst xmlns:a="http://schemas.openxmlformats.org/drawingml/2006/main">
              <a:ext uri="{FF2B5EF4-FFF2-40B4-BE49-F238E27FC236}">
                <a16:creationId xmlns:a16="http://schemas.microsoft.com/office/drawing/2014/main" id="{ECEAD5FC-CE64-43DD-AB59-490E2955FEFA}"/>
              </a:ext>
            </a:extLst>
          </p:cNvPr>
          <p:cNvSpPr>
            <a:spLocks xmlns:a="http://schemas.openxmlformats.org/drawingml/2006/main" noGrp="1"/>
          </p:cNvSpPr>
          <p:nvPr/>
        </p:nvSpPr>
        <p:spPr>
          <a:xfrm xmlns:a="http://schemas.openxmlformats.org/drawingml/2006/main">
            <a:off x="9180576"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C5CC11A6-7283-46C1-9267-EE4A6B8604A4}"/>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0" name="Text 36">
            <a:extLst xmlns:a="http://schemas.openxmlformats.org/drawingml/2006/main">
              <a:ext uri="{FF2B5EF4-FFF2-40B4-BE49-F238E27FC236}">
                <a16:creationId xmlns:a16="http://schemas.microsoft.com/office/drawing/2014/main" id="{D248C94F-3E43-4A58-B12A-ED19E6F55162}"/>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Cleanup</a:t>
            </a:r>
            <a:endParaRPr sz="1300"/>
          </a:p>
        </p:txBody>
      </p:sp>
      <p:sp>
        <p:nvSpPr>
          <p:cNvPr id="41" name="Text 37">
            <a:extLst xmlns:a="http://schemas.openxmlformats.org/drawingml/2006/main">
              <a:ext uri="{FF2B5EF4-FFF2-40B4-BE49-F238E27FC236}">
                <a16:creationId xmlns:a16="http://schemas.microsoft.com/office/drawing/2014/main" id="{3C684730-BB0D-41FE-A8C2-B6BEF7F92E7D}"/>
              </a:ext>
            </a:extLst>
          </p:cNvPr>
          <p:cNvSpPr>
            <a:spLocks xmlns:a="http://schemas.openxmlformats.org/drawingml/2006/main" noGrp="1"/>
          </p:cNvSpPr>
          <p:nvPr/>
        </p:nvSpPr>
        <p:spPr>
          <a:xfrm xmlns:a="http://schemas.openxmlformats.org/drawingml/2006/main">
            <a:off x="9363456"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system df</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system prune</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image prune</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container prune</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volume prune</a:t>
            </a:r>
            <a:endParaRPr sz="1100"/>
          </a:p>
          <a:p xmlns:a="http://schemas.openxmlformats.org/drawingml/2006/main">
            <a:pPr marL="0" indent="0">
              <a:spcAft>
                <a:spcPts val="300"/>
              </a:spcAft>
              <a:buNone/>
            </a:pPr>
            <a:r>
              <a:rPr sz="1100">
                <a:solidFill>
                  <a:srgbClr val="1E293B"/>
                </a:solidFill>
                <a:latin typeface="Consolas"/>
                <a:ea typeface="Consolas"/>
                <a:cs typeface="Consolas"/>
              </a:rPr>
              <a:t>--volumes flag</a:t>
            </a:r>
            <a:endParaRPr sz="1100"/>
          </a:p>
        </p:txBody>
      </p:sp>
    </p:spTree>
    <p:extLst>
      <p:ext uri="{BB962C8B-B14F-4D97-AF65-F5344CB8AC3E}">
        <p14:creationId xmlns:p14="http://schemas.microsoft.com/office/powerpoint/2010/main" val="2093089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E990C4-7EA9-4D9F-9B3E-1C132BEB559D}"/>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4</a:t>
            </a:r>
            <a:endParaRPr sz="900"/>
          </a:p>
        </p:txBody>
      </p:sp>
      <p:sp>
        <p:nvSpPr>
          <p:cNvPr id="3" name="Text 1">
            <a:extLst xmlns:a="http://schemas.openxmlformats.org/drawingml/2006/main">
              <a:ext uri="{FF2B5EF4-FFF2-40B4-BE49-F238E27FC236}">
                <a16:creationId xmlns:a16="http://schemas.microsoft.com/office/drawing/2014/main" id="{4B2B1BB8-C8CE-4B96-A67B-03F4F7ED672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31</a:t>
            </a:r>
            <a:endParaRPr sz="900"/>
          </a:p>
        </p:txBody>
      </p:sp>
      <p:sp>
        <p:nvSpPr>
          <p:cNvPr id="4" name="Shape 2">
            <a:extLst xmlns:a="http://schemas.openxmlformats.org/drawingml/2006/main">
              <a:ext uri="{FF2B5EF4-FFF2-40B4-BE49-F238E27FC236}">
                <a16:creationId xmlns:a16="http://schemas.microsoft.com/office/drawing/2014/main" id="{606558B6-2F10-4DCE-A2BF-DE3DFE253EE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3" name="Image 0">
            <a:extLst xmlns:a="http://schemas.openxmlformats.org/drawingml/2006/main">
              <a:ext uri="{FF2B5EF4-FFF2-40B4-BE49-F238E27FC236}">
                <a16:creationId xmlns:a16="http://schemas.microsoft.com/office/drawing/2014/main" id="{0828E6B7-5AD6-468C-AEBA-D38479A30665}"/>
              </a:ext>
            </a:extLst>
          </p:cNvPr>
          <p:cNvPicPr>
            <a:picLocks xmlns:a="http://schemas.openxmlformats.org/drawingml/2006/main" noChangeAspect="1"/>
          </p:cNvPicPr>
          <p:nvPr/>
        </p:nvPicPr>
        <p:blipFill>
          <a:blip xmlns:r="http://schemas.openxmlformats.org/officeDocument/2006/relationships" xmlns:a="http://schemas.openxmlformats.org/drawingml/2006/main" r:embed="Raadf94d12533430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4" name="Image 1">
            <a:extLst xmlns:a="http://schemas.openxmlformats.org/drawingml/2006/main">
              <a:ext uri="{FF2B5EF4-FFF2-40B4-BE49-F238E27FC236}">
                <a16:creationId xmlns:a16="http://schemas.microsoft.com/office/drawing/2014/main" id="{1A0ACE25-2275-4BE9-B052-808CC04E6655}"/>
              </a:ext>
            </a:extLst>
          </p:cNvPr>
          <p:cNvPicPr>
            <a:picLocks xmlns:a="http://schemas.openxmlformats.org/drawingml/2006/main" noChangeAspect="1"/>
          </p:cNvPicPr>
          <p:nvPr/>
        </p:nvPicPr>
        <p:blipFill>
          <a:blip xmlns:r="http://schemas.openxmlformats.org/officeDocument/2006/relationships" xmlns:a="http://schemas.openxmlformats.org/drawingml/2006/main" r:embed="R49f83d175cad4610"/>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78967DE1-F468-49F5-871C-0E3B15C21AE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2EB951CB-9F3F-40E1-BEA0-B74246E31AF4}"/>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Wrap-Up &amp; Persiapan Pertemuan 5</a:t>
            </a:r>
            <a:endParaRPr sz="2200"/>
          </a:p>
        </p:txBody>
      </p:sp>
      <p:sp>
        <p:nvSpPr>
          <p:cNvPr id="9" name="Text 5">
            <a:extLst xmlns:a="http://schemas.openxmlformats.org/drawingml/2006/main">
              <a:ext uri="{FF2B5EF4-FFF2-40B4-BE49-F238E27FC236}">
                <a16:creationId xmlns:a16="http://schemas.microsoft.com/office/drawing/2014/main" id="{699B6BFC-2E50-47D2-A903-38561B143191}"/>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Docker Core minggu depan</a:t>
            </a:r>
            <a:endParaRPr sz="1200"/>
          </a:p>
        </p:txBody>
      </p:sp>
      <p:sp>
        <p:nvSpPr>
          <p:cNvPr id="10" name="Text 6">
            <a:extLst xmlns:a="http://schemas.openxmlformats.org/drawingml/2006/main">
              <a:ext uri="{FF2B5EF4-FFF2-40B4-BE49-F238E27FC236}">
                <a16:creationId xmlns:a16="http://schemas.microsoft.com/office/drawing/2014/main" id="{7DD497C4-6112-48F3-B6B3-A6989358BDF6}"/>
              </a:ext>
            </a:extLst>
          </p:cNvPr>
          <p:cNvSpPr>
            <a:spLocks xmlns:a="http://schemas.openxmlformats.org/drawingml/2006/main" noGrp="1"/>
          </p:cNvSpPr>
          <p:nvPr/>
        </p:nvSpPr>
        <p:spPr>
          <a:xfrm xmlns:a="http://schemas.openxmlformats.org/drawingml/2006/main">
            <a:off x="457200" y="141732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Key Takeaways Hari Ini</a:t>
            </a:r>
            <a:endParaRPr sz="1600"/>
          </a:p>
        </p:txBody>
      </p:sp>
      <p:sp>
        <p:nvSpPr>
          <p:cNvPr id="11" name="Shape 7">
            <a:extLst xmlns:a="http://schemas.openxmlformats.org/drawingml/2006/main">
              <a:ext uri="{FF2B5EF4-FFF2-40B4-BE49-F238E27FC236}">
                <a16:creationId xmlns:a16="http://schemas.microsoft.com/office/drawing/2014/main" id="{E21D4DEA-E9BF-4776-B0F9-BA50CAFDA800}"/>
              </a:ext>
            </a:extLst>
          </p:cNvPr>
          <p:cNvSpPr>
            <a:spLocks xmlns:a="http://schemas.openxmlformats.org/drawingml/2006/main" noGrp="1"/>
          </p:cNvSpPr>
          <p:nvPr/>
        </p:nvSpPr>
        <p:spPr>
          <a:xfrm xmlns:a="http://schemas.openxmlformats.org/drawingml/2006/main">
            <a:off x="457200" y="192024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57FE6B90-713C-456C-A0B1-891D0699DF16}"/>
              </a:ext>
            </a:extLst>
          </p:cNvPr>
          <p:cNvSpPr>
            <a:spLocks xmlns:a="http://schemas.openxmlformats.org/drawingml/2006/main" noGrp="1"/>
          </p:cNvSpPr>
          <p:nvPr/>
        </p:nvSpPr>
        <p:spPr>
          <a:xfrm xmlns:a="http://schemas.openxmlformats.org/drawingml/2006/main">
            <a:off x="457200" y="192024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13" name="Text 9">
            <a:extLst xmlns:a="http://schemas.openxmlformats.org/drawingml/2006/main">
              <a:ext uri="{FF2B5EF4-FFF2-40B4-BE49-F238E27FC236}">
                <a16:creationId xmlns:a16="http://schemas.microsoft.com/office/drawing/2014/main" id="{B28F9FC3-9F7A-4CEB-B69C-BE9A8CF46A5A}"/>
              </a:ext>
            </a:extLst>
          </p:cNvPr>
          <p:cNvSpPr>
            <a:spLocks xmlns:a="http://schemas.openxmlformats.org/drawingml/2006/main" noGrp="1"/>
          </p:cNvSpPr>
          <p:nvPr/>
        </p:nvSpPr>
        <p:spPr>
          <a:xfrm xmlns:a="http://schemas.openxmlformats.org/drawingml/2006/main">
            <a:off x="914400" y="187452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VM = full OS isolated (heavy). Container = isolated process (light).</a:t>
            </a:r>
            <a:endParaRPr sz="1100"/>
          </a:p>
        </p:txBody>
      </p:sp>
      <p:sp>
        <p:nvSpPr>
          <p:cNvPr id="14" name="Shape 10">
            <a:extLst xmlns:a="http://schemas.openxmlformats.org/drawingml/2006/main">
              <a:ext uri="{FF2B5EF4-FFF2-40B4-BE49-F238E27FC236}">
                <a16:creationId xmlns:a16="http://schemas.microsoft.com/office/drawing/2014/main" id="{267BDEAF-2884-427D-A943-272E27BC6488}"/>
              </a:ext>
            </a:extLst>
          </p:cNvPr>
          <p:cNvSpPr>
            <a:spLocks xmlns:a="http://schemas.openxmlformats.org/drawingml/2006/main" noGrp="1"/>
          </p:cNvSpPr>
          <p:nvPr/>
        </p:nvSpPr>
        <p:spPr>
          <a:xfrm xmlns:a="http://schemas.openxmlformats.org/drawingml/2006/main">
            <a:off x="457200" y="242316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11E6FC30-21A0-4AA3-888A-79F952D3677B}"/>
              </a:ext>
            </a:extLst>
          </p:cNvPr>
          <p:cNvSpPr>
            <a:spLocks xmlns:a="http://schemas.openxmlformats.org/drawingml/2006/main" noGrp="1"/>
          </p:cNvSpPr>
          <p:nvPr/>
        </p:nvSpPr>
        <p:spPr>
          <a:xfrm xmlns:a="http://schemas.openxmlformats.org/drawingml/2006/main">
            <a:off x="457200" y="242316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6" name="Text 12">
            <a:extLst xmlns:a="http://schemas.openxmlformats.org/drawingml/2006/main">
              <a:ext uri="{FF2B5EF4-FFF2-40B4-BE49-F238E27FC236}">
                <a16:creationId xmlns:a16="http://schemas.microsoft.com/office/drawing/2014/main" id="{D6048553-0265-42EC-A04F-E53F10296273}"/>
              </a:ext>
            </a:extLst>
          </p:cNvPr>
          <p:cNvSpPr>
            <a:spLocks xmlns:a="http://schemas.openxmlformats.org/drawingml/2006/main" noGrp="1"/>
          </p:cNvSpPr>
          <p:nvPr/>
        </p:nvSpPr>
        <p:spPr>
          <a:xfrm xmlns:a="http://schemas.openxmlformats.org/drawingml/2006/main">
            <a:off x="914400" y="237744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Hypervisor Type 1 (KVM, ESXi) = production. Type 2 (VirtualBox) = dev.</a:t>
            </a:r>
            <a:endParaRPr sz="1100"/>
          </a:p>
        </p:txBody>
      </p:sp>
      <p:sp>
        <p:nvSpPr>
          <p:cNvPr id="17" name="Shape 13">
            <a:extLst xmlns:a="http://schemas.openxmlformats.org/drawingml/2006/main">
              <a:ext uri="{FF2B5EF4-FFF2-40B4-BE49-F238E27FC236}">
                <a16:creationId xmlns:a16="http://schemas.microsoft.com/office/drawing/2014/main" id="{FD1F445B-F7C2-4318-B8A0-7E6FC7278FEE}"/>
              </a:ext>
            </a:extLst>
          </p:cNvPr>
          <p:cNvSpPr>
            <a:spLocks xmlns:a="http://schemas.openxmlformats.org/drawingml/2006/main" noGrp="1"/>
          </p:cNvSpPr>
          <p:nvPr/>
        </p:nvSpPr>
        <p:spPr>
          <a:xfrm xmlns:a="http://schemas.openxmlformats.org/drawingml/2006/main">
            <a:off x="457200" y="292608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BDD99DF2-F71C-4382-997E-F44BD6B0F017}"/>
              </a:ext>
            </a:extLst>
          </p:cNvPr>
          <p:cNvSpPr>
            <a:spLocks xmlns:a="http://schemas.openxmlformats.org/drawingml/2006/main" noGrp="1"/>
          </p:cNvSpPr>
          <p:nvPr/>
        </p:nvSpPr>
        <p:spPr>
          <a:xfrm xmlns:a="http://schemas.openxmlformats.org/drawingml/2006/main">
            <a:off x="457200" y="292608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19" name="Text 15">
            <a:extLst xmlns:a="http://schemas.openxmlformats.org/drawingml/2006/main">
              <a:ext uri="{FF2B5EF4-FFF2-40B4-BE49-F238E27FC236}">
                <a16:creationId xmlns:a16="http://schemas.microsoft.com/office/drawing/2014/main" id="{316F0864-215E-4D7F-B7ED-91700817B6BF}"/>
              </a:ext>
            </a:extLst>
          </p:cNvPr>
          <p:cNvSpPr>
            <a:spLocks xmlns:a="http://schemas.openxmlformats.org/drawingml/2006/main" noGrp="1"/>
          </p:cNvSpPr>
          <p:nvPr/>
        </p:nvSpPr>
        <p:spPr>
          <a:xfrm xmlns:a="http://schemas.openxmlformats.org/drawingml/2006/main">
            <a:off x="914400" y="288036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Container possible karena namespace (isolation) + cgroup (limit).</a:t>
            </a:r>
            <a:endParaRPr sz="1100"/>
          </a:p>
        </p:txBody>
      </p:sp>
      <p:sp>
        <p:nvSpPr>
          <p:cNvPr id="20" name="Shape 16">
            <a:extLst xmlns:a="http://schemas.openxmlformats.org/drawingml/2006/main">
              <a:ext uri="{FF2B5EF4-FFF2-40B4-BE49-F238E27FC236}">
                <a16:creationId xmlns:a16="http://schemas.microsoft.com/office/drawing/2014/main" id="{883C6BFE-0D3C-4B29-BE2C-EDA38FF8EC85}"/>
              </a:ext>
            </a:extLst>
          </p:cNvPr>
          <p:cNvSpPr>
            <a:spLocks xmlns:a="http://schemas.openxmlformats.org/drawingml/2006/main" noGrp="1"/>
          </p:cNvSpPr>
          <p:nvPr/>
        </p:nvSpPr>
        <p:spPr>
          <a:xfrm xmlns:a="http://schemas.openxmlformats.org/drawingml/2006/main">
            <a:off x="457200" y="342900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7">
            <a:extLst xmlns:a="http://schemas.openxmlformats.org/drawingml/2006/main">
              <a:ext uri="{FF2B5EF4-FFF2-40B4-BE49-F238E27FC236}">
                <a16:creationId xmlns:a16="http://schemas.microsoft.com/office/drawing/2014/main" id="{694A1B08-3733-47FC-BF5E-A448C98F67AB}"/>
              </a:ext>
            </a:extLst>
          </p:cNvPr>
          <p:cNvSpPr>
            <a:spLocks xmlns:a="http://schemas.openxmlformats.org/drawingml/2006/main" noGrp="1"/>
          </p:cNvSpPr>
          <p:nvPr/>
        </p:nvSpPr>
        <p:spPr>
          <a:xfrm xmlns:a="http://schemas.openxmlformats.org/drawingml/2006/main">
            <a:off x="457200" y="342900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22" name="Text 18">
            <a:extLst xmlns:a="http://schemas.openxmlformats.org/drawingml/2006/main">
              <a:ext uri="{FF2B5EF4-FFF2-40B4-BE49-F238E27FC236}">
                <a16:creationId xmlns:a16="http://schemas.microsoft.com/office/drawing/2014/main" id="{789C9E42-58BC-438F-9E12-053E4B4B32BE}"/>
              </a:ext>
            </a:extLst>
          </p:cNvPr>
          <p:cNvSpPr>
            <a:spLocks xmlns:a="http://schemas.openxmlformats.org/drawingml/2006/main" noGrp="1"/>
          </p:cNvSpPr>
          <p:nvPr/>
        </p:nvSpPr>
        <p:spPr>
          <a:xfrm xmlns:a="http://schemas.openxmlformats.org/drawingml/2006/main">
            <a:off x="914400" y="338328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Docker arch: CLI -&gt; daemon -&gt; registry. Image = template, container = instance.</a:t>
            </a:r>
            <a:endParaRPr sz="1100"/>
          </a:p>
        </p:txBody>
      </p:sp>
      <p:sp>
        <p:nvSpPr>
          <p:cNvPr id="23" name="Shape 19">
            <a:extLst xmlns:a="http://schemas.openxmlformats.org/drawingml/2006/main">
              <a:ext uri="{FF2B5EF4-FFF2-40B4-BE49-F238E27FC236}">
                <a16:creationId xmlns:a16="http://schemas.microsoft.com/office/drawing/2014/main" id="{68674A0D-C935-4676-9F4C-B77125042578}"/>
              </a:ext>
            </a:extLst>
          </p:cNvPr>
          <p:cNvSpPr>
            <a:spLocks xmlns:a="http://schemas.openxmlformats.org/drawingml/2006/main" noGrp="1"/>
          </p:cNvSpPr>
          <p:nvPr/>
        </p:nvSpPr>
        <p:spPr>
          <a:xfrm xmlns:a="http://schemas.openxmlformats.org/drawingml/2006/main">
            <a:off x="457200" y="393192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C77A9EAC-6EE7-4314-88C6-4E1A89A8F136}"/>
              </a:ext>
            </a:extLst>
          </p:cNvPr>
          <p:cNvSpPr>
            <a:spLocks xmlns:a="http://schemas.openxmlformats.org/drawingml/2006/main" noGrp="1"/>
          </p:cNvSpPr>
          <p:nvPr/>
        </p:nvSpPr>
        <p:spPr>
          <a:xfrm xmlns:a="http://schemas.openxmlformats.org/drawingml/2006/main">
            <a:off x="457200" y="393192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25" name="Text 21">
            <a:extLst xmlns:a="http://schemas.openxmlformats.org/drawingml/2006/main">
              <a:ext uri="{FF2B5EF4-FFF2-40B4-BE49-F238E27FC236}">
                <a16:creationId xmlns:a16="http://schemas.microsoft.com/office/drawing/2014/main" id="{BFB1B6CD-BFCB-4484-B56F-C50B3B4746B8}"/>
              </a:ext>
            </a:extLst>
          </p:cNvPr>
          <p:cNvSpPr>
            <a:spLocks xmlns:a="http://schemas.openxmlformats.org/drawingml/2006/main" noGrp="1"/>
          </p:cNvSpPr>
          <p:nvPr/>
        </p:nvSpPr>
        <p:spPr>
          <a:xfrm xmlns:a="http://schemas.openxmlformats.org/drawingml/2006/main">
            <a:off x="914400" y="388620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Image layered (immutable + cacheable). Container ephemeral.</a:t>
            </a:r>
            <a:endParaRPr sz="1100"/>
          </a:p>
        </p:txBody>
      </p:sp>
      <p:sp>
        <p:nvSpPr>
          <p:cNvPr id="26" name="Shape 22">
            <a:extLst xmlns:a="http://schemas.openxmlformats.org/drawingml/2006/main">
              <a:ext uri="{FF2B5EF4-FFF2-40B4-BE49-F238E27FC236}">
                <a16:creationId xmlns:a16="http://schemas.microsoft.com/office/drawing/2014/main" id="{9456EAA4-F716-47A4-A483-AF2F12E56545}"/>
              </a:ext>
            </a:extLst>
          </p:cNvPr>
          <p:cNvSpPr>
            <a:spLocks xmlns:a="http://schemas.openxmlformats.org/drawingml/2006/main" noGrp="1"/>
          </p:cNvSpPr>
          <p:nvPr/>
        </p:nvSpPr>
        <p:spPr>
          <a:xfrm xmlns:a="http://schemas.openxmlformats.org/drawingml/2006/main">
            <a:off x="457200" y="4434840"/>
            <a:ext cx="320040" cy="32004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3">
            <a:extLst xmlns:a="http://schemas.openxmlformats.org/drawingml/2006/main">
              <a:ext uri="{FF2B5EF4-FFF2-40B4-BE49-F238E27FC236}">
                <a16:creationId xmlns:a16="http://schemas.microsoft.com/office/drawing/2014/main" id="{0B6E1C7E-C2A3-4359-80BB-F54670F31D99}"/>
              </a:ext>
            </a:extLst>
          </p:cNvPr>
          <p:cNvSpPr>
            <a:spLocks xmlns:a="http://schemas.openxmlformats.org/drawingml/2006/main" noGrp="1"/>
          </p:cNvSpPr>
          <p:nvPr/>
        </p:nvSpPr>
        <p:spPr>
          <a:xfrm xmlns:a="http://schemas.openxmlformats.org/drawingml/2006/main">
            <a:off x="457200" y="4434840"/>
            <a:ext cx="320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6</a:t>
            </a:r>
            <a:endParaRPr sz="1200"/>
          </a:p>
        </p:txBody>
      </p:sp>
      <p:sp>
        <p:nvSpPr>
          <p:cNvPr id="28" name="Text 24">
            <a:extLst xmlns:a="http://schemas.openxmlformats.org/drawingml/2006/main">
              <a:ext uri="{FF2B5EF4-FFF2-40B4-BE49-F238E27FC236}">
                <a16:creationId xmlns:a16="http://schemas.microsoft.com/office/drawing/2014/main" id="{AC0FD1BB-FC70-4CE0-856B-77498A5B1B22}"/>
              </a:ext>
            </a:extLst>
          </p:cNvPr>
          <p:cNvSpPr>
            <a:spLocks xmlns:a="http://schemas.openxmlformats.org/drawingml/2006/main" noGrp="1"/>
          </p:cNvSpPr>
          <p:nvPr/>
        </p:nvSpPr>
        <p:spPr>
          <a:xfrm xmlns:a="http://schemas.openxmlformats.org/drawingml/2006/main">
            <a:off x="914400" y="4389120"/>
            <a:ext cx="5120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Persistent data lewat volume (named, bind, atau tmpfs).</a:t>
            </a:r>
            <a:endParaRPr sz="1100"/>
          </a:p>
        </p:txBody>
      </p:sp>
      <p:sp>
        <p:nvSpPr>
          <p:cNvPr id="29" name="Shape 25">
            <a:extLst xmlns:a="http://schemas.openxmlformats.org/drawingml/2006/main">
              <a:ext uri="{FF2B5EF4-FFF2-40B4-BE49-F238E27FC236}">
                <a16:creationId xmlns:a16="http://schemas.microsoft.com/office/drawing/2014/main" id="{2E1A5E52-2F3E-406A-8784-732432006730}"/>
              </a:ext>
            </a:extLst>
          </p:cNvPr>
          <p:cNvSpPr>
            <a:spLocks xmlns:a="http://schemas.openxmlformats.org/drawingml/2006/main" noGrp="1"/>
          </p:cNvSpPr>
          <p:nvPr/>
        </p:nvSpPr>
        <p:spPr>
          <a:xfrm xmlns:a="http://schemas.openxmlformats.org/drawingml/2006/main">
            <a:off x="6217920" y="1417320"/>
            <a:ext cx="5486400" cy="21031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78" name="Image 2">
            <a:extLst xmlns:a="http://schemas.openxmlformats.org/drawingml/2006/main">
              <a:ext uri="{FF2B5EF4-FFF2-40B4-BE49-F238E27FC236}">
                <a16:creationId xmlns:a16="http://schemas.microsoft.com/office/drawing/2014/main" id="{65F6E936-D5A7-49F0-807D-D4C7693AF927}"/>
              </a:ext>
            </a:extLst>
          </p:cNvPr>
          <p:cNvPicPr>
            <a:picLocks xmlns:a="http://schemas.openxmlformats.org/drawingml/2006/main" noChangeAspect="1"/>
          </p:cNvPicPr>
          <p:nvPr/>
        </p:nvPicPr>
        <p:blipFill>
          <a:blip xmlns:r="http://schemas.openxmlformats.org/officeDocument/2006/relationships" xmlns:a="http://schemas.openxmlformats.org/drawingml/2006/main" r:embed="R4da343b4f809482d"/>
          <a:stretch xmlns:a="http://schemas.openxmlformats.org/drawingml/2006/main">
            <a:fillRect l="0" t="0" r="0" b="0"/>
          </a:stretch>
        </p:blipFill>
        <p:spPr>
          <a:xfrm xmlns:a="http://schemas.openxmlformats.org/drawingml/2006/main">
            <a:off x="6400800" y="1554480"/>
            <a:ext cx="457200" cy="457200"/>
          </a:xfrm>
          <a:prstGeom xmlns:a="http://schemas.openxmlformats.org/drawingml/2006/main" prst="rect">
            <a:avLst/>
          </a:prstGeom>
        </p:spPr>
      </p:pic>
      <p:sp>
        <p:nvSpPr>
          <p:cNvPr id="31" name="Text 26">
            <a:extLst xmlns:a="http://schemas.openxmlformats.org/drawingml/2006/main">
              <a:ext uri="{FF2B5EF4-FFF2-40B4-BE49-F238E27FC236}">
                <a16:creationId xmlns:a16="http://schemas.microsoft.com/office/drawing/2014/main" id="{275245BC-ED7D-4836-AA61-2186638B3BE5}"/>
              </a:ext>
            </a:extLst>
          </p:cNvPr>
          <p:cNvSpPr>
            <a:spLocks xmlns:a="http://schemas.openxmlformats.org/drawingml/2006/main" noGrp="1"/>
          </p:cNvSpPr>
          <p:nvPr/>
        </p:nvSpPr>
        <p:spPr>
          <a:xfrm xmlns:a="http://schemas.openxmlformats.org/drawingml/2006/main">
            <a:off x="6949440" y="15544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PRAKTIKUM 4 - LATIHAN SESI INI</a:t>
            </a:r>
            <a:endParaRPr sz="1100"/>
          </a:p>
        </p:txBody>
      </p:sp>
      <p:sp>
        <p:nvSpPr>
          <p:cNvPr id="32" name="Text 27">
            <a:extLst xmlns:a="http://schemas.openxmlformats.org/drawingml/2006/main">
              <a:ext uri="{FF2B5EF4-FFF2-40B4-BE49-F238E27FC236}">
                <a16:creationId xmlns:a16="http://schemas.microsoft.com/office/drawing/2014/main" id="{D8002430-6D4B-4F36-B0A5-49F9ED966591}"/>
              </a:ext>
            </a:extLst>
          </p:cNvPr>
          <p:cNvSpPr>
            <a:spLocks xmlns:a="http://schemas.openxmlformats.org/drawingml/2006/main" noGrp="1"/>
          </p:cNvSpPr>
          <p:nvPr/>
        </p:nvSpPr>
        <p:spPr>
          <a:xfrm xmlns:a="http://schemas.openxmlformats.org/drawingml/2006/main">
            <a:off x="6400800" y="201168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Docker basics: pull, run, build</a:t>
            </a:r>
            <a:endParaRPr sz="1300"/>
          </a:p>
        </p:txBody>
      </p:sp>
      <p:sp>
        <p:nvSpPr>
          <p:cNvPr id="33" name="Text 28">
            <a:extLst xmlns:a="http://schemas.openxmlformats.org/drawingml/2006/main">
              <a:ext uri="{FF2B5EF4-FFF2-40B4-BE49-F238E27FC236}">
                <a16:creationId xmlns:a16="http://schemas.microsoft.com/office/drawing/2014/main" id="{0DD84D6E-0B5D-4744-8A7F-1BCE5F9793E9}"/>
              </a:ext>
            </a:extLst>
          </p:cNvPr>
          <p:cNvSpPr>
            <a:spLocks xmlns:a="http://schemas.openxmlformats.org/drawingml/2006/main" noGrp="1"/>
          </p:cNvSpPr>
          <p:nvPr/>
        </p:nvSpPr>
        <p:spPr>
          <a:xfrm xmlns:a="http://schemas.openxmlformats.org/drawingml/2006/main">
            <a:off x="6537960" y="2377440"/>
            <a:ext cx="51206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050">
                <a:solidFill>
                  <a:srgbClr val="FFFFFF"/>
                </a:solidFill>
                <a:latin typeface="Calibri"/>
                <a:ea typeface="Calibri"/>
                <a:cs typeface="Calibri"/>
              </a:rPr>
              <a:t>Install Docker Desktop (Windows/Mac) atau Docker Engine (Linux)</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Coba: docker run hello-world</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Pull nginx, run dengan port 8080, akses dari browser</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Exec ke container, lihat /etc/nginx/nginx.conf</a:t>
            </a:r>
            <a:endParaRPr sz="1050"/>
          </a:p>
        </p:txBody>
      </p:sp>
      <p:sp>
        <p:nvSpPr>
          <p:cNvPr id="34" name="Shape 29">
            <a:extLst xmlns:a="http://schemas.openxmlformats.org/drawingml/2006/main">
              <a:ext uri="{FF2B5EF4-FFF2-40B4-BE49-F238E27FC236}">
                <a16:creationId xmlns:a16="http://schemas.microsoft.com/office/drawing/2014/main" id="{677F1BBB-EA6D-4C61-BD6F-9712FF72A451}"/>
              </a:ext>
            </a:extLst>
          </p:cNvPr>
          <p:cNvSpPr>
            <a:spLocks xmlns:a="http://schemas.openxmlformats.org/drawingml/2006/main" noGrp="1"/>
          </p:cNvSpPr>
          <p:nvPr/>
        </p:nvSpPr>
        <p:spPr>
          <a:xfrm xmlns:a="http://schemas.openxmlformats.org/drawingml/2006/main">
            <a:off x="6217920" y="3657600"/>
            <a:ext cx="5486400" cy="16459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83" name="Image 3">
            <a:extLst xmlns:a="http://schemas.openxmlformats.org/drawingml/2006/main">
              <a:ext uri="{FF2B5EF4-FFF2-40B4-BE49-F238E27FC236}">
                <a16:creationId xmlns:a16="http://schemas.microsoft.com/office/drawing/2014/main" id="{79C67669-FB0F-4454-9ED7-C16542F54816}"/>
              </a:ext>
            </a:extLst>
          </p:cNvPr>
          <p:cNvPicPr>
            <a:picLocks xmlns:a="http://schemas.openxmlformats.org/drawingml/2006/main" noChangeAspect="1"/>
          </p:cNvPicPr>
          <p:nvPr/>
        </p:nvPicPr>
        <p:blipFill>
          <a:blip xmlns:r="http://schemas.openxmlformats.org/officeDocument/2006/relationships" xmlns:a="http://schemas.openxmlformats.org/drawingml/2006/main" r:embed="Ra90b4d01b05f4de2"/>
          <a:stretch xmlns:a="http://schemas.openxmlformats.org/drawingml/2006/main">
            <a:fillRect l="0" t="0" r="0" b="0"/>
          </a:stretch>
        </p:blipFill>
        <p:spPr>
          <a:xfrm xmlns:a="http://schemas.openxmlformats.org/drawingml/2006/main">
            <a:off x="6400800" y="3794760"/>
            <a:ext cx="457200" cy="457200"/>
          </a:xfrm>
          <a:prstGeom xmlns:a="http://schemas.openxmlformats.org/drawingml/2006/main" prst="rect">
            <a:avLst/>
          </a:prstGeom>
        </p:spPr>
      </p:pic>
      <p:sp>
        <p:nvSpPr>
          <p:cNvPr id="36" name="Text 30">
            <a:extLst xmlns:a="http://schemas.openxmlformats.org/drawingml/2006/main">
              <a:ext uri="{FF2B5EF4-FFF2-40B4-BE49-F238E27FC236}">
                <a16:creationId xmlns:a16="http://schemas.microsoft.com/office/drawing/2014/main" id="{17EA73B4-A7FA-426D-9CCE-54D22C2FD509}"/>
              </a:ext>
            </a:extLst>
          </p:cNvPr>
          <p:cNvSpPr>
            <a:spLocks xmlns:a="http://schemas.openxmlformats.org/drawingml/2006/main" noGrp="1"/>
          </p:cNvSpPr>
          <p:nvPr/>
        </p:nvSpPr>
        <p:spPr>
          <a:xfrm xmlns:a="http://schemas.openxmlformats.org/drawingml/2006/main">
            <a:off x="6949440" y="3794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PERTEMUAN 5</a:t>
            </a:r>
            <a:endParaRPr sz="1100"/>
          </a:p>
        </p:txBody>
      </p:sp>
      <p:sp>
        <p:nvSpPr>
          <p:cNvPr id="37" name="Text 31">
            <a:extLst xmlns:a="http://schemas.openxmlformats.org/drawingml/2006/main">
              <a:ext uri="{FF2B5EF4-FFF2-40B4-BE49-F238E27FC236}">
                <a16:creationId xmlns:a16="http://schemas.microsoft.com/office/drawing/2014/main" id="{E4C83FF8-11CC-4313-B4FF-9145E1C1EA65}"/>
              </a:ext>
            </a:extLst>
          </p:cNvPr>
          <p:cNvSpPr>
            <a:spLocks xmlns:a="http://schemas.openxmlformats.org/drawingml/2006/main" noGrp="1"/>
          </p:cNvSpPr>
          <p:nvPr/>
        </p:nvSpPr>
        <p:spPr>
          <a:xfrm xmlns:a="http://schemas.openxmlformats.org/drawingml/2006/main">
            <a:off x="6400800" y="425196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Docker Core</a:t>
            </a:r>
            <a:endParaRPr sz="1400"/>
          </a:p>
        </p:txBody>
      </p:sp>
      <p:sp>
        <p:nvSpPr>
          <p:cNvPr id="38" name="Text 32">
            <a:extLst xmlns:a="http://schemas.openxmlformats.org/drawingml/2006/main">
              <a:ext uri="{FF2B5EF4-FFF2-40B4-BE49-F238E27FC236}">
                <a16:creationId xmlns:a16="http://schemas.microsoft.com/office/drawing/2014/main" id="{16A8BE3D-DCE8-4B64-9B0D-20ACE8A42E27}"/>
              </a:ext>
            </a:extLst>
          </p:cNvPr>
          <p:cNvSpPr>
            <a:spLocks xmlns:a="http://schemas.openxmlformats.org/drawingml/2006/main" noGrp="1"/>
          </p:cNvSpPr>
          <p:nvPr/>
        </p:nvSpPr>
        <p:spPr>
          <a:xfrm xmlns:a="http://schemas.openxmlformats.org/drawingml/2006/main">
            <a:off x="6400800" y="4617720"/>
            <a:ext cx="52120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Dockerfile mendalam, multi-stage build, optimasi image size, best practices.</a:t>
            </a:r>
            <a:endParaRPr sz="1100"/>
          </a:p>
        </p:txBody>
      </p:sp>
      <p:sp>
        <p:nvSpPr>
          <p:cNvPr id="39" name="Shape 33">
            <a:extLst xmlns:a="http://schemas.openxmlformats.org/drawingml/2006/main">
              <a:ext uri="{FF2B5EF4-FFF2-40B4-BE49-F238E27FC236}">
                <a16:creationId xmlns:a16="http://schemas.microsoft.com/office/drawing/2014/main" id="{97D63E20-B478-4B72-A491-D14F7FF63CDC}"/>
              </a:ext>
            </a:extLst>
          </p:cNvPr>
          <p:cNvSpPr>
            <a:spLocks xmlns:a="http://schemas.openxmlformats.org/drawingml/2006/main" noGrp="1"/>
          </p:cNvSpPr>
          <p:nvPr/>
        </p:nvSpPr>
        <p:spPr>
          <a:xfrm xmlns:a="http://schemas.openxmlformats.org/drawingml/2006/main">
            <a:off x="457200" y="5029200"/>
            <a:ext cx="5486400" cy="11887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88" name="Image 4">
            <a:extLst xmlns:a="http://schemas.openxmlformats.org/drawingml/2006/main">
              <a:ext uri="{FF2B5EF4-FFF2-40B4-BE49-F238E27FC236}">
                <a16:creationId xmlns:a16="http://schemas.microsoft.com/office/drawing/2014/main" id="{5AE6AF5D-BF5C-45AA-8FEE-3C1827B1EAB3}"/>
              </a:ext>
            </a:extLst>
          </p:cNvPr>
          <p:cNvPicPr>
            <a:picLocks xmlns:a="http://schemas.openxmlformats.org/drawingml/2006/main" noChangeAspect="1"/>
          </p:cNvPicPr>
          <p:nvPr/>
        </p:nvPicPr>
        <p:blipFill>
          <a:blip xmlns:r="http://schemas.openxmlformats.org/officeDocument/2006/relationships" xmlns:a="http://schemas.openxmlformats.org/drawingml/2006/main" r:embed="Rfe23ba870f724ff5"/>
          <a:stretch xmlns:a="http://schemas.openxmlformats.org/drawingml/2006/main">
            <a:fillRect l="0" t="0" r="0" b="0"/>
          </a:stretch>
        </p:blipFill>
        <p:spPr>
          <a:xfrm xmlns:a="http://schemas.openxmlformats.org/drawingml/2006/main">
            <a:off x="640080" y="5257800"/>
            <a:ext cx="640080" cy="640080"/>
          </a:xfrm>
          <a:prstGeom xmlns:a="http://schemas.openxmlformats.org/drawingml/2006/main" prst="rect">
            <a:avLst/>
          </a:prstGeom>
        </p:spPr>
      </p:pic>
      <p:sp>
        <p:nvSpPr>
          <p:cNvPr id="41" name="Text 34">
            <a:extLst xmlns:a="http://schemas.openxmlformats.org/drawingml/2006/main">
              <a:ext uri="{FF2B5EF4-FFF2-40B4-BE49-F238E27FC236}">
                <a16:creationId xmlns:a16="http://schemas.microsoft.com/office/drawing/2014/main" id="{04B8E3C0-2CEC-4BB6-8EB5-11A2F79273A5}"/>
              </a:ext>
            </a:extLst>
          </p:cNvPr>
          <p:cNvSpPr>
            <a:spLocks xmlns:a="http://schemas.openxmlformats.org/drawingml/2006/main" noGrp="1"/>
          </p:cNvSpPr>
          <p:nvPr/>
        </p:nvSpPr>
        <p:spPr>
          <a:xfrm xmlns:a="http://schemas.openxmlformats.org/drawingml/2006/main">
            <a:off x="1417320" y="507492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Pertanyaan?</a:t>
            </a:r>
            <a:endParaRPr sz="2200"/>
          </a:p>
        </p:txBody>
      </p:sp>
      <p:sp>
        <p:nvSpPr>
          <p:cNvPr id="42" name="Text 35">
            <a:extLst xmlns:a="http://schemas.openxmlformats.org/drawingml/2006/main">
              <a:ext uri="{FF2B5EF4-FFF2-40B4-BE49-F238E27FC236}">
                <a16:creationId xmlns:a16="http://schemas.microsoft.com/office/drawing/2014/main" id="{F2F127F5-02EC-45D5-B064-AFC8A01FFEBF}"/>
              </a:ext>
            </a:extLst>
          </p:cNvPr>
          <p:cNvSpPr>
            <a:spLocks xmlns:a="http://schemas.openxmlformats.org/drawingml/2006/main" noGrp="1"/>
          </p:cNvSpPr>
          <p:nvPr/>
        </p:nvSpPr>
        <p:spPr>
          <a:xfrm xmlns:a="http://schemas.openxmlformats.org/drawingml/2006/main">
            <a:off x="1417320" y="557784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FFFFFF"/>
                </a:solidFill>
                <a:latin typeface="Calibri"/>
                <a:ea typeface="Calibri"/>
                <a:cs typeface="Calibri"/>
              </a:rPr>
              <a:t>Diskusi sebelum praktikum</a:t>
            </a:r>
            <a:endParaRPr sz="1200"/>
          </a:p>
        </p:txBody>
      </p:sp>
      <p:sp>
        <p:nvSpPr>
          <p:cNvPr id="43" name="Shape 36">
            <a:extLst xmlns:a="http://schemas.openxmlformats.org/drawingml/2006/main">
              <a:ext uri="{FF2B5EF4-FFF2-40B4-BE49-F238E27FC236}">
                <a16:creationId xmlns:a16="http://schemas.microsoft.com/office/drawing/2014/main" id="{EE7DC14D-8DA6-42E5-A4FC-0D6086BD90C7}"/>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44" name="Text 37">
            <a:extLst xmlns:a="http://schemas.openxmlformats.org/drawingml/2006/main">
              <a:ext uri="{FF2B5EF4-FFF2-40B4-BE49-F238E27FC236}">
                <a16:creationId xmlns:a16="http://schemas.microsoft.com/office/drawing/2014/main" id="{4B77EE0F-CD15-49A9-B3E8-92ACEB709D7E}"/>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ED7AA"/>
                </a:solidFill>
                <a:latin typeface="Calibri"/>
                <a:ea typeface="Calibri"/>
                <a:cs typeface="Calibri"/>
              </a:rPr>
              <a:t>Sesi ini mendukung:  </a:t>
            </a:r>
            <a:r>
              <a:rPr sz="1100" b="1">
                <a:solidFill>
                  <a:srgbClr val="FFFFFF"/>
                </a:solidFill>
                <a:latin typeface="Calibri"/>
                <a:ea typeface="Calibri"/>
                <a:cs typeface="Calibri"/>
              </a:rPr>
              <a:t>LO2 (Apply)</a:t>
            </a:r>
            <a:r>
              <a:rPr sz="1100">
                <a:solidFill>
                  <a:srgbClr val="FED7AA"/>
                </a:solidFill>
                <a:latin typeface="Calibri"/>
                <a:ea typeface="Calibri"/>
                <a:cs typeface="Calibri"/>
              </a:rPr>
              <a:t>  +  </a:t>
            </a:r>
            <a:r>
              <a:rPr sz="1100" b="1">
                <a:solidFill>
                  <a:srgbClr val="FFFFFF"/>
                </a:solidFill>
                <a:latin typeface="Calibri"/>
                <a:ea typeface="Calibri"/>
                <a:cs typeface="Calibri"/>
              </a:rPr>
              <a:t>LO1 (Analyze)</a:t>
            </a:r>
            <a:endParaRPr sz="1100"/>
          </a:p>
        </p:txBody>
      </p:sp>
    </p:spTree>
    <p:extLst>
      <p:ext uri="{BB962C8B-B14F-4D97-AF65-F5344CB8AC3E}">
        <p14:creationId xmlns:p14="http://schemas.microsoft.com/office/powerpoint/2010/main" val="18120758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B28C56-665A-BD39-2C0B-37B5A9FDFCBD}"/>
              </a:ext>
            </a:extLst>
          </p:cNvPr>
          <p:cNvSpPr>
            <a:spLocks xmlns:a="http://schemas.openxmlformats.org/drawingml/2006/main" noGrp="1"/>
          </p:cNvSpPr>
          <p:nvPr/>
        </p:nvSpPr>
        <p:spPr>
          <a:xfrm xmlns:a="http://schemas.openxmlformats.org/drawingml/2006/main">
            <a:off x="457200" y="177800"/>
            <a:ext cx="88900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rgbClr val="696969"/>
                </a:solidFill>
                <a:latin typeface="Calibri"/>
                <a:ea typeface="Calibri"/>
                <a:cs typeface="Calibri"/>
              </a:rPr>
              <a:t>BINUS UNIVERSITY  |  Cloud Services  |  Pertemuan 4</a:t>
            </a:r>
          </a:p>
        </p:txBody>
      </p:sp>
      <p:sp>
        <p:nvSpPr>
          <p:cNvPr id="3" name="TextBox 2">
            <a:extLst xmlns:a="http://schemas.openxmlformats.org/drawingml/2006/main">
              <a:ext uri="{FF2B5EF4-FFF2-40B4-BE49-F238E27FC236}">
                <a16:creationId xmlns:a16="http://schemas.microsoft.com/office/drawing/2014/main" id="{5CFF62D2-DA8F-7060-7393-09BC957497D3}"/>
              </a:ext>
            </a:extLst>
          </p:cNvPr>
          <p:cNvSpPr>
            <a:spLocks xmlns:a="http://schemas.openxmlformats.org/drawingml/2006/main" noGrp="1"/>
          </p:cNvSpPr>
          <p:nvPr/>
        </p:nvSpPr>
        <p:spPr>
          <a:xfrm xmlns:a="http://schemas.openxmlformats.org/drawingml/2006/main">
            <a:off x="457200" y="673100"/>
            <a:ext cx="11277600" cy="43088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2800" b="1">
                <a:solidFill>
                  <a:srgbClr val="004690"/>
                </a:solidFill>
                <a:latin typeface="Calibri"/>
                <a:ea typeface="Calibri"/>
                <a:cs typeface="Calibri"/>
              </a:rPr>
              <a:t>Praktik siklus hidup container</a:t>
            </a:r>
          </a:p>
        </p:txBody>
      </p:sp>
      <p:sp>
        <p:nvSpPr>
          <p:cNvPr id="4" name="TextBox 3">
            <a:extLst xmlns:a="http://schemas.openxmlformats.org/drawingml/2006/main">
              <a:ext uri="{FF2B5EF4-FFF2-40B4-BE49-F238E27FC236}">
                <a16:creationId xmlns:a16="http://schemas.microsoft.com/office/drawing/2014/main" id="{8EDEBEC6-B653-73E8-CA36-972917F34B83}"/>
              </a:ext>
            </a:extLst>
          </p:cNvPr>
          <p:cNvSpPr>
            <a:spLocks xmlns:a="http://schemas.openxmlformats.org/drawingml/2006/main" noGrp="1"/>
          </p:cNvSpPr>
          <p:nvPr/>
        </p:nvSpPr>
        <p:spPr>
          <a:xfrm xmlns:a="http://schemas.openxmlformats.org/drawingml/2006/main">
            <a:off x="457200" y="1371600"/>
            <a:ext cx="11277600" cy="2308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500" i="1">
                <a:solidFill>
                  <a:srgbClr val="606060"/>
                </a:solidFill>
                <a:latin typeface="Calibri"/>
                <a:ea typeface="Calibri"/>
                <a:cs typeface="Calibri"/>
              </a:rPr>
              <a:t>Percobaan lokal sebelum menulis Dockerfile</a:t>
            </a:r>
          </a:p>
        </p:txBody>
      </p:sp>
      <p:sp>
        <p:nvSpPr>
          <p:cNvPr id="5" name="TextBox 4">
            <a:extLst xmlns:a="http://schemas.openxmlformats.org/drawingml/2006/main">
              <a:ext uri="{FF2B5EF4-FFF2-40B4-BE49-F238E27FC236}">
                <a16:creationId xmlns:a16="http://schemas.microsoft.com/office/drawing/2014/main" id="{97359143-AEB1-6794-753B-20F06A44F675}"/>
              </a:ext>
            </a:extLst>
          </p:cNvPr>
          <p:cNvSpPr>
            <a:spLocks xmlns:a="http://schemas.openxmlformats.org/drawingml/2006/main" noGrp="1"/>
          </p:cNvSpPr>
          <p:nvPr/>
        </p:nvSpPr>
        <p:spPr>
          <a:xfrm xmlns:a="http://schemas.openxmlformats.org/drawingml/2006/main">
            <a:off x="660400" y="20447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Tarik image nginx, python, dan node; bedakan image dari container.</a:t>
            </a:r>
          </a:p>
        </p:txBody>
      </p:sp>
      <p:sp>
        <p:nvSpPr>
          <p:cNvPr id="6" name="TextBox 5">
            <a:extLst xmlns:a="http://schemas.openxmlformats.org/drawingml/2006/main">
              <a:ext uri="{FF2B5EF4-FFF2-40B4-BE49-F238E27FC236}">
                <a16:creationId xmlns:a16="http://schemas.microsoft.com/office/drawing/2014/main" id="{9C9186E7-6B6D-754E-CFA3-44DEA499057F}"/>
              </a:ext>
            </a:extLst>
          </p:cNvPr>
          <p:cNvSpPr>
            <a:spLocks xmlns:a="http://schemas.openxmlformats.org/drawingml/2006/main" noGrp="1"/>
          </p:cNvSpPr>
          <p:nvPr/>
        </p:nvSpPr>
        <p:spPr>
          <a:xfrm xmlns:a="http://schemas.openxmlformats.org/drawingml/2006/main">
            <a:off x="660400" y="28448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Jalankan port mapping dan environment; amati ps, logs, dan exec.</a:t>
            </a:r>
          </a:p>
        </p:txBody>
      </p:sp>
      <p:sp>
        <p:nvSpPr>
          <p:cNvPr id="7" name="TextBox 6">
            <a:extLst xmlns:a="http://schemas.openxmlformats.org/drawingml/2006/main">
              <a:ext uri="{FF2B5EF4-FFF2-40B4-BE49-F238E27FC236}">
                <a16:creationId xmlns:a16="http://schemas.microsoft.com/office/drawing/2014/main" id="{FAF7503D-26F0-E9DD-2A71-24A9AF874403}"/>
              </a:ext>
            </a:extLst>
          </p:cNvPr>
          <p:cNvSpPr>
            <a:spLocks xmlns:a="http://schemas.openxmlformats.org/drawingml/2006/main" noGrp="1"/>
          </p:cNvSpPr>
          <p:nvPr/>
        </p:nvSpPr>
        <p:spPr>
          <a:xfrm xmlns:a="http://schemas.openxmlformats.org/drawingml/2006/main">
            <a:off x="660400" y="36449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Coba stop, start, dan rm lalu jelaskan data yang tetap atau hilang.</a:t>
            </a:r>
          </a:p>
        </p:txBody>
      </p:sp>
      <p:sp>
        <p:nvSpPr>
          <p:cNvPr id="8" name="TextBox 7">
            <a:extLst xmlns:a="http://schemas.openxmlformats.org/drawingml/2006/main">
              <a:ext uri="{FF2B5EF4-FFF2-40B4-BE49-F238E27FC236}">
                <a16:creationId xmlns:a16="http://schemas.microsoft.com/office/drawing/2014/main" id="{E05FF445-47DB-3D20-3853-838865842B62}"/>
              </a:ext>
            </a:extLst>
          </p:cNvPr>
          <p:cNvSpPr>
            <a:spLocks xmlns:a="http://schemas.openxmlformats.org/drawingml/2006/main" noGrp="1"/>
          </p:cNvSpPr>
          <p:nvPr/>
        </p:nvSpPr>
        <p:spPr>
          <a:xfrm xmlns:a="http://schemas.openxmlformats.org/drawingml/2006/main">
            <a:off x="660400" y="44450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Bandingkan isolasi namespace/cgroup dengan VM pada contoh sendiri.</a:t>
            </a:r>
            <a:endParaRPr>
              <a:solidFill>
                <a:srgbClr val="101919"/>
              </a:solidFill>
              <a:latin typeface="Calibri"/>
              <a:ea typeface="Calibri"/>
              <a:cs typeface="Calibri"/>
            </a:endParaRPr>
          </a:p>
        </p:txBody>
      </p:sp>
      <p:sp>
        <p:nvSpPr>
          <p:cNvPr id="9" name="TextBox 8">
            <a:extLst xmlns:a="http://schemas.openxmlformats.org/drawingml/2006/main">
              <a:ext uri="{FF2B5EF4-FFF2-40B4-BE49-F238E27FC236}">
                <a16:creationId xmlns:a16="http://schemas.microsoft.com/office/drawing/2014/main" id="{BCBB0E41-274B-5ADF-E689-57D93EBC328B}"/>
              </a:ext>
            </a:extLst>
          </p:cNvPr>
          <p:cNvSpPr>
            <a:spLocks xmlns:a="http://schemas.openxmlformats.org/drawingml/2006/main" noGrp="1"/>
          </p:cNvSpPr>
          <p:nvPr/>
        </p:nvSpPr>
        <p:spPr>
          <a:xfrm xmlns:a="http://schemas.openxmlformats.org/drawingml/2006/main">
            <a:off x="660400" y="52451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Langkah dan bukti praktik ada di </a:t>
            </a:r>
            <a:r>
              <a:rPr>
                <a:solidFill>
                  <a:srgbClr val="101919"/>
                </a:solidFill>
                <a:latin typeface="Calibri"/>
                <a:ea typeface="Calibri"/>
                <a:cs typeface="Calibri"/>
              </a:rPr>
              <a:t>SeedFlora/meet4CloudService</a:t>
            </a:r>
            <a:r>
              <a:rPr>
                <a:solidFill>
                  <a:srgbClr val="101919"/>
                </a:solidFill>
                <a:latin typeface="Calibri"/>
                <a:ea typeface="Calibri"/>
                <a:cs typeface="Calibri"/>
              </a:rPr>
              <a:t>.</a:t>
            </a:r>
          </a:p>
        </p:txBody>
      </p:sp>
      <p:sp>
        <p:nvSpPr>
          <p:cNvPr id="10" name="TextBox 9">
            <a:extLst xmlns:a="http://schemas.openxmlformats.org/drawingml/2006/main">
              <a:ext uri="{FF2B5EF4-FFF2-40B4-BE49-F238E27FC236}">
                <a16:creationId xmlns:a16="http://schemas.microsoft.com/office/drawing/2014/main" id="{0F7D0C20-AAFB-942D-B5BB-FA7E98E14E0A}"/>
              </a:ext>
            </a:extLst>
          </p:cNvPr>
          <p:cNvSpPr>
            <a:spLocks xmlns:a="http://schemas.openxmlformats.org/drawingml/2006/main" noGrp="1"/>
          </p:cNvSpPr>
          <p:nvPr/>
        </p:nvSpPr>
        <p:spPr>
          <a:xfrm xmlns:a="http://schemas.openxmlformats.org/drawingml/2006/main">
            <a:off x="457200" y="6413500"/>
            <a:ext cx="11277600" cy="1384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900">
                <a:solidFill>
                  <a:srgbClr val="696969"/>
                </a:solidFill>
                <a:latin typeface="Calibri"/>
                <a:ea typeface="Calibri"/>
                <a:cs typeface="Calibri"/>
              </a:rPr>
              <a:t>Materi praktik: </a:t>
            </a:r>
            <a:r>
              <a:rPr sz="900">
                <a:solidFill>
                  <a:srgbClr val="696969"/>
                </a:solidFill>
                <a:latin typeface="Calibri"/>
                <a:ea typeface="Calibri"/>
                <a:cs typeface="Calibri"/>
              </a:rPr>
              <a:t>SeedFlora/meet4CloudService</a:t>
            </a:r>
            <a:r>
              <a:rPr sz="900">
                <a:solidFill>
                  <a:srgbClr val="696969"/>
                </a:solidFill>
                <a:latin typeface="Calibri"/>
                <a:ea typeface="Calibri"/>
                <a:cs typeface="Calibri"/>
              </a:rPr>
              <a:t>  |  Sumber: RPS COMP6991031</a:t>
            </a:r>
          </a:p>
        </p:txBody>
      </p:sp>
    </p:spTree>
    <p:extLst>
      <p:ext uri="{BB962C8B-B14F-4D97-AF65-F5344CB8AC3E}">
        <p14:creationId xmlns:p14="http://schemas.microsoft.com/office/powerpoint/2010/main" val="250213380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urse-label">
            <a:extLst xmlns:a="http://schemas.openxmlformats.org/drawingml/2006/main">
              <a:ext uri="{FF2B5EF4-FFF2-40B4-BE49-F238E27FC236}">
                <a16:creationId xmlns:a16="http://schemas.microsoft.com/office/drawing/2014/main" id="{E94F9A16-909F-410C-9863-90A30EB911F0}"/>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4</a:t>
            </a:r>
          </a:p>
        </p:txBody>
      </p:sp>
      <p:sp>
        <p:nvSpPr>
          <p:cNvPr id="2" name="main-title">
            <a:extLst xmlns:a="http://schemas.openxmlformats.org/drawingml/2006/main">
              <a:ext uri="{FF2B5EF4-FFF2-40B4-BE49-F238E27FC236}">
                <a16:creationId xmlns:a16="http://schemas.microsoft.com/office/drawing/2014/main" id="{F77294B3-5E43-4AAA-8A89-E50950F7EE22}"/>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850" b="1">
                <a:solidFill>
                  <a:srgbClr val="072A79"/>
                </a:solidFill>
                <a:latin typeface="Calibri"/>
                <a:ea typeface="Calibri"/>
                <a:cs typeface="Calibri"/>
              </a:defRPr>
            </a:pPr>
            <a:r>
              <a:rPr sz="2850" b="1">
                <a:solidFill>
                  <a:srgbClr val="072A79"/>
                </a:solidFill>
                <a:latin typeface="Calibri"/>
                <a:ea typeface="Calibri"/>
                <a:cs typeface="Calibri"/>
              </a:rPr>
              <a:t>Image yang sama, container bisa berganti status</a:t>
            </a:r>
          </a:p>
        </p:txBody>
      </p:sp>
      <p:sp>
        <p:nvSpPr>
          <p:cNvPr id="3" name="subtitle">
            <a:extLst xmlns:a="http://schemas.openxmlformats.org/drawingml/2006/main">
              <a:ext uri="{FF2B5EF4-FFF2-40B4-BE49-F238E27FC236}">
                <a16:creationId xmlns:a16="http://schemas.microsoft.com/office/drawing/2014/main" id="{B3F68211-B90F-421E-BC8E-CBE2531DEE65}"/>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75" b="0">
                <a:solidFill>
                  <a:srgbClr val="62728A"/>
                </a:solidFill>
                <a:latin typeface="Calibri"/>
                <a:ea typeface="Calibri"/>
                <a:cs typeface="Calibri"/>
              </a:defRPr>
            </a:pPr>
            <a:r>
              <a:rPr sz="1575" b="0">
                <a:solidFill>
                  <a:srgbClr val="62728A"/>
                </a:solidFill>
                <a:latin typeface="Calibri"/>
                <a:ea typeface="Calibri"/>
                <a:cs typeface="Calibri"/>
              </a:rPr>
              <a:t>Kasus kerja: layanan web perlu restart tanpa membangun ulang image.</a:t>
            </a:r>
          </a:p>
        </p:txBody>
      </p:sp>
      <p:sp>
        <p:nvSpPr>
          <p:cNvPr id="4" name="orange-rule">
            <a:extLst xmlns:a="http://schemas.openxmlformats.org/drawingml/2006/main">
              <a:ext uri="{FF2B5EF4-FFF2-40B4-BE49-F238E27FC236}">
                <a16:creationId xmlns:a16="http://schemas.microsoft.com/office/drawing/2014/main" id="{5DA5557B-BF31-4105-96C0-0F355B511F3F}"/>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81CC78C2-B3AE-49E8-97EF-8A7AAA04F707}"/>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FE9F8990-017D-47F6-899E-6326C2034AC7}"/>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25" b="0">
                <a:solidFill>
                  <a:srgbClr val="62728A"/>
                </a:solidFill>
                <a:latin typeface="Calibri"/>
                <a:ea typeface="Calibri"/>
                <a:cs typeface="Calibri"/>
              </a:defRPr>
            </a:pPr>
            <a:r>
              <a:rPr sz="1125" b="0">
                <a:solidFill>
                  <a:srgbClr val="62728A"/>
                </a:solidFill>
                <a:latin typeface="Calibri"/>
                <a:ea typeface="Calibri"/>
                <a:cs typeface="Calibri"/>
              </a:rPr>
              <a:t>33</a:t>
            </a:r>
          </a:p>
        </p:txBody>
      </p:sp>
      <p:pic>
        <p:nvPicPr>
          <p:cNvPr id="19" name="">
            <a:extLst xmlns:a="http://schemas.openxmlformats.org/drawingml/2006/main">
              <a:ext uri="{FF2B5EF4-FFF2-40B4-BE49-F238E27FC236}">
                <a16:creationId xmlns:a16="http://schemas.microsoft.com/office/drawing/2014/main" id="{B8BBDB9B-5A1F-4D28-93D6-8757BCC94549}"/>
              </a:ext>
            </a:extLst>
          </p:cNvPr>
          <p:cNvPicPr>
            <a:picLocks xmlns:a="http://schemas.openxmlformats.org/drawingml/2006/main" noChangeAspect="1"/>
          </p:cNvPicPr>
          <p:nvPr/>
        </p:nvPicPr>
        <p:blipFill>
          <a:blip xmlns:r="http://schemas.openxmlformats.org/officeDocument/2006/relationships" xmlns:a="http://schemas.openxmlformats.org/drawingml/2006/main" r:embed="R66af7269cc1a4f19"/>
          <a:stretch xmlns:a="http://schemas.openxmlformats.org/drawingml/2006/main"/>
        </p:blipFill>
        <p:spPr>
          <a:xfrm xmlns:a="http://schemas.openxmlformats.org/drawingml/2006/main">
            <a:off x="514350" y="2509361"/>
            <a:ext cx="7096125" cy="2696527"/>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332A767A-69FB-422C-A6E6-7BF61311DEBB}"/>
              </a:ext>
            </a:extLst>
          </p:cNvPr>
          <p:cNvSpPr>
            <a:spLocks xmlns:a="http://schemas.openxmlformats.org/drawingml/2006/main" noGrp="1"/>
          </p:cNvSpPr>
          <p:nvPr/>
        </p:nvSpPr>
        <p:spPr>
          <a:xfrm xmlns:a="http://schemas.openxmlformats.org/drawingml/2006/main">
            <a:off x="514350" y="58388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75" b="0">
                <a:solidFill>
                  <a:srgbClr val="62728A"/>
                </a:solidFill>
                <a:latin typeface="Calibri"/>
                <a:ea typeface="Calibri"/>
                <a:cs typeface="Calibri"/>
              </a:defRPr>
            </a:pPr>
            <a:r>
              <a:rPr sz="1275" b="0">
                <a:solidFill>
                  <a:srgbClr val="62728A"/>
                </a:solidFill>
                <a:latin typeface="Calibri"/>
                <a:ea typeface="Calibri"/>
                <a:cs typeface="Calibri"/>
              </a:rPr>
              <a:t>Lab 04: container berhenti dan mulai lagi dengan ID yang sama; rm menghapusnya.</a:t>
            </a:r>
          </a:p>
        </p:txBody>
      </p:sp>
      <p:sp>
        <p:nvSpPr>
          <p:cNvPr id="9" name="lab-link-label">
            <a:extLst xmlns:a="http://schemas.openxmlformats.org/drawingml/2006/main">
              <a:ext uri="{FF2B5EF4-FFF2-40B4-BE49-F238E27FC236}">
                <a16:creationId xmlns:a16="http://schemas.microsoft.com/office/drawing/2014/main" id="{E1ECA30C-15AF-4E2A-995B-6F9EC0265BE2}"/>
              </a:ext>
            </a:extLst>
          </p:cNvPr>
          <p:cNvSpPr>
            <a:spLocks xmlns:a="http://schemas.openxmlformats.org/drawingml/2006/main" noGrp="1"/>
          </p:cNvSpPr>
          <p:nvPr/>
        </p:nvSpPr>
        <p:spPr>
          <a:xfrm xmlns:a="http://schemas.openxmlformats.org/drawingml/2006/main">
            <a:off x="7953375" y="195262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650" b="1">
                <a:solidFill>
                  <a:srgbClr val="FF701B"/>
                </a:solidFill>
                <a:latin typeface="Calibri"/>
                <a:ea typeface="Calibri"/>
                <a:cs typeface="Calibri"/>
              </a:defRPr>
            </a:pPr>
            <a:r>
              <a:rPr sz="1650" b="1">
                <a:solidFill>
                  <a:srgbClr val="FF701B"/>
                </a:solidFill>
                <a:latin typeface="Calibri"/>
                <a:ea typeface="Calibri"/>
                <a:cs typeface="Calibri"/>
              </a:rPr>
              <a:t>LAB 04</a:t>
            </a:r>
          </a:p>
        </p:txBody>
      </p:sp>
      <p:sp>
        <p:nvSpPr>
          <p:cNvPr id="10" name="bridge-points">
            <a:extLst xmlns:a="http://schemas.openxmlformats.org/drawingml/2006/main">
              <a:ext uri="{FF2B5EF4-FFF2-40B4-BE49-F238E27FC236}">
                <a16:creationId xmlns:a16="http://schemas.microsoft.com/office/drawing/2014/main" id="{6C4095D4-BEE1-4095-A134-08CFD7996F65}"/>
              </a:ext>
            </a:extLst>
          </p:cNvPr>
          <p:cNvSpPr>
            <a:spLocks xmlns:a="http://schemas.openxmlformats.org/drawingml/2006/main" noGrp="1"/>
          </p:cNvSpPr>
          <p:nvPr/>
        </p:nvSpPr>
        <p:spPr>
          <a:xfrm xmlns:a="http://schemas.openxmlformats.org/drawingml/2006/main">
            <a:off x="7953375" y="2333625"/>
            <a:ext cx="342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650" b="0">
                <a:solidFill>
                  <a:srgbClr val="13243B"/>
                </a:solidFill>
                <a:latin typeface="Calibri"/>
                <a:ea typeface="Calibri"/>
                <a:cs typeface="Calibri"/>
              </a:defRPr>
            </a:pPr>
            <a:r>
              <a:rPr sz="1650" b="0">
                <a:solidFill>
                  <a:srgbClr val="13243B"/>
                </a:solidFill>
                <a:latin typeface="Calibri"/>
                <a:ea typeface="Calibri"/>
                <a:cs typeface="Calibri"/>
              </a:rPr>
              <a:t>1. Image adalah template. Container adalah proses yang dibuat dari image tersebut.</a:t>
            </a:r>
          </a:p>
          <a:p xmlns:a="http://schemas.openxmlformats.org/drawingml/2006/main">
            <a:r>
              <a:t/>
            </a:r>
          </a:p>
          <a:p xmlns:a="http://schemas.openxmlformats.org/drawingml/2006/main">
            <a:pPr>
              <a:buNone/>
              <a:defRPr sz="1650" b="0">
                <a:solidFill>
                  <a:srgbClr val="13243B"/>
                </a:solidFill>
                <a:latin typeface="Calibri"/>
                <a:ea typeface="Calibri"/>
                <a:cs typeface="Calibri"/>
              </a:defRPr>
            </a:pPr>
            <a:r>
              <a:rPr sz="1650" b="0">
                <a:solidFill>
                  <a:srgbClr val="13243B"/>
                </a:solidFill>
                <a:latin typeface="Calibri"/>
                <a:ea typeface="Calibri"/>
                <a:cs typeface="Calibri"/>
              </a:rPr>
              <a:t>2. Port mapping membuat Nginx pada port 80 dapat dibuka dari host di port 8088.</a:t>
            </a:r>
          </a:p>
          <a:p xmlns:a="http://schemas.openxmlformats.org/drawingml/2006/main">
            <a:r>
              <a:t/>
            </a:r>
          </a:p>
          <a:p xmlns:a="http://schemas.openxmlformats.org/drawingml/2006/main">
            <a:pPr>
              <a:buNone/>
              <a:defRPr sz="1650" b="0">
                <a:solidFill>
                  <a:srgbClr val="13243B"/>
                </a:solidFill>
                <a:latin typeface="Calibri"/>
                <a:ea typeface="Calibri"/>
                <a:cs typeface="Calibri"/>
              </a:defRPr>
            </a:pPr>
            <a:r>
              <a:rPr sz="1650" b="0">
                <a:solidFill>
                  <a:srgbClr val="13243B"/>
                </a:solidFill>
                <a:latin typeface="Calibri"/>
                <a:ea typeface="Calibri"/>
                <a:cs typeface="Calibri"/>
              </a:rPr>
              <a:t>3. Di Lab 04, bandingkan ps, logs, stop, start, exec, dan rm.</a:t>
            </a:r>
          </a:p>
        </p:txBody>
      </p:sp>
      <p:sp>
        <p:nvSpPr>
          <p:cNvPr id="11" name="command-label">
            <a:extLst xmlns:a="http://schemas.openxmlformats.org/drawingml/2006/main">
              <a:ext uri="{FF2B5EF4-FFF2-40B4-BE49-F238E27FC236}">
                <a16:creationId xmlns:a16="http://schemas.microsoft.com/office/drawing/2014/main" id="{076461EA-2674-4D27-9FC8-5E6BEC36E286}"/>
              </a:ext>
            </a:extLst>
          </p:cNvPr>
          <p:cNvSpPr>
            <a:spLocks xmlns:a="http://schemas.openxmlformats.org/drawingml/2006/main" noGrp="1"/>
          </p:cNvSpPr>
          <p:nvPr/>
        </p:nvSpPr>
        <p:spPr>
          <a:xfrm xmlns:a="http://schemas.openxmlformats.org/drawingml/2006/main">
            <a:off x="7953375" y="52863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75" b="1">
                <a:solidFill>
                  <a:srgbClr val="072A79"/>
                </a:solidFill>
                <a:latin typeface="Calibri"/>
                <a:ea typeface="Calibri"/>
                <a:cs typeface="Calibri"/>
              </a:defRPr>
            </a:pPr>
            <a:r>
              <a:rPr sz="1275" b="1">
                <a:solidFill>
                  <a:srgbClr val="072A79"/>
                </a:solidFill>
                <a:latin typeface="Calibri"/>
                <a:ea typeface="Calibri"/>
                <a:cs typeface="Calibri"/>
              </a:rPr>
              <a:t>Perintah pertama yang akan dicoba</a:t>
            </a:r>
          </a:p>
        </p:txBody>
      </p:sp>
      <p:sp>
        <p:nvSpPr>
          <p:cNvPr id="12" name="bridge-command">
            <a:extLst xmlns:a="http://schemas.openxmlformats.org/drawingml/2006/main">
              <a:ext uri="{FF2B5EF4-FFF2-40B4-BE49-F238E27FC236}">
                <a16:creationId xmlns:a16="http://schemas.microsoft.com/office/drawing/2014/main" id="{6FAD085F-8BE4-4B9E-B5AA-F9BE89673D13}"/>
              </a:ext>
            </a:extLst>
          </p:cNvPr>
          <p:cNvSpPr>
            <a:spLocks xmlns:a="http://schemas.openxmlformats.org/drawingml/2006/main" noGrp="1"/>
          </p:cNvSpPr>
          <p:nvPr/>
        </p:nvSpPr>
        <p:spPr>
          <a:xfrm xmlns:a="http://schemas.openxmlformats.org/drawingml/2006/main">
            <a:off x="7953375" y="5591175"/>
            <a:ext cx="3476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031D5B"/>
                </a:solidFill>
                <a:latin typeface="Calibri"/>
                <a:ea typeface="Calibri"/>
                <a:cs typeface="Calibri"/>
              </a:defRPr>
            </a:pPr>
            <a:r>
              <a:rPr sz="1425" b="1">
                <a:solidFill>
                  <a:srgbClr val="031D5B"/>
                </a:solidFill>
                <a:latin typeface="Calibri"/>
                <a:ea typeface="Calibri"/>
                <a:cs typeface="Calibri"/>
              </a:rPr>
              <a:t>docker run -d --name cloudlab-nginx -p 127.0.0.1:8088:80 nginx:alpine</a:t>
            </a:r>
          </a:p>
        </p:txBody>
      </p:sp>
    </p:spTree>
    <p:extLst>
      <p:ext uri="{BB962C8B-B14F-4D97-AF65-F5344CB8AC3E}">
        <p14:creationId xmlns:p14="http://schemas.microsoft.com/office/powerpoint/2010/main" val="69867990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urse-label">
            <a:extLst xmlns:a="http://schemas.openxmlformats.org/drawingml/2006/main">
              <a:ext uri="{FF2B5EF4-FFF2-40B4-BE49-F238E27FC236}">
                <a16:creationId xmlns:a16="http://schemas.microsoft.com/office/drawing/2014/main" id="{7E81F6F4-7FA5-42EF-B204-B36263751718}"/>
              </a:ext>
            </a:extLst>
          </p:cNvPr>
          <p:cNvSpPr>
            <a:spLocks xmlns:a="http://schemas.openxmlformats.org/drawingml/2006/main" noGrp="1"/>
          </p:cNvSpPr>
          <p:nvPr/>
        </p:nvSpPr>
        <p:spPr>
          <a:xfrm xmlns:a="http://schemas.openxmlformats.org/drawingml/2006/main">
            <a:off x="514350" y="2571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75" b="0">
                <a:solidFill>
                  <a:srgbClr val="62728A"/>
                </a:solidFill>
                <a:latin typeface="Calibri"/>
                <a:ea typeface="Calibri"/>
                <a:cs typeface="Calibri"/>
              </a:defRPr>
            </a:pPr>
            <a:r>
              <a:rPr sz="1275" b="0">
                <a:solidFill>
                  <a:srgbClr val="62728A"/>
                </a:solidFill>
                <a:latin typeface="Calibri"/>
                <a:ea typeface="Calibri"/>
                <a:cs typeface="Calibri"/>
              </a:rPr>
              <a:t>BINUS UNIVERSITY  |  Cloud Services  |  Pertemuan 4</a:t>
            </a:r>
          </a:p>
        </p:txBody>
      </p:sp>
      <p:sp>
        <p:nvSpPr>
          <p:cNvPr id="2" name="main-title">
            <a:extLst xmlns:a="http://schemas.openxmlformats.org/drawingml/2006/main">
              <a:ext uri="{FF2B5EF4-FFF2-40B4-BE49-F238E27FC236}">
                <a16:creationId xmlns:a16="http://schemas.microsoft.com/office/drawing/2014/main" id="{C8D7DD0A-E876-4D3D-8363-5FDC2A62C4B3}"/>
              </a:ext>
            </a:extLst>
          </p:cNvPr>
          <p:cNvSpPr>
            <a:spLocks xmlns:a="http://schemas.openxmlformats.org/drawingml/2006/main" noGrp="1"/>
          </p:cNvSpPr>
          <p:nvPr/>
        </p:nvSpPr>
        <p:spPr>
          <a:xfrm xmlns:a="http://schemas.openxmlformats.org/drawingml/2006/main">
            <a:off x="514350" y="58102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850" b="1">
                <a:solidFill>
                  <a:srgbClr val="072A79"/>
                </a:solidFill>
                <a:latin typeface="Calibri"/>
                <a:ea typeface="Calibri"/>
                <a:cs typeface="Calibri"/>
              </a:defRPr>
            </a:pPr>
            <a:r>
              <a:rPr sz="2850" b="1">
                <a:solidFill>
                  <a:srgbClr val="072A79"/>
                </a:solidFill>
                <a:latin typeface="Calibri"/>
                <a:ea typeface="Calibri"/>
                <a:cs typeface="Calibri"/>
              </a:rPr>
              <a:t>Sebelum Lab 04: amati siklus container</a:t>
            </a:r>
          </a:p>
        </p:txBody>
      </p:sp>
      <p:sp>
        <p:nvSpPr>
          <p:cNvPr id="3" name="subtitle">
            <a:extLst xmlns:a="http://schemas.openxmlformats.org/drawingml/2006/main">
              <a:ext uri="{FF2B5EF4-FFF2-40B4-BE49-F238E27FC236}">
                <a16:creationId xmlns:a16="http://schemas.microsoft.com/office/drawing/2014/main" id="{894A9AEC-0C79-4900-A08D-67AA9DC9BA29}"/>
              </a:ext>
            </a:extLst>
          </p:cNvPr>
          <p:cNvSpPr>
            <a:spLocks xmlns:a="http://schemas.openxmlformats.org/drawingml/2006/main" noGrp="1"/>
          </p:cNvSpPr>
          <p:nvPr/>
        </p:nvSpPr>
        <p:spPr>
          <a:xfrm xmlns:a="http://schemas.openxmlformats.org/drawingml/2006/main">
            <a:off x="514350" y="1200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75" b="0">
                <a:solidFill>
                  <a:srgbClr val="62728A"/>
                </a:solidFill>
                <a:latin typeface="Calibri"/>
                <a:ea typeface="Calibri"/>
                <a:cs typeface="Calibri"/>
              </a:defRPr>
            </a:pPr>
            <a:r>
              <a:rPr sz="1575" b="0">
                <a:solidFill>
                  <a:srgbClr val="62728A"/>
                </a:solidFill>
                <a:latin typeface="Calibri"/>
                <a:ea typeface="Calibri"/>
                <a:cs typeface="Calibri"/>
              </a:rPr>
              <a:t>Apa yang tetap ada setelah stop, dan apa yang hilang setelah rm?</a:t>
            </a:r>
          </a:p>
        </p:txBody>
      </p:sp>
      <p:sp>
        <p:nvSpPr>
          <p:cNvPr id="4" name="orange-rule">
            <a:extLst xmlns:a="http://schemas.openxmlformats.org/drawingml/2006/main">
              <a:ext uri="{FF2B5EF4-FFF2-40B4-BE49-F238E27FC236}">
                <a16:creationId xmlns:a16="http://schemas.microsoft.com/office/drawing/2014/main" id="{98189693-8A9C-4805-A014-648506DEF6AC}"/>
              </a:ext>
            </a:extLst>
          </p:cNvPr>
          <p:cNvSpPr>
            <a:spLocks xmlns:a="http://schemas.openxmlformats.org/drawingml/2006/main" noGrp="1"/>
          </p:cNvSpPr>
          <p:nvPr/>
        </p:nvSpPr>
        <p:spPr>
          <a:xfrm xmlns:a="http://schemas.openxmlformats.org/drawingml/2006/main">
            <a:off x="514350" y="1657350"/>
            <a:ext cx="876300" cy="47625"/>
          </a:xfrm>
          <a:prstGeom xmlns:a="http://schemas.openxmlformats.org/drawingml/2006/main" prst="rect">
            <a:avLst/>
          </a:prstGeom>
          <a:solidFill xmlns:a="http://schemas.openxmlformats.org/drawingml/2006/main">
            <a:srgbClr val="FF701B"/>
          </a:solidFill>
          <a:ln xmlns:a="http://schemas.openxmlformats.org/drawingml/2006/main" w="0">
            <a:noFill/>
          </a:ln>
        </p:spPr>
      </p:sp>
      <p:sp>
        <p:nvSpPr>
          <p:cNvPr id="5" name="footer-left">
            <a:extLst xmlns:a="http://schemas.openxmlformats.org/drawingml/2006/main">
              <a:ext uri="{FF2B5EF4-FFF2-40B4-BE49-F238E27FC236}">
                <a16:creationId xmlns:a16="http://schemas.microsoft.com/office/drawing/2014/main" id="{A67F61E2-7B1D-4ED3-B4E7-6E1ADEF20F44}"/>
              </a:ext>
            </a:extLst>
          </p:cNvPr>
          <p:cNvSpPr>
            <a:spLocks xmlns:a="http://schemas.openxmlformats.org/drawingml/2006/main" noGrp="1"/>
          </p:cNvSpPr>
          <p:nvPr/>
        </p:nvSpPr>
        <p:spPr>
          <a:xfrm xmlns:a="http://schemas.openxmlformats.org/drawingml/2006/main">
            <a:off x="514350" y="6429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25" b="0">
                <a:solidFill>
                  <a:srgbClr val="62728A"/>
                </a:solidFill>
                <a:latin typeface="Calibri"/>
                <a:ea typeface="Calibri"/>
                <a:cs typeface="Calibri"/>
              </a:defRPr>
            </a:pPr>
            <a:r>
              <a:rPr sz="1125" b="0">
                <a:solidFill>
                  <a:srgbClr val="62728A"/>
                </a:solidFill>
                <a:latin typeface="Calibri"/>
                <a:ea typeface="Calibri"/>
                <a:cs typeface="Calibri"/>
              </a:rPr>
              <a:t>COMP6991031  |  Cloud Services</a:t>
            </a:r>
          </a:p>
        </p:txBody>
      </p:sp>
      <p:sp>
        <p:nvSpPr>
          <p:cNvPr id="6" name="footer-right">
            <a:extLst xmlns:a="http://schemas.openxmlformats.org/drawingml/2006/main">
              <a:ext uri="{FF2B5EF4-FFF2-40B4-BE49-F238E27FC236}">
                <a16:creationId xmlns:a16="http://schemas.microsoft.com/office/drawing/2014/main" id="{50DD754B-F793-4E5F-B778-8958F1B9F05B}"/>
              </a:ext>
            </a:extLst>
          </p:cNvPr>
          <p:cNvSpPr>
            <a:spLocks xmlns:a="http://schemas.openxmlformats.org/drawingml/2006/main" noGrp="1"/>
          </p:cNvSpPr>
          <p:nvPr/>
        </p:nvSpPr>
        <p:spPr>
          <a:xfrm xmlns:a="http://schemas.openxmlformats.org/drawingml/2006/main">
            <a:off x="11430000" y="64293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25" b="0">
                <a:solidFill>
                  <a:srgbClr val="62728A"/>
                </a:solidFill>
                <a:latin typeface="Calibri"/>
                <a:ea typeface="Calibri"/>
                <a:cs typeface="Calibri"/>
              </a:defRPr>
            </a:pPr>
            <a:r>
              <a:rPr sz="1125" b="0">
                <a:solidFill>
                  <a:srgbClr val="62728A"/>
                </a:solidFill>
                <a:latin typeface="Calibri"/>
                <a:ea typeface="Calibri"/>
                <a:cs typeface="Calibri"/>
              </a:rPr>
              <a:t>34</a:t>
            </a:r>
          </a:p>
        </p:txBody>
      </p:sp>
      <p:sp>
        <p:nvSpPr>
          <p:cNvPr id="7" name="watch-label">
            <a:extLst xmlns:a="http://schemas.openxmlformats.org/drawingml/2006/main">
              <a:ext uri="{FF2B5EF4-FFF2-40B4-BE49-F238E27FC236}">
                <a16:creationId xmlns:a16="http://schemas.microsoft.com/office/drawing/2014/main" id="{A4A41B32-88B3-4BA3-82DC-190851E6C54A}"/>
              </a:ext>
            </a:extLst>
          </p:cNvPr>
          <p:cNvSpPr>
            <a:spLocks xmlns:a="http://schemas.openxmlformats.org/drawingml/2006/main" noGrp="1"/>
          </p:cNvSpPr>
          <p:nvPr/>
        </p:nvSpPr>
        <p:spPr>
          <a:xfrm xmlns:a="http://schemas.openxmlformats.org/drawingml/2006/main">
            <a:off x="514350" y="2000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FF701B"/>
                </a:solidFill>
                <a:latin typeface="Calibri"/>
                <a:ea typeface="Calibri"/>
                <a:cs typeface="Calibri"/>
              </a:defRPr>
            </a:pPr>
            <a:r>
              <a:rPr sz="1425" b="1">
                <a:solidFill>
                  <a:srgbClr val="FF701B"/>
                </a:solidFill>
                <a:latin typeface="Calibri"/>
                <a:ea typeface="Calibri"/>
                <a:cs typeface="Calibri"/>
              </a:rPr>
              <a:t>TONTON</a:t>
            </a:r>
          </a:p>
        </p:txBody>
      </p:sp>
      <p:sp>
        <p:nvSpPr>
          <p:cNvPr id="8" name="video-link">
            <a:extLst xmlns:a="http://schemas.openxmlformats.org/drawingml/2006/main">
              <a:ext uri="{FF2B5EF4-FFF2-40B4-BE49-F238E27FC236}">
                <a16:creationId xmlns:a16="http://schemas.microsoft.com/office/drawing/2014/main" id="{B6E660F8-FAB6-45D9-BEA8-E5187900AD74}"/>
              </a:ext>
            </a:extLst>
          </p:cNvPr>
          <p:cNvSpPr>
            <a:spLocks xmlns:a="http://schemas.openxmlformats.org/drawingml/2006/main" noGrp="1"/>
          </p:cNvSpPr>
          <p:nvPr/>
        </p:nvSpPr>
        <p:spPr>
          <a:xfrm xmlns:a="http://schemas.openxmlformats.org/drawingml/2006/main">
            <a:off x="514350" y="23526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aeb9f1b5fcdf4ede"/>
              </a:rPr>
              <a:t>Docker: intro dan overview (video, 1:34–8:40)</a:t>
            </a:r>
          </a:p>
        </p:txBody>
      </p:sp>
      <p:sp>
        <p:nvSpPr>
          <p:cNvPr id="9" name="video-why">
            <a:extLst xmlns:a="http://schemas.openxmlformats.org/drawingml/2006/main">
              <a:ext uri="{FF2B5EF4-FFF2-40B4-BE49-F238E27FC236}">
                <a16:creationId xmlns:a16="http://schemas.microsoft.com/office/drawing/2014/main" id="{3D33546E-2036-422D-A220-A97245976845}"/>
              </a:ext>
            </a:extLst>
          </p:cNvPr>
          <p:cNvSpPr>
            <a:spLocks xmlns:a="http://schemas.openxmlformats.org/drawingml/2006/main" noGrp="1"/>
          </p:cNvSpPr>
          <p:nvPr/>
        </p:nvSpPr>
        <p:spPr>
          <a:xfrm xmlns:a="http://schemas.openxmlformats.org/drawingml/2006/main">
            <a:off x="514350" y="276225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0">
                <a:solidFill>
                  <a:srgbClr val="13243B"/>
                </a:solidFill>
                <a:latin typeface="Calibri"/>
                <a:ea typeface="Calibri"/>
                <a:cs typeface="Calibri"/>
              </a:defRPr>
            </a:pPr>
            <a:r>
              <a:rPr sz="1500" b="0">
                <a:solidFill>
                  <a:srgbClr val="13243B"/>
                </a:solidFill>
                <a:latin typeface="Calibri"/>
                <a:ea typeface="Calibri"/>
                <a:cs typeface="Calibri"/>
              </a:rPr>
              <a:t>Perhatikan beda image dan container sebelum menjalankan Nginx lokal.</a:t>
            </a:r>
          </a:p>
        </p:txBody>
      </p:sp>
      <p:sp>
        <p:nvSpPr>
          <p:cNvPr id="10" name="read-label">
            <a:extLst xmlns:a="http://schemas.openxmlformats.org/drawingml/2006/main">
              <a:ext uri="{FF2B5EF4-FFF2-40B4-BE49-F238E27FC236}">
                <a16:creationId xmlns:a16="http://schemas.microsoft.com/office/drawing/2014/main" id="{FA57AFA6-C8B4-4977-85DC-B10ED89800FF}"/>
              </a:ext>
            </a:extLst>
          </p:cNvPr>
          <p:cNvSpPr>
            <a:spLocks xmlns:a="http://schemas.openxmlformats.org/drawingml/2006/main" noGrp="1"/>
          </p:cNvSpPr>
          <p:nvPr/>
        </p:nvSpPr>
        <p:spPr>
          <a:xfrm xmlns:a="http://schemas.openxmlformats.org/drawingml/2006/main">
            <a:off x="514350" y="3524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FF701B"/>
                </a:solidFill>
                <a:latin typeface="Calibri"/>
                <a:ea typeface="Calibri"/>
                <a:cs typeface="Calibri"/>
              </a:defRPr>
            </a:pPr>
            <a:r>
              <a:rPr sz="1425" b="1">
                <a:solidFill>
                  <a:srgbClr val="FF701B"/>
                </a:solidFill>
                <a:latin typeface="Calibri"/>
                <a:ea typeface="Calibri"/>
                <a:cs typeface="Calibri"/>
              </a:rPr>
              <a:t>BACA</a:t>
            </a:r>
          </a:p>
        </p:txBody>
      </p:sp>
      <p:sp>
        <p:nvSpPr>
          <p:cNvPr id="11" name="article-link">
            <a:extLst xmlns:a="http://schemas.openxmlformats.org/drawingml/2006/main">
              <a:ext uri="{FF2B5EF4-FFF2-40B4-BE49-F238E27FC236}">
                <a16:creationId xmlns:a16="http://schemas.microsoft.com/office/drawing/2014/main" id="{DF1EAB33-3800-42A1-B585-62BC0C49451B}"/>
              </a:ext>
            </a:extLst>
          </p:cNvPr>
          <p:cNvSpPr>
            <a:spLocks xmlns:a="http://schemas.openxmlformats.org/drawingml/2006/main" noGrp="1"/>
          </p:cNvSpPr>
          <p:nvPr/>
        </p:nvSpPr>
        <p:spPr>
          <a:xfrm xmlns:a="http://schemas.openxmlformats.org/drawingml/2006/main">
            <a:off x="514350" y="38671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08315f07851f4fe4"/>
              </a:rPr>
              <a:t>Docker Docs: What is a container?</a:t>
            </a:r>
          </a:p>
        </p:txBody>
      </p:sp>
      <p:sp>
        <p:nvSpPr>
          <p:cNvPr id="12" name="extra-link">
            <a:extLst xmlns:a="http://schemas.openxmlformats.org/drawingml/2006/main">
              <a:ext uri="{FF2B5EF4-FFF2-40B4-BE49-F238E27FC236}">
                <a16:creationId xmlns:a16="http://schemas.microsoft.com/office/drawing/2014/main" id="{FBB93EBA-954A-4C79-A0A8-F96F88D91A86}"/>
              </a:ext>
            </a:extLst>
          </p:cNvPr>
          <p:cNvSpPr>
            <a:spLocks xmlns:a="http://schemas.openxmlformats.org/drawingml/2006/main" noGrp="1"/>
          </p:cNvSpPr>
          <p:nvPr/>
        </p:nvSpPr>
        <p:spPr>
          <a:xfrm xmlns:a="http://schemas.openxmlformats.org/drawingml/2006/main">
            <a:off x="514350" y="438150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0">
                <a:solidFill>
                  <a:srgbClr val="1477D4"/>
                </a:solidFill>
                <a:latin typeface="Calibri"/>
                <a:ea typeface="Calibri"/>
                <a:cs typeface="Calibri"/>
              </a:defRPr>
            </a:pPr>
            <a:r>
              <a:rPr sz="1500" u="sng">
                <a:solidFill>
                  <a:srgbClr val="1477D4"/>
                </a:solidFill>
                <a:latin typeface="Calibri"/>
                <a:ea typeface="Calibri"/>
                <a:cs typeface="Calibri"/>
                <a:hlinkClick xmlns:r="http://schemas.openxmlformats.org/officeDocument/2006/relationships" r:id="Rb47537bc83b94a0b"/>
              </a:rPr>
              <a:t>Docker Docs: Publish container ports</a:t>
            </a:r>
          </a:p>
        </p:txBody>
      </p:sp>
      <p:sp>
        <p:nvSpPr>
          <p:cNvPr id="13" name="try-label">
            <a:extLst xmlns:a="http://schemas.openxmlformats.org/drawingml/2006/main">
              <a:ext uri="{FF2B5EF4-FFF2-40B4-BE49-F238E27FC236}">
                <a16:creationId xmlns:a16="http://schemas.microsoft.com/office/drawing/2014/main" id="{BE9B7AD8-5757-47F7-AACA-3736278D0BBF}"/>
              </a:ext>
            </a:extLst>
          </p:cNvPr>
          <p:cNvSpPr>
            <a:spLocks xmlns:a="http://schemas.openxmlformats.org/drawingml/2006/main" noGrp="1"/>
          </p:cNvSpPr>
          <p:nvPr/>
        </p:nvSpPr>
        <p:spPr>
          <a:xfrm xmlns:a="http://schemas.openxmlformats.org/drawingml/2006/main">
            <a:off x="7286625" y="2000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FF701B"/>
                </a:solidFill>
                <a:latin typeface="Calibri"/>
                <a:ea typeface="Calibri"/>
                <a:cs typeface="Calibri"/>
              </a:defRPr>
            </a:pPr>
            <a:r>
              <a:rPr sz="1425" b="1">
                <a:solidFill>
                  <a:srgbClr val="FF701B"/>
                </a:solidFill>
                <a:latin typeface="Calibri"/>
                <a:ea typeface="Calibri"/>
                <a:cs typeface="Calibri"/>
              </a:rPr>
              <a:t>COBA 5 MENIT</a:t>
            </a:r>
          </a:p>
        </p:txBody>
      </p:sp>
      <p:sp>
        <p:nvSpPr>
          <p:cNvPr id="14" name="code-lines">
            <a:extLst xmlns:a="http://schemas.openxmlformats.org/drawingml/2006/main">
              <a:ext uri="{FF2B5EF4-FFF2-40B4-BE49-F238E27FC236}">
                <a16:creationId xmlns:a16="http://schemas.microsoft.com/office/drawing/2014/main" id="{7652DE86-3C1A-4B0C-8794-93FD8AAF5146}"/>
              </a:ext>
            </a:extLst>
          </p:cNvPr>
          <p:cNvSpPr>
            <a:spLocks xmlns:a="http://schemas.openxmlformats.org/drawingml/2006/main" noGrp="1"/>
          </p:cNvSpPr>
          <p:nvPr/>
        </p:nvSpPr>
        <p:spPr>
          <a:xfrm xmlns:a="http://schemas.openxmlformats.org/drawingml/2006/main">
            <a:off x="7286625" y="2352675"/>
            <a:ext cx="4286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031D5B"/>
                </a:solidFill>
                <a:latin typeface="Calibri"/>
                <a:ea typeface="Calibri"/>
                <a:cs typeface="Calibri"/>
              </a:defRPr>
            </a:pPr>
            <a:r>
              <a:rPr sz="1500" b="1">
                <a:solidFill>
                  <a:srgbClr val="031D5B"/>
                </a:solidFill>
                <a:latin typeface="Calibri"/>
                <a:ea typeface="Calibri"/>
                <a:cs typeface="Calibri"/>
              </a:rPr>
              <a:t>docker pull nginx:alpine</a:t>
            </a:r>
          </a:p>
          <a:p xmlns:a="http://schemas.openxmlformats.org/drawingml/2006/main">
            <a:pPr>
              <a:buNone/>
              <a:defRPr sz="1500" b="1">
                <a:solidFill>
                  <a:srgbClr val="031D5B"/>
                </a:solidFill>
                <a:latin typeface="Calibri"/>
                <a:ea typeface="Calibri"/>
                <a:cs typeface="Calibri"/>
              </a:defRPr>
            </a:pPr>
            <a:r>
              <a:rPr sz="1500" b="1">
                <a:solidFill>
                  <a:srgbClr val="031D5B"/>
                </a:solidFill>
                <a:latin typeface="Calibri"/>
                <a:ea typeface="Calibri"/>
                <a:cs typeface="Calibri"/>
              </a:rPr>
              <a:t>docker run -d --name cloudlab-nginx -p 127.0.0.1:8088:80 nginx:alpine</a:t>
            </a:r>
          </a:p>
          <a:p xmlns:a="http://schemas.openxmlformats.org/drawingml/2006/main">
            <a:pPr>
              <a:buNone/>
              <a:defRPr sz="1500" b="1">
                <a:solidFill>
                  <a:srgbClr val="031D5B"/>
                </a:solidFill>
                <a:latin typeface="Calibri"/>
                <a:ea typeface="Calibri"/>
                <a:cs typeface="Calibri"/>
              </a:defRPr>
            </a:pPr>
            <a:r>
              <a:rPr sz="1500" b="1">
                <a:solidFill>
                  <a:srgbClr val="031D5B"/>
                </a:solidFill>
                <a:latin typeface="Calibri"/>
                <a:ea typeface="Calibri"/>
                <a:cs typeface="Calibri"/>
              </a:rPr>
              <a:t>docker ps; docker logs cloudlab-nginx</a:t>
            </a:r>
          </a:p>
        </p:txBody>
      </p:sp>
      <p:sp>
        <p:nvSpPr>
          <p:cNvPr id="15" name="code-explain">
            <a:extLst xmlns:a="http://schemas.openxmlformats.org/drawingml/2006/main">
              <a:ext uri="{FF2B5EF4-FFF2-40B4-BE49-F238E27FC236}">
                <a16:creationId xmlns:a16="http://schemas.microsoft.com/office/drawing/2014/main" id="{82753425-23F8-4AA7-BA60-12E15EEA4475}"/>
              </a:ext>
            </a:extLst>
          </p:cNvPr>
          <p:cNvSpPr>
            <a:spLocks xmlns:a="http://schemas.openxmlformats.org/drawingml/2006/main" noGrp="1"/>
          </p:cNvSpPr>
          <p:nvPr/>
        </p:nvSpPr>
        <p:spPr>
          <a:xfrm xmlns:a="http://schemas.openxmlformats.org/drawingml/2006/main">
            <a:off x="7286625" y="41719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0">
                <a:solidFill>
                  <a:srgbClr val="13243B"/>
                </a:solidFill>
                <a:latin typeface="Calibri"/>
                <a:ea typeface="Calibri"/>
                <a:cs typeface="Calibri"/>
              </a:defRPr>
            </a:pPr>
            <a:r>
              <a:rPr sz="1425" b="0">
                <a:solidFill>
                  <a:srgbClr val="13243B"/>
                </a:solidFill>
                <a:latin typeface="Calibri"/>
                <a:ea typeface="Calibri"/>
                <a:cs typeface="Calibri"/>
              </a:rPr>
              <a:t>Tarik image, jalankan Nginx lokal, lihat status dan log sebelum stop/start.</a:t>
            </a:r>
          </a:p>
        </p:txBody>
      </p:sp>
      <p:sp>
        <p:nvSpPr>
          <p:cNvPr id="16" name="repo-label">
            <a:extLst xmlns:a="http://schemas.openxmlformats.org/drawingml/2006/main">
              <a:ext uri="{FF2B5EF4-FFF2-40B4-BE49-F238E27FC236}">
                <a16:creationId xmlns:a16="http://schemas.microsoft.com/office/drawing/2014/main" id="{3B799DAD-7ED1-4386-9278-4A878847C8C5}"/>
              </a:ext>
            </a:extLst>
          </p:cNvPr>
          <p:cNvSpPr>
            <a:spLocks xmlns:a="http://schemas.openxmlformats.org/drawingml/2006/main" noGrp="1"/>
          </p:cNvSpPr>
          <p:nvPr/>
        </p:nvSpPr>
        <p:spPr>
          <a:xfrm xmlns:a="http://schemas.openxmlformats.org/drawingml/2006/main">
            <a:off x="514350" y="53435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b="1">
                <a:solidFill>
                  <a:srgbClr val="FF701B"/>
                </a:solidFill>
                <a:latin typeface="Calibri"/>
                <a:ea typeface="Calibri"/>
                <a:cs typeface="Calibri"/>
              </a:defRPr>
            </a:pPr>
            <a:r>
              <a:rPr sz="1350" b="1">
                <a:solidFill>
                  <a:srgbClr val="FF701B"/>
                </a:solidFill>
                <a:latin typeface="Calibri"/>
                <a:ea typeface="Calibri"/>
                <a:cs typeface="Calibri"/>
              </a:rPr>
              <a:t>MODUL DAN KODE LAB</a:t>
            </a:r>
          </a:p>
        </p:txBody>
      </p:sp>
      <p:sp>
        <p:nvSpPr>
          <p:cNvPr id="17" name="repo-link">
            <a:extLst xmlns:a="http://schemas.openxmlformats.org/drawingml/2006/main">
              <a:ext uri="{FF2B5EF4-FFF2-40B4-BE49-F238E27FC236}">
                <a16:creationId xmlns:a16="http://schemas.microsoft.com/office/drawing/2014/main" id="{9E685000-8612-4059-9896-81A40687A30B}"/>
              </a:ext>
            </a:extLst>
          </p:cNvPr>
          <p:cNvSpPr>
            <a:spLocks xmlns:a="http://schemas.openxmlformats.org/drawingml/2006/main" noGrp="1"/>
          </p:cNvSpPr>
          <p:nvPr/>
        </p:nvSpPr>
        <p:spPr>
          <a:xfrm xmlns:a="http://schemas.openxmlformats.org/drawingml/2006/main">
            <a:off x="514350" y="56578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477D4"/>
                </a:solidFill>
                <a:latin typeface="Calibri"/>
                <a:ea typeface="Calibri"/>
                <a:cs typeface="Calibri"/>
              </a:defRPr>
            </a:pPr>
            <a:r>
              <a:rPr sz="1725" u="sng">
                <a:solidFill>
                  <a:srgbClr val="1477D4"/>
                </a:solidFill>
                <a:latin typeface="Calibri"/>
                <a:ea typeface="Calibri"/>
                <a:cs typeface="Calibri"/>
                <a:hlinkClick xmlns:r="http://schemas.openxmlformats.org/officeDocument/2006/relationships" r:id="Rbfd8a892411246f3"/>
              </a:rPr>
              <a:t>github.com/SeedFlora/meet4CloudService</a:t>
            </a:r>
          </a:p>
        </p:txBody>
      </p:sp>
    </p:spTree>
    <p:extLst>
      <p:ext uri="{BB962C8B-B14F-4D97-AF65-F5344CB8AC3E}">
        <p14:creationId xmlns:p14="http://schemas.microsoft.com/office/powerpoint/2010/main" val="14412328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2026-10-08T08:00:48.0550000Z</dcterms:created>
  <dcterms:modified xsi:type="dcterms:W3CDTF">2026-10-08T08:00:48.0550000Z</dcterms:modified>
</coreProperties>
</file>