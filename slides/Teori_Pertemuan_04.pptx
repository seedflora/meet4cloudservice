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7a4eb2fab5d49b0" /><Relationship Type="http://schemas.openxmlformats.org/officeDocument/2006/relationships/extended-properties" Target="/docProps/app.xml" Id="Rf0c3507dce08468d" /><Relationship Type="http://schemas.openxmlformats.org/officeDocument/2006/relationships/officeDocument" Target="/ppt/presentation.xml" Id="Rac06ddb474664f0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6e73d195a324757"/>
  </p:sldMasterIdLst>
  <p:notesMasterIdLst>
    <p:notesMasterId xmlns:r="http://schemas.openxmlformats.org/officeDocument/2006/relationships" r:id="Rf505a69e838a481e"/>
  </p:notesMasterIdLst>
  <p:sldIdLst>
    <p:sldId xmlns:r="http://schemas.openxmlformats.org/officeDocument/2006/relationships" id="256" r:id="R0dd5d22a8e264a3d"/>
    <p:sldId xmlns:r="http://schemas.openxmlformats.org/officeDocument/2006/relationships" id="257" r:id="R409ae7a5832f4042"/>
    <p:sldId xmlns:r="http://schemas.openxmlformats.org/officeDocument/2006/relationships" id="258" r:id="R6f62c4d2e79c48e8"/>
    <p:sldId xmlns:r="http://schemas.openxmlformats.org/officeDocument/2006/relationships" id="259" r:id="R5e1638c5c7064c08"/>
    <p:sldId xmlns:r="http://schemas.openxmlformats.org/officeDocument/2006/relationships" id="260" r:id="Rb6687a871ca9421c"/>
    <p:sldId xmlns:r="http://schemas.openxmlformats.org/officeDocument/2006/relationships" id="261" r:id="R4c466ac6d1444a8f"/>
    <p:sldId xmlns:r="http://schemas.openxmlformats.org/officeDocument/2006/relationships" id="262" r:id="R5ebfc4a17aa94839"/>
    <p:sldId xmlns:r="http://schemas.openxmlformats.org/officeDocument/2006/relationships" id="263" r:id="R250c1bc82ba34935"/>
    <p:sldId xmlns:r="http://schemas.openxmlformats.org/officeDocument/2006/relationships" id="264" r:id="R66c913aa7c154ad1"/>
    <p:sldId xmlns:r="http://schemas.openxmlformats.org/officeDocument/2006/relationships" id="265" r:id="R7e0559a799fa4637"/>
    <p:sldId xmlns:r="http://schemas.openxmlformats.org/officeDocument/2006/relationships" id="266" r:id="R20b74b6064924ba1"/>
    <p:sldId xmlns:r="http://schemas.openxmlformats.org/officeDocument/2006/relationships" id="267" r:id="R0868e0ecbd4d4e58"/>
    <p:sldId xmlns:r="http://schemas.openxmlformats.org/officeDocument/2006/relationships" id="268" r:id="R8b88fe9344574259"/>
    <p:sldId xmlns:r="http://schemas.openxmlformats.org/officeDocument/2006/relationships" id="269" r:id="Rc02203cc4a364cfc"/>
    <p:sldId xmlns:r="http://schemas.openxmlformats.org/officeDocument/2006/relationships" id="270" r:id="R6cfe37b262b641fe"/>
    <p:sldId xmlns:r="http://schemas.openxmlformats.org/officeDocument/2006/relationships" id="271" r:id="Rcb9842a64e4b4cbd"/>
    <p:sldId xmlns:r="http://schemas.openxmlformats.org/officeDocument/2006/relationships" id="272" r:id="R704a74aee13b4b98"/>
    <p:sldId xmlns:r="http://schemas.openxmlformats.org/officeDocument/2006/relationships" id="273" r:id="Re3e666af3b0645d3"/>
    <p:sldId xmlns:r="http://schemas.openxmlformats.org/officeDocument/2006/relationships" id="274" r:id="R55280e05c02e49ec"/>
    <p:sldId xmlns:r="http://schemas.openxmlformats.org/officeDocument/2006/relationships" id="275" r:id="Rd4e1688190864f54"/>
    <p:sldId xmlns:r="http://schemas.openxmlformats.org/officeDocument/2006/relationships" id="276" r:id="R4c40972c26424258"/>
    <p:sldId xmlns:r="http://schemas.openxmlformats.org/officeDocument/2006/relationships" id="277" r:id="Re04c92b264394a10"/>
    <p:sldId xmlns:r="http://schemas.openxmlformats.org/officeDocument/2006/relationships" id="278" r:id="Rf9c4b163c49d4c35"/>
    <p:sldId xmlns:r="http://schemas.openxmlformats.org/officeDocument/2006/relationships" id="279" r:id="R07c7a7e07e29474e"/>
    <p:sldId xmlns:r="http://schemas.openxmlformats.org/officeDocument/2006/relationships" id="280" r:id="Rea0c2f0f651646f4"/>
    <p:sldId xmlns:r="http://schemas.openxmlformats.org/officeDocument/2006/relationships" id="281" r:id="R2360f47a38ba41c5"/>
    <p:sldId xmlns:r="http://schemas.openxmlformats.org/officeDocument/2006/relationships" id="282" r:id="R2d14879bb1334a1f"/>
    <p:sldId xmlns:r="http://schemas.openxmlformats.org/officeDocument/2006/relationships" id="283" r:id="Rde37dd5b66b1442b"/>
    <p:sldId xmlns:r="http://schemas.openxmlformats.org/officeDocument/2006/relationships" id="284" r:id="R53decf22fc7d48f6"/>
    <p:sldId xmlns:r="http://schemas.openxmlformats.org/officeDocument/2006/relationships" id="285" r:id="Rea644af66d5640f3"/>
    <p:sldId xmlns:r="http://schemas.openxmlformats.org/officeDocument/2006/relationships" id="286" r:id="Rddd7d4a23fad4f64"/>
    <p:sldId xmlns:r="http://schemas.openxmlformats.org/officeDocument/2006/relationships" id="287" r:id="R1ef8a2fbc588442d"/>
    <p:sldId xmlns:r="http://schemas.openxmlformats.org/officeDocument/2006/relationships" id="288" r:id="R80ead6ad25ad4340"/>
    <p:sldId xmlns:r="http://schemas.openxmlformats.org/officeDocument/2006/relationships" id="289" r:id="Rb5ee904538324c7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4a1d91e60b74214" /><Relationship Type="http://schemas.openxmlformats.org/officeDocument/2006/relationships/slideMaster" Target="/ppt/slideMasters/slideMaster1.xml" Id="Rb6e73d195a324757" /><Relationship Type="http://schemas.openxmlformats.org/officeDocument/2006/relationships/notesMaster" Target="/ppt/notesMasters/notesMaster1.xml" Id="Rf505a69e838a481e" /><Relationship Type="http://schemas.openxmlformats.org/officeDocument/2006/relationships/presProps" Target="/ppt/presProps.xml" Id="Rdcf1e90ba3fe4cc9" /><Relationship Type="http://schemas.openxmlformats.org/officeDocument/2006/relationships/viewProps" Target="/ppt/viewProps.xml" Id="R6195d48195d04a20" /><Relationship Type="http://schemas.openxmlformats.org/officeDocument/2006/relationships/tableStyles" Target="/ppt/tableStyles.xml" Id="R586f0db0570242c2" /><Relationship Type="http://schemas.openxmlformats.org/officeDocument/2006/relationships/slide" Target="/ppt/slides/slide1.xml" Id="R0dd5d22a8e264a3d" /><Relationship Type="http://schemas.openxmlformats.org/officeDocument/2006/relationships/slide" Target="/ppt/slides/slide2.xml" Id="R409ae7a5832f4042" /><Relationship Type="http://schemas.openxmlformats.org/officeDocument/2006/relationships/slide" Target="/ppt/slides/slide3.xml" Id="R6f62c4d2e79c48e8" /><Relationship Type="http://schemas.openxmlformats.org/officeDocument/2006/relationships/slide" Target="/ppt/slides/slide4.xml" Id="R5e1638c5c7064c08" /><Relationship Type="http://schemas.openxmlformats.org/officeDocument/2006/relationships/slide" Target="/ppt/slides/slide5.xml" Id="Rb6687a871ca9421c" /><Relationship Type="http://schemas.openxmlformats.org/officeDocument/2006/relationships/slide" Target="/ppt/slides/slide6.xml" Id="R4c466ac6d1444a8f" /><Relationship Type="http://schemas.openxmlformats.org/officeDocument/2006/relationships/slide" Target="/ppt/slides/slide7.xml" Id="R5ebfc4a17aa94839" /><Relationship Type="http://schemas.openxmlformats.org/officeDocument/2006/relationships/slide" Target="/ppt/slides/slide8.xml" Id="R250c1bc82ba34935" /><Relationship Type="http://schemas.openxmlformats.org/officeDocument/2006/relationships/slide" Target="/ppt/slides/slide9.xml" Id="R66c913aa7c154ad1" /><Relationship Type="http://schemas.openxmlformats.org/officeDocument/2006/relationships/slide" Target="/ppt/slides/slide10.xml" Id="R7e0559a799fa4637" /><Relationship Type="http://schemas.openxmlformats.org/officeDocument/2006/relationships/slide" Target="/ppt/slides/slide11.xml" Id="R20b74b6064924ba1" /><Relationship Type="http://schemas.openxmlformats.org/officeDocument/2006/relationships/slide" Target="/ppt/slides/slide12.xml" Id="R0868e0ecbd4d4e58" /><Relationship Type="http://schemas.openxmlformats.org/officeDocument/2006/relationships/slide" Target="/ppt/slides/slide13.xml" Id="R8b88fe9344574259" /><Relationship Type="http://schemas.openxmlformats.org/officeDocument/2006/relationships/slide" Target="/ppt/slides/slide14.xml" Id="Rc02203cc4a364cfc" /><Relationship Type="http://schemas.openxmlformats.org/officeDocument/2006/relationships/slide" Target="/ppt/slides/slide15.xml" Id="R6cfe37b262b641fe" /><Relationship Type="http://schemas.openxmlformats.org/officeDocument/2006/relationships/slide" Target="/ppt/slides/slide16.xml" Id="Rcb9842a64e4b4cbd" /><Relationship Type="http://schemas.openxmlformats.org/officeDocument/2006/relationships/slide" Target="/ppt/slides/slide17.xml" Id="R704a74aee13b4b98" /><Relationship Type="http://schemas.openxmlformats.org/officeDocument/2006/relationships/slide" Target="/ppt/slides/slide18.xml" Id="Re3e666af3b0645d3" /><Relationship Type="http://schemas.openxmlformats.org/officeDocument/2006/relationships/slide" Target="/ppt/slides/slide19.xml" Id="R55280e05c02e49ec" /><Relationship Type="http://schemas.openxmlformats.org/officeDocument/2006/relationships/slide" Target="/ppt/slides/slide20.xml" Id="Rd4e1688190864f54" /><Relationship Type="http://schemas.openxmlformats.org/officeDocument/2006/relationships/slide" Target="/ppt/slides/slide21.xml" Id="R4c40972c26424258" /><Relationship Type="http://schemas.openxmlformats.org/officeDocument/2006/relationships/slide" Target="/ppt/slides/slide22.xml" Id="Re04c92b264394a10" /><Relationship Type="http://schemas.openxmlformats.org/officeDocument/2006/relationships/slide" Target="/ppt/slides/slide23.xml" Id="Rf9c4b163c49d4c35" /><Relationship Type="http://schemas.openxmlformats.org/officeDocument/2006/relationships/slide" Target="/ppt/slides/slide24.xml" Id="R07c7a7e07e29474e" /><Relationship Type="http://schemas.openxmlformats.org/officeDocument/2006/relationships/slide" Target="/ppt/slides/slide25.xml" Id="Rea0c2f0f651646f4" /><Relationship Type="http://schemas.openxmlformats.org/officeDocument/2006/relationships/slide" Target="/ppt/slides/slide26.xml" Id="R2360f47a38ba41c5" /><Relationship Type="http://schemas.openxmlformats.org/officeDocument/2006/relationships/slide" Target="/ppt/slides/slide27.xml" Id="R2d14879bb1334a1f" /><Relationship Type="http://schemas.openxmlformats.org/officeDocument/2006/relationships/slide" Target="/ppt/slides/slide28.xml" Id="Rde37dd5b66b1442b" /><Relationship Type="http://schemas.openxmlformats.org/officeDocument/2006/relationships/slide" Target="/ppt/slides/slide29.xml" Id="R53decf22fc7d48f6" /><Relationship Type="http://schemas.openxmlformats.org/officeDocument/2006/relationships/slide" Target="/ppt/slides/slide30.xml" Id="Rea644af66d5640f3" /><Relationship Type="http://schemas.openxmlformats.org/officeDocument/2006/relationships/slide" Target="/ppt/slides/slide31.xml" Id="Rddd7d4a23fad4f64" /><Relationship Type="http://schemas.openxmlformats.org/officeDocument/2006/relationships/slide" Target="/ppt/slides/slide32.xml" Id="R1ef8a2fbc588442d" /><Relationship Type="http://schemas.openxmlformats.org/officeDocument/2006/relationships/slide" Target="/ppt/slides/slide33.xml" Id="R80ead6ad25ad4340" /><Relationship Type="http://schemas.openxmlformats.org/officeDocument/2006/relationships/slide" Target="/ppt/slides/slide34.xml" Id="Rb5ee904538324c7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730b40797be406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096be6e1f2840d3" /><Relationship Type="http://schemas.openxmlformats.org/officeDocument/2006/relationships/notesMaster" Target="/ppt/notesMasters/notesMaster1.xml" Id="Rdcfc72448a52492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223de216d9f47a0" /><Relationship Type="http://schemas.openxmlformats.org/officeDocument/2006/relationships/notesMaster" Target="/ppt/notesMasters/notesMaster1.xml" Id="R399a29231bb24b8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c13e86e617140d1" /><Relationship Type="http://schemas.openxmlformats.org/officeDocument/2006/relationships/notesMaster" Target="/ppt/notesMasters/notesMaster1.xml" Id="Raab348abb742457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9d1ff586de14d68" /><Relationship Type="http://schemas.openxmlformats.org/officeDocument/2006/relationships/notesMaster" Target="/ppt/notesMasters/notesMaster1.xml" Id="Rbe01219fb1a14e6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60b704693144488" /><Relationship Type="http://schemas.openxmlformats.org/officeDocument/2006/relationships/notesMaster" Target="/ppt/notesMasters/notesMaster1.xml" Id="R98811979013943b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d0b5022c68e4122" /><Relationship Type="http://schemas.openxmlformats.org/officeDocument/2006/relationships/notesMaster" Target="/ppt/notesMasters/notesMaster1.xml" Id="R418b4f16c8c94fe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0794accf25c4a7d" /><Relationship Type="http://schemas.openxmlformats.org/officeDocument/2006/relationships/notesMaster" Target="/ppt/notesMasters/notesMaster1.xml" Id="R585a2f058f4e428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371b0c88e734a7a" /><Relationship Type="http://schemas.openxmlformats.org/officeDocument/2006/relationships/notesMaster" Target="/ppt/notesMasters/notesMaster1.xml" Id="R3126d9803ac3465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078864bceca42a2" /><Relationship Type="http://schemas.openxmlformats.org/officeDocument/2006/relationships/notesMaster" Target="/ppt/notesMasters/notesMaster1.xml" Id="Rd3a718d76b554c7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d38bbdca4d44ccd" /><Relationship Type="http://schemas.openxmlformats.org/officeDocument/2006/relationships/notesMaster" Target="/ppt/notesMasters/notesMaster1.xml" Id="R7aed6584ab2945a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fc3d30b22e6468d" /><Relationship Type="http://schemas.openxmlformats.org/officeDocument/2006/relationships/notesMaster" Target="/ppt/notesMasters/notesMaster1.xml" Id="R615a366dd4954b4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562831e70904d9a" /><Relationship Type="http://schemas.openxmlformats.org/officeDocument/2006/relationships/notesMaster" Target="/ppt/notesMasters/notesMaster1.xml" Id="R41210288b22f45b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c0bac3b0d0a47ca" /><Relationship Type="http://schemas.openxmlformats.org/officeDocument/2006/relationships/notesMaster" Target="/ppt/notesMasters/notesMaster1.xml" Id="Rc8509fdc5a664e3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3f55305882c4827" /><Relationship Type="http://schemas.openxmlformats.org/officeDocument/2006/relationships/notesMaster" Target="/ppt/notesMasters/notesMaster1.xml" Id="Rdcb5252b976c496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a06d64ba0fa488b" /><Relationship Type="http://schemas.openxmlformats.org/officeDocument/2006/relationships/notesMaster" Target="/ppt/notesMasters/notesMaster1.xml" Id="R6587820df237457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d1c9f97f94e4325" /><Relationship Type="http://schemas.openxmlformats.org/officeDocument/2006/relationships/notesMaster" Target="/ppt/notesMasters/notesMaster1.xml" Id="Rcb6a47da2698484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800ee0916e046f5" /><Relationship Type="http://schemas.openxmlformats.org/officeDocument/2006/relationships/notesMaster" Target="/ppt/notesMasters/notesMaster1.xml" Id="R1ce64e32c860459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65cb847363c43e6" /><Relationship Type="http://schemas.openxmlformats.org/officeDocument/2006/relationships/notesMaster" Target="/ppt/notesMasters/notesMaster1.xml" Id="R116f00ebb3054cb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c74dc917a1d4425" /><Relationship Type="http://schemas.openxmlformats.org/officeDocument/2006/relationships/notesMaster" Target="/ppt/notesMasters/notesMaster1.xml" Id="Ra378313af554478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4513f07c4254480" /><Relationship Type="http://schemas.openxmlformats.org/officeDocument/2006/relationships/notesMaster" Target="/ppt/notesMasters/notesMaster1.xml" Id="Rfd4786ec6dab4e8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f49114cf9f44341" /><Relationship Type="http://schemas.openxmlformats.org/officeDocument/2006/relationships/notesMaster" Target="/ppt/notesMasters/notesMaster1.xml" Id="Re56bcdf7bfba47a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d3c4f48282545e3" /><Relationship Type="http://schemas.openxmlformats.org/officeDocument/2006/relationships/notesMaster" Target="/ppt/notesMasters/notesMaster1.xml" Id="R0adf7264b35041e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4f3cbc8c4a040da" /><Relationship Type="http://schemas.openxmlformats.org/officeDocument/2006/relationships/notesMaster" Target="/ppt/notesMasters/notesMaster1.xml" Id="R542337c70b1e4fe0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329df730164a4a75" /><Relationship Type="http://schemas.openxmlformats.org/officeDocument/2006/relationships/notesMaster" Target="/ppt/notesMasters/notesMaster1.xml" Id="R7edd5e3da7fc4a5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3c2eb931725410d" /><Relationship Type="http://schemas.openxmlformats.org/officeDocument/2006/relationships/notesMaster" Target="/ppt/notesMasters/notesMaster1.xml" Id="R5a171790f2c04c8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24155622c294fac" /><Relationship Type="http://schemas.openxmlformats.org/officeDocument/2006/relationships/notesMaster" Target="/ppt/notesMasters/notesMaster1.xml" Id="R4cf5c34b5751489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456a52a3ce454c3b" /><Relationship Type="http://schemas.openxmlformats.org/officeDocument/2006/relationships/notesMaster" Target="/ppt/notesMasters/notesMaster1.xml" Id="Rc56c6c6da7ae48d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b33a945c169d42f8" /><Relationship Type="http://schemas.openxmlformats.org/officeDocument/2006/relationships/notesMaster" Target="/ppt/notesMasters/notesMaster1.xml" Id="Re79ae02fe913496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4b0be36f7e724d69" /><Relationship Type="http://schemas.openxmlformats.org/officeDocument/2006/relationships/notesMaster" Target="/ppt/notesMasters/notesMaster1.xml" Id="R23f08035d81a44d6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6186c93c088a4aa7" /><Relationship Type="http://schemas.openxmlformats.org/officeDocument/2006/relationships/notesMaster" Target="/ppt/notesMasters/notesMaster1.xml" Id="R07261c6e2fc44f68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fff96bf634614b7e" /><Relationship Type="http://schemas.openxmlformats.org/officeDocument/2006/relationships/notesMaster" Target="/ppt/notesMasters/notesMaster1.xml" Id="Rc85b809f69594f99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9dcc5a92f93843c8" /><Relationship Type="http://schemas.openxmlformats.org/officeDocument/2006/relationships/notesMaster" Target="/ppt/notesMasters/notesMaster1.xml" Id="R4aa48537621348a8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cd0da492a6d4484f" /><Relationship Type="http://schemas.openxmlformats.org/officeDocument/2006/relationships/notesMaster" Target="/ppt/notesMasters/notesMaster1.xml" Id="Ra26f1021c1114fd5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f9075be7597f41bf" /><Relationship Type="http://schemas.openxmlformats.org/officeDocument/2006/relationships/notesMaster" Target="/ppt/notesMasters/notesMaster1.xml" Id="R80c308f0a3524ab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  <a:p xmlns:a="http://schemas.openxmlformats.org/drawingml/2006/main">
            <a:r>
              <a:t>
Angka utilisasi hardware lama dihapus karena bergantung workload dan metode pengukuran. Praktik menunjukkan VM berbagi hardware, container berbagi kernel.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  <a:p xmlns:a="http://schemas.openxmlformats.org/drawingml/2006/main">
            <a:r>
              <a:t>
Dockerfile berisi instruksi build image; container adalah proses terisolasi yang dibuat saat image dijalankan. Waktu startup dan pemakaian memori container bergantung image, aplikasi, host, dan cache; hindari angka universal. Rujukan: https://docs.docker.com/get-started/docker-concepts/the-basics/what-is-a-container/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  <a:p xmlns:a="http://schemas.openxmlformats.org/drawingml/2006/main">
            <a:r>
              <a:t>
Pada Docker modern, path cgroup dapat memakai cgroup v2. Contoh controller pids membatasi jumlah proses/threads; networking memerlukan mekanisme lain seperti tc, jadi tidak disajikan sebagai cgroup network. docker inspect --format mengeluarkan batas memory dalam byte dari konfigurasi container; contoh 512m menghasilkan 536870912 bila limit diterapkan. Rujukan: https://docs.docker.com/engine/containers/resource_constraints/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  <a:p xmlns:a="http://schemas.openxmlformats.org/drawingml/2006/main">
            <a:r>
              <a:t>
Di Linux, docker pause memakai freezer cgroup; bukan SIGSTOP biasa. Rujukan: https://docs.docker.com/reference/cli/docker/container/pause/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Sumber: RPS PDF, sesi teori dan lab 4.</a:t>
            </a:r>
          </a:p>
          <a:p xmlns:a="http://schemas.openxmlformats.org/drawingml/2006/main">
            <a:r>
              <a:t>
Lab resmi: https://github.com/SeedFlora/meet4CloudService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Sesi 04 teori/GSLC menyiapkan praktik lifecycle Docker. Screenshot berasal dari hasil Lab 04 di lingkungan lokal. Bedakan image dan container; stop mempertahankan objek container, rm menghapusnya. Docker Desktop/Engine yang aktif diperlukan. Video Docker ditonton bagian Container 101 1:34–8:40. Sumber Docker Docs dibuka 8 Oktober 2026.</a:t>
            </a:r>
          </a:p>
          <a:p xmlns:a="http://schemas.openxmlformats.org/drawingml/2006/main">
            <a:r>
              <a:t>Screenshot: D:\cloud services\Lab04_Docker_Siap_Push\screenshots\04_lifecycle.png</a:t>
            </a:r>
          </a:p>
          <a:p xmlns:a="http://schemas.openxmlformats.org/drawingml/2006/main">
            <a:r>
              <a:t>Repo: https://github.com/SeedFlora/meet4CloudService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Sesi 04 teori/GSLC menyiapkan praktik lifecycle Docker. Screenshot berasal dari hasil Lab 04 di lingkungan lokal. Bedakan image dan container; stop mempertahankan objek container, rm menghapusnya. Docker Desktop/Engine yang aktif diperlukan. Video Docker ditonton bagian Container 101 1:34–8:40. Sumber Docker Docs dibuka 8 Oktober 2026.</a:t>
            </a:r>
          </a:p>
          <a:p xmlns:a="http://schemas.openxmlformats.org/drawingml/2006/main">
            <a:r>
              <a:t>Video: https://www.docker.com/resources/docker-intro-and-overview-on-demand-training/</a:t>
            </a:r>
          </a:p>
          <a:p xmlns:a="http://schemas.openxmlformats.org/drawingml/2006/main">
            <a:r>
              <a:t>Artikel: https://docs.docker.com/get-started/docker-concepts/the-basics/what-is-a-container/</a:t>
            </a:r>
          </a:p>
          <a:p xmlns:a="http://schemas.openxmlformats.org/drawingml/2006/main">
            <a:r>
              <a:t>Rujukan tambahan: https://docs.docker.com/get-started/docker-concepts/running-containers/publishing-ports/</a:t>
            </a:r>
          </a:p>
          <a:p xmlns:a="http://schemas.openxmlformats.org/drawingml/2006/main">
            <a:r>
              <a:t>Repo lab: https://github.com/SeedFlora/meet4CloudService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5d3c436e8547e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d5c30431564ac2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7ff6cb63ab144dc" /><Relationship Type="http://schemas.openxmlformats.org/officeDocument/2006/relationships/slideLayout" Target="/ppt/slideLayouts/slideLayout1.xml" Id="R14db0b1b18064353" /><Relationship Type="http://schemas.openxmlformats.org/officeDocument/2006/relationships/slideLayout" Target="/ppt/slideLayouts/slideLayout2.xml" Id="Rf7b84f4e74dc43bd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4db0b1b18064353"/>
    <p:sldLayoutId xmlns:r="http://schemas.openxmlformats.org/officeDocument/2006/relationships" id="2147483650" r:id="Rf7b84f4e74dc43bd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d47d6aa834441a" /><Relationship Type="http://schemas.openxmlformats.org/officeDocument/2006/relationships/image" Target="/ppt/media/image.jpeg" Id="R4ec4a827676349a0" /><Relationship Type="http://schemas.openxmlformats.org/officeDocument/2006/relationships/image" Target="/ppt/media/image.png" Id="Ref99be3387284e01" /><Relationship Type="http://schemas.openxmlformats.org/officeDocument/2006/relationships/image" Target="/ppt/media/image2.png" Id="R6719c2fd1c214fe3" /><Relationship Type="http://schemas.openxmlformats.org/officeDocument/2006/relationships/notesSlide" Target="/ppt/notesSlides/notesSlide1.xml" Id="Rf624d5fcecf8424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1b8afa6d9048fb" /><Relationship Type="http://schemas.openxmlformats.org/officeDocument/2006/relationships/image" Target="/ppt/media/image.png" Id="R145dc38320d641f2" /><Relationship Type="http://schemas.openxmlformats.org/officeDocument/2006/relationships/image" Target="/ppt/media/image2.png" Id="Rce089b1519e348d8" /><Relationship Type="http://schemas.openxmlformats.org/officeDocument/2006/relationships/image" Target="/ppt/media/image3.png" Id="R58d002804eaa435d" /><Relationship Type="http://schemas.openxmlformats.org/officeDocument/2006/relationships/image" Target="/ppt/media/image4.png" Id="R89eff11f9a654477" /><Relationship Type="http://schemas.openxmlformats.org/officeDocument/2006/relationships/image" Target="/ppt/media/image5.png" Id="Ra765ff633de54723" /><Relationship Type="http://schemas.openxmlformats.org/officeDocument/2006/relationships/image" Target="/ppt/media/image6.png" Id="Rd47608bd98f04881" /><Relationship Type="http://schemas.openxmlformats.org/officeDocument/2006/relationships/image" Target="/ppt/media/image7.png" Id="Rc56e4617a0744291" /><Relationship Type="http://schemas.openxmlformats.org/officeDocument/2006/relationships/notesSlide" Target="/ppt/notesSlides/notesSlide2.xml" Id="Rbf63b248c9484eb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83ea4c9c47426f" /><Relationship Type="http://schemas.openxmlformats.org/officeDocument/2006/relationships/image" Target="/ppt/media/image.png" Id="R3cec773005f74ec5" /><Relationship Type="http://schemas.openxmlformats.org/officeDocument/2006/relationships/image" Target="/ppt/media/image2.png" Id="R1d8d939147554216" /><Relationship Type="http://schemas.openxmlformats.org/officeDocument/2006/relationships/image" Target="/ppt/media/image8.png" Id="R0271173b686547be" /><Relationship Type="http://schemas.openxmlformats.org/officeDocument/2006/relationships/image" Target="/ppt/media/image9.png" Id="Re978e9c37b6f41bf" /><Relationship Type="http://schemas.openxmlformats.org/officeDocument/2006/relationships/image" Target="/ppt/media/image10.png" Id="Reffbc452ce844b43" /><Relationship Type="http://schemas.openxmlformats.org/officeDocument/2006/relationships/image" Target="/ppt/media/image11.png" Id="R4ac4cbb6cce241b7" /><Relationship Type="http://schemas.openxmlformats.org/officeDocument/2006/relationships/notesSlide" Target="/ppt/notesSlides/notesSlide3.xml" Id="R48dc095935994d9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2b2bb680f4408e" /><Relationship Type="http://schemas.openxmlformats.org/officeDocument/2006/relationships/image" Target="/ppt/media/image.png" Id="Rdf28e0b6cd374c07" /><Relationship Type="http://schemas.openxmlformats.org/officeDocument/2006/relationships/image" Target="/ppt/media/image2.png" Id="Ra61f6a6a24a94705" /><Relationship Type="http://schemas.openxmlformats.org/officeDocument/2006/relationships/notesSlide" Target="/ppt/notesSlides/notesSlide4.xml" Id="Rfda1722974ee43e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2b1ff3fab04966" /><Relationship Type="http://schemas.openxmlformats.org/officeDocument/2006/relationships/image" Target="/ppt/media/image.png" Id="R545623327d414916" /><Relationship Type="http://schemas.openxmlformats.org/officeDocument/2006/relationships/image" Target="/ppt/media/image2.png" Id="Rda58388cd6ad4e19" /><Relationship Type="http://schemas.openxmlformats.org/officeDocument/2006/relationships/image" Target="/ppt/media/image12.png" Id="R12b08114e0e14cf8" /><Relationship Type="http://schemas.openxmlformats.org/officeDocument/2006/relationships/image" Target="/ppt/media/image13.png" Id="R544eb348454f4ce1" /><Relationship Type="http://schemas.openxmlformats.org/officeDocument/2006/relationships/image" Target="/ppt/media/image14.png" Id="Rd905f17e52774541" /><Relationship Type="http://schemas.openxmlformats.org/officeDocument/2006/relationships/image" Target="/ppt/media/image15.png" Id="Rad1add24009b40b8" /><Relationship Type="http://schemas.openxmlformats.org/officeDocument/2006/relationships/notesSlide" Target="/ppt/notesSlides/notesSlide5.xml" Id="R3cb10b47dd2f481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793317de464545" /><Relationship Type="http://schemas.openxmlformats.org/officeDocument/2006/relationships/image" Target="/ppt/media/image.png" Id="R0d8c7d92ac354608" /><Relationship Type="http://schemas.openxmlformats.org/officeDocument/2006/relationships/image" Target="/ppt/media/image2.png" Id="Rd7a2c85e632642bf" /><Relationship Type="http://schemas.openxmlformats.org/officeDocument/2006/relationships/notesSlide" Target="/ppt/notesSlides/notesSlide6.xml" Id="Rf17309cd7226442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7df5f7d65a4fc0" /><Relationship Type="http://schemas.openxmlformats.org/officeDocument/2006/relationships/image" Target="/ppt/media/image.png" Id="R8c46f884a1d14879" /><Relationship Type="http://schemas.openxmlformats.org/officeDocument/2006/relationships/image" Target="/ppt/media/image2.png" Id="R4ab6035b30a04067" /><Relationship Type="http://schemas.openxmlformats.org/officeDocument/2006/relationships/notesSlide" Target="/ppt/notesSlides/notesSlide7.xml" Id="R2615a063c48b401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b051f73f9b4fab" /><Relationship Type="http://schemas.openxmlformats.org/officeDocument/2006/relationships/image" Target="/ppt/media/image.png" Id="Rc1077b50e2d04a3e" /><Relationship Type="http://schemas.openxmlformats.org/officeDocument/2006/relationships/image" Target="/ppt/media/image2.png" Id="R49fb1d55050b427a" /><Relationship Type="http://schemas.openxmlformats.org/officeDocument/2006/relationships/image" Target="/ppt/media/image16.png" Id="R87bad3791d024de0" /><Relationship Type="http://schemas.openxmlformats.org/officeDocument/2006/relationships/image" Target="/ppt/media/image17.png" Id="R62418af6bf644ebb" /><Relationship Type="http://schemas.openxmlformats.org/officeDocument/2006/relationships/image" Target="/ppt/media/image8.png" Id="R94971846cff1476d" /><Relationship Type="http://schemas.openxmlformats.org/officeDocument/2006/relationships/image" Target="/ppt/media/image12.png" Id="Rba2c44e460204cab" /><Relationship Type="http://schemas.openxmlformats.org/officeDocument/2006/relationships/notesSlide" Target="/ppt/notesSlides/notesSlide8.xml" Id="R281479500c8a4bf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92c52d407f41ad" /><Relationship Type="http://schemas.openxmlformats.org/officeDocument/2006/relationships/image" Target="/ppt/media/image.png" Id="R0b1947f325b4468f" /><Relationship Type="http://schemas.openxmlformats.org/officeDocument/2006/relationships/image" Target="/ppt/media/image2.png" Id="R2ae65f8f3b2849cc" /><Relationship Type="http://schemas.openxmlformats.org/officeDocument/2006/relationships/notesSlide" Target="/ppt/notesSlides/notesSlide9.xml" Id="R9ac795c88769419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903c8926404390" /><Relationship Type="http://schemas.openxmlformats.org/officeDocument/2006/relationships/image" Target="/ppt/media/image.png" Id="Ra8a2f34eac114630" /><Relationship Type="http://schemas.openxmlformats.org/officeDocument/2006/relationships/image" Target="/ppt/media/image2.png" Id="R3802cd107b88459e" /><Relationship Type="http://schemas.openxmlformats.org/officeDocument/2006/relationships/image" Target="/ppt/media/image18.png" Id="Rfe84d5a543894909" /><Relationship Type="http://schemas.openxmlformats.org/officeDocument/2006/relationships/image" Target="/ppt/media/image19.png" Id="Rc9a807208b5047af" /><Relationship Type="http://schemas.openxmlformats.org/officeDocument/2006/relationships/image" Target="/ppt/media/image20.png" Id="R1c91fb1f7bf44555" /><Relationship Type="http://schemas.openxmlformats.org/officeDocument/2006/relationships/image" Target="/ppt/media/image21.png" Id="R97b8e0b2be9f40d8" /><Relationship Type="http://schemas.openxmlformats.org/officeDocument/2006/relationships/notesSlide" Target="/ppt/notesSlides/notesSlide10.xml" Id="R776a78aee85f416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c4dfbcaa324a26" /><Relationship Type="http://schemas.openxmlformats.org/officeDocument/2006/relationships/image" Target="/ppt/media/image.png" Id="R035cd8d2151044f4" /><Relationship Type="http://schemas.openxmlformats.org/officeDocument/2006/relationships/image" Target="/ppt/media/image2.png" Id="R5bfb3f6df6364a85" /><Relationship Type="http://schemas.openxmlformats.org/officeDocument/2006/relationships/notesSlide" Target="/ppt/notesSlides/notesSlide11.xml" Id="R5f6d62aaaf3945a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c02d78d2974de1" /><Relationship Type="http://schemas.openxmlformats.org/officeDocument/2006/relationships/image" Target="/ppt/media/image.png" Id="R1d1b57ab0ecf4bb1" /><Relationship Type="http://schemas.openxmlformats.org/officeDocument/2006/relationships/image" Target="/ppt/media/image2.png" Id="Ra8b6fec001c94db7" /><Relationship Type="http://schemas.openxmlformats.org/officeDocument/2006/relationships/image" Target="/ppt/media/image22.png" Id="R4688e5df82414413" /><Relationship Type="http://schemas.openxmlformats.org/officeDocument/2006/relationships/image" Target="/ppt/media/image15.png" Id="R39d71865e8674f9d" /><Relationship Type="http://schemas.openxmlformats.org/officeDocument/2006/relationships/image" Target="/ppt/media/image12.png" Id="Rb2105a528ec346c6" /><Relationship Type="http://schemas.openxmlformats.org/officeDocument/2006/relationships/image" Target="/ppt/media/image11.png" Id="R664f2681723c4cd7" /><Relationship Type="http://schemas.openxmlformats.org/officeDocument/2006/relationships/image" Target="/ppt/media/image13.png" Id="R98236942fee44139" /><Relationship Type="http://schemas.openxmlformats.org/officeDocument/2006/relationships/notesSlide" Target="/ppt/notesSlides/notesSlide12.xml" Id="R1ad52ce0cfe2480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acac026a0d41d5" /><Relationship Type="http://schemas.openxmlformats.org/officeDocument/2006/relationships/image" Target="/ppt/media/image.png" Id="R84e70ab3aebf451d" /><Relationship Type="http://schemas.openxmlformats.org/officeDocument/2006/relationships/image" Target="/ppt/media/image2.png" Id="Redeae911032d47c1" /><Relationship Type="http://schemas.openxmlformats.org/officeDocument/2006/relationships/notesSlide" Target="/ppt/notesSlides/notesSlide13.xml" Id="Rfb792df4e8e94a8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326090c8c64697" /><Relationship Type="http://schemas.openxmlformats.org/officeDocument/2006/relationships/image" Target="/ppt/media/image.png" Id="R457ac39499524a06" /><Relationship Type="http://schemas.openxmlformats.org/officeDocument/2006/relationships/image" Target="/ppt/media/image2.png" Id="R60b050932cd749c4" /><Relationship Type="http://schemas.openxmlformats.org/officeDocument/2006/relationships/notesSlide" Target="/ppt/notesSlides/notesSlide14.xml" Id="R1f6bdd3f389f409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fe966319024799" /><Relationship Type="http://schemas.openxmlformats.org/officeDocument/2006/relationships/image" Target="/ppt/media/image.png" Id="Rf315a130f02c4a39" /><Relationship Type="http://schemas.openxmlformats.org/officeDocument/2006/relationships/image" Target="/ppt/media/image2.png" Id="R0bbf8b89a130473d" /><Relationship Type="http://schemas.openxmlformats.org/officeDocument/2006/relationships/image" Target="/ppt/media/image16.png" Id="R6baa09e045aa40bb" /><Relationship Type="http://schemas.openxmlformats.org/officeDocument/2006/relationships/image" Target="/ppt/media/image23.png" Id="R7080f82151fb4f13" /><Relationship Type="http://schemas.openxmlformats.org/officeDocument/2006/relationships/image" Target="/ppt/media/image24.png" Id="R371a7648e7e44c36" /><Relationship Type="http://schemas.openxmlformats.org/officeDocument/2006/relationships/image" Target="/ppt/media/image3.png" Id="Reef9426b149949b6" /><Relationship Type="http://schemas.openxmlformats.org/officeDocument/2006/relationships/notesSlide" Target="/ppt/notesSlides/notesSlide15.xml" Id="Rcbf7212b678745e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7f52ae34a84203" /><Relationship Type="http://schemas.openxmlformats.org/officeDocument/2006/relationships/image" Target="/ppt/media/image.png" Id="R9f0222812b2c4084" /><Relationship Type="http://schemas.openxmlformats.org/officeDocument/2006/relationships/image" Target="/ppt/media/image2.png" Id="R79fb00c05d564211" /><Relationship Type="http://schemas.openxmlformats.org/officeDocument/2006/relationships/image" Target="/ppt/media/image10.png" Id="R2082c99c07f14a8b" /><Relationship Type="http://schemas.openxmlformats.org/officeDocument/2006/relationships/image" Target="/ppt/media/image25.png" Id="R6b30bb79f7da456e" /><Relationship Type="http://schemas.openxmlformats.org/officeDocument/2006/relationships/image" Target="/ppt/media/image26.png" Id="R99b411b8cc654a6a" /><Relationship Type="http://schemas.openxmlformats.org/officeDocument/2006/relationships/image" Target="/ppt/media/image27.png" Id="R7d4cf63c20764ae1" /><Relationship Type="http://schemas.openxmlformats.org/officeDocument/2006/relationships/notesSlide" Target="/ppt/notesSlides/notesSlide16.xml" Id="Rb44a5166dc2540a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5160ec2fbf4b7b" /><Relationship Type="http://schemas.openxmlformats.org/officeDocument/2006/relationships/image" Target="/ppt/media/image.png" Id="Rae6434a506cc404e" /><Relationship Type="http://schemas.openxmlformats.org/officeDocument/2006/relationships/image" Target="/ppt/media/image2.png" Id="R3baad02dfe3f4900" /><Relationship Type="http://schemas.openxmlformats.org/officeDocument/2006/relationships/notesSlide" Target="/ppt/notesSlides/notesSlide17.xml" Id="R91ce941d44ad435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27b2afbc4b41d2" /><Relationship Type="http://schemas.openxmlformats.org/officeDocument/2006/relationships/image" Target="/ppt/media/image.png" Id="Rc2878fe1193d4219" /><Relationship Type="http://schemas.openxmlformats.org/officeDocument/2006/relationships/image" Target="/ppt/media/image2.png" Id="Rbac19aee43f844de" /><Relationship Type="http://schemas.openxmlformats.org/officeDocument/2006/relationships/image" Target="/ppt/media/image28.png" Id="R46069164256d4a44" /><Relationship Type="http://schemas.openxmlformats.org/officeDocument/2006/relationships/image" Target="/ppt/media/image29.png" Id="R7f4a1d2d65684f25" /><Relationship Type="http://schemas.openxmlformats.org/officeDocument/2006/relationships/image" Target="/ppt/media/image30.png" Id="R26217f923bd74088" /><Relationship Type="http://schemas.openxmlformats.org/officeDocument/2006/relationships/image" Target="/ppt/media/image11.png" Id="Rad7d33838bc54fbd" /><Relationship Type="http://schemas.openxmlformats.org/officeDocument/2006/relationships/image" Target="/ppt/media/image31.png" Id="Ra86647a7dd614705" /><Relationship Type="http://schemas.openxmlformats.org/officeDocument/2006/relationships/notesSlide" Target="/ppt/notesSlides/notesSlide18.xml" Id="Rc4c2b8779c17483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8ce71336ad429b" /><Relationship Type="http://schemas.openxmlformats.org/officeDocument/2006/relationships/image" Target="/ppt/media/image.png" Id="Rb31128b61e844439" /><Relationship Type="http://schemas.openxmlformats.org/officeDocument/2006/relationships/image" Target="/ppt/media/image2.png" Id="R3713afabaffb4c91" /><Relationship Type="http://schemas.openxmlformats.org/officeDocument/2006/relationships/image" Target="/ppt/media/image32.png" Id="Rba460f0eeff64a1c" /><Relationship Type="http://schemas.openxmlformats.org/officeDocument/2006/relationships/image" Target="/ppt/media/image22.png" Id="R49f2fe9a718e4ff9" /><Relationship Type="http://schemas.openxmlformats.org/officeDocument/2006/relationships/notesSlide" Target="/ppt/notesSlides/notesSlide19.xml" Id="Rb0c38aa2a604488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453979f3c641ff" /><Relationship Type="http://schemas.openxmlformats.org/officeDocument/2006/relationships/image" Target="/ppt/media/image.png" Id="R7ac2b74b8fdf4563" /><Relationship Type="http://schemas.openxmlformats.org/officeDocument/2006/relationships/image" Target="/ppt/media/image2.png" Id="R45df82d806e34c07" /><Relationship Type="http://schemas.openxmlformats.org/officeDocument/2006/relationships/notesSlide" Target="/ppt/notesSlides/notesSlide20.xml" Id="Rcc3215883062459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85049837624bdd" /><Relationship Type="http://schemas.openxmlformats.org/officeDocument/2006/relationships/image" Target="/ppt/media/image.png" Id="Ra48c3c278818469d" /><Relationship Type="http://schemas.openxmlformats.org/officeDocument/2006/relationships/image" Target="/ppt/media/image2.png" Id="R088da1f8b4ac4499" /><Relationship Type="http://schemas.openxmlformats.org/officeDocument/2006/relationships/notesSlide" Target="/ppt/notesSlides/notesSlide21.xml" Id="Rcc26c9ac0e85418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8394a0689b4987" /><Relationship Type="http://schemas.openxmlformats.org/officeDocument/2006/relationships/image" Target="/ppt/media/image.png" Id="R9c3e87eff3e64416" /><Relationship Type="http://schemas.openxmlformats.org/officeDocument/2006/relationships/image" Target="/ppt/media/image2.png" Id="R6114e8a30e324796" /><Relationship Type="http://schemas.openxmlformats.org/officeDocument/2006/relationships/notesSlide" Target="/ppt/notesSlides/notesSlide22.xml" Id="R9f5be8f32e0f412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bfbb6f8dff4391" /><Relationship Type="http://schemas.openxmlformats.org/officeDocument/2006/relationships/image" Target="/ppt/media/image.png" Id="Rda506776978245bf" /><Relationship Type="http://schemas.openxmlformats.org/officeDocument/2006/relationships/image" Target="/ppt/media/image2.png" Id="Rbac84e1fe2c24016" /><Relationship Type="http://schemas.openxmlformats.org/officeDocument/2006/relationships/notesSlide" Target="/ppt/notesSlides/notesSlide23.xml" Id="Rb5532437573c400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204d5391e04b27" /><Relationship Type="http://schemas.openxmlformats.org/officeDocument/2006/relationships/image" Target="/ppt/media/image.png" Id="Rce6b80c07eff4c44" /><Relationship Type="http://schemas.openxmlformats.org/officeDocument/2006/relationships/image" Target="/ppt/media/image2.png" Id="R2a6382caceb04188" /><Relationship Type="http://schemas.openxmlformats.org/officeDocument/2006/relationships/notesSlide" Target="/ppt/notesSlides/notesSlide24.xml" Id="R1fc2d91da7be4414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03d5d16e244fd4" /><Relationship Type="http://schemas.openxmlformats.org/officeDocument/2006/relationships/image" Target="/ppt/media/image.png" Id="Rd65ecb24ae824a1d" /><Relationship Type="http://schemas.openxmlformats.org/officeDocument/2006/relationships/image" Target="/ppt/media/image2.png" Id="R2a07f18c972c4a42" /><Relationship Type="http://schemas.openxmlformats.org/officeDocument/2006/relationships/image" Target="/ppt/media/image12.png" Id="Rc507707a1b9248ab" /><Relationship Type="http://schemas.openxmlformats.org/officeDocument/2006/relationships/image" Target="/ppt/media/image15.png" Id="Rc375ce85d3754038" /><Relationship Type="http://schemas.openxmlformats.org/officeDocument/2006/relationships/image" Target="/ppt/media/image11.png" Id="Re4492abe6ac34862" /><Relationship Type="http://schemas.openxmlformats.org/officeDocument/2006/relationships/image" Target="/ppt/media/image33.png" Id="Rbafeec8a14024e04" /><Relationship Type="http://schemas.openxmlformats.org/officeDocument/2006/relationships/notesSlide" Target="/ppt/notesSlides/notesSlide25.xml" Id="Rcb1049220b9647d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1c9774254f4607" /><Relationship Type="http://schemas.openxmlformats.org/officeDocument/2006/relationships/image" Target="/ppt/media/image.png" Id="R6d3ec52a333040ae" /><Relationship Type="http://schemas.openxmlformats.org/officeDocument/2006/relationships/image" Target="/ppt/media/image2.png" Id="R301cea4914604c1d" /><Relationship Type="http://schemas.openxmlformats.org/officeDocument/2006/relationships/image" Target="/ppt/media/image13.png" Id="R25593f72b88f4899" /><Relationship Type="http://schemas.openxmlformats.org/officeDocument/2006/relationships/notesSlide" Target="/ppt/notesSlides/notesSlide26.xml" Id="R36596698ad9f43cc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e749919a734ac4" /><Relationship Type="http://schemas.openxmlformats.org/officeDocument/2006/relationships/image" Target="/ppt/media/image.png" Id="R709c52ea080c4b86" /><Relationship Type="http://schemas.openxmlformats.org/officeDocument/2006/relationships/image" Target="/ppt/media/image2.png" Id="R86f8bb7854c34e02" /><Relationship Type="http://schemas.openxmlformats.org/officeDocument/2006/relationships/notesSlide" Target="/ppt/notesSlides/notesSlide27.xml" Id="R43d499ce671f475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c2ddc380894a31" /><Relationship Type="http://schemas.openxmlformats.org/officeDocument/2006/relationships/image" Target="/ppt/media/image.png" Id="R76b1584abbf54ee4" /><Relationship Type="http://schemas.openxmlformats.org/officeDocument/2006/relationships/image" Target="/ppt/media/image2.png" Id="Ra555edc30c204f69" /><Relationship Type="http://schemas.openxmlformats.org/officeDocument/2006/relationships/image" Target="/ppt/media/image34.png" Id="R5a5abee50c8148ce" /><Relationship Type="http://schemas.openxmlformats.org/officeDocument/2006/relationships/image" Target="/ppt/media/image20.png" Id="Ref547511c9b24477" /><Relationship Type="http://schemas.openxmlformats.org/officeDocument/2006/relationships/image" Target="/ppt/media/image22.png" Id="R75a0796f3157430e" /><Relationship Type="http://schemas.openxmlformats.org/officeDocument/2006/relationships/notesSlide" Target="/ppt/notesSlides/notesSlide28.xml" Id="R4a217b8386ee4489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cb43bff87644f9" /><Relationship Type="http://schemas.openxmlformats.org/officeDocument/2006/relationships/image" Target="/ppt/media/image.png" Id="Re67a5e06f6e94b02" /><Relationship Type="http://schemas.openxmlformats.org/officeDocument/2006/relationships/image" Target="/ppt/media/image2.png" Id="Re1534a527fee408c" /><Relationship Type="http://schemas.openxmlformats.org/officeDocument/2006/relationships/notesSlide" Target="/ppt/notesSlides/notesSlide29.xml" Id="R9c41342119d148a2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100f649b674117" /><Relationship Type="http://schemas.openxmlformats.org/officeDocument/2006/relationships/image" Target="/ppt/media/image.png" Id="Ra327cc40d0a1436d" /><Relationship Type="http://schemas.openxmlformats.org/officeDocument/2006/relationships/image" Target="/ppt/media/image2.png" Id="R43dbabe7e75e47f3" /><Relationship Type="http://schemas.openxmlformats.org/officeDocument/2006/relationships/notesSlide" Target="/ppt/notesSlides/notesSlide30.xml" Id="R26c690db4fcf44e0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ea52f06c8f4c04" /><Relationship Type="http://schemas.openxmlformats.org/officeDocument/2006/relationships/image" Target="/ppt/media/image.png" Id="R1a5f88b075814dee" /><Relationship Type="http://schemas.openxmlformats.org/officeDocument/2006/relationships/image" Target="/ppt/media/image2.png" Id="R9b6f6bf0fd5e440d" /><Relationship Type="http://schemas.openxmlformats.org/officeDocument/2006/relationships/image" Target="/ppt/media/image35.png" Id="R2c6074c9b0ff4e5f" /><Relationship Type="http://schemas.openxmlformats.org/officeDocument/2006/relationships/image" Target="/ppt/media/image36.png" Id="R54f281144fae4444" /><Relationship Type="http://schemas.openxmlformats.org/officeDocument/2006/relationships/image" Target="/ppt/media/image37.png" Id="Ra66a7c26e1fa400d" /><Relationship Type="http://schemas.openxmlformats.org/officeDocument/2006/relationships/notesSlide" Target="/ppt/notesSlides/notesSlide31.xml" Id="Re10c1b3b16ae4e7d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80c409e6cd4e80" /><Relationship Type="http://schemas.openxmlformats.org/officeDocument/2006/relationships/notesSlide" Target="/ppt/notesSlides/notesSlide32.xml" Id="R93b3c24a104b477e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c2b97b5fae4a0a" /><Relationship Type="http://schemas.openxmlformats.org/officeDocument/2006/relationships/image" Target="/ppt/media/image38.png" Id="R2c9e602adf22478b" /><Relationship Type="http://schemas.openxmlformats.org/officeDocument/2006/relationships/notesSlide" Target="/ppt/notesSlides/notesSlide33.xml" Id="Rba3aac22ff944e3a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615556ec2e4df9" /><Relationship Type="http://schemas.openxmlformats.org/officeDocument/2006/relationships/hyperlink" Target="https://www.docker.com/resources/docker-intro-and-overview-on-demand-training/" TargetMode="External" Id="R9ae90c2eef8941e5" /><Relationship Type="http://schemas.openxmlformats.org/officeDocument/2006/relationships/hyperlink" Target="https://docs.docker.com/get-started/docker-concepts/the-basics/what-is-a-container/" TargetMode="External" Id="R409568d896d84fef" /><Relationship Type="http://schemas.openxmlformats.org/officeDocument/2006/relationships/hyperlink" Target="https://docs.docker.com/get-started/docker-concepts/running-containers/publishing-ports/" TargetMode="External" Id="Rdf2413e8e7944a98" /><Relationship Type="http://schemas.openxmlformats.org/officeDocument/2006/relationships/hyperlink" Target="https://github.com/SeedFlora/meet4CloudService" TargetMode="External" Id="Rd0cc019e7e0f4fba" /><Relationship Type="http://schemas.openxmlformats.org/officeDocument/2006/relationships/notesSlide" Target="/ppt/notesSlides/notesSlide34.xml" Id="R915f55a80abb4577" 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4ec4a827676349a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99be3387284e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19c2fd1c214f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0CD56043-5F9A-4EEB-B1C0-52F990894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4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COMP6991031   |   2 SKS</a:t>
            </a:r>
            <a:endParaRPr sz="14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723EF4A2-0378-4754-A7FC-CBCE31175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0"/>
            <a:ext cx="1124712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VIRTUALISASI &amp; CONTAINER</a:t>
            </a:r>
            <a:endParaRPr sz="48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2E3EC975-F559-4F9A-98B8-13CB81C59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11247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VM, Hypervisor, Docker, Image Layer</a:t>
            </a:r>
            <a:endParaRPr sz="2400"/>
          </a:p>
        </p:txBody>
      </p:sp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C3B76394-C722-4949-85B0-EAD055BB3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5720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ECCAF72-FF7C-44B1-8BC4-50BC672EC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 spc="3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PERTEMUAN 4  |  100 MENIT</a:t>
            </a:r>
            <a:endParaRPr sz="1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B3EDCCD0-9C2F-4D69-8EF5-59A18A6BC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Budi Juarto, S.T., M.Kom.</a:t>
            </a:r>
            <a:endParaRPr sz="13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E4A7A85B-76E5-425D-8FF2-28594AA28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1792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Departemen Informatika  -  BINUS @Bandung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99751835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480AF57-0125-45B7-B237-17F9A9B37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4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85A8795-7289-4836-8B5D-8EAB9243F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4BC4B0-BC82-4BD6-B1A0-28DDCD51F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5dc38320d641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089b1519e348d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9F0FF18-063F-4B25-B3DF-7CE0BF173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D770590C-14CC-4D7D-9B98-82075D9D8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Recap Pertemuan 3 &amp; Agenda Hari Ini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BDF80C4C-4888-4D72-B7C2-8DEC911E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Dari networking ke isolasi proses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2CE7076D-0DC4-4FF3-B567-386D3769E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2AFFAE78-3BF4-4C49-8A6D-EBD4907BD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DI PERTEMUAN 3, KITA SUDAH: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Networking &amp; Web</a:t>
            </a:r>
            <a:endParaRPr sz="1100"/>
          </a:p>
        </p:txBody>
      </p:sp>
      <p:pic>
        <p:nvPicPr>
          <p:cNvPr id="43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d002804eaa43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5B485C39-F13D-4028-A058-3D88C07D0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60604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TCP/IP 4-layer, IP + port concept</a:t>
            </a:r>
            <a:endParaRPr sz="1200"/>
          </a:p>
        </p:txBody>
      </p:sp>
      <p:pic>
        <p:nvPicPr>
          <p:cNvPr id="4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eff11f9a6544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33756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30372194-5900-4DE2-B396-53B390AA2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24612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HTTP methods, status codes (2xx/4xx/5xx)</a:t>
            </a:r>
            <a:endParaRPr sz="1200"/>
          </a:p>
        </p:txBody>
      </p:sp>
      <p:pic>
        <p:nvPicPr>
          <p:cNvPr id="47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65ff633de547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97764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F6009383-A0CE-4F90-9CC9-27EBDFE63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88620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DNS resolution + record types (A, CNAME, MX)</a:t>
            </a:r>
            <a:endParaRPr sz="1200"/>
          </a:p>
        </p:txBody>
      </p:sp>
      <p:pic>
        <p:nvPicPr>
          <p:cNvPr id="49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7608bd98f048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6177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FAFCAA5D-CFF3-45B8-AD51-8194DE971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52628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Nginx reverse proxy + HTTPS dengan certbot</a:t>
            </a:r>
            <a:endParaRPr sz="1200"/>
          </a:p>
        </p:txBody>
      </p:sp>
      <p:pic>
        <p:nvPicPr>
          <p:cNvPr id="51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6e4617a07442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5780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753C0858-DFCD-446B-B043-641283618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16636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SSH tunneling (-L, -R, -D) untuk akses private</a:t>
            </a:r>
            <a:endParaRPr sz="1200"/>
          </a:p>
        </p:txBody>
      </p:sp>
      <p:sp>
        <p:nvSpPr>
          <p:cNvPr id="22" name="Shape 13">
            <a:extLst xmlns:a="http://schemas.openxmlformats.org/drawingml/2006/main">
              <a:ext uri="{FF2B5EF4-FFF2-40B4-BE49-F238E27FC236}">
                <a16:creationId xmlns:a16="http://schemas.microsoft.com/office/drawing/2014/main" id="{12C26C93-ADE7-4113-9873-C64E23506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3" name="Text 14">
            <a:extLst xmlns:a="http://schemas.openxmlformats.org/drawingml/2006/main">
              <a:ext uri="{FF2B5EF4-FFF2-40B4-BE49-F238E27FC236}">
                <a16:creationId xmlns:a16="http://schemas.microsoft.com/office/drawing/2014/main" id="{7B276123-DF87-42AB-A40D-EFBDB639E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HARI INI, KITA AKAN: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Virt + Container</a:t>
            </a:r>
            <a:endParaRPr sz="1100"/>
          </a:p>
        </p:txBody>
      </p:sp>
      <p:sp>
        <p:nvSpPr>
          <p:cNvPr id="24" name="Text 15">
            <a:extLst xmlns:a="http://schemas.openxmlformats.org/drawingml/2006/main">
              <a:ext uri="{FF2B5EF4-FFF2-40B4-BE49-F238E27FC236}">
                <a16:creationId xmlns:a16="http://schemas.microsoft.com/office/drawing/2014/main" id="{FE957FE9-37B7-4048-A4E3-3B8B0F5E4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3383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1. Kenapa butuh virtualisasi (cost, isolasi)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Virtual Machine + Hypervisor (Type 1 vs 2)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3. Container &amp; primitif Linux (namespace, cgroup)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4. VM vs Container - kapan pakai apa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5. Docker architecture + workflow dasar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6. Image, layer, dan persistent storage</a:t>
            </a:r>
            <a:endParaRPr sz="1200"/>
          </a:p>
        </p:txBody>
      </p:sp>
      <p:sp>
        <p:nvSpPr>
          <p:cNvPr id="25" name="Text 16">
            <a:extLst xmlns:a="http://schemas.openxmlformats.org/drawingml/2006/main">
              <a:ext uri="{FF2B5EF4-FFF2-40B4-BE49-F238E27FC236}">
                <a16:creationId xmlns:a16="http://schemas.microsoft.com/office/drawing/2014/main" id="{34F9B57B-2E39-431A-91C1-891D529C5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Praktikum 3 (</a:t>
            </a:r>
            <a:r>
              <a:rPr sz="1100" b="1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Docker basics: pull, run, build</a:t>
            </a:r>
            <a:r>
              <a:rPr sz="11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) jalan setelah sesi ini.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212836220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518746B-6EB2-4BAC-88D0-50119A49F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4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60F9741-EFD3-4F18-84BB-78F53043F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ECB76B8-731B-4504-AB45-9212E325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ec773005f74e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8d9391475542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CB681A8E-5A7B-4AC2-96BC-8B9D94C1D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81EE8A6-925B-4CBF-933C-A34D1543F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Learning Outcomes - Pertemuan 4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B1B3BB4D-5F79-41FA-9C40-CD72804C6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Capaian Sesi Hari Ini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BA8F3770-C505-4E01-9BA7-5EC53217B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697480" cy="4480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26AFAA22-30B2-4673-B09F-83F34B461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695CC579-1CFB-45F5-B56C-3764B065A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8BF3C0EC-DA09-4D15-B172-8B47A54EF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2200"/>
          </a:p>
        </p:txBody>
      </p:sp>
      <p:pic>
        <p:nvPicPr>
          <p:cNvPr id="5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71173b686547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86000" y="182880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B4969AB7-B5B8-466D-A806-C12858A33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06040"/>
            <a:ext cx="2331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Membedakan</a:t>
            </a:r>
            <a:endParaRPr sz="18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6952C079-D191-4AF1-A794-3C76DAEB1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54680"/>
            <a:ext cx="2331720" cy="2560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virtualisasi level hardware (VM) vs OS-level (container) dengan trade-off masing-masing.</a:t>
            </a:r>
            <a:endParaRPr sz="1200"/>
          </a:p>
        </p:txBody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C874E443-56C1-4030-8450-754D48C7A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1417320"/>
            <a:ext cx="2697480" cy="4480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Shape 13">
            <a:extLst xmlns:a="http://schemas.openxmlformats.org/drawingml/2006/main">
              <a:ext uri="{FF2B5EF4-FFF2-40B4-BE49-F238E27FC236}">
                <a16:creationId xmlns:a16="http://schemas.microsoft.com/office/drawing/2014/main" id="{29C676F3-36F2-4880-8748-48608FB86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141732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FB93F80F-BDF7-427C-A32C-7AC19932F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178308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8F0DC653-90A3-4A24-9F10-4855DE899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178308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2200"/>
          </a:p>
        </p:txBody>
      </p:sp>
      <p:pic>
        <p:nvPicPr>
          <p:cNvPr id="64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78e9c37b6f41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8072" y="182880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118C615B-8885-4A9A-AFAE-9C07FC0D7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2606040"/>
            <a:ext cx="2331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Menjelaskan</a:t>
            </a:r>
            <a:endParaRPr sz="1800"/>
          </a:p>
        </p:txBody>
      </p:sp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E5CC8BE6-E53D-498E-A685-F41AC26BE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3154680"/>
            <a:ext cx="2331720" cy="2560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primitif Linux (namespace + cgroup) yang membuat container possible.</a:t>
            </a:r>
            <a:endParaRPr sz="1200"/>
          </a:p>
        </p:txBody>
      </p:sp>
      <p:sp>
        <p:nvSpPr>
          <p:cNvPr id="24" name="Shape 18">
            <a:extLst xmlns:a="http://schemas.openxmlformats.org/drawingml/2006/main">
              <a:ext uri="{FF2B5EF4-FFF2-40B4-BE49-F238E27FC236}">
                <a16:creationId xmlns:a16="http://schemas.microsoft.com/office/drawing/2014/main" id="{36750E32-EC0A-4593-AE47-3610CB98B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417320"/>
            <a:ext cx="2697480" cy="4480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Shape 19">
            <a:extLst xmlns:a="http://schemas.openxmlformats.org/drawingml/2006/main">
              <a:ext uri="{FF2B5EF4-FFF2-40B4-BE49-F238E27FC236}">
                <a16:creationId xmlns:a16="http://schemas.microsoft.com/office/drawing/2014/main" id="{6BFAF543-D541-49BC-9180-E39D7A817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41732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6" name="Shape 20">
            <a:extLst xmlns:a="http://schemas.openxmlformats.org/drawingml/2006/main">
              <a:ext uri="{FF2B5EF4-FFF2-40B4-BE49-F238E27FC236}">
                <a16:creationId xmlns:a16="http://schemas.microsoft.com/office/drawing/2014/main" id="{EBA5993B-FE36-4E67-95B1-DC0FF54EC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178308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93380132-CC72-407E-833C-7BB19CC2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178308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2200"/>
          </a:p>
        </p:txBody>
      </p:sp>
      <p:pic>
        <p:nvPicPr>
          <p:cNvPr id="71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fbc452ce844b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10144" y="182880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29" name="Text 22">
            <a:extLst xmlns:a="http://schemas.openxmlformats.org/drawingml/2006/main">
              <a:ext uri="{FF2B5EF4-FFF2-40B4-BE49-F238E27FC236}">
                <a16:creationId xmlns:a16="http://schemas.microsoft.com/office/drawing/2014/main" id="{AB619B09-3D60-45D7-8903-392BBAAAC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2606040"/>
            <a:ext cx="2331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Mengoperasikan</a:t>
            </a:r>
            <a:endParaRPr sz="1800"/>
          </a:p>
        </p:txBody>
      </p:sp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B0DEC605-893E-4A03-A2F8-7D46CF001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3154680"/>
            <a:ext cx="2331720" cy="2560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Docker daemon: pull image, run container, exec, logs, stop, rm.</a:t>
            </a:r>
            <a:endParaRPr sz="1200"/>
          </a:p>
        </p:txBody>
      </p:sp>
      <p:sp>
        <p:nvSpPr>
          <p:cNvPr id="31" name="Shape 24">
            <a:extLst xmlns:a="http://schemas.openxmlformats.org/drawingml/2006/main">
              <a:ext uri="{FF2B5EF4-FFF2-40B4-BE49-F238E27FC236}">
                <a16:creationId xmlns:a16="http://schemas.microsoft.com/office/drawing/2014/main" id="{9EB8D263-71F6-42B0-B49B-9B7288597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1417320"/>
            <a:ext cx="2697480" cy="4480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Shape 25">
            <a:extLst xmlns:a="http://schemas.openxmlformats.org/drawingml/2006/main">
              <a:ext uri="{FF2B5EF4-FFF2-40B4-BE49-F238E27FC236}">
                <a16:creationId xmlns:a16="http://schemas.microsoft.com/office/drawing/2014/main" id="{E4E367BF-E977-4097-ACD0-36DAE9783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141732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3" name="Shape 26">
            <a:extLst xmlns:a="http://schemas.openxmlformats.org/drawingml/2006/main">
              <a:ext uri="{FF2B5EF4-FFF2-40B4-BE49-F238E27FC236}">
                <a16:creationId xmlns:a16="http://schemas.microsoft.com/office/drawing/2014/main" id="{9B7C58B4-758E-4897-9739-FECBC0240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6" y="178308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34" name="Text 27">
            <a:extLst xmlns:a="http://schemas.openxmlformats.org/drawingml/2006/main">
              <a:ext uri="{FF2B5EF4-FFF2-40B4-BE49-F238E27FC236}">
                <a16:creationId xmlns:a16="http://schemas.microsoft.com/office/drawing/2014/main" id="{8CA0A65C-2609-466D-A8C3-D3908B01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6" y="178308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sz="2200"/>
          </a:p>
        </p:txBody>
      </p:sp>
      <p:pic>
        <p:nvPicPr>
          <p:cNvPr id="78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c4cbb6cce241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72216" y="182880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36" name="Text 28">
            <a:extLst xmlns:a="http://schemas.openxmlformats.org/drawingml/2006/main">
              <a:ext uri="{FF2B5EF4-FFF2-40B4-BE49-F238E27FC236}">
                <a16:creationId xmlns:a16="http://schemas.microsoft.com/office/drawing/2014/main" id="{D914976D-3476-41B1-9520-BA42E7F09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606040"/>
            <a:ext cx="2331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Memahami</a:t>
            </a:r>
            <a:endParaRPr sz="1800"/>
          </a:p>
        </p:txBody>
      </p:sp>
      <p:sp>
        <p:nvSpPr>
          <p:cNvPr id="37" name="Text 29">
            <a:extLst xmlns:a="http://schemas.openxmlformats.org/drawingml/2006/main">
              <a:ext uri="{FF2B5EF4-FFF2-40B4-BE49-F238E27FC236}">
                <a16:creationId xmlns:a16="http://schemas.microsoft.com/office/drawing/2014/main" id="{BFFDD637-050F-4041-8633-4EF26FFB8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154680"/>
            <a:ext cx="2331720" cy="2560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konsep image layer + persistent storage dengan volume.</a:t>
            </a:r>
            <a:endParaRPr sz="1200"/>
          </a:p>
        </p:txBody>
      </p:sp>
      <p:sp>
        <p:nvSpPr>
          <p:cNvPr id="38" name="Text 30">
            <a:extLst xmlns:a="http://schemas.openxmlformats.org/drawingml/2006/main">
              <a:ext uri="{FF2B5EF4-FFF2-40B4-BE49-F238E27FC236}">
                <a16:creationId xmlns:a16="http://schemas.microsoft.com/office/drawing/2014/main" id="{34A44645-23A9-4CFC-AD1D-A32F7E063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350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Sesi ini mendukung:  </a:t>
            </a:r>
            <a:r>
              <a:rPr sz="1100" b="1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LO2 (Apply – Docker fondasi untuk implementasi cloud-native)  +  LO1 (Analyze – pilih VM vs container)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6748072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0031474-6159-4C9F-AD90-AE5DA123A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F6C43BF-EB1C-4179-B8ED-9BB6E0E87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3610F83-1F20-47E3-BA94-A191AA334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A140DF4-5AF0-4536-B394-C78FB1643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CA43941-2ACA-4261-8A43-BF59DCF91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AABC27C-E218-48D0-9537-D47DCEAD2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0351A960-4810-481B-BEE6-6B861B946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28e0b6cd374c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1f6a6a24a947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7B0A0073-0BC4-4B4A-8404-98008CF81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01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FA69A7E6-C037-413F-977A-E7E16C895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Kenapa Butuh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Virtualisasi?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49061396-E526-4FA6-9459-3006833A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08D1C620-631F-4E1B-AF00-49B4DDD24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Masalah bare-metal: cost, isolasi, dan utilisasi resource.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4301282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3650481-3A40-4384-B1DC-24370BE14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4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E18EFA6-BDCB-4211-B678-A9981BDD9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207949C-FF12-40A9-82E8-CB9320BC5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5623327d4149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58388cd6ad4e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60FB719B-F4F5-4CA0-B75B-C68B1E4E6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09C020A-BE80-4C0E-B853-C48E3B1A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Masalah Bare-Metal Server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2F67528-2496-49BD-8086-D772A150B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Kenapa industri pindah dari 'satu server satu app'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9B734A5-D32E-4F0E-A854-FC2A71473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657600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5A74D83C-0EE8-4F2E-B6E9-69E513C6D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65760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pic>
        <p:nvPicPr>
          <p:cNvPr id="46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b08114e0e14cf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20240" y="1783080"/>
            <a:ext cx="731520" cy="73152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EC2991D9-49BF-40F0-A9B1-1A071BBE8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06040"/>
            <a:ext cx="3657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Resource Boros</a:t>
            </a:r>
            <a:endParaRPr sz="160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221169DC-0883-40D2-9EC2-7F42C2737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17520"/>
            <a:ext cx="32918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Pada pola satu aplikasi per server, sebagian resource fisik sering menganggur.</a:t>
            </a:r>
            <a:endParaRPr sz="1100"/>
          </a:p>
        </p:txBody>
      </p:sp>
      <p:sp>
        <p:nvSpPr>
          <p:cNvPr id="15" name="Shape 10">
            <a:extLst xmlns:a="http://schemas.openxmlformats.org/drawingml/2006/main">
              <a:ext uri="{FF2B5EF4-FFF2-40B4-BE49-F238E27FC236}">
                <a16:creationId xmlns:a16="http://schemas.microsoft.com/office/drawing/2014/main" id="{AB8DAEC9-DC14-4ECC-8B61-2A501D797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657600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A016DE09-B8BE-4BC3-8673-BA9C1E6BA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65760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pic>
        <p:nvPicPr>
          <p:cNvPr id="51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4eb348454f4c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760720" y="1783080"/>
            <a:ext cx="731520" cy="731520"/>
          </a:xfrm>
          <a:prstGeom xmlns:a="http://schemas.openxmlformats.org/drawingml/2006/main" prst="rect">
            <a:avLst/>
          </a:prstGeom>
        </p:spPr>
      </p:pic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8842B892-49AF-47E7-BC27-E5FAE68B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606040"/>
            <a:ext cx="3657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Konflik Dependency</a:t>
            </a:r>
            <a:endParaRPr sz="1600"/>
          </a:p>
        </p:txBody>
      </p:sp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50980D51-8637-48A0-BCDB-00FAB4F94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3017520"/>
            <a:ext cx="32918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App A butuh Python 3.9, app B butuh 3.11. Library bentrok. 'Works on my machine' classic.</a:t>
            </a:r>
            <a:endParaRPr sz="1100"/>
          </a:p>
        </p:txBody>
      </p:sp>
      <p:sp>
        <p:nvSpPr>
          <p:cNvPr id="20" name="Shape 14">
            <a:extLst xmlns:a="http://schemas.openxmlformats.org/drawingml/2006/main">
              <a:ext uri="{FF2B5EF4-FFF2-40B4-BE49-F238E27FC236}">
                <a16:creationId xmlns:a16="http://schemas.microsoft.com/office/drawing/2014/main" id="{D9C1D435-3D4D-4539-B97A-26C04E604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657600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1" name="Shape 15">
            <a:extLst xmlns:a="http://schemas.openxmlformats.org/drawingml/2006/main">
              <a:ext uri="{FF2B5EF4-FFF2-40B4-BE49-F238E27FC236}">
                <a16:creationId xmlns:a16="http://schemas.microsoft.com/office/drawing/2014/main" id="{C2859841-C6B1-4FB9-A7C4-EB52F63AD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65760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pic>
        <p:nvPicPr>
          <p:cNvPr id="56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05f17e527745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01200" y="1783080"/>
            <a:ext cx="731520" cy="731520"/>
          </a:xfrm>
          <a:prstGeom xmlns:a="http://schemas.openxmlformats.org/drawingml/2006/main" prst="rect">
            <a:avLst/>
          </a:prstGeom>
        </p:spPr>
      </p:pic>
      <p:sp>
        <p:nvSpPr>
          <p:cNvPr id="23" name="Text 16">
            <a:extLst xmlns:a="http://schemas.openxmlformats.org/drawingml/2006/main">
              <a:ext uri="{FF2B5EF4-FFF2-40B4-BE49-F238E27FC236}">
                <a16:creationId xmlns:a16="http://schemas.microsoft.com/office/drawing/2014/main" id="{F6065DD2-22B3-4E80-BC76-D002B1887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606040"/>
            <a:ext cx="3657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Provision Lambat</a:t>
            </a:r>
            <a:endParaRPr sz="1600"/>
          </a:p>
        </p:txBody>
      </p:sp>
      <p:sp>
        <p:nvSpPr>
          <p:cNvPr id="24" name="Text 17">
            <a:extLst xmlns:a="http://schemas.openxmlformats.org/drawingml/2006/main">
              <a:ext uri="{FF2B5EF4-FFF2-40B4-BE49-F238E27FC236}">
                <a16:creationId xmlns:a16="http://schemas.microsoft.com/office/drawing/2014/main" id="{E10C73B2-8361-430E-A9D6-4A3490BAA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017520"/>
            <a:ext cx="32918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Pesan server fisik baru butuh minggu. Reproducibility susah - tiap server di-setup manual.</a:t>
            </a:r>
            <a:endParaRPr sz="1100"/>
          </a:p>
        </p:txBody>
      </p:sp>
      <p:sp>
        <p:nvSpPr>
          <p:cNvPr id="25" name="Shape 18">
            <a:extLst xmlns:a="http://schemas.openxmlformats.org/drawingml/2006/main">
              <a:ext uri="{FF2B5EF4-FFF2-40B4-BE49-F238E27FC236}">
                <a16:creationId xmlns:a16="http://schemas.microsoft.com/office/drawing/2014/main" id="{D69CA6EC-FDE1-40B9-9050-961A8AA2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97680"/>
            <a:ext cx="11247120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pic>
        <p:nvPicPr>
          <p:cNvPr id="60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1add24009b40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526280"/>
            <a:ext cx="731520" cy="731520"/>
          </a:xfrm>
          <a:prstGeom xmlns:a="http://schemas.openxmlformats.org/drawingml/2006/main" prst="rect">
            <a:avLst/>
          </a:prstGeom>
        </p:spPr>
      </p:pic>
      <p:sp>
        <p:nvSpPr>
          <p:cNvPr id="27" name="Text 19">
            <a:extLst xmlns:a="http://schemas.openxmlformats.org/drawingml/2006/main">
              <a:ext uri="{FF2B5EF4-FFF2-40B4-BE49-F238E27FC236}">
                <a16:creationId xmlns:a16="http://schemas.microsoft.com/office/drawing/2014/main" id="{F77C2BE4-05A2-4DBC-BC52-09951175C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4434840"/>
            <a:ext cx="9601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Solusi: Virtualisasi</a:t>
            </a:r>
            <a:endParaRPr sz="1800"/>
          </a:p>
        </p:txBody>
      </p:sp>
      <p:sp>
        <p:nvSpPr>
          <p:cNvPr id="28" name="Text 20">
            <a:extLst xmlns:a="http://schemas.openxmlformats.org/drawingml/2006/main">
              <a:ext uri="{FF2B5EF4-FFF2-40B4-BE49-F238E27FC236}">
                <a16:creationId xmlns:a16="http://schemas.microsoft.com/office/drawing/2014/main" id="{6898C1B9-4B18-4682-9897-B07048566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4937760"/>
            <a:ext cx="9601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Bagi 1 server fisik jadi banyak environment terisolasi - setiap app punya OS / runtime sendiri.</a:t>
            </a:r>
            <a:endParaRPr sz="1200"/>
          </a:p>
        </p:txBody>
      </p:sp>
      <p:sp>
        <p:nvSpPr>
          <p:cNvPr id="29" name="Text 21">
            <a:extLst xmlns:a="http://schemas.openxmlformats.org/drawingml/2006/main">
              <a:ext uri="{FF2B5EF4-FFF2-40B4-BE49-F238E27FC236}">
                <a16:creationId xmlns:a16="http://schemas.microsoft.com/office/drawing/2014/main" id="{F2AF6264-C00F-4272-97CF-399577930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5349240"/>
            <a:ext cx="96012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Beberapa VM berbagi hardware agar kapasitas lebih mudah dimanfaatkan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Setiap app dapat environment sendiri - tidak konflik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Provision lebih cepat lewat template dan otomasi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Snapshot, clone, dan migrasi gampang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6576687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308E57E-FAF5-42E2-BE6D-DDD9009F1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4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9433A0A-A865-4649-95D3-94484DE1E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744A0D4-14C0-4ABB-962C-81A116056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7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8c7d92ac3546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7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a2c85e632642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552A6F4-1D47-49E3-BA24-3CD8D1F2C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0C1FFD0-DEE8-4163-B2F6-9BA6E22A0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Tingkat Abstraksi: Dari Bare Metal ke Serverless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C85707A4-51D1-47F9-B790-4D1E17815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Setiap level meningkatkan kemudahan, mengurangi kontrol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652EF47-E395-4634-A6FA-1F101D165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E680DF29-30FC-46B3-90DC-DA0B07D21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982EC470-C42C-4C11-B660-B02204096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3040"/>
            <a:ext cx="2788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i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Level 1</a:t>
            </a:r>
            <a:endParaRPr sz="9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22285F35-DE1D-4BBC-B9BD-EF785C0D4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9164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Bare Metal</a:t>
            </a:r>
            <a:endParaRPr sz="140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988D4CC-8223-4FC7-89BB-BD1E2D52C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194560"/>
            <a:ext cx="22402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43612796-A835-4F43-8484-ABF6A51A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194560"/>
            <a:ext cx="2240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Hardware</a:t>
            </a:r>
            <a:endParaRPr sz="10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F82A2445-5E9A-4842-ABE3-D52FC708B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651760"/>
            <a:ext cx="22402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56BCECB0-00E6-40B9-BAD6-90FD249B4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651760"/>
            <a:ext cx="2240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OS</a:t>
            </a:r>
            <a:endParaRPr sz="100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A5EDAEDF-428E-46EF-B021-40FF49AFC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108960"/>
            <a:ext cx="22402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68C57301-43A7-43DA-BCA2-018663B01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108960"/>
            <a:ext cx="2240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Runtime</a:t>
            </a:r>
            <a:endParaRPr sz="100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0BC4DB50-1D00-4396-83F5-754550A77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566160"/>
            <a:ext cx="22402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D77755E1-B2AC-4B7F-9F15-1A4B89AFC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566160"/>
            <a:ext cx="2240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</a:t>
            </a:r>
            <a:endParaRPr sz="100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025E6647-412F-43E6-A967-F2EDE7145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26280"/>
            <a:ext cx="2423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17911149-AB21-4160-89B0-0C40A0B80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617720"/>
            <a:ext cx="242316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Server fisik. Anda kelola semua: hardware, OS, runtime, app.</a:t>
            </a:r>
            <a:endParaRPr sz="100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CBD599B8-B384-4EEE-969E-E6CBD2A28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715000"/>
            <a:ext cx="24231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Contoh:</a:t>
            </a:r>
            <a:endParaRPr sz="9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96FD7526-A1A8-4E54-B190-DB5CBB3E9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43600"/>
            <a:ext cx="2423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Server rack di data center</a:t>
            </a:r>
            <a:endParaRPr sz="100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9CC9D1A2-BAC5-4B1E-9878-7F4DF5C23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80E2CC4B-3899-4368-9F40-EF933676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2ED7DBC0-7C7B-4A30-A6CD-7256908E5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63040"/>
            <a:ext cx="2788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i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Level 2</a:t>
            </a:r>
            <a:endParaRPr sz="9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21CFE574-3679-4CB2-8639-2B6510647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69164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Virtual Machine</a:t>
            </a:r>
            <a:endParaRPr sz="140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4E005468-BFBF-44F0-B393-714045B16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312" y="2194560"/>
            <a:ext cx="22402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F1827BE0-2B87-434C-814F-BD4AD4C5E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312" y="2194560"/>
            <a:ext cx="2240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Hardware</a:t>
            </a:r>
            <a:endParaRPr sz="100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13161098-78AE-4DCA-8C07-6810EEA8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312" y="2651760"/>
            <a:ext cx="22402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32397494-1207-4A10-9B65-F1FE5CF69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312" y="2651760"/>
            <a:ext cx="2240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Hypervisor</a:t>
            </a:r>
            <a:endParaRPr sz="100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CD182BB0-2793-4DAC-9520-D0B949F69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312" y="3108960"/>
            <a:ext cx="22402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593B924B-DD8A-4D32-B99C-B1253FADB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312" y="3108960"/>
            <a:ext cx="2240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Guest OS</a:t>
            </a:r>
            <a:endParaRPr sz="1000"/>
          </a:p>
        </p:txBody>
      </p:sp>
      <p:sp>
        <p:nvSpPr>
          <p:cNvPr id="36" name="Shape 32">
            <a:extLst xmlns:a="http://schemas.openxmlformats.org/drawingml/2006/main">
              <a:ext uri="{FF2B5EF4-FFF2-40B4-BE49-F238E27FC236}">
                <a16:creationId xmlns:a16="http://schemas.microsoft.com/office/drawing/2014/main" id="{CAFAF51E-3A26-48EE-B685-94A3991F7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312" y="3566160"/>
            <a:ext cx="22402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C7E5F980-720D-49CE-AE86-108254352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312" y="3566160"/>
            <a:ext cx="2240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</a:t>
            </a:r>
            <a:endParaRPr sz="100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9CB4455C-56F4-4C63-892C-BE6CDBA69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4526280"/>
            <a:ext cx="2423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5FFAA964-8600-4BA8-B01C-9892D3F21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4617720"/>
            <a:ext cx="242316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Hypervisor bagi hardware jadi banyak VM. Tiap VM punya OS sendiri.</a:t>
            </a:r>
            <a:endParaRPr sz="1000"/>
          </a:p>
        </p:txBody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35D0D3AA-93D1-47F9-8BE5-8C5D948E5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5715000"/>
            <a:ext cx="24231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Contoh:</a:t>
            </a:r>
            <a:endParaRPr sz="9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5E5FFCA0-2B4F-4CED-B9EB-505F97395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5943600"/>
            <a:ext cx="2423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EC2, GCP VM, VMware</a:t>
            </a:r>
            <a:endParaRPr sz="1000"/>
          </a:p>
        </p:txBody>
      </p:sp>
      <p:sp>
        <p:nvSpPr>
          <p:cNvPr id="42" name="Shape 38">
            <a:extLst xmlns:a="http://schemas.openxmlformats.org/drawingml/2006/main">
              <a:ext uri="{FF2B5EF4-FFF2-40B4-BE49-F238E27FC236}">
                <a16:creationId xmlns:a16="http://schemas.microsoft.com/office/drawing/2014/main" id="{2F3D56F5-7FCC-4848-80CB-C0D9CC7F4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3" name="Shape 39">
            <a:extLst xmlns:a="http://schemas.openxmlformats.org/drawingml/2006/main">
              <a:ext uri="{FF2B5EF4-FFF2-40B4-BE49-F238E27FC236}">
                <a16:creationId xmlns:a16="http://schemas.microsoft.com/office/drawing/2014/main" id="{1478CC6E-D1B1-4CF9-BCA3-50549620C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44" name="Text 40">
            <a:extLst xmlns:a="http://schemas.openxmlformats.org/drawingml/2006/main">
              <a:ext uri="{FF2B5EF4-FFF2-40B4-BE49-F238E27FC236}">
                <a16:creationId xmlns:a16="http://schemas.microsoft.com/office/drawing/2014/main" id="{FE62C9A1-EB09-4F6C-A12E-B1E318CD3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63040"/>
            <a:ext cx="2788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i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Level 3</a:t>
            </a:r>
            <a:endParaRPr sz="900"/>
          </a:p>
        </p:txBody>
      </p:sp>
      <p:sp>
        <p:nvSpPr>
          <p:cNvPr id="45" name="Text 41">
            <a:extLst xmlns:a="http://schemas.openxmlformats.org/drawingml/2006/main">
              <a:ext uri="{FF2B5EF4-FFF2-40B4-BE49-F238E27FC236}">
                <a16:creationId xmlns:a16="http://schemas.microsoft.com/office/drawing/2014/main" id="{4832E629-0EE7-4906-B2AE-183FCE5B0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69164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Container</a:t>
            </a:r>
            <a:endParaRPr sz="1400"/>
          </a:p>
        </p:txBody>
      </p:sp>
      <p:sp>
        <p:nvSpPr>
          <p:cNvPr id="46" name="Shape 42">
            <a:extLst xmlns:a="http://schemas.openxmlformats.org/drawingml/2006/main">
              <a:ext uri="{FF2B5EF4-FFF2-40B4-BE49-F238E27FC236}">
                <a16:creationId xmlns:a16="http://schemas.microsoft.com/office/drawing/2014/main" id="{3220D039-8F93-4AB4-BEE6-17FABE335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7104" y="2194560"/>
            <a:ext cx="22402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7" name="Text 43">
            <a:extLst xmlns:a="http://schemas.openxmlformats.org/drawingml/2006/main">
              <a:ext uri="{FF2B5EF4-FFF2-40B4-BE49-F238E27FC236}">
                <a16:creationId xmlns:a16="http://schemas.microsoft.com/office/drawing/2014/main" id="{0ABA0D9C-9D9C-4E04-8C94-2DFFE80F3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7104" y="2194560"/>
            <a:ext cx="2240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Hardware</a:t>
            </a:r>
            <a:endParaRPr sz="1000"/>
          </a:p>
        </p:txBody>
      </p:sp>
      <p:sp>
        <p:nvSpPr>
          <p:cNvPr id="48" name="Shape 44">
            <a:extLst xmlns:a="http://schemas.openxmlformats.org/drawingml/2006/main">
              <a:ext uri="{FF2B5EF4-FFF2-40B4-BE49-F238E27FC236}">
                <a16:creationId xmlns:a16="http://schemas.microsoft.com/office/drawing/2014/main" id="{C0F10C9B-F492-4D0E-A312-13A2957B2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7104" y="2651760"/>
            <a:ext cx="22402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3E949709-C931-4DB2-B3CC-046DCDDF5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7104" y="2651760"/>
            <a:ext cx="2240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Host OS</a:t>
            </a:r>
            <a:endParaRPr sz="1000"/>
          </a:p>
        </p:txBody>
      </p:sp>
      <p:sp>
        <p:nvSpPr>
          <p:cNvPr id="50" name="Shape 46">
            <a:extLst xmlns:a="http://schemas.openxmlformats.org/drawingml/2006/main">
              <a:ext uri="{FF2B5EF4-FFF2-40B4-BE49-F238E27FC236}">
                <a16:creationId xmlns:a16="http://schemas.microsoft.com/office/drawing/2014/main" id="{2C8FCC1E-108C-4F80-8FD8-AB6910777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7104" y="3108960"/>
            <a:ext cx="22402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1" name="Text 47">
            <a:extLst xmlns:a="http://schemas.openxmlformats.org/drawingml/2006/main">
              <a:ext uri="{FF2B5EF4-FFF2-40B4-BE49-F238E27FC236}">
                <a16:creationId xmlns:a16="http://schemas.microsoft.com/office/drawing/2014/main" id="{068197AE-9CD4-4F2F-9AE8-0EA5D7389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7104" y="3108960"/>
            <a:ext cx="2240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Container</a:t>
            </a:r>
            <a:endParaRPr sz="1000"/>
          </a:p>
        </p:txBody>
      </p:sp>
      <p:sp>
        <p:nvSpPr>
          <p:cNvPr id="52" name="Shape 48">
            <a:extLst xmlns:a="http://schemas.openxmlformats.org/drawingml/2006/main">
              <a:ext uri="{FF2B5EF4-FFF2-40B4-BE49-F238E27FC236}">
                <a16:creationId xmlns:a16="http://schemas.microsoft.com/office/drawing/2014/main" id="{3ED9FF8D-6B20-43E0-A7DF-C3837D7CE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7104" y="3566160"/>
            <a:ext cx="22402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3" name="Text 49">
            <a:extLst xmlns:a="http://schemas.openxmlformats.org/drawingml/2006/main">
              <a:ext uri="{FF2B5EF4-FFF2-40B4-BE49-F238E27FC236}">
                <a16:creationId xmlns:a16="http://schemas.microsoft.com/office/drawing/2014/main" id="{AEFCFCDE-EE7D-4E59-980B-A7B99FAD8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7104" y="3566160"/>
            <a:ext cx="2240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</a:t>
            </a:r>
            <a:endParaRPr sz="1000"/>
          </a:p>
        </p:txBody>
      </p:sp>
      <p:sp>
        <p:nvSpPr>
          <p:cNvPr id="54" name="Shape 50">
            <a:extLst xmlns:a="http://schemas.openxmlformats.org/drawingml/2006/main">
              <a:ext uri="{FF2B5EF4-FFF2-40B4-BE49-F238E27FC236}">
                <a16:creationId xmlns:a16="http://schemas.microsoft.com/office/drawing/2014/main" id="{D91211A0-771D-4560-B11D-53D89ED45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4526280"/>
            <a:ext cx="2423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5" name="Text 51">
            <a:extLst xmlns:a="http://schemas.openxmlformats.org/drawingml/2006/main">
              <a:ext uri="{FF2B5EF4-FFF2-40B4-BE49-F238E27FC236}">
                <a16:creationId xmlns:a16="http://schemas.microsoft.com/office/drawing/2014/main" id="{750DD0A4-4944-4FD9-B6E6-6D2A9CDE3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4617720"/>
            <a:ext cx="242316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Share kernel OS host. Isolasi via namespace + cgroup. Ringan.</a:t>
            </a:r>
            <a:endParaRPr sz="1000"/>
          </a:p>
        </p:txBody>
      </p:sp>
      <p:sp>
        <p:nvSpPr>
          <p:cNvPr id="56" name="Text 52">
            <a:extLst xmlns:a="http://schemas.openxmlformats.org/drawingml/2006/main">
              <a:ext uri="{FF2B5EF4-FFF2-40B4-BE49-F238E27FC236}">
                <a16:creationId xmlns:a16="http://schemas.microsoft.com/office/drawing/2014/main" id="{696D33B0-BD90-47F7-924A-0115D171D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5715000"/>
            <a:ext cx="24231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Contoh:</a:t>
            </a:r>
            <a:endParaRPr sz="900"/>
          </a:p>
        </p:txBody>
      </p:sp>
      <p:sp>
        <p:nvSpPr>
          <p:cNvPr id="57" name="Text 53">
            <a:extLst xmlns:a="http://schemas.openxmlformats.org/drawingml/2006/main">
              <a:ext uri="{FF2B5EF4-FFF2-40B4-BE49-F238E27FC236}">
                <a16:creationId xmlns:a16="http://schemas.microsoft.com/office/drawing/2014/main" id="{3DB1AC23-0484-4E6E-A03B-2D35C173D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5943600"/>
            <a:ext cx="2423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Docker, containerd</a:t>
            </a:r>
            <a:endParaRPr sz="1000"/>
          </a:p>
        </p:txBody>
      </p:sp>
      <p:sp>
        <p:nvSpPr>
          <p:cNvPr id="58" name="Shape 54">
            <a:extLst xmlns:a="http://schemas.openxmlformats.org/drawingml/2006/main">
              <a:ext uri="{FF2B5EF4-FFF2-40B4-BE49-F238E27FC236}">
                <a16:creationId xmlns:a16="http://schemas.microsoft.com/office/drawing/2014/main" id="{027B90AB-8446-439B-86E8-5652B5527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9" name="Shape 55">
            <a:extLst xmlns:a="http://schemas.openxmlformats.org/drawingml/2006/main">
              <a:ext uri="{FF2B5EF4-FFF2-40B4-BE49-F238E27FC236}">
                <a16:creationId xmlns:a16="http://schemas.microsoft.com/office/drawing/2014/main" id="{6C917854-E94A-474C-8CB5-803DB7DFC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60" name="Text 56">
            <a:extLst xmlns:a="http://schemas.openxmlformats.org/drawingml/2006/main">
              <a:ext uri="{FF2B5EF4-FFF2-40B4-BE49-F238E27FC236}">
                <a16:creationId xmlns:a16="http://schemas.microsoft.com/office/drawing/2014/main" id="{6A560798-8445-4C05-8F41-B85360B4B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63040"/>
            <a:ext cx="2788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i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Level 4</a:t>
            </a:r>
            <a:endParaRPr sz="900"/>
          </a:p>
        </p:txBody>
      </p:sp>
      <p:sp>
        <p:nvSpPr>
          <p:cNvPr id="61" name="Text 57">
            <a:extLst xmlns:a="http://schemas.openxmlformats.org/drawingml/2006/main">
              <a:ext uri="{FF2B5EF4-FFF2-40B4-BE49-F238E27FC236}">
                <a16:creationId xmlns:a16="http://schemas.microsoft.com/office/drawing/2014/main" id="{3448AD33-8165-4C11-BB2B-6CCD0894C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69164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Serverless / FaaS</a:t>
            </a:r>
            <a:endParaRPr sz="1400"/>
          </a:p>
        </p:txBody>
      </p:sp>
      <p:sp>
        <p:nvSpPr>
          <p:cNvPr id="62" name="Shape 58">
            <a:extLst xmlns:a="http://schemas.openxmlformats.org/drawingml/2006/main">
              <a:ext uri="{FF2B5EF4-FFF2-40B4-BE49-F238E27FC236}">
                <a16:creationId xmlns:a16="http://schemas.microsoft.com/office/drawing/2014/main" id="{B1451B32-13E2-4A04-8655-A23B4F89D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4896" y="3108960"/>
            <a:ext cx="22402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63" name="Text 59">
            <a:extLst xmlns:a="http://schemas.openxmlformats.org/drawingml/2006/main">
              <a:ext uri="{FF2B5EF4-FFF2-40B4-BE49-F238E27FC236}">
                <a16:creationId xmlns:a16="http://schemas.microsoft.com/office/drawing/2014/main" id="{6AE94D9F-ECBA-4551-B8A3-A8F25639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4896" y="3108960"/>
            <a:ext cx="2240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Function</a:t>
            </a:r>
            <a:endParaRPr sz="1000"/>
          </a:p>
        </p:txBody>
      </p:sp>
      <p:sp>
        <p:nvSpPr>
          <p:cNvPr id="64" name="Shape 60">
            <a:extLst xmlns:a="http://schemas.openxmlformats.org/drawingml/2006/main">
              <a:ext uri="{FF2B5EF4-FFF2-40B4-BE49-F238E27FC236}">
                <a16:creationId xmlns:a16="http://schemas.microsoft.com/office/drawing/2014/main" id="{5E098B32-4EF7-4A41-9030-1ECEDA365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4896" y="3566160"/>
            <a:ext cx="22402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65" name="Text 61">
            <a:extLst xmlns:a="http://schemas.openxmlformats.org/drawingml/2006/main">
              <a:ext uri="{FF2B5EF4-FFF2-40B4-BE49-F238E27FC236}">
                <a16:creationId xmlns:a16="http://schemas.microsoft.com/office/drawing/2014/main" id="{0A990296-2DBA-4A0F-8A3C-BEFDAF788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4896" y="3566160"/>
            <a:ext cx="2240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</a:t>
            </a:r>
            <a:endParaRPr sz="1000"/>
          </a:p>
        </p:txBody>
      </p:sp>
      <p:sp>
        <p:nvSpPr>
          <p:cNvPr id="66" name="Shape 62">
            <a:extLst xmlns:a="http://schemas.openxmlformats.org/drawingml/2006/main">
              <a:ext uri="{FF2B5EF4-FFF2-40B4-BE49-F238E27FC236}">
                <a16:creationId xmlns:a16="http://schemas.microsoft.com/office/drawing/2014/main" id="{F2888B21-3465-4C11-81D5-4861DC31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4526280"/>
            <a:ext cx="2423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67" name="Text 63">
            <a:extLst xmlns:a="http://schemas.openxmlformats.org/drawingml/2006/main">
              <a:ext uri="{FF2B5EF4-FFF2-40B4-BE49-F238E27FC236}">
                <a16:creationId xmlns:a16="http://schemas.microsoft.com/office/drawing/2014/main" id="{51345137-5656-4032-8534-677A34FA2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4617720"/>
            <a:ext cx="242316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Provider kelola semuanya. Anda upload kode + fungsi.</a:t>
            </a:r>
            <a:endParaRPr sz="1000"/>
          </a:p>
        </p:txBody>
      </p:sp>
      <p:sp>
        <p:nvSpPr>
          <p:cNvPr id="68" name="Text 64">
            <a:extLst xmlns:a="http://schemas.openxmlformats.org/drawingml/2006/main">
              <a:ext uri="{FF2B5EF4-FFF2-40B4-BE49-F238E27FC236}">
                <a16:creationId xmlns:a16="http://schemas.microsoft.com/office/drawing/2014/main" id="{A29A197D-0B92-4001-A1A3-7C276229F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5715000"/>
            <a:ext cx="24231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Contoh:</a:t>
            </a:r>
            <a:endParaRPr sz="900"/>
          </a:p>
        </p:txBody>
      </p:sp>
      <p:sp>
        <p:nvSpPr>
          <p:cNvPr id="69" name="Text 65">
            <a:extLst xmlns:a="http://schemas.openxmlformats.org/drawingml/2006/main">
              <a:ext uri="{FF2B5EF4-FFF2-40B4-BE49-F238E27FC236}">
                <a16:creationId xmlns:a16="http://schemas.microsoft.com/office/drawing/2014/main" id="{6F4D3A09-1679-4B3F-8FBA-FF08DA480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5943600"/>
            <a:ext cx="2423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Lambda, Vercel Functions</a:t>
            </a:r>
            <a:endParaRPr sz="1000"/>
          </a:p>
        </p:txBody>
      </p:sp>
      <p:sp>
        <p:nvSpPr>
          <p:cNvPr id="70" name="Text 66">
            <a:extLst xmlns:a="http://schemas.openxmlformats.org/drawingml/2006/main">
              <a:ext uri="{FF2B5EF4-FFF2-40B4-BE49-F238E27FC236}">
                <a16:creationId xmlns:a16="http://schemas.microsoft.com/office/drawing/2014/main" id="{B98C37C4-D342-4565-AD1F-A1133350F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936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Trade-off: 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makin ke kanan = makin tinggi abstraksi, makin cepat deploy, tapi makin sedikit kontrol low-level.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11223947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790A3DB-95FA-4219-89CE-11D5FECC8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F638A5A-8786-40D3-8A78-907511FDB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69BD680-E4FA-4E46-BE3D-1B1DBA728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ADFB358-DD4A-4A83-A3A2-6D92B196F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D30D501-EE9D-4EC1-9A94-570CF6384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88E3599-3FC8-43AA-9DAB-9C0E4196E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807CC7A0-765A-46ED-B47D-7A920205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46f884a1d148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b6035b30a040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F550A12F-4A4F-4FC9-99F9-93E7C6E9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02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885E78BB-87A2-41EA-9245-8E2ED100A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Virtual Machines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&amp; Hypervisor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18CA7C7A-A1F3-4152-8AAE-0FACBEFBF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88E61B7F-46FD-4892-B794-E49D4D532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Bagi hardware jadi banyak komputer virtual.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9343778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5181C1B-1B49-4E4E-B943-945FD21AA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4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590FFA4-81F5-4731-899E-722E29F6F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8B0AF0D-7984-4464-AF6D-C17CF4490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077b50e2d04a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fb1d55050b42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4F54A5E5-40D2-41AD-92F4-DCD17953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01072276-1D90-497B-BEC4-13F8A159E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Apa itu Virtual Machine?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B27D3C2-DD1B-4BCD-9EE0-32E20475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Komputer di dalam komputer - dengan OS lengkap sendiri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B0F9EC3-55C9-4EB3-9D80-135A3A850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pic>
        <p:nvPicPr>
          <p:cNvPr id="4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bad3791d024d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1691640"/>
            <a:ext cx="685800" cy="685800"/>
          </a:xfrm>
          <a:prstGeom xmlns:a="http://schemas.openxmlformats.org/drawingml/2006/main" prst="rect">
            <a:avLst/>
          </a:prstGeom>
        </p:spPr>
      </p:pic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E2CA5387-3580-4E07-927C-5B4DCCBEC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1554480"/>
            <a:ext cx="96012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VM = emulasi sebuah komputer fisik di atas hardware yang sama.</a:t>
            </a:r>
            <a:endParaRPr sz="1600"/>
          </a:p>
        </p:txBody>
      </p:sp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B3472B21-2C65-453B-BAA9-3EA355439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1965960"/>
            <a:ext cx="96012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Setiap VM punya CPU virtual, RAM virtual, disk virtual, dan kernel OS sendiri (guest OS). Hypervisor yang bagi-bagi resource.</a:t>
            </a:r>
            <a:endParaRPr sz="120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32A0386E-4C25-4C6C-8974-867F794E0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892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Karakteristik VM</a:t>
            </a:r>
            <a:endParaRPr sz="1400"/>
          </a:p>
        </p:txBody>
      </p:sp>
      <p:sp>
        <p:nvSpPr>
          <p:cNvPr id="15" name="Shape 10">
            <a:extLst xmlns:a="http://schemas.openxmlformats.org/drawingml/2006/main">
              <a:ext uri="{FF2B5EF4-FFF2-40B4-BE49-F238E27FC236}">
                <a16:creationId xmlns:a16="http://schemas.microsoft.com/office/drawing/2014/main" id="{9FC51B0A-4D29-46FE-966B-B3F75D9E5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0400"/>
            <a:ext cx="274320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5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418af6bf644e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4360" y="338328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7" name="Text 11">
            <a:extLst xmlns:a="http://schemas.openxmlformats.org/drawingml/2006/main">
              <a:ext uri="{FF2B5EF4-FFF2-40B4-BE49-F238E27FC236}">
                <a16:creationId xmlns:a16="http://schemas.microsoft.com/office/drawing/2014/main" id="{88718FD3-DAE7-48A3-BFE2-81ECCD94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37560"/>
            <a:ext cx="19202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Isolasi Penuh</a:t>
            </a:r>
            <a:endParaRPr sz="1300"/>
          </a:p>
        </p:txBody>
      </p:sp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3947CD17-A61E-4D60-A4BB-703C76823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931920"/>
            <a:ext cx="24688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Setiap VM independen. Crash di VM A tidak pengaruh VM B.</a:t>
            </a:r>
            <a:endParaRPr sz="1050"/>
          </a:p>
        </p:txBody>
      </p:sp>
      <p:sp>
        <p:nvSpPr>
          <p:cNvPr id="19" name="Shape 13">
            <a:extLst xmlns:a="http://schemas.openxmlformats.org/drawingml/2006/main">
              <a:ext uri="{FF2B5EF4-FFF2-40B4-BE49-F238E27FC236}">
                <a16:creationId xmlns:a16="http://schemas.microsoft.com/office/drawing/2014/main" id="{D5C4C796-8A7E-4DCC-8883-0C0C08F1B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3200400"/>
            <a:ext cx="274320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56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971846cff147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74720" y="338328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21" name="Text 14">
            <a:extLst xmlns:a="http://schemas.openxmlformats.org/drawingml/2006/main">
              <a:ext uri="{FF2B5EF4-FFF2-40B4-BE49-F238E27FC236}">
                <a16:creationId xmlns:a16="http://schemas.microsoft.com/office/drawing/2014/main" id="{CA5C0AB8-23F9-429F-9952-443EBF172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3360" y="3337560"/>
            <a:ext cx="19202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Multi-OS</a:t>
            </a:r>
            <a:endParaRPr sz="1300"/>
          </a:p>
        </p:txBody>
      </p:sp>
      <p:sp>
        <p:nvSpPr>
          <p:cNvPr id="22" name="Text 15">
            <a:extLst xmlns:a="http://schemas.openxmlformats.org/drawingml/2006/main">
              <a:ext uri="{FF2B5EF4-FFF2-40B4-BE49-F238E27FC236}">
                <a16:creationId xmlns:a16="http://schemas.microsoft.com/office/drawing/2014/main" id="{DBADCF2A-F13A-4D15-8145-144911650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3931920"/>
            <a:ext cx="24688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Bisa jalan Windows VM di host Linux, atau sebaliknya.</a:t>
            </a:r>
            <a:endParaRPr sz="1050"/>
          </a:p>
        </p:txBody>
      </p:sp>
      <p:sp>
        <p:nvSpPr>
          <p:cNvPr id="23" name="Shape 16">
            <a:extLst xmlns:a="http://schemas.openxmlformats.org/drawingml/2006/main">
              <a:ext uri="{FF2B5EF4-FFF2-40B4-BE49-F238E27FC236}">
                <a16:creationId xmlns:a16="http://schemas.microsoft.com/office/drawing/2014/main" id="{4590DE75-6B42-436A-89AE-3DBCDC546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200400"/>
            <a:ext cx="274320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60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2c44e460204c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55080" y="338328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25" name="Text 17">
            <a:extLst xmlns:a="http://schemas.openxmlformats.org/drawingml/2006/main">
              <a:ext uri="{FF2B5EF4-FFF2-40B4-BE49-F238E27FC236}">
                <a16:creationId xmlns:a16="http://schemas.microsoft.com/office/drawing/2014/main" id="{C48D0A07-4ECA-4F1A-82FE-C9B7991B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3337560"/>
            <a:ext cx="19202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Berat (Heavy)</a:t>
            </a:r>
            <a:endParaRPr sz="1300"/>
          </a:p>
        </p:txBody>
      </p:sp>
      <p:sp>
        <p:nvSpPr>
          <p:cNvPr id="26" name="Text 18">
            <a:extLst xmlns:a="http://schemas.openxmlformats.org/drawingml/2006/main">
              <a:ext uri="{FF2B5EF4-FFF2-40B4-BE49-F238E27FC236}">
                <a16:creationId xmlns:a16="http://schemas.microsoft.com/office/drawing/2014/main" id="{A5B1B095-195E-4958-BF74-B18EE6524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931920"/>
            <a:ext cx="24688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Tiap VM butuh full OS - ratusan MB hingga GB RAM.</a:t>
            </a:r>
            <a:endParaRPr sz="1050"/>
          </a:p>
        </p:txBody>
      </p:sp>
      <p:sp>
        <p:nvSpPr>
          <p:cNvPr id="27" name="Shape 19">
            <a:extLst xmlns:a="http://schemas.openxmlformats.org/drawingml/2006/main">
              <a:ext uri="{FF2B5EF4-FFF2-40B4-BE49-F238E27FC236}">
                <a16:creationId xmlns:a16="http://schemas.microsoft.com/office/drawing/2014/main" id="{24A1F80D-7DAF-418A-8F42-D802F25E5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3200400"/>
            <a:ext cx="274320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8" name="Text 20">
            <a:extLst xmlns:a="http://schemas.openxmlformats.org/drawingml/2006/main">
              <a:ext uri="{FF2B5EF4-FFF2-40B4-BE49-F238E27FC236}">
                <a16:creationId xmlns:a16="http://schemas.microsoft.com/office/drawing/2014/main" id="{360F6633-90C3-47F6-864B-AED7D0E81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3337560"/>
            <a:ext cx="19202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Snapshot + Clone</a:t>
            </a:r>
            <a:endParaRPr sz="1300"/>
          </a:p>
        </p:txBody>
      </p:sp>
      <p:sp>
        <p:nvSpPr>
          <p:cNvPr id="29" name="Text 21">
            <a:extLst xmlns:a="http://schemas.openxmlformats.org/drawingml/2006/main">
              <a:ext uri="{FF2B5EF4-FFF2-40B4-BE49-F238E27FC236}">
                <a16:creationId xmlns:a16="http://schemas.microsoft.com/office/drawing/2014/main" id="{BCC0ACB6-7B06-40AB-84D4-30FD8F38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931920"/>
            <a:ext cx="24688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Save state lengkap, restore atau duplikasi dalam menit.</a:t>
            </a:r>
            <a:endParaRPr sz="1050"/>
          </a:p>
        </p:txBody>
      </p:sp>
      <p:sp>
        <p:nvSpPr>
          <p:cNvPr id="30" name="Text 22">
            <a:extLst xmlns:a="http://schemas.openxmlformats.org/drawingml/2006/main">
              <a:ext uri="{FF2B5EF4-FFF2-40B4-BE49-F238E27FC236}">
                <a16:creationId xmlns:a16="http://schemas.microsoft.com/office/drawing/2014/main" id="{7481BB94-AE2C-4B43-868D-A2E3C9FBB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4632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Anda Sudah Pakai VM Saat:</a:t>
            </a:r>
            <a:endParaRPr sz="1400"/>
          </a:p>
        </p:txBody>
      </p:sp>
      <p:sp>
        <p:nvSpPr>
          <p:cNvPr id="31" name="Text 23">
            <a:extLst xmlns:a="http://schemas.openxmlformats.org/drawingml/2006/main">
              <a:ext uri="{FF2B5EF4-FFF2-40B4-BE49-F238E27FC236}">
                <a16:creationId xmlns:a16="http://schemas.microsoft.com/office/drawing/2014/main" id="{9C6FC4A4-E9BD-49CF-8B5A-575F646B3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257800"/>
            <a:ext cx="1097280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Pakai EC2, GCP Compute Engine, atau Oracle Cloud Free Tier - itu semua VM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Install WSL2 di Windows untuk Linux - itu VM di balik layar (Hyper-V)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Pakai VirtualBox atau VMware untuk testing OS lain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Render farm untuk video - bagi 1 server jadi banyak VM untuk render paralel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75531796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935730B-90EA-4462-B9DF-AA079796F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4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58FF8AD-C61C-4D0A-AEE0-08D46B3E2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4DD2563-CC82-4E1E-8E0E-545874B3E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1947f325b446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e65f8f3b2849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4ABFD71D-0325-4B83-A663-BE460EBAB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1B66383-5543-42CD-8190-F36BBFC3E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Hypervisor - Type 1 vs Type 2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DA4B602-875B-4B89-8BDE-E72A7AAFD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Software yang mengelola VM di atas hardware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0A6B8A9A-2DA0-41A0-8C9E-CD2E2ABD1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0DBA65AC-9643-438F-9D8B-1E4C94002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FFD72767-41F4-4930-8A16-5AA7DA10C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TYPE 1  -  Bare Metal</a:t>
            </a:r>
            <a:endParaRPr sz="17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B05623AC-8686-47C8-BE9F-256300315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48840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Hypervisor jalan langsung di atas hardware - tidak butuh OS host.</a:t>
            </a:r>
            <a:endParaRPr sz="110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94134BD7-C9DC-4846-AC3A-D8A3D40B6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06040"/>
            <a:ext cx="52120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427D7F34-9B49-4B8B-AB42-F8477B116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06040"/>
            <a:ext cx="5212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VM 1   VM 2   VM 3</a:t>
            </a:r>
            <a:endParaRPr sz="12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296895E8-81DA-449D-8796-7F2CACD11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08960"/>
            <a:ext cx="52120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E8894CF8-07FF-4EAD-8B71-7586ABC2C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08960"/>
            <a:ext cx="5212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HYPERVISOR (KVM / ESXi / Hyper-V)</a:t>
            </a:r>
            <a:endParaRPr sz="120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6AB68A69-42C6-4925-AEF5-70535FF16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611880"/>
            <a:ext cx="52120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5569"/>
          </a:solidFill>
          <a:ln xmlns:a="http://schemas.openxmlformats.org/drawingml/2006/main" w="12700">
            <a:solidFill>
              <a:srgbClr val="475569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9CB6484F-232D-4345-AEE2-7BF20D43F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611880"/>
            <a:ext cx="5212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HARDWARE (CPU, RAM, Disk)</a:t>
            </a:r>
            <a:endParaRPr sz="12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2FF7EBBE-BEB9-494A-9166-21A468AF9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51960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Performa &amp; Use Case:</a:t>
            </a:r>
            <a:endParaRPr sz="11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2AE00BB9-142C-411F-9107-BE70E5A5B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526280"/>
            <a:ext cx="5029200" cy="1600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Performa terbaik - overhead minimal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Boot otomatis saat server nyala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Standar production / data center / cloud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Contoh: VMware ESXi, KVM, Microsoft Hyper-V, Xen</a:t>
            </a:r>
            <a:endParaRPr sz="110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1FEF3EBD-CF18-404D-80CD-D8506035F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81E7EC4A-26C9-4486-8263-B6D3C2DB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2E579A36-3BF7-45FF-BFB9-5C8C40C7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TYPE 2  -  Hosted</a:t>
            </a:r>
            <a:endParaRPr sz="17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8CCA7526-D3FD-489A-88E3-BEBEFFE0F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4884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Hypervisor jadi aplikasi biasa di atas OS host (Windows / macOS / Linux).</a:t>
            </a:r>
            <a:endParaRPr sz="110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1F0297EE-4F28-4CF7-BA38-BA9CC1457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06040"/>
            <a:ext cx="5120640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E4046AF0-9704-47A6-9B39-174F93790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06040"/>
            <a:ext cx="5120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VM 1   VM 2</a:t>
            </a:r>
            <a:endParaRPr sz="1100"/>
          </a:p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2BF2637F-ED41-4F2A-9693-44B1A945E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71800"/>
            <a:ext cx="5120640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F6207E54-6F00-464C-A019-9FF7801E0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71800"/>
            <a:ext cx="5120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HYPERVISOR (VirtualBox / VMware Workstation)</a:t>
            </a:r>
            <a:endParaRPr sz="110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CA07CF14-7FAF-4C7B-8A35-A851FBD7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37560"/>
            <a:ext cx="5120640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9DE792EC-5098-4F8C-8C63-FC1858EDE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37560"/>
            <a:ext cx="5120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HOST OS (Windows / macOS / Linux)</a:t>
            </a:r>
            <a:endParaRPr sz="110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0C5BC26E-B5C6-4B7A-BB83-A6BEBA246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03320"/>
            <a:ext cx="5120640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5569"/>
          </a:solidFill>
          <a:ln xmlns:a="http://schemas.openxmlformats.org/drawingml/2006/main" w="12700">
            <a:solidFill>
              <a:srgbClr val="475569"/>
            </a:solidFill>
            <a:prstDash val="solid"/>
          </a:ln>
        </p:spPr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ECF6E6F0-B9E0-4F77-85DE-3B71E34B8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03320"/>
            <a:ext cx="5120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HARDWARE</a:t>
            </a:r>
            <a:endParaRPr sz="11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973768AA-4D23-49FA-9CE0-09CB723C3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51960"/>
            <a:ext cx="5120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Performa &amp; Use Case:</a:t>
            </a:r>
            <a:endParaRPr sz="110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F99903B4-D765-4DCA-93D2-F222BA648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526280"/>
            <a:ext cx="4937760" cy="1600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Overhead lebih besar - lewat OS host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Mudah dipakai - install seperti aplikasi biasa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Cocok untuk dev / testing / belajar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Contoh: VirtualBox, VMware Workstation, Parallels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57743153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5A93FE9-8A84-41D6-A6D9-C5EAAD4B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4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449B0E4-2D9C-40BF-B7EB-B2195F5B6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4477842-1DD5-48CA-8E1C-41A056610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6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a2f34eac1146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6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02cd107b8845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62E705FC-6213-489F-9E7D-6383CE84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8B2E086D-E8AB-439D-A6E9-43098CC40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Hypervisor Populer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6660228-8870-4AB5-BE80-08BD31646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Yang Anda akan temui di cloud dan di laptop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04E3F7D4-BA13-424B-BAC2-FABBAFAE2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69748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8F975058-C1F2-40CB-BEE1-E9E6AFCAA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C624"/>
          </a:solidFill>
          <a:ln xmlns:a="http://schemas.openxmlformats.org/drawingml/2006/main" w="12700">
            <a:solidFill>
              <a:srgbClr val="FCC624"/>
            </a:solidFill>
            <a:prstDash val="solid"/>
          </a:ln>
        </p:spPr>
      </p:sp>
      <p:pic>
        <p:nvPicPr>
          <p:cNvPr id="6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84d5a5438949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40180" y="1737360"/>
            <a:ext cx="731520" cy="73152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EF1D8D4A-A540-4F74-80D4-5C0BB2689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2697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KVM</a:t>
            </a:r>
            <a:endParaRPr sz="1600"/>
          </a:p>
        </p:txBody>
      </p:sp>
      <p:sp>
        <p:nvSpPr>
          <p:cNvPr id="14" name="Shape 9">
            <a:extLst xmlns:a="http://schemas.openxmlformats.org/drawingml/2006/main">
              <a:ext uri="{FF2B5EF4-FFF2-40B4-BE49-F238E27FC236}">
                <a16:creationId xmlns:a16="http://schemas.microsoft.com/office/drawing/2014/main" id="{93CC24B4-65DA-46FD-8F47-24E89C7D2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971800"/>
            <a:ext cx="1097280" cy="27432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80169099-E576-4CBE-93FE-FC67F51F5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971800"/>
            <a:ext cx="1097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Type 1</a:t>
            </a:r>
            <a:endParaRPr sz="10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5B1C879B-9740-409C-9453-61FC5FF58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383280"/>
            <a:ext cx="242316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Linux kernel module. Free, open source. Tulang punggung kebanyakan cloud (AWS Nitro, GCP).</a:t>
            </a:r>
            <a:endParaRPr sz="1100"/>
          </a:p>
        </p:txBody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2D5F53FE-8590-4ABA-8F51-6484C1604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440680"/>
            <a:ext cx="2423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Text 13">
            <a:extLst xmlns:a="http://schemas.openxmlformats.org/drawingml/2006/main">
              <a:ext uri="{FF2B5EF4-FFF2-40B4-BE49-F238E27FC236}">
                <a16:creationId xmlns:a16="http://schemas.microsoft.com/office/drawing/2014/main" id="{5B3FD891-C4F8-4A6E-AC16-BB16B6C2F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532120"/>
            <a:ext cx="24231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Use case:</a:t>
            </a:r>
            <a:endParaRPr sz="900"/>
          </a:p>
        </p:txBody>
      </p:sp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1F02923E-919C-4073-A904-48CBAC19D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76072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Production cloud</a:t>
            </a:r>
            <a:endParaRPr sz="1100"/>
          </a:p>
        </p:txBody>
      </p:sp>
      <p:sp>
        <p:nvSpPr>
          <p:cNvPr id="20" name="Shape 15">
            <a:extLst xmlns:a="http://schemas.openxmlformats.org/drawingml/2006/main">
              <a:ext uri="{FF2B5EF4-FFF2-40B4-BE49-F238E27FC236}">
                <a16:creationId xmlns:a16="http://schemas.microsoft.com/office/drawing/2014/main" id="{9AF43307-C0F2-4267-A3D6-B46E7F7D1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1417320"/>
            <a:ext cx="269748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DA833E29-54ED-4C7B-874E-74A42BE0E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141732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07078"/>
          </a:solidFill>
          <a:ln xmlns:a="http://schemas.openxmlformats.org/drawingml/2006/main" w="12700">
            <a:solidFill>
              <a:srgbClr val="607078"/>
            </a:solidFill>
            <a:prstDash val="solid"/>
          </a:ln>
        </p:spPr>
      </p:sp>
      <p:pic>
        <p:nvPicPr>
          <p:cNvPr id="77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a807208b5047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02252" y="1737360"/>
            <a:ext cx="731520" cy="731520"/>
          </a:xfrm>
          <a:prstGeom xmlns:a="http://schemas.openxmlformats.org/drawingml/2006/main" prst="rect">
            <a:avLst/>
          </a:prstGeom>
        </p:spPr>
      </p:pic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9356D28E-D004-45E1-BFB1-139ABED7B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2560320"/>
            <a:ext cx="2697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VMware ESXi</a:t>
            </a:r>
            <a:endParaRPr sz="1600"/>
          </a:p>
        </p:txBody>
      </p:sp>
      <p:sp>
        <p:nvSpPr>
          <p:cNvPr id="24" name="Shape 18">
            <a:extLst xmlns:a="http://schemas.openxmlformats.org/drawingml/2006/main">
              <a:ext uri="{FF2B5EF4-FFF2-40B4-BE49-F238E27FC236}">
                <a16:creationId xmlns:a16="http://schemas.microsoft.com/office/drawing/2014/main" id="{42B2161F-E82E-46AC-AD3F-9E4C4618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9372" y="2971800"/>
            <a:ext cx="1097280" cy="27432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5" name="Text 19">
            <a:extLst xmlns:a="http://schemas.openxmlformats.org/drawingml/2006/main">
              <a:ext uri="{FF2B5EF4-FFF2-40B4-BE49-F238E27FC236}">
                <a16:creationId xmlns:a16="http://schemas.microsoft.com/office/drawing/2014/main" id="{AA4FF2C8-90AB-4A28-8C38-47B7DF547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9372" y="2971800"/>
            <a:ext cx="1097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Type 1</a:t>
            </a:r>
            <a:endParaRPr sz="1000"/>
          </a:p>
        </p:txBody>
      </p:sp>
      <p:sp>
        <p:nvSpPr>
          <p:cNvPr id="26" name="Text 20">
            <a:extLst xmlns:a="http://schemas.openxmlformats.org/drawingml/2006/main">
              <a:ext uri="{FF2B5EF4-FFF2-40B4-BE49-F238E27FC236}">
                <a16:creationId xmlns:a16="http://schemas.microsoft.com/office/drawing/2014/main" id="{2AA71F2A-D683-45B5-B55B-8C70720B3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3383280"/>
            <a:ext cx="242316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Enterprise standard sejak 2001. Vendor utama virtualisasi enterprise.</a:t>
            </a:r>
            <a:endParaRPr sz="1100"/>
          </a:p>
        </p:txBody>
      </p:sp>
      <p:sp>
        <p:nvSpPr>
          <p:cNvPr id="27" name="Shape 21">
            <a:extLst xmlns:a="http://schemas.openxmlformats.org/drawingml/2006/main">
              <a:ext uri="{FF2B5EF4-FFF2-40B4-BE49-F238E27FC236}">
                <a16:creationId xmlns:a16="http://schemas.microsoft.com/office/drawing/2014/main" id="{D34A9427-5FC8-48D5-964A-83E374E6E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5440680"/>
            <a:ext cx="2423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8" name="Text 22">
            <a:extLst xmlns:a="http://schemas.openxmlformats.org/drawingml/2006/main">
              <a:ext uri="{FF2B5EF4-FFF2-40B4-BE49-F238E27FC236}">
                <a16:creationId xmlns:a16="http://schemas.microsoft.com/office/drawing/2014/main" id="{AFC8DE31-1C1F-4EDF-9E4F-A72922992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5532120"/>
            <a:ext cx="24231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Use case:</a:t>
            </a:r>
            <a:endParaRPr sz="900"/>
          </a:p>
        </p:txBody>
      </p:sp>
      <p:sp>
        <p:nvSpPr>
          <p:cNvPr id="29" name="Text 23">
            <a:extLst xmlns:a="http://schemas.openxmlformats.org/drawingml/2006/main">
              <a:ext uri="{FF2B5EF4-FFF2-40B4-BE49-F238E27FC236}">
                <a16:creationId xmlns:a16="http://schemas.microsoft.com/office/drawing/2014/main" id="{0C76D742-A0F0-4E54-AE79-A7BE122B8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576072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Enterprise data center</a:t>
            </a:r>
            <a:endParaRPr sz="1100"/>
          </a:p>
        </p:txBody>
      </p:sp>
      <p:sp>
        <p:nvSpPr>
          <p:cNvPr id="30" name="Shape 24">
            <a:extLst xmlns:a="http://schemas.openxmlformats.org/drawingml/2006/main">
              <a:ext uri="{FF2B5EF4-FFF2-40B4-BE49-F238E27FC236}">
                <a16:creationId xmlns:a16="http://schemas.microsoft.com/office/drawing/2014/main" id="{F1CD29CA-61FC-484D-9C79-5B77C12C5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417320"/>
            <a:ext cx="269748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5">
            <a:extLst xmlns:a="http://schemas.openxmlformats.org/drawingml/2006/main">
              <a:ext uri="{FF2B5EF4-FFF2-40B4-BE49-F238E27FC236}">
                <a16:creationId xmlns:a16="http://schemas.microsoft.com/office/drawing/2014/main" id="{B1F21437-9B03-475F-B1DD-39F5AA154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41732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DEF"/>
          </a:solidFill>
          <a:ln xmlns:a="http://schemas.openxmlformats.org/drawingml/2006/main" w="12700">
            <a:solidFill>
              <a:srgbClr val="00ADEF"/>
            </a:solidFill>
            <a:prstDash val="solid"/>
          </a:ln>
        </p:spPr>
      </p:sp>
      <p:pic>
        <p:nvPicPr>
          <p:cNvPr id="87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91fb1f7bf445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64324" y="1737360"/>
            <a:ext cx="731520" cy="731520"/>
          </a:xfrm>
          <a:prstGeom xmlns:a="http://schemas.openxmlformats.org/drawingml/2006/main" prst="rect">
            <a:avLst/>
          </a:prstGeom>
        </p:spPr>
      </p:pic>
      <p:sp>
        <p:nvSpPr>
          <p:cNvPr id="33" name="Text 26">
            <a:extLst xmlns:a="http://schemas.openxmlformats.org/drawingml/2006/main">
              <a:ext uri="{FF2B5EF4-FFF2-40B4-BE49-F238E27FC236}">
                <a16:creationId xmlns:a16="http://schemas.microsoft.com/office/drawing/2014/main" id="{0B5262DC-1400-480A-8876-F0C9824F3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560320"/>
            <a:ext cx="2697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Hyper-V</a:t>
            </a:r>
            <a:endParaRPr sz="1600"/>
          </a:p>
        </p:txBody>
      </p:sp>
      <p:sp>
        <p:nvSpPr>
          <p:cNvPr id="34" name="Shape 27">
            <a:extLst xmlns:a="http://schemas.openxmlformats.org/drawingml/2006/main">
              <a:ext uri="{FF2B5EF4-FFF2-40B4-BE49-F238E27FC236}">
                <a16:creationId xmlns:a16="http://schemas.microsoft.com/office/drawing/2014/main" id="{FCB4288A-EBB6-4AEA-A65E-21D408F8B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444" y="2971800"/>
            <a:ext cx="1097280" cy="27432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5" name="Text 28">
            <a:extLst xmlns:a="http://schemas.openxmlformats.org/drawingml/2006/main">
              <a:ext uri="{FF2B5EF4-FFF2-40B4-BE49-F238E27FC236}">
                <a16:creationId xmlns:a16="http://schemas.microsoft.com/office/drawing/2014/main" id="{90D37471-8BEE-4447-ADE5-744FCBB62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444" y="2971800"/>
            <a:ext cx="1097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Type 1</a:t>
            </a:r>
            <a:endParaRPr sz="1000"/>
          </a:p>
        </p:txBody>
      </p:sp>
      <p:sp>
        <p:nvSpPr>
          <p:cNvPr id="36" name="Text 29">
            <a:extLst xmlns:a="http://schemas.openxmlformats.org/drawingml/2006/main">
              <a:ext uri="{FF2B5EF4-FFF2-40B4-BE49-F238E27FC236}">
                <a16:creationId xmlns:a16="http://schemas.microsoft.com/office/drawing/2014/main" id="{712DCD72-5961-4433-8EEE-E508B20E9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3383280"/>
            <a:ext cx="242316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Microsoft hypervisor. Built-in Windows Server &amp; Pro. Powers WSL2 di Windows.</a:t>
            </a:r>
            <a:endParaRPr sz="1100"/>
          </a:p>
        </p:txBody>
      </p:sp>
      <p:sp>
        <p:nvSpPr>
          <p:cNvPr id="37" name="Shape 30">
            <a:extLst xmlns:a="http://schemas.openxmlformats.org/drawingml/2006/main">
              <a:ext uri="{FF2B5EF4-FFF2-40B4-BE49-F238E27FC236}">
                <a16:creationId xmlns:a16="http://schemas.microsoft.com/office/drawing/2014/main" id="{0DD93D1C-2EA1-4829-B8DA-C86C36460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5440680"/>
            <a:ext cx="2423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8" name="Text 31">
            <a:extLst xmlns:a="http://schemas.openxmlformats.org/drawingml/2006/main">
              <a:ext uri="{FF2B5EF4-FFF2-40B4-BE49-F238E27FC236}">
                <a16:creationId xmlns:a16="http://schemas.microsoft.com/office/drawing/2014/main" id="{F51CA1D9-872D-4C92-9FEB-8CB3308BE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5532120"/>
            <a:ext cx="24231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Use case:</a:t>
            </a:r>
            <a:endParaRPr sz="900"/>
          </a:p>
        </p:txBody>
      </p:sp>
      <p:sp>
        <p:nvSpPr>
          <p:cNvPr id="39" name="Text 32">
            <a:extLst xmlns:a="http://schemas.openxmlformats.org/drawingml/2006/main">
              <a:ext uri="{FF2B5EF4-FFF2-40B4-BE49-F238E27FC236}">
                <a16:creationId xmlns:a16="http://schemas.microsoft.com/office/drawing/2014/main" id="{C2655F66-EB54-4865-A178-952CC7E3C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576072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Windows ecosystem</a:t>
            </a:r>
            <a:endParaRPr sz="1100"/>
          </a:p>
        </p:txBody>
      </p:sp>
      <p:sp>
        <p:nvSpPr>
          <p:cNvPr id="40" name="Shape 33">
            <a:extLst xmlns:a="http://schemas.openxmlformats.org/drawingml/2006/main">
              <a:ext uri="{FF2B5EF4-FFF2-40B4-BE49-F238E27FC236}">
                <a16:creationId xmlns:a16="http://schemas.microsoft.com/office/drawing/2014/main" id="{C4CD668D-C7F4-4DB6-94E2-04322C828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1417320"/>
            <a:ext cx="269748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1" name="Shape 34">
            <a:extLst xmlns:a="http://schemas.openxmlformats.org/drawingml/2006/main">
              <a:ext uri="{FF2B5EF4-FFF2-40B4-BE49-F238E27FC236}">
                <a16:creationId xmlns:a16="http://schemas.microsoft.com/office/drawing/2014/main" id="{5F6D9934-570B-47FA-AE2E-F2AFF3539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141732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61"/>
          </a:solidFill>
          <a:ln xmlns:a="http://schemas.openxmlformats.org/drawingml/2006/main" w="12700">
            <a:solidFill>
              <a:srgbClr val="183A61"/>
            </a:solidFill>
            <a:prstDash val="solid"/>
          </a:ln>
        </p:spPr>
      </p:sp>
      <p:pic>
        <p:nvPicPr>
          <p:cNvPr id="9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b8e0b2be9f40d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26396" y="1737360"/>
            <a:ext cx="731520" cy="731520"/>
          </a:xfrm>
          <a:prstGeom xmlns:a="http://schemas.openxmlformats.org/drawingml/2006/main" prst="rect">
            <a:avLst/>
          </a:prstGeom>
        </p:spPr>
      </p:pic>
      <p:sp>
        <p:nvSpPr>
          <p:cNvPr id="43" name="Text 35">
            <a:extLst xmlns:a="http://schemas.openxmlformats.org/drawingml/2006/main">
              <a:ext uri="{FF2B5EF4-FFF2-40B4-BE49-F238E27FC236}">
                <a16:creationId xmlns:a16="http://schemas.microsoft.com/office/drawing/2014/main" id="{97DCE3BA-11D2-4CB3-879D-D0D085BBF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2560320"/>
            <a:ext cx="2697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VirtualBox</a:t>
            </a:r>
            <a:endParaRPr sz="1600"/>
          </a:p>
        </p:txBody>
      </p:sp>
      <p:sp>
        <p:nvSpPr>
          <p:cNvPr id="44" name="Shape 36">
            <a:extLst xmlns:a="http://schemas.openxmlformats.org/drawingml/2006/main">
              <a:ext uri="{FF2B5EF4-FFF2-40B4-BE49-F238E27FC236}">
                <a16:creationId xmlns:a16="http://schemas.microsoft.com/office/drawing/2014/main" id="{6E13071C-7B11-4D20-AF0D-B6D317D3E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3516" y="2971800"/>
            <a:ext cx="1097280" cy="27432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45" name="Text 37">
            <a:extLst xmlns:a="http://schemas.openxmlformats.org/drawingml/2006/main">
              <a:ext uri="{FF2B5EF4-FFF2-40B4-BE49-F238E27FC236}">
                <a16:creationId xmlns:a16="http://schemas.microsoft.com/office/drawing/2014/main" id="{971BB2D6-CF9E-454E-B1C5-0524BC2C8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3516" y="2971800"/>
            <a:ext cx="1097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Type 2</a:t>
            </a:r>
            <a:endParaRPr sz="1000"/>
          </a:p>
        </p:txBody>
      </p:sp>
      <p:sp>
        <p:nvSpPr>
          <p:cNvPr id="46" name="Text 38">
            <a:extLst xmlns:a="http://schemas.openxmlformats.org/drawingml/2006/main">
              <a:ext uri="{FF2B5EF4-FFF2-40B4-BE49-F238E27FC236}">
                <a16:creationId xmlns:a16="http://schemas.microsoft.com/office/drawing/2014/main" id="{E85003C1-6B55-4DB8-8B67-4C722AC3E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383280"/>
            <a:ext cx="242316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Oracle, free + open source. Cocok untuk belajar &amp; dev lokal. Cross-platform.</a:t>
            </a:r>
            <a:endParaRPr sz="1100"/>
          </a:p>
        </p:txBody>
      </p:sp>
      <p:sp>
        <p:nvSpPr>
          <p:cNvPr id="47" name="Shape 39">
            <a:extLst xmlns:a="http://schemas.openxmlformats.org/drawingml/2006/main">
              <a:ext uri="{FF2B5EF4-FFF2-40B4-BE49-F238E27FC236}">
                <a16:creationId xmlns:a16="http://schemas.microsoft.com/office/drawing/2014/main" id="{E8C45008-4FE7-41A5-9C22-5E96A6AAC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5440680"/>
            <a:ext cx="2423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8" name="Text 40">
            <a:extLst xmlns:a="http://schemas.openxmlformats.org/drawingml/2006/main">
              <a:ext uri="{FF2B5EF4-FFF2-40B4-BE49-F238E27FC236}">
                <a16:creationId xmlns:a16="http://schemas.microsoft.com/office/drawing/2014/main" id="{5E645A7C-E67C-4087-8C9A-D21AFBA5E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5532120"/>
            <a:ext cx="24231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Use case:</a:t>
            </a:r>
            <a:endParaRPr sz="900"/>
          </a:p>
        </p:txBody>
      </p:sp>
      <p:sp>
        <p:nvSpPr>
          <p:cNvPr id="49" name="Text 41">
            <a:extLst xmlns:a="http://schemas.openxmlformats.org/drawingml/2006/main">
              <a:ext uri="{FF2B5EF4-FFF2-40B4-BE49-F238E27FC236}">
                <a16:creationId xmlns:a16="http://schemas.microsoft.com/office/drawing/2014/main" id="{8C4AA3C9-F0AC-4CBE-80F9-7A2B2EC94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576072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Belajar, dev lokal</a:t>
            </a:r>
            <a:endParaRPr sz="1100"/>
          </a:p>
        </p:txBody>
      </p:sp>
      <p:sp>
        <p:nvSpPr>
          <p:cNvPr id="50" name="Text 42">
            <a:extLst xmlns:a="http://schemas.openxmlformats.org/drawingml/2006/main">
              <a:ext uri="{FF2B5EF4-FFF2-40B4-BE49-F238E27FC236}">
                <a16:creationId xmlns:a16="http://schemas.microsoft.com/office/drawing/2014/main" id="{851D8806-2E94-4082-8500-80D439243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Untuk praktikum: 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kita pakai layer di atas - VirtualBox / WSL2 / cloud VM. Container yang akan kita fokus di sisanya pertemuan.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16641034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0AAF6AA-8069-4AD0-A433-70D3CBA8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412E58E-C160-42B0-B19A-E0B2E86D7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1CC610B-4EAF-434A-B12F-DA06F474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0FC27E0-C727-4C44-9778-B919EFEC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D0E743D-58BF-4DE1-9E35-109B7DB75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49B9C7F-0834-402B-BCA6-68A9E5B5E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E68BF7B-81A2-48A2-B441-6979F6ED0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5cd8d2151044f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fb3f6df6364a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394B447-32D3-44E7-885D-C976FBCA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03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B715D134-A3B6-4B2E-B1E5-010BA8DBA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Containers &amp;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Linux Primitives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3EC2B8CA-F8CA-48B7-A0CB-D7E7439BC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A7340513-A9D6-45AE-AB8B-57847DD22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Cara baru bagi resource - tanpa beratnya VM.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214446227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672F491-B0FD-49BC-8A31-F5D9DD47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4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C4E1AAF-617B-491B-A168-AD5AF8A4E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63C2CEE-E318-41FD-992F-96F96904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1b57ab0ecf4b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b6fec001c94d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C63BBA1C-BB73-4C2A-89BB-B48A18686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02D2C1C-A8A2-4761-B058-64F4CA073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Apa itu Container?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DD7884C-FC9A-441A-9A68-0642473E7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Proses yang diisolasi - bukan komputer virtual lengkap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8F2DEE42-7D89-4737-84AA-AF6327F20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pic>
        <p:nvPicPr>
          <p:cNvPr id="5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88e5df824144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1691640"/>
            <a:ext cx="685800" cy="685800"/>
          </a:xfrm>
          <a:prstGeom xmlns:a="http://schemas.openxmlformats.org/drawingml/2006/main" prst="rect">
            <a:avLst/>
          </a:prstGeom>
        </p:spPr>
      </p:pic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ED8D2F6D-5079-43D9-A995-B6D838501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1554480"/>
            <a:ext cx="96012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Container = proses biasa yang di-isolasi pakai fitur kernel Linux.</a:t>
            </a:r>
            <a:endParaRPr sz="1600"/>
          </a:p>
        </p:txBody>
      </p:sp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795B64AC-B996-4CAF-926B-AF46F3E68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1965960"/>
            <a:ext cx="96012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Share kernel OS host. Lebih ringan dari VM. </a:t>
            </a: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Startup umumnya cepat tanpa boot guest OS penuh.</a:t>
            </a:r>
            <a:endParaRPr sz="120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0F23B5C1-2CDC-4F34-8EB1-B19AC80D2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892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Karakteristik Container</a:t>
            </a:r>
            <a:endParaRPr sz="1400"/>
          </a:p>
        </p:txBody>
      </p:sp>
      <p:sp>
        <p:nvSpPr>
          <p:cNvPr id="15" name="Shape 10">
            <a:extLst xmlns:a="http://schemas.openxmlformats.org/drawingml/2006/main">
              <a:ext uri="{FF2B5EF4-FFF2-40B4-BE49-F238E27FC236}">
                <a16:creationId xmlns:a16="http://schemas.microsoft.com/office/drawing/2014/main" id="{748BCC62-1244-4D0F-89A3-5F3941D87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0400"/>
            <a:ext cx="274320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5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d71865e8674f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4360" y="338328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7" name="Text 11">
            <a:extLst xmlns:a="http://schemas.openxmlformats.org/drawingml/2006/main">
              <a:ext uri="{FF2B5EF4-FFF2-40B4-BE49-F238E27FC236}">
                <a16:creationId xmlns:a16="http://schemas.microsoft.com/office/drawing/2014/main" id="{2FBC5B66-78C1-4082-9513-19AE579FC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37560"/>
            <a:ext cx="19202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Cepat</a:t>
            </a:r>
            <a:endParaRPr sz="1300"/>
          </a:p>
        </p:txBody>
      </p:sp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6D105AF0-DAD4-437C-A47A-52B65CDBA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931920"/>
            <a:ext cx="24688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Startup cepat; jumlah instance bergantung resource dan aplikasi.</a:t>
            </a:r>
            <a:endParaRPr sz="1050"/>
          </a:p>
        </p:txBody>
      </p:sp>
      <p:sp>
        <p:nvSpPr>
          <p:cNvPr id="19" name="Shape 13">
            <a:extLst xmlns:a="http://schemas.openxmlformats.org/drawingml/2006/main">
              <a:ext uri="{FF2B5EF4-FFF2-40B4-BE49-F238E27FC236}">
                <a16:creationId xmlns:a16="http://schemas.microsoft.com/office/drawing/2014/main" id="{D10281C2-F802-4144-BE86-8FF9102C3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3200400"/>
            <a:ext cx="274320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59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105a528ec346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74720" y="338328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21" name="Text 14">
            <a:extLst xmlns:a="http://schemas.openxmlformats.org/drawingml/2006/main">
              <a:ext uri="{FF2B5EF4-FFF2-40B4-BE49-F238E27FC236}">
                <a16:creationId xmlns:a16="http://schemas.microsoft.com/office/drawing/2014/main" id="{E14256DD-4855-4169-92CC-3410D162C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3360" y="3337560"/>
            <a:ext cx="19202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Ringan</a:t>
            </a:r>
            <a:endParaRPr sz="1300"/>
          </a:p>
        </p:txBody>
      </p:sp>
      <p:sp>
        <p:nvSpPr>
          <p:cNvPr id="22" name="Text 15">
            <a:extLst xmlns:a="http://schemas.openxmlformats.org/drawingml/2006/main">
              <a:ext uri="{FF2B5EF4-FFF2-40B4-BE49-F238E27FC236}">
                <a16:creationId xmlns:a16="http://schemas.microsoft.com/office/drawing/2014/main" id="{DC23C88A-7D66-4552-B0E2-E5DD4F825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3931920"/>
            <a:ext cx="24688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Overhead OS lebih rendah; RAM tetap bergantung aplikasi.</a:t>
            </a:r>
            <a:endParaRPr sz="1050"/>
          </a:p>
        </p:txBody>
      </p:sp>
      <p:sp>
        <p:nvSpPr>
          <p:cNvPr id="23" name="Shape 16">
            <a:extLst xmlns:a="http://schemas.openxmlformats.org/drawingml/2006/main">
              <a:ext uri="{FF2B5EF4-FFF2-40B4-BE49-F238E27FC236}">
                <a16:creationId xmlns:a16="http://schemas.microsoft.com/office/drawing/2014/main" id="{FA170166-02DE-402F-93B0-3E52B466B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200400"/>
            <a:ext cx="274320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63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f2681723c4c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55080" y="338328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25" name="Text 17">
            <a:extLst xmlns:a="http://schemas.openxmlformats.org/drawingml/2006/main">
              <a:ext uri="{FF2B5EF4-FFF2-40B4-BE49-F238E27FC236}">
                <a16:creationId xmlns:a16="http://schemas.microsoft.com/office/drawing/2014/main" id="{82317798-40DD-4D27-B0D1-BF7E0ADEB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3337560"/>
            <a:ext cx="19202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Reproducible</a:t>
            </a:r>
            <a:endParaRPr sz="1300"/>
          </a:p>
        </p:txBody>
      </p:sp>
      <p:sp>
        <p:nvSpPr>
          <p:cNvPr id="26" name="Text 18">
            <a:extLst xmlns:a="http://schemas.openxmlformats.org/drawingml/2006/main">
              <a:ext uri="{FF2B5EF4-FFF2-40B4-BE49-F238E27FC236}">
                <a16:creationId xmlns:a16="http://schemas.microsoft.com/office/drawing/2014/main" id="{6787D07A-F27E-4DFF-9E7C-0488AED4F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931920"/>
            <a:ext cx="24688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Dockerfile membangun image; image dijalankan sebagai container.</a:t>
            </a:r>
            <a:endParaRPr sz="1050"/>
          </a:p>
        </p:txBody>
      </p:sp>
      <p:sp>
        <p:nvSpPr>
          <p:cNvPr id="27" name="Shape 19">
            <a:extLst xmlns:a="http://schemas.openxmlformats.org/drawingml/2006/main">
              <a:ext uri="{FF2B5EF4-FFF2-40B4-BE49-F238E27FC236}">
                <a16:creationId xmlns:a16="http://schemas.microsoft.com/office/drawing/2014/main" id="{C4B6A281-65B9-4C55-9722-5F0D8D02D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3200400"/>
            <a:ext cx="274320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67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236942fee441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35440" y="338328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29" name="Text 20">
            <a:extLst xmlns:a="http://schemas.openxmlformats.org/drawingml/2006/main">
              <a:ext uri="{FF2B5EF4-FFF2-40B4-BE49-F238E27FC236}">
                <a16:creationId xmlns:a16="http://schemas.microsoft.com/office/drawing/2014/main" id="{019F3F3B-E419-4684-9822-4A9F2368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3337560"/>
            <a:ext cx="19202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Share Kernel</a:t>
            </a:r>
            <a:endParaRPr sz="1300"/>
          </a:p>
        </p:txBody>
      </p:sp>
      <p:sp>
        <p:nvSpPr>
          <p:cNvPr id="30" name="Text 21">
            <a:extLst xmlns:a="http://schemas.openxmlformats.org/drawingml/2006/main">
              <a:ext uri="{FF2B5EF4-FFF2-40B4-BE49-F238E27FC236}">
                <a16:creationId xmlns:a16="http://schemas.microsoft.com/office/drawing/2014/main" id="{DA387570-A65A-4A2E-A000-EA6C76ED5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931920"/>
            <a:ext cx="24688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Isolasi tidak sekuat VM - semua share Linux kernel host.</a:t>
            </a:r>
            <a:endParaRPr sz="1050"/>
          </a:p>
        </p:txBody>
      </p:sp>
      <p:sp>
        <p:nvSpPr>
          <p:cNvPr id="31" name="Text 22">
            <a:extLst xmlns:a="http://schemas.openxmlformats.org/drawingml/2006/main">
              <a:ext uri="{FF2B5EF4-FFF2-40B4-BE49-F238E27FC236}">
                <a16:creationId xmlns:a16="http://schemas.microsoft.com/office/drawing/2014/main" id="{D25733BA-3E00-4F76-91C6-1FE80DE93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4632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Analogi: VM vs Container</a:t>
            </a:r>
            <a:endParaRPr sz="1400"/>
          </a:p>
        </p:txBody>
      </p:sp>
      <p:sp>
        <p:nvSpPr>
          <p:cNvPr id="32" name="Shape 23">
            <a:extLst xmlns:a="http://schemas.openxmlformats.org/drawingml/2006/main">
              <a:ext uri="{FF2B5EF4-FFF2-40B4-BE49-F238E27FC236}">
                <a16:creationId xmlns:a16="http://schemas.microsoft.com/office/drawing/2014/main" id="{F46DE5BB-CBBF-4B37-B01F-CFFF28416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57800"/>
            <a:ext cx="1124712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3" name="Text 24">
            <a:extLst xmlns:a="http://schemas.openxmlformats.org/drawingml/2006/main">
              <a:ext uri="{FF2B5EF4-FFF2-40B4-BE49-F238E27FC236}">
                <a16:creationId xmlns:a16="http://schemas.microsoft.com/office/drawing/2014/main" id="{DD5DD9F4-4701-4FD6-BAAE-E8FC52A21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49240"/>
            <a:ext cx="1097280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2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VM = rumah</a:t>
            </a: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(punya dinding, atap, halaman, dapur sendiri - lengkap tapi mahal &amp; lama dibangun)</a:t>
            </a:r>
            <a:endParaRPr sz="1200"/>
          </a:p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2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Container = apartemen</a:t>
            </a: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(share dinding &amp; fondasi gedung, tapi punya pintu, kunci, dan ruang privat sendiri - cepat &amp; efisien)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96009805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53B7CE3-D01C-4904-B8C9-65FC2C6FF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4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AA77DA1-81B7-4C59-AFAF-3DF465B24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31A32D4-0F07-4516-9534-8EC8D7D1A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e70ab3aebf45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6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eae911032d47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2DE6C574-6DB4-4D89-9C78-A3DF50783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C9C3F5C-2EFF-456A-B8A4-821775B2B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VM vs Container - Side by Side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8A84A38-DD93-42D4-9193-CA9FDE731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Perbedaan paling penting di sesi ini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B1C3A22-8654-40F9-8423-628CDE7C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03B8ADA9-0C4B-477C-8822-25EF3A490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62269F5D-D286-4FE1-B0FD-9D70D9E0C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VIRTUAL MACHINE</a:t>
            </a:r>
            <a:endParaRPr sz="15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3E937A42-D628-4841-8D28-40805B8D6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03120"/>
            <a:ext cx="1691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E869006E-63DA-4242-9CC9-14740EC23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03120"/>
            <a:ext cx="1691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 A</a:t>
            </a:r>
            <a:endParaRPr sz="1100"/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01857BB2-FBF7-4125-A1B9-C0AD22C47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2103120"/>
            <a:ext cx="1691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002F8375-1A83-4E17-9F49-C1A9637AF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2103120"/>
            <a:ext cx="1691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 B</a:t>
            </a:r>
            <a:endParaRPr sz="11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59DBC08C-165A-4890-9CD9-177E50FF2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2103120"/>
            <a:ext cx="1691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F2D2CF2B-29F5-4682-A674-73664F4A0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2103120"/>
            <a:ext cx="1691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 C</a:t>
            </a:r>
            <a:endParaRPr sz="11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B704FC5D-62BB-422B-B4A5-1A7FB31DB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514600"/>
            <a:ext cx="169164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AC2C7AE0-E042-4B0C-927E-EFF7362F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514600"/>
            <a:ext cx="16916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Guest OS</a:t>
            </a:r>
            <a:endParaRPr sz="1100"/>
          </a:p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D64A162F-B573-44D8-96DB-BA5F23138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2514600"/>
            <a:ext cx="169164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86365C3B-3608-4462-BE48-34DA44753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2514600"/>
            <a:ext cx="16916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Guest OS</a:t>
            </a:r>
            <a:endParaRPr sz="110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D41CA436-F8A7-4479-9B6F-6F7E6D96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2514600"/>
            <a:ext cx="169164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43E78CA4-51A7-45A8-A5B2-F1A649127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2514600"/>
            <a:ext cx="16916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Guest OS</a:t>
            </a:r>
            <a:endParaRPr sz="1100"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C3FE1F05-758A-4795-8466-CD25F0AB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00400"/>
            <a:ext cx="5257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E8B4A24F-D855-420B-8666-0AC923DF6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00400"/>
            <a:ext cx="5257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HYPERVISOR</a:t>
            </a:r>
            <a:endParaRPr sz="1200"/>
          </a:p>
        </p:txBody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CD911D33-1461-4E1F-81DC-8478B6FA9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03320"/>
            <a:ext cx="5257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E5898C53-2504-485C-98EE-B1E8509ED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03320"/>
            <a:ext cx="5257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HOST OS  (optional)</a:t>
            </a:r>
            <a:endParaRPr sz="12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5530CC09-87BE-44A7-88F9-5D7B01F72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6240"/>
            <a:ext cx="5257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5569"/>
          </a:solidFill>
          <a:ln xmlns:a="http://schemas.openxmlformats.org/drawingml/2006/main" w="12700">
            <a:solidFill>
              <a:srgbClr val="475569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5125A730-975B-406F-8D1E-A693A78A6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6240"/>
            <a:ext cx="5257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HARDWARE</a:t>
            </a:r>
            <a:endParaRPr sz="12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6B0C5987-E885-4E0D-A266-EF8220B29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00600"/>
            <a:ext cx="52578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+ Isolasi penuh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+ Bisa multi-OS (Win, Linux, dll)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- Berat (GB RAM, GB disk)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- Boot lambat (menit)</a:t>
            </a:r>
            <a:endParaRPr sz="110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31F7E138-0877-4D79-96C9-177D9A628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3" name="Shape 29">
            <a:extLst xmlns:a="http://schemas.openxmlformats.org/drawingml/2006/main">
              <a:ext uri="{FF2B5EF4-FFF2-40B4-BE49-F238E27FC236}">
                <a16:creationId xmlns:a16="http://schemas.microsoft.com/office/drawing/2014/main" id="{2A8E7684-3F3B-4D2A-ADE4-DA0AE5A39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106F6CFD-E78F-4D5D-AEED-7887CD23A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CONTAINER</a:t>
            </a:r>
            <a:endParaRPr sz="1500"/>
          </a:p>
        </p:txBody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81685DED-455C-45F6-9A20-01732B119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03120"/>
            <a:ext cx="1225296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2B4F9C69-8DC5-4B1B-9165-6AA92698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03120"/>
            <a:ext cx="1225296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 A</a:t>
            </a:r>
            <a:endParaRPr sz="1100"/>
          </a:p>
        </p:txBody>
      </p:sp>
      <p:sp>
        <p:nvSpPr>
          <p:cNvPr id="37" name="Shape 33">
            <a:extLst xmlns:a="http://schemas.openxmlformats.org/drawingml/2006/main">
              <a:ext uri="{FF2B5EF4-FFF2-40B4-BE49-F238E27FC236}">
                <a16:creationId xmlns:a16="http://schemas.microsoft.com/office/drawing/2014/main" id="{A1516AB8-FC55-41C2-AF11-371180A58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9248" y="2103120"/>
            <a:ext cx="1225296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922C63F2-C554-473B-AA13-370714A8A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9248" y="2103120"/>
            <a:ext cx="1225296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 B</a:t>
            </a:r>
            <a:endParaRPr sz="110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025B8398-4B84-42B3-8D7E-DDA4FA448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7696" y="2103120"/>
            <a:ext cx="1225296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517E3D1D-458B-4A5C-8663-3169DDB16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7696" y="2103120"/>
            <a:ext cx="1225296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 C</a:t>
            </a:r>
            <a:endParaRPr sz="1100"/>
          </a:p>
        </p:txBody>
      </p:sp>
      <p:sp>
        <p:nvSpPr>
          <p:cNvPr id="41" name="Shape 37">
            <a:extLst xmlns:a="http://schemas.openxmlformats.org/drawingml/2006/main">
              <a:ext uri="{FF2B5EF4-FFF2-40B4-BE49-F238E27FC236}">
                <a16:creationId xmlns:a16="http://schemas.microsoft.com/office/drawing/2014/main" id="{20FF77AC-F497-4A43-865E-911101B9A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144" y="2103120"/>
            <a:ext cx="1225296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2276BFEB-32D2-45AB-9FE9-D039694CC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144" y="2103120"/>
            <a:ext cx="1225296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 D</a:t>
            </a:r>
            <a:endParaRPr sz="1100"/>
          </a:p>
        </p:txBody>
      </p:sp>
      <p:sp>
        <p:nvSpPr>
          <p:cNvPr id="43" name="Shape 39">
            <a:extLst xmlns:a="http://schemas.openxmlformats.org/drawingml/2006/main">
              <a:ext uri="{FF2B5EF4-FFF2-40B4-BE49-F238E27FC236}">
                <a16:creationId xmlns:a16="http://schemas.microsoft.com/office/drawing/2014/main" id="{CDDC303E-70BD-4C74-9EF4-912E1757C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8920"/>
            <a:ext cx="5175504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44" name="Text 40">
            <a:extLst xmlns:a="http://schemas.openxmlformats.org/drawingml/2006/main">
              <a:ext uri="{FF2B5EF4-FFF2-40B4-BE49-F238E27FC236}">
                <a16:creationId xmlns:a16="http://schemas.microsoft.com/office/drawing/2014/main" id="{365B8C07-4F00-4406-9652-88523F546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8920"/>
            <a:ext cx="517550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CONTAINER ENGINE  (Docker, containerd)</a:t>
            </a:r>
            <a:endParaRPr sz="1100"/>
          </a:p>
        </p:txBody>
      </p:sp>
      <p:sp>
        <p:nvSpPr>
          <p:cNvPr id="45" name="Shape 41">
            <a:extLst xmlns:a="http://schemas.openxmlformats.org/drawingml/2006/main">
              <a:ext uri="{FF2B5EF4-FFF2-40B4-BE49-F238E27FC236}">
                <a16:creationId xmlns:a16="http://schemas.microsoft.com/office/drawing/2014/main" id="{6A61B6C4-FC98-4C51-8E61-D83F31082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91840"/>
            <a:ext cx="5175504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46" name="Text 42">
            <a:extLst xmlns:a="http://schemas.openxmlformats.org/drawingml/2006/main">
              <a:ext uri="{FF2B5EF4-FFF2-40B4-BE49-F238E27FC236}">
                <a16:creationId xmlns:a16="http://schemas.microsoft.com/office/drawing/2014/main" id="{12B77F01-1774-4905-80E3-18146DAA4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91840"/>
            <a:ext cx="5175504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HOST OS  +  KERNEL  (Linux)</a:t>
            </a:r>
            <a:endParaRPr sz="1200"/>
          </a:p>
        </p:txBody>
      </p:sp>
      <p:sp>
        <p:nvSpPr>
          <p:cNvPr id="47" name="Shape 43">
            <a:extLst xmlns:a="http://schemas.openxmlformats.org/drawingml/2006/main">
              <a:ext uri="{FF2B5EF4-FFF2-40B4-BE49-F238E27FC236}">
                <a16:creationId xmlns:a16="http://schemas.microsoft.com/office/drawing/2014/main" id="{ADFFF54B-AEF2-4EC6-B908-F66E71407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06240"/>
            <a:ext cx="5175504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5569"/>
          </a:solidFill>
          <a:ln xmlns:a="http://schemas.openxmlformats.org/drawingml/2006/main" w="12700">
            <a:solidFill>
              <a:srgbClr val="475569"/>
            </a:solidFill>
            <a:prstDash val="solid"/>
          </a:ln>
        </p:spPr>
      </p:sp>
      <p:sp>
        <p:nvSpPr>
          <p:cNvPr id="48" name="Text 44">
            <a:extLst xmlns:a="http://schemas.openxmlformats.org/drawingml/2006/main">
              <a:ext uri="{FF2B5EF4-FFF2-40B4-BE49-F238E27FC236}">
                <a16:creationId xmlns:a16="http://schemas.microsoft.com/office/drawing/2014/main" id="{62713D22-5551-43BA-9E62-C20182E5C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06240"/>
            <a:ext cx="517550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HARDWARE</a:t>
            </a:r>
            <a:endParaRPr sz="1200"/>
          </a:p>
        </p:txBody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3A3C0441-1249-49B9-9FB1-13946E330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800600"/>
            <a:ext cx="5175504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+ Ringan (MB RAM, MB disk)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+ Startup umumnya cepat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+ Image portable &amp; reproducible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- Share kernel (Linux only secara native)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63379387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43EBB09-FEB6-4CA4-9F6A-D90E18BE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4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8D29680-65D9-4FA9-94BA-4BDEC8DDC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8BBE634-EED0-47BA-9AF2-DF1FAED75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7ac39499524a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b050932cd749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1012010A-659E-44A4-A50C-3352427B0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7966371E-F83D-40B5-96BD-C640148C3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Linux Namespaces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97C741F-4F95-4ABA-B426-5E207655C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Fitur kernel yang bikin container possible - isolasi 'view'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E68425DF-B5BF-40E9-A7EF-1BE83CA49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6834D92E-5D12-41F9-B7D8-223636E40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8760"/>
            <a:ext cx="10789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Namespace = </a:t>
            </a:r>
            <a:r>
              <a:rPr sz="1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fitur kernel yang membuat proses 'melihat' subset dari sistem.</a:t>
            </a:r>
            <a:endParaRPr sz="1400"/>
          </a:p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Jadi tiap container kelihatan punya filesystem, network, dan process tree sendiri - padahal share kernel yang sama.</a:t>
            </a:r>
            <a:endParaRPr sz="14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6AA39D59-24BA-4E2F-A954-9BA76E53E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370332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260E8A30-F324-47BE-8868-FE97A8A77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128016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A827461F-E319-4F76-90BE-649F9F3E2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128016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PID</a:t>
            </a:r>
            <a:endParaRPr sz="22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DBF02D99-9EF5-4F0A-9F44-B56E878ED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2606040"/>
            <a:ext cx="21488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Process ID - proses di container lihat PID 1 sendiri</a:t>
            </a:r>
            <a:endParaRPr sz="11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EC803417-78BB-43C2-856D-A3A491A13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3383280"/>
            <a:ext cx="214884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ps aux di container cuma tampil proses container</a:t>
            </a:r>
            <a:endParaRPr sz="10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C046FFAE-786F-49AE-951F-78C6664C8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468880"/>
            <a:ext cx="370332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8E92E01E-8288-42AF-BEF4-3F4D55C02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468880"/>
            <a:ext cx="128016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3AF3F534-B4F1-4E6B-8955-7C04C0364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468880"/>
            <a:ext cx="128016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NET</a:t>
            </a:r>
            <a:endParaRPr sz="22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A93607A4-E22C-4B99-AF5B-04CF73287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606040"/>
            <a:ext cx="21488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Network - interface, IP, routing table sendiri</a:t>
            </a:r>
            <a:endParaRPr sz="11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C6FD6D85-0E75-4EF6-A8E1-14A0DC1A3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383280"/>
            <a:ext cx="214884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Container A:80 dan B:80 tidak konflik</a:t>
            </a:r>
            <a:endParaRPr sz="100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065F4E4F-3DDF-490D-AC99-85145F9DA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468880"/>
            <a:ext cx="370332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C6D355E7-0AAB-4E13-A03D-6ED4A69C3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468880"/>
            <a:ext cx="128016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8C2A5C92-0839-448D-B870-D2ED215C7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468880"/>
            <a:ext cx="128016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MNT</a:t>
            </a:r>
            <a:endParaRPr sz="22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8537C075-CA98-4963-AE04-E6A6F0B99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2606040"/>
            <a:ext cx="21488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Mount - filesystem tree terisolasi</a:t>
            </a:r>
            <a:endParaRPr sz="11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6D301771-EA33-4453-A53A-B3CA5B88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3383280"/>
            <a:ext cx="214884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Container lihat / sendiri (image-nya)</a:t>
            </a:r>
            <a:endParaRPr sz="1000"/>
          </a:p>
        </p:txBody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D4FBAFF7-F530-4896-80E3-6625E3F8D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34840"/>
            <a:ext cx="370332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4B649CFD-250B-4A3E-BAC7-8BA266A2D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34840"/>
            <a:ext cx="128016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12E6EC29-1439-4241-BAC7-B199053F1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34840"/>
            <a:ext cx="128016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UTS</a:t>
            </a:r>
            <a:endParaRPr sz="2200"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D8766F1F-84E7-490F-A687-D295B44CF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4572000"/>
            <a:ext cx="21488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Hostname + domain name sendiri</a:t>
            </a:r>
            <a:endParaRPr sz="11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3B5A790C-5ED5-4E3D-BBA0-2600E4DE2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5349240"/>
            <a:ext cx="214884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Tiap container bisa $hostname beda</a:t>
            </a:r>
            <a:endParaRPr sz="100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39AD1E49-9699-4DA5-9D78-C6BEB7CD6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4434840"/>
            <a:ext cx="370332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3" name="Shape 29">
            <a:extLst xmlns:a="http://schemas.openxmlformats.org/drawingml/2006/main">
              <a:ext uri="{FF2B5EF4-FFF2-40B4-BE49-F238E27FC236}">
                <a16:creationId xmlns:a16="http://schemas.microsoft.com/office/drawing/2014/main" id="{419FF18F-AC9A-4C02-9833-F7CF70E3D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4434840"/>
            <a:ext cx="128016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B4D96EDB-7B5E-4301-B3F4-3BCF575D8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4434840"/>
            <a:ext cx="128016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IPC</a:t>
            </a:r>
            <a:endParaRPr sz="220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7EF0BAA3-25D4-4444-AA74-AF1EEE51A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572000"/>
            <a:ext cx="21488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Inter-process communication (shared mem, semaphore)</a:t>
            </a:r>
            <a:endParaRPr sz="11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9D7978E1-1931-48EA-A500-488C5329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349240"/>
            <a:ext cx="214884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Tidak bisa kirim signal antar container</a:t>
            </a:r>
            <a:endParaRPr sz="1000"/>
          </a:p>
        </p:txBody>
      </p:sp>
      <p:sp>
        <p:nvSpPr>
          <p:cNvPr id="37" name="Shape 33">
            <a:extLst xmlns:a="http://schemas.openxmlformats.org/drawingml/2006/main">
              <a:ext uri="{FF2B5EF4-FFF2-40B4-BE49-F238E27FC236}">
                <a16:creationId xmlns:a16="http://schemas.microsoft.com/office/drawing/2014/main" id="{8B1A1C14-D572-4526-A0B5-2535C4A55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434840"/>
            <a:ext cx="370332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B1064186-5AF7-43D9-88DA-66CC236E6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434840"/>
            <a:ext cx="128016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1473B67F-0F8D-4B1F-B0E2-292C84718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434840"/>
            <a:ext cx="128016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USER</a:t>
            </a:r>
            <a:endParaRPr sz="2200"/>
          </a:p>
        </p:txBody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E9607D85-A136-4D6B-8C63-C111B856B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4572000"/>
            <a:ext cx="21488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UID + GID mapping - root di container != root di host</a:t>
            </a:r>
            <a:endParaRPr sz="11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0C6B1D26-4C4A-42E6-8068-13228FD94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5349240"/>
            <a:ext cx="214884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Container root bisa = host user biasa</a:t>
            </a:r>
            <a:endParaRPr sz="100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B0E3A74C-C8EF-4EC4-BB7E-6B9D89EEC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Lihat namespaces yang aktif: </a:t>
            </a:r>
            <a:r>
              <a:rPr sz="1100" b="1" i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lsns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 |  Masuk ke namespace proses: </a:t>
            </a:r>
            <a:r>
              <a:rPr sz="1100" b="1" i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nsenter --target &lt;PID&gt; --all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0105358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C6F27AD-E8C2-4F77-AB46-3066561D8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4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5BA47B0-5E63-4689-8384-DE2D5A45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D14B531-F467-494C-84BD-DC0616C99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15a130f02c4a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bf8b89a13047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1DE13E77-61AB-488C-AF53-B90834DF3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57C7CAC-A72F-448A-9BBC-F8294408B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Linux cgroups (Control Groups)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47E0CF21-FA63-4CBC-9E6B-F3A6D1298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Membatasi resource yang bisa dipakai container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734847D4-BF0F-4B30-AE9F-6D641BCE9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219D84C6-47AE-4694-ABFB-0FE46E45C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8760"/>
            <a:ext cx="10789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cgroups = </a:t>
            </a:r>
            <a:r>
              <a:rPr sz="1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fitur kernel untuk batasi &amp; monitor resource konsumsi proses.</a:t>
            </a:r>
            <a:endParaRPr sz="1400"/>
          </a:p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Kalau namespace bikin 'view' isolasi, cgroup yang batasi 'jatah' - berapa CPU, RAM, IO yang boleh dipakai.</a:t>
            </a:r>
            <a:endParaRPr sz="14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3763BE06-29D8-4C3A-9B38-D7308174E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2743200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24CA336E-9A95-45A0-8FF8-14E47331E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274320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65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aa09e045aa40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08760" y="2788920"/>
            <a:ext cx="640080" cy="640080"/>
          </a:xfrm>
          <a:prstGeom xmlns:a="http://schemas.openxmlformats.org/drawingml/2006/main" prst="rect">
            <a:avLst/>
          </a:prstGeom>
        </p:spPr>
      </p:pic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EEA29E9B-6C04-4DB3-950C-4ADF411DB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7472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CPU</a:t>
            </a:r>
            <a:endParaRPr sz="16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2F317DE5-B73C-4C54-B7C0-8F618998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0"/>
            <a:ext cx="24688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Batas core / share / period</a:t>
            </a:r>
            <a:endParaRPr sz="1100"/>
          </a:p>
        </p:txBody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81DD5E39-F32D-4E5C-85A4-98A4D61B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160520"/>
            <a:ext cx="246888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18" name="Text 13">
            <a:extLst xmlns:a="http://schemas.openxmlformats.org/drawingml/2006/main">
              <a:ext uri="{FF2B5EF4-FFF2-40B4-BE49-F238E27FC236}">
                <a16:creationId xmlns:a16="http://schemas.microsoft.com/office/drawing/2014/main" id="{2CEAA3C4-BB47-443E-82EB-D83CE6670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160520"/>
            <a:ext cx="24688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--cpus=1.5 (1.5 core max)</a:t>
            </a:r>
            <a:endParaRPr sz="900"/>
          </a:p>
        </p:txBody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AE496A0C-9895-4EFC-9417-2FC9113BB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2514600"/>
            <a:ext cx="2743200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0" name="Shape 15">
            <a:extLst xmlns:a="http://schemas.openxmlformats.org/drawingml/2006/main">
              <a:ext uri="{FF2B5EF4-FFF2-40B4-BE49-F238E27FC236}">
                <a16:creationId xmlns:a16="http://schemas.microsoft.com/office/drawing/2014/main" id="{56C7400F-395A-4E4A-AD72-A0AE8850E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2514600"/>
            <a:ext cx="274320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7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80f82151fb4f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89120" y="2788920"/>
            <a:ext cx="640080" cy="640080"/>
          </a:xfrm>
          <a:prstGeom xmlns:a="http://schemas.openxmlformats.org/drawingml/2006/main" prst="rect">
            <a:avLst/>
          </a:prstGeom>
        </p:spPr>
      </p:pic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38B400FE-C3E6-4CE5-ADA3-DD88CCC8F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347472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Memory</a:t>
            </a:r>
            <a:endParaRPr sz="1600"/>
          </a:p>
        </p:txBody>
      </p:sp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508BDA6A-7694-42FB-93A1-790C39A27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3840480"/>
            <a:ext cx="24688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Batas RAM + swap usage</a:t>
            </a:r>
            <a:endParaRPr sz="1100"/>
          </a:p>
        </p:txBody>
      </p:sp>
      <p:sp>
        <p:nvSpPr>
          <p:cNvPr id="24" name="Shape 18">
            <a:extLst xmlns:a="http://schemas.openxmlformats.org/drawingml/2006/main">
              <a:ext uri="{FF2B5EF4-FFF2-40B4-BE49-F238E27FC236}">
                <a16:creationId xmlns:a16="http://schemas.microsoft.com/office/drawing/2014/main" id="{D44EC0A5-1B4F-4E9D-A115-C8F1BD94F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4160520"/>
            <a:ext cx="246888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5" name="Text 19">
            <a:extLst xmlns:a="http://schemas.openxmlformats.org/drawingml/2006/main">
              <a:ext uri="{FF2B5EF4-FFF2-40B4-BE49-F238E27FC236}">
                <a16:creationId xmlns:a16="http://schemas.microsoft.com/office/drawing/2014/main" id="{3A3B417A-46B8-412A-B6B2-CE1A4450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4160520"/>
            <a:ext cx="24688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-m 512m (max 512 MB)</a:t>
            </a:r>
            <a:endParaRPr sz="900"/>
          </a:p>
        </p:txBody>
      </p:sp>
      <p:sp>
        <p:nvSpPr>
          <p:cNvPr id="26" name="Shape 20">
            <a:extLst xmlns:a="http://schemas.openxmlformats.org/drawingml/2006/main">
              <a:ext uri="{FF2B5EF4-FFF2-40B4-BE49-F238E27FC236}">
                <a16:creationId xmlns:a16="http://schemas.microsoft.com/office/drawing/2014/main" id="{536FCC5C-7A28-488A-9652-A9E849F3B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514600"/>
            <a:ext cx="2743200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7" name="Shape 21">
            <a:extLst xmlns:a="http://schemas.openxmlformats.org/drawingml/2006/main">
              <a:ext uri="{FF2B5EF4-FFF2-40B4-BE49-F238E27FC236}">
                <a16:creationId xmlns:a16="http://schemas.microsoft.com/office/drawing/2014/main" id="{A65F0676-08D2-48CA-8CB1-E5879C16B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514600"/>
            <a:ext cx="274320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79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1a7648e7e44c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69480" y="2788920"/>
            <a:ext cx="640080" cy="640080"/>
          </a:xfrm>
          <a:prstGeom xmlns:a="http://schemas.openxmlformats.org/drawingml/2006/main" prst="rect">
            <a:avLst/>
          </a:prstGeom>
        </p:spPr>
      </p:pic>
      <p:sp>
        <p:nvSpPr>
          <p:cNvPr id="29" name="Text 22">
            <a:extLst xmlns:a="http://schemas.openxmlformats.org/drawingml/2006/main">
              <a:ext uri="{FF2B5EF4-FFF2-40B4-BE49-F238E27FC236}">
                <a16:creationId xmlns:a16="http://schemas.microsoft.com/office/drawing/2014/main" id="{9067EDEC-8B2C-404E-94BE-9D88184B7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47472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Block I/O</a:t>
            </a:r>
            <a:endParaRPr sz="1600"/>
          </a:p>
        </p:txBody>
      </p:sp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B8F25B1E-2780-462E-A6F7-381B9C5C5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840480"/>
            <a:ext cx="24688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Batas baca/tulis disk</a:t>
            </a:r>
            <a:endParaRPr sz="1100"/>
          </a:p>
        </p:txBody>
      </p:sp>
      <p:sp>
        <p:nvSpPr>
          <p:cNvPr id="31" name="Shape 24">
            <a:extLst xmlns:a="http://schemas.openxmlformats.org/drawingml/2006/main">
              <a:ext uri="{FF2B5EF4-FFF2-40B4-BE49-F238E27FC236}">
                <a16:creationId xmlns:a16="http://schemas.microsoft.com/office/drawing/2014/main" id="{6C1375D8-EB8B-4DC2-8861-FF5045DC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160520"/>
            <a:ext cx="246888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2" name="Text 25">
            <a:extLst xmlns:a="http://schemas.openxmlformats.org/drawingml/2006/main">
              <a:ext uri="{FF2B5EF4-FFF2-40B4-BE49-F238E27FC236}">
                <a16:creationId xmlns:a16="http://schemas.microsoft.com/office/drawing/2014/main" id="{389CEE0A-6FA0-4567-B105-FBF1F5D12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160520"/>
            <a:ext cx="24688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--blkio-weight=500</a:t>
            </a:r>
            <a:endParaRPr sz="900"/>
          </a:p>
        </p:txBody>
      </p:sp>
      <p:sp>
        <p:nvSpPr>
          <p:cNvPr id="33" name="Shape 26">
            <a:extLst xmlns:a="http://schemas.openxmlformats.org/drawingml/2006/main">
              <a:ext uri="{FF2B5EF4-FFF2-40B4-BE49-F238E27FC236}">
                <a16:creationId xmlns:a16="http://schemas.microsoft.com/office/drawing/2014/main" id="{E93DFFCF-19A9-47BD-BEA4-C40E5F63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2514600"/>
            <a:ext cx="2743200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4" name="Shape 27">
            <a:extLst xmlns:a="http://schemas.openxmlformats.org/drawingml/2006/main">
              <a:ext uri="{FF2B5EF4-FFF2-40B4-BE49-F238E27FC236}">
                <a16:creationId xmlns:a16="http://schemas.microsoft.com/office/drawing/2014/main" id="{66BEAF63-8B13-4B45-89F1-9C5482FA5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2514600"/>
            <a:ext cx="274320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86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f9426b149949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149840" y="2788920"/>
            <a:ext cx="640080" cy="640080"/>
          </a:xfrm>
          <a:prstGeom xmlns:a="http://schemas.openxmlformats.org/drawingml/2006/main" prst="rect">
            <a:avLst/>
          </a:prstGeom>
        </p:spPr>
      </p:pic>
      <p:sp>
        <p:nvSpPr>
          <p:cNvPr id="36" name="Text 28">
            <a:extLst xmlns:a="http://schemas.openxmlformats.org/drawingml/2006/main">
              <a:ext uri="{FF2B5EF4-FFF2-40B4-BE49-F238E27FC236}">
                <a16:creationId xmlns:a16="http://schemas.microsoft.com/office/drawing/2014/main" id="{04BEDADF-C70D-4A4F-9586-60E5C3177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347472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PIDs</a:t>
            </a:r>
            <a:endParaRPr sz="1600"/>
          </a:p>
        </p:txBody>
      </p:sp>
      <p:sp>
        <p:nvSpPr>
          <p:cNvPr id="37" name="Text 29">
            <a:extLst xmlns:a="http://schemas.openxmlformats.org/drawingml/2006/main">
              <a:ext uri="{FF2B5EF4-FFF2-40B4-BE49-F238E27FC236}">
                <a16:creationId xmlns:a16="http://schemas.microsoft.com/office/drawing/2014/main" id="{8B92E1FF-2A03-46A3-BBB9-721A501CB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840480"/>
            <a:ext cx="24688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Batas jumlah proses</a:t>
            </a:r>
            <a:endParaRPr sz="1100"/>
          </a:p>
        </p:txBody>
      </p:sp>
      <p:sp>
        <p:nvSpPr>
          <p:cNvPr id="38" name="Shape 30">
            <a:extLst xmlns:a="http://schemas.openxmlformats.org/drawingml/2006/main">
              <a:ext uri="{FF2B5EF4-FFF2-40B4-BE49-F238E27FC236}">
                <a16:creationId xmlns:a16="http://schemas.microsoft.com/office/drawing/2014/main" id="{821CFE06-2887-4527-B0B6-1CE548C9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4160520"/>
            <a:ext cx="246888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9" name="Text 31">
            <a:extLst xmlns:a="http://schemas.openxmlformats.org/drawingml/2006/main">
              <a:ext uri="{FF2B5EF4-FFF2-40B4-BE49-F238E27FC236}">
                <a16:creationId xmlns:a16="http://schemas.microsoft.com/office/drawing/2014/main" id="{FDC04A4F-2A61-4FF5-87A3-E33E9B07C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4160520"/>
            <a:ext cx="24688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--pids-limit=100</a:t>
            </a:r>
            <a:endParaRPr sz="900"/>
          </a:p>
        </p:txBody>
      </p:sp>
      <p:sp>
        <p:nvSpPr>
          <p:cNvPr id="40" name="Shape 32">
            <a:extLst xmlns:a="http://schemas.openxmlformats.org/drawingml/2006/main">
              <a:ext uri="{FF2B5EF4-FFF2-40B4-BE49-F238E27FC236}">
                <a16:creationId xmlns:a16="http://schemas.microsoft.com/office/drawing/2014/main" id="{1E80F883-333C-4E0E-949F-E27758449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63440"/>
            <a:ext cx="1124712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41" name="Shape 33">
            <a:extLst xmlns:a="http://schemas.openxmlformats.org/drawingml/2006/main">
              <a:ext uri="{FF2B5EF4-FFF2-40B4-BE49-F238E27FC236}">
                <a16:creationId xmlns:a16="http://schemas.microsoft.com/office/drawing/2014/main" id="{76DE9A3F-E366-4FF3-BB92-7F6895F7A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6344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42" name="Shape 34">
            <a:extLst xmlns:a="http://schemas.openxmlformats.org/drawingml/2006/main">
              <a:ext uri="{FF2B5EF4-FFF2-40B4-BE49-F238E27FC236}">
                <a16:creationId xmlns:a16="http://schemas.microsoft.com/office/drawing/2014/main" id="{87D1C1FC-F497-42C7-ABDF-27BD5D57D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457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43" name="Shape 35">
            <a:extLst xmlns:a="http://schemas.openxmlformats.org/drawingml/2006/main">
              <a:ext uri="{FF2B5EF4-FFF2-40B4-BE49-F238E27FC236}">
                <a16:creationId xmlns:a16="http://schemas.microsoft.com/office/drawing/2014/main" id="{2B714EF5-24F1-49CF-9173-6CF9EEA96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57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44" name="Shape 36">
            <a:extLst xmlns:a="http://schemas.openxmlformats.org/drawingml/2006/main">
              <a:ext uri="{FF2B5EF4-FFF2-40B4-BE49-F238E27FC236}">
                <a16:creationId xmlns:a16="http://schemas.microsoft.com/office/drawing/2014/main" id="{38EE791E-30F0-4510-8D3E-7A6B5FDE3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7457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45" name="Text 37">
            <a:extLst xmlns:a="http://schemas.openxmlformats.org/drawingml/2006/main">
              <a:ext uri="{FF2B5EF4-FFF2-40B4-BE49-F238E27FC236}">
                <a16:creationId xmlns:a16="http://schemas.microsoft.com/office/drawing/2014/main" id="{72AFCE23-DF6E-4DAC-AFD1-4BE5E16F3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66344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Docker pakai cgroup di balik layar</a:t>
            </a:r>
            <a:endParaRPr sz="900"/>
          </a:p>
        </p:txBody>
      </p:sp>
      <p:sp>
        <p:nvSpPr>
          <p:cNvPr id="46" name="Text 38">
            <a:extLst xmlns:a="http://schemas.openxmlformats.org/drawingml/2006/main">
              <a:ext uri="{FF2B5EF4-FFF2-40B4-BE49-F238E27FC236}">
                <a16:creationId xmlns:a16="http://schemas.microsoft.com/office/drawing/2014/main" id="{33ECE857-DEF6-435B-A1D5-25B57D6EB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029200"/>
            <a:ext cx="1097280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Run container dengan limit 512MB RAM + 1 CPU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docker run --memory=512m --cpus=1 nginx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Cek limit memory container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docker inspect --format '{{.HostConfig.Memory}}' &lt;container&gt;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536870912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59916630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184342D-9D1D-4718-9653-7EABCF4B3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4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CB10C39-9877-4292-B968-84CACFEA1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E5B92E5-43E1-44E9-B9AC-53D4EDDCA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6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0222812b2c40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6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fb00c05d5642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B47E88A-FF9E-4239-8CAC-79FA98675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5218C27D-9778-419E-88A3-FAE1F901D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Container Engines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ACA23FE-B8F8-4771-8096-246DAE34D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Software yang manage container - bukan cuma Docker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E3CD8D3-D56C-431A-B0C3-149CEF80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69748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F06521CA-9772-44F7-9FF3-878514314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12700">
            <a:solidFill>
              <a:srgbClr val="2496ED"/>
            </a:solidFill>
            <a:prstDash val="solid"/>
          </a:ln>
        </p:spPr>
      </p:sp>
      <p:pic>
        <p:nvPicPr>
          <p:cNvPr id="6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82c99c07f14a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40180" y="1737360"/>
            <a:ext cx="731520" cy="73152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BE3AA1EE-BA09-4B8D-93E9-E54BD8CD9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2697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Docker</a:t>
            </a:r>
            <a:endParaRPr sz="1600"/>
          </a:p>
        </p:txBody>
      </p:sp>
      <p:sp>
        <p:nvSpPr>
          <p:cNvPr id="14" name="Shape 9">
            <a:extLst xmlns:a="http://schemas.openxmlformats.org/drawingml/2006/main">
              <a:ext uri="{FF2B5EF4-FFF2-40B4-BE49-F238E27FC236}">
                <a16:creationId xmlns:a16="http://schemas.microsoft.com/office/drawing/2014/main" id="{514708DC-F773-4C32-AE68-2F2BAF421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971800"/>
            <a:ext cx="1097280" cy="27432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9F6DA53B-BE71-474C-A58D-224CB5B1A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971800"/>
            <a:ext cx="1097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Sejak 2013</a:t>
            </a:r>
            <a:endParaRPr sz="10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5CFB42CE-AB61-4CB9-BFD9-6CF5500D9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383280"/>
            <a:ext cx="242316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Yang paling populer. Punya CLI yang user-friendly + Docker Hub registry. Standar de-facto.</a:t>
            </a:r>
            <a:endParaRPr sz="1100"/>
          </a:p>
        </p:txBody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27A64AB9-DD2E-408F-A7AC-EE1ADCDBB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440680"/>
            <a:ext cx="2423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Text 13">
            <a:extLst xmlns:a="http://schemas.openxmlformats.org/drawingml/2006/main">
              <a:ext uri="{FF2B5EF4-FFF2-40B4-BE49-F238E27FC236}">
                <a16:creationId xmlns:a16="http://schemas.microsoft.com/office/drawing/2014/main" id="{BF28B488-EF21-4CDD-8864-EB0B66E17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532120"/>
            <a:ext cx="24231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Use case:</a:t>
            </a:r>
            <a:endParaRPr sz="900"/>
          </a:p>
        </p:txBody>
      </p:sp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39FB7B1E-6CE8-446F-B2A5-B1DA263A3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76072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Default dev workflow</a:t>
            </a:r>
            <a:endParaRPr sz="1100"/>
          </a:p>
        </p:txBody>
      </p:sp>
      <p:sp>
        <p:nvSpPr>
          <p:cNvPr id="20" name="Shape 15">
            <a:extLst xmlns:a="http://schemas.openxmlformats.org/drawingml/2006/main">
              <a:ext uri="{FF2B5EF4-FFF2-40B4-BE49-F238E27FC236}">
                <a16:creationId xmlns:a16="http://schemas.microsoft.com/office/drawing/2014/main" id="{2C5EF43B-921D-4A49-912D-3E6A8E485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1417320"/>
            <a:ext cx="269748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9E2BCC6B-F5CA-4CB6-BDD8-65BED3486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141732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5757"/>
          </a:solidFill>
          <a:ln xmlns:a="http://schemas.openxmlformats.org/drawingml/2006/main" w="12700">
            <a:solidFill>
              <a:srgbClr val="575757"/>
            </a:solidFill>
            <a:prstDash val="solid"/>
          </a:ln>
        </p:spPr>
      </p:sp>
      <p:pic>
        <p:nvPicPr>
          <p:cNvPr id="77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30bb79f7da45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02252" y="1737360"/>
            <a:ext cx="731520" cy="731520"/>
          </a:xfrm>
          <a:prstGeom xmlns:a="http://schemas.openxmlformats.org/drawingml/2006/main" prst="rect">
            <a:avLst/>
          </a:prstGeom>
        </p:spPr>
      </p:pic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3C8FFBE9-1901-4618-9280-C6A602B38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2560320"/>
            <a:ext cx="2697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containerd</a:t>
            </a:r>
            <a:endParaRPr sz="1600"/>
          </a:p>
        </p:txBody>
      </p:sp>
      <p:sp>
        <p:nvSpPr>
          <p:cNvPr id="24" name="Shape 18">
            <a:extLst xmlns:a="http://schemas.openxmlformats.org/drawingml/2006/main">
              <a:ext uri="{FF2B5EF4-FFF2-40B4-BE49-F238E27FC236}">
                <a16:creationId xmlns:a16="http://schemas.microsoft.com/office/drawing/2014/main" id="{21CD7F99-6467-41B1-822A-B478B94EB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9372" y="2971800"/>
            <a:ext cx="1097280" cy="27432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5" name="Text 19">
            <a:extLst xmlns:a="http://schemas.openxmlformats.org/drawingml/2006/main">
              <a:ext uri="{FF2B5EF4-FFF2-40B4-BE49-F238E27FC236}">
                <a16:creationId xmlns:a16="http://schemas.microsoft.com/office/drawing/2014/main" id="{E52F0116-FD7A-4B4C-8B85-AB44E5DDC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9372" y="2971800"/>
            <a:ext cx="1097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Sejak 2015</a:t>
            </a:r>
            <a:endParaRPr sz="1000"/>
          </a:p>
        </p:txBody>
      </p:sp>
      <p:sp>
        <p:nvSpPr>
          <p:cNvPr id="26" name="Text 20">
            <a:extLst xmlns:a="http://schemas.openxmlformats.org/drawingml/2006/main">
              <a:ext uri="{FF2B5EF4-FFF2-40B4-BE49-F238E27FC236}">
                <a16:creationId xmlns:a16="http://schemas.microsoft.com/office/drawing/2014/main" id="{92691427-0D68-43B7-928C-7C2A5A437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3383280"/>
            <a:ext cx="242316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Container runtime yang lebih rendah-level. </a:t>
            </a: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Dipakai Docker dan banyak cluster Kubernetes. CNCF graduated.</a:t>
            </a:r>
            <a:endParaRPr sz="1100"/>
          </a:p>
        </p:txBody>
      </p:sp>
      <p:sp>
        <p:nvSpPr>
          <p:cNvPr id="27" name="Shape 21">
            <a:extLst xmlns:a="http://schemas.openxmlformats.org/drawingml/2006/main">
              <a:ext uri="{FF2B5EF4-FFF2-40B4-BE49-F238E27FC236}">
                <a16:creationId xmlns:a16="http://schemas.microsoft.com/office/drawing/2014/main" id="{63ECD00B-B71E-46B4-9902-67737025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5440680"/>
            <a:ext cx="2423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8" name="Text 22">
            <a:extLst xmlns:a="http://schemas.openxmlformats.org/drawingml/2006/main">
              <a:ext uri="{FF2B5EF4-FFF2-40B4-BE49-F238E27FC236}">
                <a16:creationId xmlns:a16="http://schemas.microsoft.com/office/drawing/2014/main" id="{F7D7D384-5248-4556-A821-653A48D48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5532120"/>
            <a:ext cx="24231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Use case:</a:t>
            </a:r>
            <a:endParaRPr sz="900"/>
          </a:p>
        </p:txBody>
      </p:sp>
      <p:sp>
        <p:nvSpPr>
          <p:cNvPr id="29" name="Text 23">
            <a:extLst xmlns:a="http://schemas.openxmlformats.org/drawingml/2006/main">
              <a:ext uri="{FF2B5EF4-FFF2-40B4-BE49-F238E27FC236}">
                <a16:creationId xmlns:a16="http://schemas.microsoft.com/office/drawing/2014/main" id="{2F231986-70DD-4C8A-BFF4-BA1CDB558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576072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Production / K8s</a:t>
            </a:r>
            <a:endParaRPr sz="1100"/>
          </a:p>
        </p:txBody>
      </p:sp>
      <p:sp>
        <p:nvSpPr>
          <p:cNvPr id="30" name="Shape 24">
            <a:extLst xmlns:a="http://schemas.openxmlformats.org/drawingml/2006/main">
              <a:ext uri="{FF2B5EF4-FFF2-40B4-BE49-F238E27FC236}">
                <a16:creationId xmlns:a16="http://schemas.microsoft.com/office/drawing/2014/main" id="{49E97811-D329-4E68-9BD9-010457D37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417320"/>
            <a:ext cx="269748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5">
            <a:extLst xmlns:a="http://schemas.openxmlformats.org/drawingml/2006/main">
              <a:ext uri="{FF2B5EF4-FFF2-40B4-BE49-F238E27FC236}">
                <a16:creationId xmlns:a16="http://schemas.microsoft.com/office/drawing/2014/main" id="{FC01D798-C568-4538-9010-67FC0D3F7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41732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2CA0"/>
          </a:solidFill>
          <a:ln xmlns:a="http://schemas.openxmlformats.org/drawingml/2006/main" w="12700">
            <a:solidFill>
              <a:srgbClr val="892CA0"/>
            </a:solidFill>
            <a:prstDash val="solid"/>
          </a:ln>
        </p:spPr>
      </p:sp>
      <p:pic>
        <p:nvPicPr>
          <p:cNvPr id="87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b411b8cc654a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64324" y="1737360"/>
            <a:ext cx="731520" cy="731520"/>
          </a:xfrm>
          <a:prstGeom xmlns:a="http://schemas.openxmlformats.org/drawingml/2006/main" prst="rect">
            <a:avLst/>
          </a:prstGeom>
        </p:spPr>
      </p:pic>
      <p:sp>
        <p:nvSpPr>
          <p:cNvPr id="33" name="Text 26">
            <a:extLst xmlns:a="http://schemas.openxmlformats.org/drawingml/2006/main">
              <a:ext uri="{FF2B5EF4-FFF2-40B4-BE49-F238E27FC236}">
                <a16:creationId xmlns:a16="http://schemas.microsoft.com/office/drawing/2014/main" id="{970A934A-EC7F-4492-855E-D81FCBA36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560320"/>
            <a:ext cx="2697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Podman</a:t>
            </a:r>
            <a:endParaRPr sz="1600"/>
          </a:p>
        </p:txBody>
      </p:sp>
      <p:sp>
        <p:nvSpPr>
          <p:cNvPr id="34" name="Shape 27">
            <a:extLst xmlns:a="http://schemas.openxmlformats.org/drawingml/2006/main">
              <a:ext uri="{FF2B5EF4-FFF2-40B4-BE49-F238E27FC236}">
                <a16:creationId xmlns:a16="http://schemas.microsoft.com/office/drawing/2014/main" id="{D22AFD80-770C-49DE-885E-3B9C6548F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444" y="2971800"/>
            <a:ext cx="1097280" cy="27432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5" name="Text 28">
            <a:extLst xmlns:a="http://schemas.openxmlformats.org/drawingml/2006/main">
              <a:ext uri="{FF2B5EF4-FFF2-40B4-BE49-F238E27FC236}">
                <a16:creationId xmlns:a16="http://schemas.microsoft.com/office/drawing/2014/main" id="{C42703AF-0A59-49C9-8A6E-78ED91825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444" y="2971800"/>
            <a:ext cx="1097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Sejak 2018</a:t>
            </a:r>
            <a:endParaRPr sz="1000"/>
          </a:p>
        </p:txBody>
      </p:sp>
      <p:sp>
        <p:nvSpPr>
          <p:cNvPr id="36" name="Text 29">
            <a:extLst xmlns:a="http://schemas.openxmlformats.org/drawingml/2006/main">
              <a:ext uri="{FF2B5EF4-FFF2-40B4-BE49-F238E27FC236}">
                <a16:creationId xmlns:a16="http://schemas.microsoft.com/office/drawing/2014/main" id="{D9E7292A-8456-4B07-8374-91D99679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3383280"/>
            <a:ext cx="242316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Daemonless + rootless. </a:t>
            </a: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CLI mirip Docker, tetapi beberapa fitur berbeda. Red Hat ecosystem.</a:t>
            </a:r>
            <a:endParaRPr sz="1100"/>
          </a:p>
        </p:txBody>
      </p:sp>
      <p:sp>
        <p:nvSpPr>
          <p:cNvPr id="37" name="Shape 30">
            <a:extLst xmlns:a="http://schemas.openxmlformats.org/drawingml/2006/main">
              <a:ext uri="{FF2B5EF4-FFF2-40B4-BE49-F238E27FC236}">
                <a16:creationId xmlns:a16="http://schemas.microsoft.com/office/drawing/2014/main" id="{E2F8D7D5-2330-4330-998F-B9D550849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5440680"/>
            <a:ext cx="2423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8" name="Text 31">
            <a:extLst xmlns:a="http://schemas.openxmlformats.org/drawingml/2006/main">
              <a:ext uri="{FF2B5EF4-FFF2-40B4-BE49-F238E27FC236}">
                <a16:creationId xmlns:a16="http://schemas.microsoft.com/office/drawing/2014/main" id="{A09C6E26-E86E-44CA-AF37-C1D43BE88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5532120"/>
            <a:ext cx="24231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Use case:</a:t>
            </a:r>
            <a:endParaRPr sz="900"/>
          </a:p>
        </p:txBody>
      </p:sp>
      <p:sp>
        <p:nvSpPr>
          <p:cNvPr id="39" name="Text 32">
            <a:extLst xmlns:a="http://schemas.openxmlformats.org/drawingml/2006/main">
              <a:ext uri="{FF2B5EF4-FFF2-40B4-BE49-F238E27FC236}">
                <a16:creationId xmlns:a16="http://schemas.microsoft.com/office/drawing/2014/main" id="{F3CD6B22-35FF-4C56-88F6-F2F968B0B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576072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Security-focused</a:t>
            </a:r>
            <a:endParaRPr sz="1100"/>
          </a:p>
        </p:txBody>
      </p:sp>
      <p:sp>
        <p:nvSpPr>
          <p:cNvPr id="40" name="Shape 33">
            <a:extLst xmlns:a="http://schemas.openxmlformats.org/drawingml/2006/main">
              <a:ext uri="{FF2B5EF4-FFF2-40B4-BE49-F238E27FC236}">
                <a16:creationId xmlns:a16="http://schemas.microsoft.com/office/drawing/2014/main" id="{0CC803C3-470D-4B50-B1A5-48C57EE8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1417320"/>
            <a:ext cx="269748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1" name="Shape 34">
            <a:extLst xmlns:a="http://schemas.openxmlformats.org/drawingml/2006/main">
              <a:ext uri="{FF2B5EF4-FFF2-40B4-BE49-F238E27FC236}">
                <a16:creationId xmlns:a16="http://schemas.microsoft.com/office/drawing/2014/main" id="{89696B36-5299-4263-B1CF-087E91DEC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141732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CE5"/>
          </a:solidFill>
          <a:ln xmlns:a="http://schemas.openxmlformats.org/drawingml/2006/main" w="12700">
            <a:solidFill>
              <a:srgbClr val="326CE5"/>
            </a:solidFill>
            <a:prstDash val="solid"/>
          </a:ln>
        </p:spPr>
      </p:sp>
      <p:pic>
        <p:nvPicPr>
          <p:cNvPr id="9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4cf63c20764a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26396" y="1737360"/>
            <a:ext cx="731520" cy="731520"/>
          </a:xfrm>
          <a:prstGeom xmlns:a="http://schemas.openxmlformats.org/drawingml/2006/main" prst="rect">
            <a:avLst/>
          </a:prstGeom>
        </p:spPr>
      </p:pic>
      <p:sp>
        <p:nvSpPr>
          <p:cNvPr id="43" name="Text 35">
            <a:extLst xmlns:a="http://schemas.openxmlformats.org/drawingml/2006/main">
              <a:ext uri="{FF2B5EF4-FFF2-40B4-BE49-F238E27FC236}">
                <a16:creationId xmlns:a16="http://schemas.microsoft.com/office/drawing/2014/main" id="{D2D3C0E9-C471-46DB-9869-B3C230753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2560320"/>
            <a:ext cx="2697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Kubernetes</a:t>
            </a:r>
            <a:endParaRPr sz="1600"/>
          </a:p>
        </p:txBody>
      </p:sp>
      <p:sp>
        <p:nvSpPr>
          <p:cNvPr id="44" name="Shape 36">
            <a:extLst xmlns:a="http://schemas.openxmlformats.org/drawingml/2006/main">
              <a:ext uri="{FF2B5EF4-FFF2-40B4-BE49-F238E27FC236}">
                <a16:creationId xmlns:a16="http://schemas.microsoft.com/office/drawing/2014/main" id="{0B570B7A-48C7-41E7-A545-B851EE382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3516" y="2971800"/>
            <a:ext cx="1097280" cy="27432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45" name="Text 37">
            <a:extLst xmlns:a="http://schemas.openxmlformats.org/drawingml/2006/main">
              <a:ext uri="{FF2B5EF4-FFF2-40B4-BE49-F238E27FC236}">
                <a16:creationId xmlns:a16="http://schemas.microsoft.com/office/drawing/2014/main" id="{A7C0F5F8-72A9-4365-9384-AFEBC0DA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3516" y="2971800"/>
            <a:ext cx="1097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Sejak 2014</a:t>
            </a:r>
            <a:endParaRPr sz="1000"/>
          </a:p>
        </p:txBody>
      </p:sp>
      <p:sp>
        <p:nvSpPr>
          <p:cNvPr id="46" name="Text 38">
            <a:extLst xmlns:a="http://schemas.openxmlformats.org/drawingml/2006/main">
              <a:ext uri="{FF2B5EF4-FFF2-40B4-BE49-F238E27FC236}">
                <a16:creationId xmlns:a16="http://schemas.microsoft.com/office/drawing/2014/main" id="{BED29B5C-6770-4E77-BE21-E7FA1214D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383280"/>
            <a:ext cx="242316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Bukan engine - tapi orchestrator yang manage banyak container engine di banyak server.</a:t>
            </a:r>
            <a:endParaRPr sz="1100"/>
          </a:p>
        </p:txBody>
      </p:sp>
      <p:sp>
        <p:nvSpPr>
          <p:cNvPr id="47" name="Shape 39">
            <a:extLst xmlns:a="http://schemas.openxmlformats.org/drawingml/2006/main">
              <a:ext uri="{FF2B5EF4-FFF2-40B4-BE49-F238E27FC236}">
                <a16:creationId xmlns:a16="http://schemas.microsoft.com/office/drawing/2014/main" id="{278201DA-C116-4DC1-B391-9FDCB37B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5440680"/>
            <a:ext cx="2423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8" name="Text 40">
            <a:extLst xmlns:a="http://schemas.openxmlformats.org/drawingml/2006/main">
              <a:ext uri="{FF2B5EF4-FFF2-40B4-BE49-F238E27FC236}">
                <a16:creationId xmlns:a16="http://schemas.microsoft.com/office/drawing/2014/main" id="{FC19DC45-5E8E-4D85-B622-C1C7A58C0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5532120"/>
            <a:ext cx="24231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Use case:</a:t>
            </a:r>
            <a:endParaRPr sz="900"/>
          </a:p>
        </p:txBody>
      </p:sp>
      <p:sp>
        <p:nvSpPr>
          <p:cNvPr id="49" name="Text 41">
            <a:extLst xmlns:a="http://schemas.openxmlformats.org/drawingml/2006/main">
              <a:ext uri="{FF2B5EF4-FFF2-40B4-BE49-F238E27FC236}">
                <a16:creationId xmlns:a16="http://schemas.microsoft.com/office/drawing/2014/main" id="{022B29A5-EA16-472A-90AA-AADB7FE14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576072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Production scale</a:t>
            </a:r>
            <a:endParaRPr sz="1100"/>
          </a:p>
        </p:txBody>
      </p:sp>
      <p:sp>
        <p:nvSpPr>
          <p:cNvPr id="50" name="Text 42">
            <a:extLst xmlns:a="http://schemas.openxmlformats.org/drawingml/2006/main">
              <a:ext uri="{FF2B5EF4-FFF2-40B4-BE49-F238E27FC236}">
                <a16:creationId xmlns:a16="http://schemas.microsoft.com/office/drawing/2014/main" id="{5AF331F3-0F49-455D-8237-F1B35CA06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Untuk kuliah: 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kita fokus Docker (Engine + CLI). 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Kubernetes menjadi konteks produksi pada capstone.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47635383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5D593BD-8FCA-4C86-9B95-20ABAA117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AF94C31-DF7E-4FE2-93F7-48161A510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6CD1A05-EB14-40BF-9666-A5FD10D16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53954EF2-4925-4C11-9BCB-97FC0FF48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A577F08-7DBA-491F-B61B-97341A135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405295E-F297-4BF1-832F-E8BF4536F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8A10936-7130-4B56-B98D-BD03BD8C5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6434a506cc40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aad02dfe3f49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C44BFDF9-DCD3-4D92-9C36-6EB826170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04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6E4F2EF7-849A-4618-99EA-56BEDDB77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Docker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Architecture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05DA5B6B-042C-4685-BC67-6347E50A9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D8F9B3A6-5A09-4AE5-9EF3-7363145D4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Cara Docker bekerja: daemon, CLI, image, container, registry.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21444081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E8EE666-746E-4809-BFD4-57E84D3B7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4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916EEB5-272A-4C70-9B5F-A0646B207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1B4F2A1-C494-4B98-9D98-BF1188B2E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878fe1193d42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c19aee43f844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BB3B3FDD-591D-468F-8841-34324293A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74A7BA95-C312-46AB-B772-B3223D6D1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Docker Architecture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5DC362E-8F90-49AC-A7BE-CA1DD94DB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Client-server model dengan registry sebagai katalog image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EC51B230-ACFB-4628-AFBD-8D0E1655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657600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pic>
        <p:nvPicPr>
          <p:cNvPr id="56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069164256d4a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69164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B77BCBA9-5CBA-4601-A7A1-E34209797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554480"/>
            <a:ext cx="2651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DOCKER CLIENT</a:t>
            </a:r>
            <a:endParaRPr sz="1300"/>
          </a:p>
        </p:txBody>
      </p:sp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707E22CC-5D4D-48D3-8F42-415AA29A6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920240"/>
            <a:ext cx="2651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CLI tools: docker, docker compose</a:t>
            </a:r>
            <a:endParaRPr sz="100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F3A679C2-9D4E-43C5-A99B-C67B72F14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240280"/>
            <a:ext cx="32918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Kirim command lewat REST API ke daemon</a:t>
            </a:r>
            <a:endParaRPr sz="1100"/>
          </a:p>
        </p:txBody>
      </p:sp>
      <p:sp>
        <p:nvSpPr>
          <p:cNvPr id="15" name="Shape 10">
            <a:extLst xmlns:a="http://schemas.openxmlformats.org/drawingml/2006/main">
              <a:ext uri="{FF2B5EF4-FFF2-40B4-BE49-F238E27FC236}">
                <a16:creationId xmlns:a16="http://schemas.microsoft.com/office/drawing/2014/main" id="{8A62527D-6C71-40DD-9640-23E85A422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2148840"/>
            <a:ext cx="822960" cy="27432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4DAEF681-6A71-41B0-8582-136AB1F93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1417320"/>
            <a:ext cx="2926080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pic>
        <p:nvPicPr>
          <p:cNvPr id="6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4a1d2d65684f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43600" y="1600200"/>
            <a:ext cx="1280160" cy="1280160"/>
          </a:xfrm>
          <a:prstGeom xmlns:a="http://schemas.openxmlformats.org/drawingml/2006/main" prst="rect">
            <a:avLst/>
          </a:prstGeom>
        </p:spPr>
      </p:pic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7F877BB0-BF0E-468B-85A9-C567F17B2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2971800"/>
            <a:ext cx="29260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DOCKER DAEMON</a:t>
            </a:r>
            <a:endParaRPr sz="1300"/>
          </a:p>
        </p:txBody>
      </p:sp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F6AA701F-F9BE-4666-AC78-4113D1820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3291840"/>
            <a:ext cx="2926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>
                <a:solidFill>
                  <a:srgbClr val="FFE0B2"/>
                </a:solidFill>
                <a:latin typeface="Consolas"/>
                <a:ea typeface="Consolas"/>
                <a:cs typeface="Consolas"/>
              </a:rPr>
              <a:t>(dockerd)</a:t>
            </a:r>
            <a:endParaRPr sz="1000"/>
          </a:p>
        </p:txBody>
      </p:sp>
      <p:sp>
        <p:nvSpPr>
          <p:cNvPr id="20" name="Text 14">
            <a:extLst xmlns:a="http://schemas.openxmlformats.org/drawingml/2006/main">
              <a:ext uri="{FF2B5EF4-FFF2-40B4-BE49-F238E27FC236}">
                <a16:creationId xmlns:a16="http://schemas.microsoft.com/office/drawing/2014/main" id="{E07ECA76-7E1F-4003-BE25-7274E90B2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703320"/>
            <a:ext cx="2743200" cy="1691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400"/>
              </a:spcAft>
              <a:buSzPct val="100000"/>
              <a:buChar char="▸"/>
            </a:pPr>
            <a:r>
              <a:rPr sz="10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Pull image dari registry</a:t>
            </a:r>
            <a:endParaRPr sz="1000"/>
          </a:p>
          <a:p xmlns:a="http://schemas.openxmlformats.org/drawingml/2006/main">
            <a:pPr marL="342900" indent="-342900">
              <a:spcAft>
                <a:spcPts val="400"/>
              </a:spcAft>
              <a:buSzPct val="100000"/>
              <a:buChar char="▸"/>
            </a:pPr>
            <a:r>
              <a:rPr sz="10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Build image dari Dockerfile</a:t>
            </a:r>
            <a:endParaRPr sz="1000"/>
          </a:p>
          <a:p xmlns:a="http://schemas.openxmlformats.org/drawingml/2006/main">
            <a:pPr marL="342900" indent="-342900">
              <a:spcAft>
                <a:spcPts val="400"/>
              </a:spcAft>
              <a:buSzPct val="100000"/>
              <a:buChar char="▸"/>
            </a:pPr>
            <a:r>
              <a:rPr sz="10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Run, stop, hapus container</a:t>
            </a:r>
            <a:endParaRPr sz="1000"/>
          </a:p>
          <a:p xmlns:a="http://schemas.openxmlformats.org/drawingml/2006/main">
            <a:pPr marL="342900" indent="-342900">
              <a:spcAft>
                <a:spcPts val="400"/>
              </a:spcAft>
              <a:buSzPct val="100000"/>
              <a:buChar char="▸"/>
            </a:pPr>
            <a:r>
              <a:rPr sz="10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Manage volume + network</a:t>
            </a:r>
            <a:endParaRPr sz="1000"/>
          </a:p>
          <a:p xmlns:a="http://schemas.openxmlformats.org/drawingml/2006/main">
            <a:pPr marL="342900" indent="-342900">
              <a:spcAft>
                <a:spcPts val="400"/>
              </a:spcAft>
              <a:buSzPct val="100000"/>
              <a:buChar char="▸"/>
            </a:pPr>
            <a:r>
              <a:rPr sz="10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Monitor lewat REST API</a:t>
            </a:r>
            <a:endParaRPr sz="1000"/>
          </a:p>
        </p:txBody>
      </p:sp>
      <p:sp>
        <p:nvSpPr>
          <p:cNvPr id="21" name="Shape 15">
            <a:extLst xmlns:a="http://schemas.openxmlformats.org/drawingml/2006/main">
              <a:ext uri="{FF2B5EF4-FFF2-40B4-BE49-F238E27FC236}">
                <a16:creationId xmlns:a16="http://schemas.microsoft.com/office/drawing/2014/main" id="{8DF0939B-8952-4FB6-A082-ADF48E2DF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148840"/>
            <a:ext cx="822960" cy="27432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4F470258-E7E8-4954-835B-3DE229A84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468880"/>
            <a:ext cx="8229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pull/push</a:t>
            </a:r>
            <a:endParaRPr sz="900"/>
          </a:p>
        </p:txBody>
      </p:sp>
      <p:sp>
        <p:nvSpPr>
          <p:cNvPr id="23" name="Shape 17">
            <a:extLst xmlns:a="http://schemas.openxmlformats.org/drawingml/2006/main">
              <a:ext uri="{FF2B5EF4-FFF2-40B4-BE49-F238E27FC236}">
                <a16:creationId xmlns:a16="http://schemas.microsoft.com/office/drawing/2014/main" id="{A6DD6485-5259-4355-9544-F61DF6B08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1417320"/>
            <a:ext cx="2651760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pic>
        <p:nvPicPr>
          <p:cNvPr id="69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217f923bd740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35440" y="169164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25" name="Text 18">
            <a:extLst xmlns:a="http://schemas.openxmlformats.org/drawingml/2006/main">
              <a:ext uri="{FF2B5EF4-FFF2-40B4-BE49-F238E27FC236}">
                <a16:creationId xmlns:a16="http://schemas.microsoft.com/office/drawing/2014/main" id="{F25F585E-1296-4F6A-9BB4-700A5AA75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1554480"/>
            <a:ext cx="1737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REGISTRY</a:t>
            </a:r>
            <a:endParaRPr sz="1300"/>
          </a:p>
        </p:txBody>
      </p:sp>
      <p:sp>
        <p:nvSpPr>
          <p:cNvPr id="26" name="Text 19">
            <a:extLst xmlns:a="http://schemas.openxmlformats.org/drawingml/2006/main">
              <a:ext uri="{FF2B5EF4-FFF2-40B4-BE49-F238E27FC236}">
                <a16:creationId xmlns:a16="http://schemas.microsoft.com/office/drawing/2014/main" id="{A3881EEF-B0F3-4311-863E-C8C10F8EC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1920240"/>
            <a:ext cx="1737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Image catalog</a:t>
            </a:r>
            <a:endParaRPr sz="1000"/>
          </a:p>
        </p:txBody>
      </p:sp>
      <p:sp>
        <p:nvSpPr>
          <p:cNvPr id="27" name="Text 20">
            <a:extLst xmlns:a="http://schemas.openxmlformats.org/drawingml/2006/main">
              <a:ext uri="{FF2B5EF4-FFF2-40B4-BE49-F238E27FC236}">
                <a16:creationId xmlns:a16="http://schemas.microsoft.com/office/drawing/2014/main" id="{70E50FC6-DC1A-4AF1-A1BF-96D54BAD0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2240280"/>
            <a:ext cx="24688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Docker Hub, ghcr.io, ECR, GCR, ACR</a:t>
            </a:r>
            <a:endParaRPr sz="1000"/>
          </a:p>
        </p:txBody>
      </p:sp>
      <p:sp>
        <p:nvSpPr>
          <p:cNvPr id="28" name="Shape 21">
            <a:extLst xmlns:a="http://schemas.openxmlformats.org/drawingml/2006/main">
              <a:ext uri="{FF2B5EF4-FFF2-40B4-BE49-F238E27FC236}">
                <a16:creationId xmlns:a16="http://schemas.microsoft.com/office/drawing/2014/main" id="{A8AE2580-7DA7-4AA1-87CA-7873670F4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3291840"/>
            <a:ext cx="265176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74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7d33838bc54fb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35440" y="347472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30" name="Text 22">
            <a:extLst xmlns:a="http://schemas.openxmlformats.org/drawingml/2006/main">
              <a:ext uri="{FF2B5EF4-FFF2-40B4-BE49-F238E27FC236}">
                <a16:creationId xmlns:a16="http://schemas.microsoft.com/office/drawing/2014/main" id="{384043A9-11A1-43C1-B2B6-336EBFCCB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337560"/>
            <a:ext cx="1783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IMAGES</a:t>
            </a:r>
            <a:endParaRPr sz="1200"/>
          </a:p>
        </p:txBody>
      </p:sp>
      <p:sp>
        <p:nvSpPr>
          <p:cNvPr id="31" name="Text 23">
            <a:extLst xmlns:a="http://schemas.openxmlformats.org/drawingml/2006/main">
              <a:ext uri="{FF2B5EF4-FFF2-40B4-BE49-F238E27FC236}">
                <a16:creationId xmlns:a16="http://schemas.microsoft.com/office/drawing/2014/main" id="{1B52149A-9AC1-44EC-B648-5DDE36DDD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749040"/>
            <a:ext cx="24688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Read-only template</a:t>
            </a:r>
            <a:endParaRPr sz="1000"/>
          </a:p>
        </p:txBody>
      </p:sp>
      <p:sp>
        <p:nvSpPr>
          <p:cNvPr id="32" name="Shape 24">
            <a:extLst xmlns:a="http://schemas.openxmlformats.org/drawingml/2006/main">
              <a:ext uri="{FF2B5EF4-FFF2-40B4-BE49-F238E27FC236}">
                <a16:creationId xmlns:a16="http://schemas.microsoft.com/office/drawing/2014/main" id="{78961107-A092-46D1-B31B-C49298B6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480560"/>
            <a:ext cx="265176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78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6647a7dd6147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35440" y="466344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34" name="Text 25">
            <a:extLst xmlns:a="http://schemas.openxmlformats.org/drawingml/2006/main">
              <a:ext uri="{FF2B5EF4-FFF2-40B4-BE49-F238E27FC236}">
                <a16:creationId xmlns:a16="http://schemas.microsoft.com/office/drawing/2014/main" id="{B88B08AD-5A69-4D4A-BFA0-B28356507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4526280"/>
            <a:ext cx="1783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CONTAINERS</a:t>
            </a:r>
            <a:endParaRPr sz="1200"/>
          </a:p>
        </p:txBody>
      </p:sp>
      <p:sp>
        <p:nvSpPr>
          <p:cNvPr id="35" name="Text 26">
            <a:extLst xmlns:a="http://schemas.openxmlformats.org/drawingml/2006/main">
              <a:ext uri="{FF2B5EF4-FFF2-40B4-BE49-F238E27FC236}">
                <a16:creationId xmlns:a16="http://schemas.microsoft.com/office/drawing/2014/main" id="{F29A13BA-B70D-40DD-97A8-0CBB43280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4937760"/>
            <a:ext cx="24688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Running instance dari image</a:t>
            </a:r>
            <a:endParaRPr sz="1000"/>
          </a:p>
        </p:txBody>
      </p:sp>
      <p:sp>
        <p:nvSpPr>
          <p:cNvPr id="36" name="Shape 27">
            <a:extLst xmlns:a="http://schemas.openxmlformats.org/drawingml/2006/main">
              <a:ext uri="{FF2B5EF4-FFF2-40B4-BE49-F238E27FC236}">
                <a16:creationId xmlns:a16="http://schemas.microsoft.com/office/drawing/2014/main" id="{834FB5B6-FD82-4D60-92E6-7360EEF3D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0400"/>
            <a:ext cx="3657600" cy="2331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7" name="Text 28">
            <a:extLst xmlns:a="http://schemas.openxmlformats.org/drawingml/2006/main">
              <a:ext uri="{FF2B5EF4-FFF2-40B4-BE49-F238E27FC236}">
                <a16:creationId xmlns:a16="http://schemas.microsoft.com/office/drawing/2014/main" id="{BBA4CC2F-AEE3-49E9-B7FF-B2B0FFE99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91840"/>
            <a:ext cx="32918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Workflow Umum:</a:t>
            </a:r>
            <a:endParaRPr sz="1200"/>
          </a:p>
        </p:txBody>
      </p:sp>
      <p:sp>
        <p:nvSpPr>
          <p:cNvPr id="38" name="Text 29">
            <a:extLst xmlns:a="http://schemas.openxmlformats.org/drawingml/2006/main">
              <a:ext uri="{FF2B5EF4-FFF2-40B4-BE49-F238E27FC236}">
                <a16:creationId xmlns:a16="http://schemas.microsoft.com/office/drawing/2014/main" id="{8C464413-802E-40EE-A820-5BA991BD2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611880"/>
            <a:ext cx="3291840" cy="1874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1. CLI: docker pull nginx</a:t>
            </a:r>
            <a:endParaRPr sz="1050"/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2. Daemon download image dari Docker Hub</a:t>
            </a:r>
            <a:endParaRPr sz="1050"/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3. CLI: docker run nginx</a:t>
            </a:r>
            <a:endParaRPr sz="1050"/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4. Daemon spawn container dari image</a:t>
            </a:r>
            <a:endParaRPr sz="1050"/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5. Container jalan, isolated process</a:t>
            </a:r>
            <a:endParaRPr sz="1050"/>
          </a:p>
        </p:txBody>
      </p:sp>
      <p:sp>
        <p:nvSpPr>
          <p:cNvPr id="39" name="Text 30">
            <a:extLst xmlns:a="http://schemas.openxmlformats.org/drawingml/2006/main">
              <a:ext uri="{FF2B5EF4-FFF2-40B4-BE49-F238E27FC236}">
                <a16:creationId xmlns:a16="http://schemas.microsoft.com/office/drawing/2014/main" id="{6F914771-B5EF-44D0-9F5E-0CA8939FC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5216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Penting: 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image = blueprint (read-only), container = running instance dari image (mirip class vs object).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83748179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61D7A7F-3BA9-4779-B92D-7FB2CA32E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4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8A0A6BD-BFF3-4B58-BB6A-4E21E12CD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9D6D923-BEEC-4124-930D-232BB9D53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1128b61e8444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13afabaffb4c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4330F18-7C98-4DF0-9709-F19A1CA3A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B5DF45A7-10D1-4564-A556-1CA6284F8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Image vs Container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45FFA382-36EF-4EF9-8F89-EA8673382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Mirip dengan class vs object di OOP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A1EC9F4-716F-4EE1-8824-CF35B43E1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076A5A32-9ACA-4220-913C-0F2D11ABE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pic>
        <p:nvPicPr>
          <p:cNvPr id="4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460f0eeff64a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155448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C694D9BE-A40D-403F-A6FD-66B88D709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417320"/>
            <a:ext cx="48463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IMAGE</a:t>
            </a:r>
            <a:endParaRPr sz="180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D32B20C1-2497-4E99-B0CA-F35CAFA2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417320"/>
            <a:ext cx="48463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Read-only template</a:t>
            </a:r>
            <a:endParaRPr sz="11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E0B70FEE-7DDC-4786-9492-98558A170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94560"/>
            <a:ext cx="521208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Snapshot filesystem berisi: aplikasi + dependencies + runtime + system libraries. Bisa di-share ke orang lain via registry.</a:t>
            </a:r>
            <a:endParaRPr sz="11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08DC9EAF-C885-4092-B96B-9A4CAA1B0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63240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Karakteristik:</a:t>
            </a:r>
            <a:endParaRPr sz="1100"/>
          </a:p>
        </p:txBody>
      </p:sp>
      <p:sp>
        <p:nvSpPr>
          <p:cNvPr id="17" name="Text 12">
            <a:extLst xmlns:a="http://schemas.openxmlformats.org/drawingml/2006/main">
              <a:ext uri="{FF2B5EF4-FFF2-40B4-BE49-F238E27FC236}">
                <a16:creationId xmlns:a16="http://schemas.microsoft.com/office/drawing/2014/main" id="{9209A4F0-579A-4580-ACCD-1FD63811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83280"/>
            <a:ext cx="502920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Immutable - tidak berubah setelah dibuat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Layered - dibangun dari banyak layer (efisien storage)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Identified by name:tag (nginx:1.27)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Built from Dockerfile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Pull dari registry (Docker Hub default)</a:t>
            </a:r>
            <a:endParaRPr sz="1100"/>
          </a:p>
        </p:txBody>
      </p:sp>
      <p:sp>
        <p:nvSpPr>
          <p:cNvPr id="18" name="Shape 13">
            <a:extLst xmlns:a="http://schemas.openxmlformats.org/drawingml/2006/main">
              <a:ext uri="{FF2B5EF4-FFF2-40B4-BE49-F238E27FC236}">
                <a16:creationId xmlns:a16="http://schemas.microsoft.com/office/drawing/2014/main" id="{7461ADED-56B6-4DF7-B781-9671BB1FC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03520"/>
            <a:ext cx="521208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684B0EFD-5FAF-4B0A-8691-9F231927B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349240"/>
            <a:ext cx="49377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docker images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REPOSITORY   TAG     IMAGE ID     SIZE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nginx        1.27    a8758716bb6  187MB</a:t>
            </a:r>
            <a:endParaRPr sz="1000"/>
          </a:p>
        </p:txBody>
      </p:sp>
      <p:sp>
        <p:nvSpPr>
          <p:cNvPr id="20" name="Shape 15">
            <a:extLst xmlns:a="http://schemas.openxmlformats.org/drawingml/2006/main">
              <a:ext uri="{FF2B5EF4-FFF2-40B4-BE49-F238E27FC236}">
                <a16:creationId xmlns:a16="http://schemas.microsoft.com/office/drawing/2014/main" id="{71C8C000-4E54-4DC0-8053-542333916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E6E65407-9C08-43A0-819A-04E8A7E33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4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f2fe9a718e4ff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155448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FD81238B-1D94-4414-9727-5ABB54A22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1417320"/>
            <a:ext cx="46634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CONTAINER</a:t>
            </a:r>
            <a:endParaRPr sz="1800"/>
          </a:p>
        </p:txBody>
      </p:sp>
      <p:sp>
        <p:nvSpPr>
          <p:cNvPr id="24" name="Text 18">
            <a:extLst xmlns:a="http://schemas.openxmlformats.org/drawingml/2006/main">
              <a:ext uri="{FF2B5EF4-FFF2-40B4-BE49-F238E27FC236}">
                <a16:creationId xmlns:a16="http://schemas.microsoft.com/office/drawing/2014/main" id="{478809A0-DF8E-4DB3-A205-6191ED851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1417320"/>
            <a:ext cx="46634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Running instance</a:t>
            </a:r>
            <a:endParaRPr sz="1100"/>
          </a:p>
        </p:txBody>
      </p:sp>
      <p:sp>
        <p:nvSpPr>
          <p:cNvPr id="25" name="Text 19">
            <a:extLst xmlns:a="http://schemas.openxmlformats.org/drawingml/2006/main">
              <a:ext uri="{FF2B5EF4-FFF2-40B4-BE49-F238E27FC236}">
                <a16:creationId xmlns:a16="http://schemas.microsoft.com/office/drawing/2014/main" id="{1D102A19-ADA7-4F61-8A1C-883F7597C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94560"/>
            <a:ext cx="51206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Process aktif yang dibuat dari image. Bisa banyak container dari image yang sama. Punya writable layer di atas image-nya.</a:t>
            </a:r>
            <a:endParaRPr sz="1100"/>
          </a:p>
        </p:txBody>
      </p:sp>
      <p:sp>
        <p:nvSpPr>
          <p:cNvPr id="26" name="Text 20">
            <a:extLst xmlns:a="http://schemas.openxmlformats.org/drawingml/2006/main">
              <a:ext uri="{FF2B5EF4-FFF2-40B4-BE49-F238E27FC236}">
                <a16:creationId xmlns:a16="http://schemas.microsoft.com/office/drawing/2014/main" id="{6265E00F-C78A-4EA0-98F6-126C843AE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63240"/>
            <a:ext cx="5120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Karakteristik:</a:t>
            </a:r>
            <a:endParaRPr sz="1100"/>
          </a:p>
        </p:txBody>
      </p:sp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BC09DAF9-5E28-4CA8-B63A-14DA53A2F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383280"/>
            <a:ext cx="493776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Stateful - ada filesystem layer yang bisa write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Ephemeral - data hilang kalau container dihapus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Identified by container ID (e.g. a8d3b2)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Lifecycle: create -&gt; start -&gt; stop -&gt; rm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Bisa di-restart, exec, atau attach</a:t>
            </a:r>
            <a:endParaRPr sz="1100"/>
          </a:p>
        </p:txBody>
      </p:sp>
      <p:sp>
        <p:nvSpPr>
          <p:cNvPr id="28" name="Shape 22">
            <a:extLst xmlns:a="http://schemas.openxmlformats.org/drawingml/2006/main">
              <a:ext uri="{FF2B5EF4-FFF2-40B4-BE49-F238E27FC236}">
                <a16:creationId xmlns:a16="http://schemas.microsoft.com/office/drawing/2014/main" id="{69BECDEC-5CF2-466A-80EA-80E33A3D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03520"/>
            <a:ext cx="512064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9" name="Text 23">
            <a:extLst xmlns:a="http://schemas.openxmlformats.org/drawingml/2006/main">
              <a:ext uri="{FF2B5EF4-FFF2-40B4-BE49-F238E27FC236}">
                <a16:creationId xmlns:a16="http://schemas.microsoft.com/office/drawing/2014/main" id="{7AB5AB10-9462-4074-8331-3FF279556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5349240"/>
            <a:ext cx="48463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docker ps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CONTAINER ID   IMAGE      STATUS    NAMES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a8d3b2f1c89e   nginx:1.27 Up 2h     web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67762180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5174497-9F4E-431D-8EA3-A2C37F41C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CDA46CCF-92ED-4627-A5D1-CAC740451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F019586-0C55-453B-A780-9529A86DA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6326A69-43D6-4510-BD4D-4F76DA80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34E98499-94B0-4A26-B280-199B4F97D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3A62924-15B9-49AA-A0FB-CE90B7158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492AEB5-8692-4746-8634-1B273A217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c2b74b8fdf45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df82d806e34c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23117337-4F7B-4113-968B-91491129D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05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A622ECF3-1B4C-4D77-A19A-190F820A2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Docker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Workflow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58DECD76-DC21-4656-B9D5-A77B4AAB9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5978DA3C-8C24-4C5C-9B50-35D6D78D7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Perintah-perintah yang akan Anda pakai sehari-hari.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202689068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E95F79A-45B7-4858-A13B-8113B0447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4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0C3C9C4-552E-449D-9595-148C48531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AE04ED4-B2C4-4BCD-874C-DA153A2A8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8c3c27881846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8da1f8b4ac449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845C1DBA-AC93-4C1F-B166-8579978AB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A476B26-AD99-4C33-ACA9-C0A13EBD1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Docker Commands - Core Cycle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CC7A686-BE7B-4750-B9A2-A92B05DBE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 perintah yang paling sering dipakai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64150C38-EB3C-4BAD-B928-2B7A68961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67742E45-081A-4D18-A896-1584E9AA3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2860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C0647E86-BC54-4A17-845E-1C3FE40DF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28600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docker pull</a:t>
            </a:r>
            <a:endParaRPr sz="14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F8BCD1DD-8FB2-4FFD-8D05-7056BBC44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1508760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Download image dari registry ke local</a:t>
            </a:r>
            <a:endParaRPr sz="120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7805D6B1-BD40-4674-A6FC-E57E3D1B8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1581912"/>
            <a:ext cx="44348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297C5467-FF0F-4DF1-93A8-76BF3E81A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1581912"/>
            <a:ext cx="4297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docker pull nginx:1.27</a:t>
            </a:r>
            <a:endParaRPr sz="11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846B803D-7D77-4990-A953-5CA2789F4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77440"/>
            <a:ext cx="112471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3478AFCE-A53B-42F7-A35C-F62A1B073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77440"/>
            <a:ext cx="22860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47C19F6C-ACA0-47E5-B0D7-41FA20C36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77440"/>
            <a:ext cx="228600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docker run</a:t>
            </a:r>
            <a:endParaRPr sz="14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2E8682D3-4794-45C4-AE12-3383901F8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2468880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Buat container baru + jalankan</a:t>
            </a:r>
            <a:endParaRPr sz="120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954C0D35-6276-4684-9F16-0399C906C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542032"/>
            <a:ext cx="44348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1F570EFA-B7AD-4C85-8182-74396B953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542032"/>
            <a:ext cx="4297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docker run -d -p 8080:80 nginx</a:t>
            </a:r>
            <a:endParaRPr sz="110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92503B59-54AF-49B6-A03F-810A1B570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37560"/>
            <a:ext cx="112471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344D72D6-AB64-45B8-ADBB-B281A0DB6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37560"/>
            <a:ext cx="22860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601861FE-5C0F-4C85-AFEF-A4E04CFD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37560"/>
            <a:ext cx="228600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docker ps</a:t>
            </a:r>
            <a:endParaRPr sz="14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5ACBFF0A-BFAD-4A51-B60A-763A508F9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3429000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List container yang lagi jalan (-a all)</a:t>
            </a:r>
            <a:endParaRPr sz="120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B9FE3D22-7210-48CC-95CD-A302BDB9C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502152"/>
            <a:ext cx="44348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A58B29AA-926D-44A6-A3F7-CDA19708C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502152"/>
            <a:ext cx="4297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docker ps -a</a:t>
            </a:r>
            <a:endParaRPr sz="1100"/>
          </a:p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502387B0-37DA-4495-B836-06CD57E45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97680"/>
            <a:ext cx="112471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51467579-FBA4-4858-B2FA-BA4C16F1D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97680"/>
            <a:ext cx="22860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FF018D40-8E49-4D77-861E-E52595965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97680"/>
            <a:ext cx="228600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docker stop</a:t>
            </a:r>
            <a:endParaRPr sz="14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EEAA6A4F-EC23-418B-80EE-7003BB7E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4389120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Stop container graceful (SIGTERM)</a:t>
            </a:r>
            <a:endParaRPr sz="120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44E977A1-5394-419F-A27F-92CB16175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462272"/>
            <a:ext cx="44348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E751DDBA-0373-4164-8507-F7237E40D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462272"/>
            <a:ext cx="4297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docker stop web</a:t>
            </a:r>
            <a:endParaRPr sz="110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BD53F76C-4601-44CB-B521-613ED1CC0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57800"/>
            <a:ext cx="112471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75866413-0024-49B1-A736-B7AE7411C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57800"/>
            <a:ext cx="22860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A14A8151-E1AA-40B8-A297-819891E68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57800"/>
            <a:ext cx="228600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docker rm</a:t>
            </a:r>
            <a:endParaRPr sz="14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BDF6F5B5-32EB-4DEE-8E09-DD64442A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5349240"/>
            <a:ext cx="411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Hapus container (yang udah stop)</a:t>
            </a:r>
            <a:endParaRPr sz="120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7F678A52-7100-4EA2-8069-C65467D7B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5422392"/>
            <a:ext cx="44348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4A5F6745-7ADB-4CDA-8DDB-F63C4112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5422392"/>
            <a:ext cx="4297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docker rm web</a:t>
            </a:r>
            <a:endParaRPr sz="1100"/>
          </a:p>
        </p:txBody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3EB30375-376B-4EC9-82CD-81A2FB241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Flag run yang penting: </a:t>
            </a:r>
            <a:r>
              <a:rPr sz="1050" b="1" i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-d </a:t>
            </a:r>
            <a:r>
              <a:rPr sz="10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(detached/background)  </a:t>
            </a:r>
            <a:r>
              <a:rPr sz="1050" b="1" i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-p host:container </a:t>
            </a:r>
            <a:r>
              <a:rPr sz="10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(port mapping)  </a:t>
            </a:r>
            <a:r>
              <a:rPr sz="1050" b="1" i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--name </a:t>
            </a:r>
            <a:r>
              <a:rPr sz="10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(beri nama)  </a:t>
            </a:r>
            <a:r>
              <a:rPr sz="1050" b="1" i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--rm </a:t>
            </a:r>
            <a:r>
              <a:rPr sz="10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(auto-hapus setelah stop)</a:t>
            </a:r>
            <a:endParaRPr sz="1050"/>
          </a:p>
        </p:txBody>
      </p:sp>
    </p:spTree>
    <p:extLst>
      <p:ext uri="{BB962C8B-B14F-4D97-AF65-F5344CB8AC3E}">
        <p14:creationId xmlns:p14="http://schemas.microsoft.com/office/powerpoint/2010/main" val="58685181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E82423F-196D-44FC-979D-F1E3CB3EE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4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1DDD46D-8073-4E08-BED4-1C437347E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B917204-F283-4098-B494-308F62F96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3e87eff3e644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14e8a30e3247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4DD84E6F-75E0-480E-95C5-AB1D649B9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30DE7D9-4041-4B84-96C7-69D840C5A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Practical Workflow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34912EA-622C-4A49-A4C6-CD81E2503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Lifecycle satu container dari awal sampai akhir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8C1773DB-815D-4455-985E-BE249CB6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937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8422DAE1-D87C-4C68-923C-D24D71F3C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62AD107E-36AF-4AA9-97B3-BA5404583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CF4B57E3-C35A-466A-A5CD-6065AA024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275A2239-BEF0-4B4C-AC37-4786D4865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441CF731-0EBF-4424-B358-F9D94CD9C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docker workflow lengkap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C4E7A07D-7C01-4A85-8429-E9113C53B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480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1. Pull image dari Docker Hub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docker pull nginx:1.27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1.27: Pulling from library/nginx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Status: Downloaded newer image for nginx:1.27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2. Run container di background, expose port 80 ke 8080 host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docker run -d --name web -p 8080:80 nginx:1.27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a8d3b2f1c89e7f4...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3. Cek container yang jalan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docker ps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CONTAINER ID  IMAGE      PORTS                  NAMES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a8d3b2f1c89e  nginx:1.27 0.0.0.0:8080-&gt;80/tcp   web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4. Lihat log container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docker logs -f web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5. Masuk ke shell di dalam container (debug)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docker exec -it web bash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root@a8d3b2f1c89e:/# 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exit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6. Stop &amp; hapus container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docker stop web &amp;&amp; docker rm web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8825232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379BA5D-13E0-4D68-99CB-DB3E2F3DA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4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600CC44-5D36-4943-A26A-B187542E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3650E6B-73C0-442E-BEAC-3DDADB0E4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506776978245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c84e1fe2c240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9D4A6CA6-8618-48AE-8184-86348753D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3835BF5-DB79-459D-97B0-DA0D91A77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Container Lifecycle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A08069E-15AE-4508-B268-32F52C68E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State machine yang dilewati container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6E4F0E0E-CA56-4A33-98B6-BDA9302C1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28800"/>
            <a:ext cx="214884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37F4716A-AA5D-4AB7-8798-D87A7E3E1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28800"/>
            <a:ext cx="214884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52358A70-B5AB-480F-9D36-1658CA0E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28800"/>
            <a:ext cx="21488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CREATED</a:t>
            </a:r>
            <a:endParaRPr sz="14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F6480E6A-537A-4A8A-ACB4-8AECCACD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743200"/>
            <a:ext cx="18745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Container dibuat tapi belum jalan</a:t>
            </a:r>
            <a:endParaRPr sz="110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B69FB63-FDAE-4A8E-8E92-D7D046C61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931920"/>
            <a:ext cx="187452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2DDC8554-7003-4DCC-91DB-E9B719884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931920"/>
            <a:ext cx="187452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docker create &lt;image&gt;</a:t>
            </a:r>
            <a:endParaRPr sz="10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CD2C9ECB-D107-4F89-9ED1-5E8FFBEC8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246120"/>
            <a:ext cx="137160" cy="36576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7C33C839-9889-4519-858D-541E2001B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828800"/>
            <a:ext cx="214884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A204B6D3-0F73-4633-A0CA-4080CED20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828800"/>
            <a:ext cx="214884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5441B596-C07F-4986-BFA1-05BEA56E1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828800"/>
            <a:ext cx="21488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RUNNING</a:t>
            </a:r>
            <a:endParaRPr sz="14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96DF3FC4-7914-4D48-95EA-747DC66A0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2743200"/>
            <a:ext cx="18745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Process container aktif</a:t>
            </a:r>
            <a:endParaRPr sz="1100"/>
          </a:p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AC3FB092-AF36-4B47-AE28-871F12D7B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3931920"/>
            <a:ext cx="187452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059E7202-7976-4E4C-AB90-F91B6D810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3931920"/>
            <a:ext cx="187452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docker start / run</a:t>
            </a:r>
            <a:endParaRPr sz="100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30FC3601-3B71-4539-A2CE-3E314BE7B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3246120"/>
            <a:ext cx="137160" cy="36576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F64EA3E9-E676-4C7A-B4DA-B310145B1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828800"/>
            <a:ext cx="214884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5B5F8CFA-616E-40EB-944E-4A73BFBAF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828800"/>
            <a:ext cx="214884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B308"/>
          </a:solidFill>
          <a:ln xmlns:a="http://schemas.openxmlformats.org/drawingml/2006/main" w="12700">
            <a:solidFill>
              <a:srgbClr val="EAB308"/>
            </a:solidFill>
            <a:prstDash val="solid"/>
          </a:ln>
        </p:spPr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016E0DEC-3DD7-4CDE-9216-19EBCF5EC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828800"/>
            <a:ext cx="21488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PAUSED</a:t>
            </a:r>
            <a:endParaRPr sz="140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F92867E6-B745-44EC-B21E-935C74C09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2743200"/>
            <a:ext cx="18745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Proses dibekukan (freezer cgroup di Linux)</a:t>
            </a:r>
            <a:endParaRPr sz="1100"/>
          </a:p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EDBA4357-196B-4C54-9D5B-D1D0EDFF2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3931920"/>
            <a:ext cx="187452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81E6C795-8719-41C8-A88A-72F61A5F9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3931920"/>
            <a:ext cx="187452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docker pause</a:t>
            </a:r>
            <a:endParaRPr sz="100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9BB3D1BB-B807-4C71-8858-5224F86FC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3246120"/>
            <a:ext cx="137160" cy="36576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704C6E2D-9E20-42C4-B0F4-905B71D99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828800"/>
            <a:ext cx="214884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B9F88C76-469D-4F79-B8DB-034FB128C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828800"/>
            <a:ext cx="214884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879631BC-7912-446A-B116-3A0B2BDDA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828800"/>
            <a:ext cx="21488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STOPPED</a:t>
            </a:r>
            <a:endParaRPr sz="14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2738CCA4-5592-44A3-8EE8-0EB2F2F69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743200"/>
            <a:ext cx="18745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Process exit / di-stop</a:t>
            </a:r>
            <a:endParaRPr sz="1100"/>
          </a:p>
        </p:txBody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ADEA8121-DCA0-403C-8C80-88BBC0026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3931920"/>
            <a:ext cx="187452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D86C6363-7B8D-48D8-84C4-5B89244CB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3931920"/>
            <a:ext cx="187452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docker stop</a:t>
            </a:r>
            <a:endParaRPr sz="1000"/>
          </a:p>
        </p:txBody>
      </p:sp>
      <p:sp>
        <p:nvSpPr>
          <p:cNvPr id="37" name="Shape 33">
            <a:extLst xmlns:a="http://schemas.openxmlformats.org/drawingml/2006/main">
              <a:ext uri="{FF2B5EF4-FFF2-40B4-BE49-F238E27FC236}">
                <a16:creationId xmlns:a16="http://schemas.microsoft.com/office/drawing/2014/main" id="{87C78329-B67D-4B32-B660-CD4C1E4C5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3246120"/>
            <a:ext cx="137160" cy="36576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CC2E4601-43C9-4B6A-88C9-3050D7FC1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1828800"/>
            <a:ext cx="214884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37E7FCF6-04F1-4131-928A-3F8EA620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1828800"/>
            <a:ext cx="214884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7808FDAA-099D-4D0E-9488-BC9BE948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1828800"/>
            <a:ext cx="21488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DELETED</a:t>
            </a:r>
            <a:endParaRPr sz="14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B10FC4F6-7C01-4DB8-82C7-C91C43DF2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2743200"/>
            <a:ext cx="18745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Container removed dari host</a:t>
            </a:r>
            <a:endParaRPr sz="1100"/>
          </a:p>
        </p:txBody>
      </p:sp>
      <p:sp>
        <p:nvSpPr>
          <p:cNvPr id="42" name="Shape 38">
            <a:extLst xmlns:a="http://schemas.openxmlformats.org/drawingml/2006/main">
              <a:ext uri="{FF2B5EF4-FFF2-40B4-BE49-F238E27FC236}">
                <a16:creationId xmlns:a16="http://schemas.microsoft.com/office/drawing/2014/main" id="{AB93C057-E1F6-4CE4-959E-DA1D7C851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3931920"/>
            <a:ext cx="187452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677464AF-B88F-4FF3-B620-D90E8BD7C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3931920"/>
            <a:ext cx="187452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docker rm</a:t>
            </a:r>
            <a:endParaRPr sz="1000"/>
          </a:p>
        </p:txBody>
      </p:sp>
      <p:sp>
        <p:nvSpPr>
          <p:cNvPr id="44" name="Text 40">
            <a:extLst xmlns:a="http://schemas.openxmlformats.org/drawingml/2006/main">
              <a:ext uri="{FF2B5EF4-FFF2-40B4-BE49-F238E27FC236}">
                <a16:creationId xmlns:a16="http://schemas.microsoft.com/office/drawing/2014/main" id="{AD69EFA6-16D9-41C6-AC2F-1EE06B9B4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00"/>
            <a:ext cx="11247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Lihat semua container (termasuk stopped): </a:t>
            </a:r>
            <a:r>
              <a:rPr sz="1100" b="1" i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docker ps -a   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 |  Hapus semua container stopped: </a:t>
            </a:r>
            <a:r>
              <a:rPr sz="1100" b="1" i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docker container prune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87338937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7E05365-6B15-43BF-8937-793B9EBF9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9AD3014-8871-4BE8-A9D7-830C06BC8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B55B43-CCE0-4209-B19A-C4D3C80FD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F3E21A1-C390-4624-8513-474A22103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40138E9-055B-420A-B3B1-80DC40667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4ED54131-2093-4D4D-A578-73FCDD35A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C7920354-6669-4700-903D-7E297A50C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6b80c07eff4c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6382caceb041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B0E7301B-055D-4D22-9DD8-9C56B03C5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06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2FDC3471-E8E5-4C28-B372-F072DAFE5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Image Layers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&amp; Storage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14AE8C58-8AB1-4819-84B7-EC7B643A9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7FF8C261-E2D8-4625-B889-6D5CB310B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Bagaimana image dibuat dan data persistent disimpan.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45593274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19D5621-049F-47A3-AA3B-A3EF6650B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4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771B703-D858-4163-BDA2-A43C3C477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3269765-0BF6-4530-AD9E-35518443F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5ecb24ae824a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07f18c972c4a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9540B5AF-BA83-4E71-BFBA-808C00522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8182BFAF-7EEA-4527-AA25-F0DC24C1F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Image Layers - Union Filesystem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7533065-4ACB-47B3-A575-2F1BA3DA8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Image dibangun dari banyak layer - efisien &amp; shareable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692098C0-7A8B-482C-BB79-68A656596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DC630D50-CE05-4118-A895-DE583DA3B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Anatomy Image: nginx:1.27</a:t>
            </a:r>
            <a:endParaRPr sz="14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3ADE7510-1561-4F70-B50B-3C20067F5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52120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26566982-EE3F-49E3-95A5-E6A340B43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11680"/>
            <a:ext cx="35204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Container layer (writable)</a:t>
            </a:r>
            <a:endParaRPr sz="11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DFC1C4B3-546E-48F5-92A7-7F2BCFCFD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011680"/>
            <a:ext cx="14630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Saat container jalan</a:t>
            </a:r>
            <a:endParaRPr sz="900"/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E3137A06-CE39-4B90-B171-B8645D8C2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51760"/>
            <a:ext cx="52120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B89EDDC4-E16A-454C-AC3C-B632A012F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51760"/>
            <a:ext cx="35204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Layer 5: CMD ['nginx']</a:t>
            </a:r>
            <a:endParaRPr sz="11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BB40F8AC-8A12-49AC-A9EB-6D8B3FC5C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651760"/>
            <a:ext cx="14630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Read-only</a:t>
            </a:r>
            <a:endParaRPr sz="90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4F57A6BF-416A-46F8-8EAC-9239DB4E7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91840"/>
            <a:ext cx="52120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3A23B4B0-B99D-4B9A-B92A-A47C1A89F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291840"/>
            <a:ext cx="35204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Layer 4: EXPOSE 80</a:t>
            </a:r>
            <a:endParaRPr sz="11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39F99039-7B3D-4BF2-BBB4-E2F37FEF0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291840"/>
            <a:ext cx="14630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Read-only</a:t>
            </a:r>
            <a:endParaRPr sz="900"/>
          </a:p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156E6623-1800-4D4E-8A61-4899C3453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31920"/>
            <a:ext cx="52120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C1990907-1188-4D7A-AFC1-70D16ABF3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31920"/>
            <a:ext cx="35204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Layer 3: COPY nginx.conf</a:t>
            </a:r>
            <a:endParaRPr sz="11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8307B286-CB65-4A03-A457-14CB200C4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931920"/>
            <a:ext cx="14630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Read-only</a:t>
            </a:r>
            <a:endParaRPr sz="900"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D64B036B-F87A-4448-892B-8FEF8F42C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0"/>
            <a:ext cx="52120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75F38A77-11C4-475A-B9FA-38CD10AC8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572000"/>
            <a:ext cx="35204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Layer 2: RUN apt install nginx</a:t>
            </a:r>
            <a:endParaRPr sz="11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6A56EBFB-C167-4917-890F-3784F20CF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4572000"/>
            <a:ext cx="14630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Read-only</a:t>
            </a:r>
            <a:endParaRPr sz="900"/>
          </a:p>
        </p:txBody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30156DD3-23BB-4445-9723-5E0F0E714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212080"/>
            <a:ext cx="52120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ED4EF5D5-962F-4F58-846F-BFEED6C51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212080"/>
            <a:ext cx="35204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Layer 1: FROM debian:bookworm</a:t>
            </a:r>
            <a:endParaRPr sz="11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93AFA90C-04B9-46B7-B606-4C3F39A41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5212080"/>
            <a:ext cx="14630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Base layer</a:t>
            </a:r>
            <a:endParaRPr sz="90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354491BA-98EF-4B01-9F9C-DD9BF9A04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A6066430-139B-4C37-8ABF-C96CF0475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5448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Kenapa pakai Layered FS?</a:t>
            </a:r>
            <a:endParaRPr sz="140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E0089D1E-107F-4836-95A0-3A4493128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11680"/>
            <a:ext cx="512064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6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07707a1b9248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37960" y="2194560"/>
            <a:ext cx="502920" cy="502920"/>
          </a:xfrm>
          <a:prstGeom xmlns:a="http://schemas.openxmlformats.org/drawingml/2006/main" prst="rect">
            <a:avLst/>
          </a:prstGeom>
        </p:spPr>
      </p:pic>
      <p:sp>
        <p:nvSpPr>
          <p:cNvPr id="34" name="Text 29">
            <a:extLst xmlns:a="http://schemas.openxmlformats.org/drawingml/2006/main">
              <a:ext uri="{FF2B5EF4-FFF2-40B4-BE49-F238E27FC236}">
                <a16:creationId xmlns:a16="http://schemas.microsoft.com/office/drawing/2014/main" id="{962C61DE-FF1B-42BA-B74E-1E2B554F0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103120"/>
            <a:ext cx="4206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Hemat Storage</a:t>
            </a:r>
            <a:endParaRPr sz="1300"/>
          </a:p>
        </p:txBody>
      </p:sp>
      <p:sp>
        <p:nvSpPr>
          <p:cNvPr id="35" name="Text 30">
            <a:extLst xmlns:a="http://schemas.openxmlformats.org/drawingml/2006/main">
              <a:ext uri="{FF2B5EF4-FFF2-40B4-BE49-F238E27FC236}">
                <a16:creationId xmlns:a16="http://schemas.microsoft.com/office/drawing/2014/main" id="{4218393E-8B13-4330-9BAC-8D481D1B0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423160"/>
            <a:ext cx="4206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Layer yang sama (mis. ubuntu base) cuma disimpan sekali, di-share banyak image.</a:t>
            </a:r>
            <a:endParaRPr sz="1000"/>
          </a:p>
        </p:txBody>
      </p:sp>
      <p:sp>
        <p:nvSpPr>
          <p:cNvPr id="36" name="Shape 31">
            <a:extLst xmlns:a="http://schemas.openxmlformats.org/drawingml/2006/main">
              <a:ext uri="{FF2B5EF4-FFF2-40B4-BE49-F238E27FC236}">
                <a16:creationId xmlns:a16="http://schemas.microsoft.com/office/drawing/2014/main" id="{4C807483-C095-4011-9C46-57C97537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71800"/>
            <a:ext cx="512064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90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75ce85d37540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37960" y="3154680"/>
            <a:ext cx="502920" cy="502920"/>
          </a:xfrm>
          <a:prstGeom xmlns:a="http://schemas.openxmlformats.org/drawingml/2006/main" prst="rect">
            <a:avLst/>
          </a:prstGeom>
        </p:spPr>
      </p:pic>
      <p:sp>
        <p:nvSpPr>
          <p:cNvPr id="38" name="Text 32">
            <a:extLst xmlns:a="http://schemas.openxmlformats.org/drawingml/2006/main">
              <a:ext uri="{FF2B5EF4-FFF2-40B4-BE49-F238E27FC236}">
                <a16:creationId xmlns:a16="http://schemas.microsoft.com/office/drawing/2014/main" id="{7317AFC4-0964-4D9A-A3A2-1B4E7385A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063240"/>
            <a:ext cx="4206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Pull Cepat</a:t>
            </a:r>
            <a:endParaRPr sz="1300"/>
          </a:p>
        </p:txBody>
      </p:sp>
      <p:sp>
        <p:nvSpPr>
          <p:cNvPr id="39" name="Text 33">
            <a:extLst xmlns:a="http://schemas.openxmlformats.org/drawingml/2006/main">
              <a:ext uri="{FF2B5EF4-FFF2-40B4-BE49-F238E27FC236}">
                <a16:creationId xmlns:a16="http://schemas.microsoft.com/office/drawing/2014/main" id="{C9549FAC-DC64-48D5-871B-66471F65C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383280"/>
            <a:ext cx="4206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Cuma download layer yang baru/berubah. Hemat bandwidth.</a:t>
            </a:r>
            <a:endParaRPr sz="1000"/>
          </a:p>
        </p:txBody>
      </p:sp>
      <p:sp>
        <p:nvSpPr>
          <p:cNvPr id="40" name="Shape 34">
            <a:extLst xmlns:a="http://schemas.openxmlformats.org/drawingml/2006/main">
              <a:ext uri="{FF2B5EF4-FFF2-40B4-BE49-F238E27FC236}">
                <a16:creationId xmlns:a16="http://schemas.microsoft.com/office/drawing/2014/main" id="{B9FBE869-A33C-4143-A2BE-744935E2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31920"/>
            <a:ext cx="512064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94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492abe6ac348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37960" y="4114800"/>
            <a:ext cx="502920" cy="502920"/>
          </a:xfrm>
          <a:prstGeom xmlns:a="http://schemas.openxmlformats.org/drawingml/2006/main" prst="rect">
            <a:avLst/>
          </a:prstGeom>
        </p:spPr>
      </p:pic>
      <p:sp>
        <p:nvSpPr>
          <p:cNvPr id="42" name="Text 35">
            <a:extLst xmlns:a="http://schemas.openxmlformats.org/drawingml/2006/main">
              <a:ext uri="{FF2B5EF4-FFF2-40B4-BE49-F238E27FC236}">
                <a16:creationId xmlns:a16="http://schemas.microsoft.com/office/drawing/2014/main" id="{73FA25E2-3CD7-4A16-93C6-44A4C6782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023360"/>
            <a:ext cx="4206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Build Cache</a:t>
            </a:r>
            <a:endParaRPr sz="1300"/>
          </a:p>
        </p:txBody>
      </p:sp>
      <p:sp>
        <p:nvSpPr>
          <p:cNvPr id="43" name="Text 36">
            <a:extLst xmlns:a="http://schemas.openxmlformats.org/drawingml/2006/main">
              <a:ext uri="{FF2B5EF4-FFF2-40B4-BE49-F238E27FC236}">
                <a16:creationId xmlns:a16="http://schemas.microsoft.com/office/drawing/2014/main" id="{E7DB9B56-D167-4657-B9EA-F7847E105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343400"/>
            <a:ext cx="4206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Layer yang tidak berubah di-cache saat rebuild. Build cepat.</a:t>
            </a:r>
            <a:endParaRPr sz="1000"/>
          </a:p>
        </p:txBody>
      </p:sp>
      <p:sp>
        <p:nvSpPr>
          <p:cNvPr id="44" name="Shape 37">
            <a:extLst xmlns:a="http://schemas.openxmlformats.org/drawingml/2006/main">
              <a:ext uri="{FF2B5EF4-FFF2-40B4-BE49-F238E27FC236}">
                <a16:creationId xmlns:a16="http://schemas.microsoft.com/office/drawing/2014/main" id="{95998C67-3ADD-4856-8A50-AFD99AD45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892040"/>
            <a:ext cx="512064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98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feec8a14024e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37960" y="5074920"/>
            <a:ext cx="502920" cy="502920"/>
          </a:xfrm>
          <a:prstGeom xmlns:a="http://schemas.openxmlformats.org/drawingml/2006/main" prst="rect">
            <a:avLst/>
          </a:prstGeom>
        </p:spPr>
      </p:pic>
      <p:sp>
        <p:nvSpPr>
          <p:cNvPr id="46" name="Text 38">
            <a:extLst xmlns:a="http://schemas.openxmlformats.org/drawingml/2006/main">
              <a:ext uri="{FF2B5EF4-FFF2-40B4-BE49-F238E27FC236}">
                <a16:creationId xmlns:a16="http://schemas.microsoft.com/office/drawing/2014/main" id="{F4BA7E59-CCD3-4110-89A8-AD5195BD5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983480"/>
            <a:ext cx="4206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Auditable</a:t>
            </a:r>
            <a:endParaRPr sz="1300"/>
          </a:p>
        </p:txBody>
      </p:sp>
      <p:sp>
        <p:nvSpPr>
          <p:cNvPr id="47" name="Text 39">
            <a:extLst xmlns:a="http://schemas.openxmlformats.org/drawingml/2006/main">
              <a:ext uri="{FF2B5EF4-FFF2-40B4-BE49-F238E27FC236}">
                <a16:creationId xmlns:a16="http://schemas.microsoft.com/office/drawing/2014/main" id="{FFAAC1E4-3CA7-43E0-9575-81D53EF84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5303520"/>
            <a:ext cx="4206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Tiap layer = 1 instruksi Dockerfile. Mudah debug.</a:t>
            </a:r>
            <a:endParaRPr sz="1000"/>
          </a:p>
        </p:txBody>
      </p:sp>
      <p:sp>
        <p:nvSpPr>
          <p:cNvPr id="48" name="Text 40">
            <a:extLst xmlns:a="http://schemas.openxmlformats.org/drawingml/2006/main">
              <a:ext uri="{FF2B5EF4-FFF2-40B4-BE49-F238E27FC236}">
                <a16:creationId xmlns:a16="http://schemas.microsoft.com/office/drawing/2014/main" id="{17E121A0-5C33-4BB1-9AE4-61A3AE31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Cek layer image: </a:t>
            </a:r>
            <a:r>
              <a:rPr sz="1100" b="1" i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docker history &lt;image&gt;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 |  Tiap baris Dockerfile = 1 layer baru.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8064237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2196D42-2AC3-435A-8A48-F1BE445AA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4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C348E98-A38D-40F0-88A3-CBA11A984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0C79286-164A-40DC-924E-CB7250DA2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3ec52a333040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6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1cea4914604c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5A8BE57-9786-415E-BFCB-813FFE86F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B7AE702-8356-4253-AD40-350563342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Persistent Storage - Volumes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7BFE231-E9BF-4EC2-B372-5791D039D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Container ephemeral - tapi data harus tetap ada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5C88D36-425D-4FD7-8DB4-3221AC944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593f72b88f489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160020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C7ACF8BE-9E64-41BF-A597-95458399E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150876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Masalah: </a:t>
            </a:r>
            <a:endParaRPr sz="1400"/>
          </a:p>
        </p:txBody>
      </p:sp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07BE359F-9749-43BE-9D55-4D51D45F5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508760"/>
            <a:ext cx="8686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data di container hilang saat container dihapus.</a:t>
            </a:r>
            <a:endParaRPr sz="140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A8863D54-9F7E-4F00-885E-F92534AA1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1874520"/>
            <a:ext cx="99212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Solusi: simpan data di luar container - di host filesystem - lewat volume.</a:t>
            </a:r>
            <a:endParaRPr sz="1100"/>
          </a:p>
        </p:txBody>
      </p:sp>
      <p:sp>
        <p:nvSpPr>
          <p:cNvPr id="15" name="Shape 10">
            <a:extLst xmlns:a="http://schemas.openxmlformats.org/drawingml/2006/main">
              <a:ext uri="{FF2B5EF4-FFF2-40B4-BE49-F238E27FC236}">
                <a16:creationId xmlns:a16="http://schemas.microsoft.com/office/drawing/2014/main" id="{D10262CB-43A4-47B7-A91B-E5F2BF32C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3657600" cy="3749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C057082F-F822-416E-833A-88B971A20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365760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7" name="Text 12">
            <a:extLst xmlns:a="http://schemas.openxmlformats.org/drawingml/2006/main">
              <a:ext uri="{FF2B5EF4-FFF2-40B4-BE49-F238E27FC236}">
                <a16:creationId xmlns:a16="http://schemas.microsoft.com/office/drawing/2014/main" id="{05891DE5-35D9-4E13-93A6-8AD88A11C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3657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Named Volume</a:t>
            </a:r>
            <a:endParaRPr sz="1400"/>
          </a:p>
        </p:txBody>
      </p:sp>
      <p:sp>
        <p:nvSpPr>
          <p:cNvPr id="18" name="Text 13">
            <a:extLst xmlns:a="http://schemas.openxmlformats.org/drawingml/2006/main">
              <a:ext uri="{FF2B5EF4-FFF2-40B4-BE49-F238E27FC236}">
                <a16:creationId xmlns:a16="http://schemas.microsoft.com/office/drawing/2014/main" id="{4B9E40F7-B9E9-4D5F-8CEC-4AD3C0AAF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0"/>
            <a:ext cx="33832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Docker yang manage. Disimpan di /var/lib/docker/volumes/. Rekomendasi production.</a:t>
            </a:r>
            <a:endParaRPr sz="1050"/>
          </a:p>
        </p:txBody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E14E7F80-7BB7-4511-97E8-341AF5E61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43400"/>
            <a:ext cx="3383280" cy="594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CAEEE46A-8955-4247-96C7-73020EF19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32918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docker run -v db_data:/var/lib/postgresql/data postgres</a:t>
            </a:r>
            <a:endParaRPr sz="900"/>
          </a:p>
        </p:txBody>
      </p:sp>
      <p:sp>
        <p:nvSpPr>
          <p:cNvPr id="21" name="Text 16">
            <a:extLst xmlns:a="http://schemas.openxmlformats.org/drawingml/2006/main">
              <a:ext uri="{FF2B5EF4-FFF2-40B4-BE49-F238E27FC236}">
                <a16:creationId xmlns:a16="http://schemas.microsoft.com/office/drawing/2014/main" id="{E491CBBC-D405-43A8-B249-62B6FAE07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029200"/>
            <a:ext cx="3383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+ Portable, di-manage Docker, backup mudah</a:t>
            </a:r>
            <a:endParaRPr sz="1000"/>
          </a:p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808639AA-FAFA-4D09-B490-36DC3554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440680"/>
            <a:ext cx="3383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- Path tidak intuitif</a:t>
            </a:r>
            <a:endParaRPr sz="1000"/>
          </a:p>
        </p:txBody>
      </p:sp>
      <p:sp>
        <p:nvSpPr>
          <p:cNvPr id="23" name="Shape 18">
            <a:extLst xmlns:a="http://schemas.openxmlformats.org/drawingml/2006/main">
              <a:ext uri="{FF2B5EF4-FFF2-40B4-BE49-F238E27FC236}">
                <a16:creationId xmlns:a16="http://schemas.microsoft.com/office/drawing/2014/main" id="{6B8554F6-C44E-4EED-B348-960ADEFCD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514600"/>
            <a:ext cx="3657600" cy="3749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Shape 19">
            <a:extLst xmlns:a="http://schemas.openxmlformats.org/drawingml/2006/main">
              <a:ext uri="{FF2B5EF4-FFF2-40B4-BE49-F238E27FC236}">
                <a16:creationId xmlns:a16="http://schemas.microsoft.com/office/drawing/2014/main" id="{E8844B36-D360-47BE-B4BD-F8D2C55BB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514600"/>
            <a:ext cx="365760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25" name="Text 20">
            <a:extLst xmlns:a="http://schemas.openxmlformats.org/drawingml/2006/main">
              <a:ext uri="{FF2B5EF4-FFF2-40B4-BE49-F238E27FC236}">
                <a16:creationId xmlns:a16="http://schemas.microsoft.com/office/drawing/2014/main" id="{F3F8CA02-21B9-4A56-AAE3-EA85A671E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514600"/>
            <a:ext cx="3657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Bind Mount</a:t>
            </a:r>
            <a:endParaRPr sz="1400"/>
          </a:p>
        </p:txBody>
      </p:sp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D7D1EEB7-7E9A-4E0A-B968-F2C5C42C4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200400"/>
            <a:ext cx="33832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Mount folder host langsung ke container. Path eksplisit. Cocok untuk dev.</a:t>
            </a:r>
            <a:endParaRPr sz="1050"/>
          </a:p>
        </p:txBody>
      </p:sp>
      <p:sp>
        <p:nvSpPr>
          <p:cNvPr id="27" name="Shape 22">
            <a:extLst xmlns:a="http://schemas.openxmlformats.org/drawingml/2006/main">
              <a:ext uri="{FF2B5EF4-FFF2-40B4-BE49-F238E27FC236}">
                <a16:creationId xmlns:a16="http://schemas.microsoft.com/office/drawing/2014/main" id="{ED88F2E6-5EA7-427F-AB0F-D61E500DA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4343400"/>
            <a:ext cx="3383280" cy="594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8" name="Text 23">
            <a:extLst xmlns:a="http://schemas.openxmlformats.org/drawingml/2006/main">
              <a:ext uri="{FF2B5EF4-FFF2-40B4-BE49-F238E27FC236}">
                <a16:creationId xmlns:a16="http://schemas.microsoft.com/office/drawing/2014/main" id="{55A1E991-D378-4381-BF53-705C41E83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343400"/>
            <a:ext cx="32918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docker run -v $(pwd)/app:/usr/src/app node</a:t>
            </a:r>
            <a:endParaRPr sz="900"/>
          </a:p>
        </p:txBody>
      </p:sp>
      <p:sp>
        <p:nvSpPr>
          <p:cNvPr id="29" name="Text 24">
            <a:extLst xmlns:a="http://schemas.openxmlformats.org/drawingml/2006/main">
              <a:ext uri="{FF2B5EF4-FFF2-40B4-BE49-F238E27FC236}">
                <a16:creationId xmlns:a16="http://schemas.microsoft.com/office/drawing/2014/main" id="{BDE2E0F0-5CE4-471E-8068-58FF18D74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5029200"/>
            <a:ext cx="3383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+ Live reload code dari host</a:t>
            </a:r>
            <a:endParaRPr sz="1000"/>
          </a:p>
        </p:txBody>
      </p:sp>
      <p:sp>
        <p:nvSpPr>
          <p:cNvPr id="30" name="Text 25">
            <a:extLst xmlns:a="http://schemas.openxmlformats.org/drawingml/2006/main">
              <a:ext uri="{FF2B5EF4-FFF2-40B4-BE49-F238E27FC236}">
                <a16:creationId xmlns:a16="http://schemas.microsoft.com/office/drawing/2014/main" id="{F32F2FE7-3C53-4D9E-923B-AD853781B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5440680"/>
            <a:ext cx="3383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- Tidak portable, depend OS path</a:t>
            </a:r>
            <a:endParaRPr sz="1000"/>
          </a:p>
        </p:txBody>
      </p:sp>
      <p:sp>
        <p:nvSpPr>
          <p:cNvPr id="31" name="Shape 26">
            <a:extLst xmlns:a="http://schemas.openxmlformats.org/drawingml/2006/main">
              <a:ext uri="{FF2B5EF4-FFF2-40B4-BE49-F238E27FC236}">
                <a16:creationId xmlns:a16="http://schemas.microsoft.com/office/drawing/2014/main" id="{36451AD7-F19F-40AF-9310-D94DE8FC0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514600"/>
            <a:ext cx="3657600" cy="3749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Shape 27">
            <a:extLst xmlns:a="http://schemas.openxmlformats.org/drawingml/2006/main">
              <a:ext uri="{FF2B5EF4-FFF2-40B4-BE49-F238E27FC236}">
                <a16:creationId xmlns:a16="http://schemas.microsoft.com/office/drawing/2014/main" id="{4BD81D4E-5C43-4798-9BA9-A50FDF109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514600"/>
            <a:ext cx="365760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33" name="Text 28">
            <a:extLst xmlns:a="http://schemas.openxmlformats.org/drawingml/2006/main">
              <a:ext uri="{FF2B5EF4-FFF2-40B4-BE49-F238E27FC236}">
                <a16:creationId xmlns:a16="http://schemas.microsoft.com/office/drawing/2014/main" id="{64A493A6-125C-44AC-BBF8-89FA73801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514600"/>
            <a:ext cx="3657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tmpfs Mount</a:t>
            </a:r>
            <a:endParaRPr sz="1400"/>
          </a:p>
        </p:txBody>
      </p:sp>
      <p:sp>
        <p:nvSpPr>
          <p:cNvPr id="34" name="Text 29">
            <a:extLst xmlns:a="http://schemas.openxmlformats.org/drawingml/2006/main">
              <a:ext uri="{FF2B5EF4-FFF2-40B4-BE49-F238E27FC236}">
                <a16:creationId xmlns:a16="http://schemas.microsoft.com/office/drawing/2014/main" id="{FFA8F967-3B9D-4718-929B-956F8B699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200400"/>
            <a:ext cx="33832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Disimpan di RAM, tidak persist. Cepat tapi hilang saat restart.</a:t>
            </a:r>
            <a:endParaRPr sz="1050"/>
          </a:p>
        </p:txBody>
      </p:sp>
      <p:sp>
        <p:nvSpPr>
          <p:cNvPr id="35" name="Shape 30">
            <a:extLst xmlns:a="http://schemas.openxmlformats.org/drawingml/2006/main">
              <a:ext uri="{FF2B5EF4-FFF2-40B4-BE49-F238E27FC236}">
                <a16:creationId xmlns:a16="http://schemas.microsoft.com/office/drawing/2014/main" id="{D7EF5083-1122-4199-BB19-FEB7B2FE8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4343400"/>
            <a:ext cx="3383280" cy="594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6" name="Text 31">
            <a:extLst xmlns:a="http://schemas.openxmlformats.org/drawingml/2006/main">
              <a:ext uri="{FF2B5EF4-FFF2-40B4-BE49-F238E27FC236}">
                <a16:creationId xmlns:a16="http://schemas.microsoft.com/office/drawing/2014/main" id="{93E4D9D2-1A16-4645-8910-9D8E0A442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343400"/>
            <a:ext cx="32918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docker run --tmpfs /tmp nginx</a:t>
            </a:r>
            <a:endParaRPr sz="900"/>
          </a:p>
        </p:txBody>
      </p:sp>
      <p:sp>
        <p:nvSpPr>
          <p:cNvPr id="37" name="Text 32">
            <a:extLst xmlns:a="http://schemas.openxmlformats.org/drawingml/2006/main">
              <a:ext uri="{FF2B5EF4-FFF2-40B4-BE49-F238E27FC236}">
                <a16:creationId xmlns:a16="http://schemas.microsoft.com/office/drawing/2014/main" id="{236CD194-0D1F-4E3F-8A45-7DE2042F3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5029200"/>
            <a:ext cx="3383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+ Sangat cepat (RAM)</a:t>
            </a:r>
            <a:endParaRPr sz="1000"/>
          </a:p>
        </p:txBody>
      </p:sp>
      <p:sp>
        <p:nvSpPr>
          <p:cNvPr id="38" name="Text 33">
            <a:extLst xmlns:a="http://schemas.openxmlformats.org/drawingml/2006/main">
              <a:ext uri="{FF2B5EF4-FFF2-40B4-BE49-F238E27FC236}">
                <a16:creationId xmlns:a16="http://schemas.microsoft.com/office/drawing/2014/main" id="{BE207420-A719-45CF-9327-14516E829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5440680"/>
            <a:ext cx="3383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- Hilang saat container stop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46567682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D3F2A73-E1E9-4A9B-B31F-21C91365D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4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8E08206-25D2-4793-A812-EFDF40FC5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2D242A2-CCAA-4CF6-8F32-81B5E3ED2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9c52ea080c4b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f8bb7854c34e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CA6A7A60-061A-4126-8637-5F1B89C8D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022E827C-149B-4ADB-BA13-F7DF40068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Docker Networking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82F5D17-95B1-4DC3-82C0-24099F3B5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Bagaimana container berkomunikasi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E4A6911-A3D7-4878-9644-32234FC80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6E650382-5DA1-4A74-9669-16C63CEF8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8760"/>
            <a:ext cx="107899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Default: </a:t>
            </a:r>
            <a:r>
              <a:rPr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tiap container dapat IP di network 'bridge'. Bisa komunikasi via IP / container name.</a:t>
            </a:r>
            <a:endParaRPr sz="14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59B77283-9959-4955-A313-B79554531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77440"/>
            <a:ext cx="557784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3AB39DC-A582-4803-9711-28C45D5FA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77440"/>
            <a:ext cx="155448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4C2EF08E-DF2A-456D-B215-598290EA1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77440"/>
            <a:ext cx="1554480" cy="1691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bridge</a:t>
            </a:r>
            <a:endParaRPr sz="18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15753CF7-F931-424C-8723-48ABE556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2468880"/>
            <a:ext cx="37490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Default network. Container dapat IP private (172.x). Untuk komunikasi antar container di host yang sama.</a:t>
            </a:r>
            <a:endParaRPr sz="11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C484432E-4FED-4279-B1ED-21C0B42B0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3429000"/>
            <a:ext cx="37490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Pakai untuk: </a:t>
            </a:r>
            <a:r>
              <a:rPr sz="1000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Default - sebagian besar use case</a:t>
            </a:r>
            <a:endParaRPr sz="10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90DD6ACA-8739-4BC0-9885-FC0CC182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377440"/>
            <a:ext cx="557784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024F9A7F-150B-41BF-B681-A22AF6A7A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377440"/>
            <a:ext cx="155448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25A43FD2-D7E0-4B0F-8498-2DFE5930C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377440"/>
            <a:ext cx="1554480" cy="1691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host</a:t>
            </a:r>
            <a:endParaRPr sz="18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670DDE6A-8F1E-48CE-B415-688B0133A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468880"/>
            <a:ext cx="37490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Container share network stack dengan host. Tidak ada isolasi network. Performa max.</a:t>
            </a:r>
            <a:endParaRPr sz="11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0DD436F7-5D9D-466E-8A25-2EABD8855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29000"/>
            <a:ext cx="37490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Pakai untuk: </a:t>
            </a:r>
            <a:r>
              <a:rPr sz="1000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Performance-critical apps</a:t>
            </a:r>
            <a:endParaRPr sz="100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A3A680B9-586A-4446-A024-E7A0DB323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06240"/>
            <a:ext cx="557784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491FD196-97CC-49EE-B500-92146385C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06240"/>
            <a:ext cx="155448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2700">
            <a:solidFill>
              <a:srgbClr val="64748B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6BF172DE-419C-4DBB-9DC4-CF92F2AC3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06240"/>
            <a:ext cx="1554480" cy="1691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none</a:t>
            </a:r>
            <a:endParaRPr sz="18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669BB2CA-6E3A-4D20-8C6E-EE89388E9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4297680"/>
            <a:ext cx="37490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Tidak ada network. Container fully isolated dari network.</a:t>
            </a:r>
            <a:endParaRPr sz="11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CE7D05A1-05D3-490C-97F4-DE661ABC2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5257800"/>
            <a:ext cx="37490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Pakai untuk: </a:t>
            </a:r>
            <a:r>
              <a:rPr sz="1000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Batch job, isolated processing</a:t>
            </a:r>
            <a:endParaRPr sz="1000"/>
          </a:p>
        </p:txBody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788680D6-E8A5-4775-BDC1-4AE72FA64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206240"/>
            <a:ext cx="557784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98EB4B1B-E880-46E2-8911-E5149EC52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206240"/>
            <a:ext cx="155448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36E07661-FBDE-4363-BB5C-633B15CCE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206240"/>
            <a:ext cx="1554480" cy="1691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custom</a:t>
            </a:r>
            <a:endParaRPr sz="1800"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96024FD0-E046-44AA-BBA4-0C77E3F4E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297680"/>
            <a:ext cx="37490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Buat sendiri network. Container di network sama bisa resolve by name (DNS).</a:t>
            </a:r>
            <a:endParaRPr sz="11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BC35D3ED-E3E8-49D5-A2D1-0DAE350C6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257800"/>
            <a:ext cx="37490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Pakai untuk: </a:t>
            </a:r>
            <a:r>
              <a:rPr sz="1000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Multi-container apps (compose)</a:t>
            </a:r>
            <a:endParaRPr sz="10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0521EC60-AC35-4D43-BC6A-BFAA5C9C3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Cek network: </a:t>
            </a:r>
            <a:r>
              <a:rPr sz="1100" b="1" i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docker network ls   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 |  Buat custom: </a:t>
            </a:r>
            <a:r>
              <a:rPr sz="1100" b="1" i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docker network create myapp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8754232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A584446-2A9E-47DC-B824-6EC0381AA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4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34E0F98-C37A-448D-BEC5-8A8AD024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E157184-00EE-4784-9BFF-46F6DFC79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b1584abbf54e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55edc30c204f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9F0CC89-6376-4BFA-ACF0-187D88870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32138F69-1E18-4145-BBF7-60FD80234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Port Mapping - Expose Container ke Host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0B15F8FF-ED1D-4AE7-8FD1-620C0199D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Flag -p HOST:CONTAINER yang wajib hafal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75C24A01-22F0-4797-925F-D2F475CCF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377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7FF809E5-1C92-4C61-A97C-C5C6644D8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28800"/>
            <a:ext cx="228600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pic>
        <p:nvPicPr>
          <p:cNvPr id="46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5abee50c8148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600200" y="2011680"/>
            <a:ext cx="914400" cy="91440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F4CF166A-E380-4E89-8663-0F5713425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260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INTERNET</a:t>
            </a:r>
            <a:endParaRPr sz="1300"/>
          </a:p>
        </p:txBody>
      </p:sp>
      <p:sp>
        <p:nvSpPr>
          <p:cNvPr id="14" name="Shape 9">
            <a:extLst xmlns:a="http://schemas.openxmlformats.org/drawingml/2006/main">
              <a:ext uri="{FF2B5EF4-FFF2-40B4-BE49-F238E27FC236}">
                <a16:creationId xmlns:a16="http://schemas.microsoft.com/office/drawing/2014/main" id="{902E9D13-1762-460F-A418-0C7B2E1FC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2468880"/>
            <a:ext cx="1371600" cy="36576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FA027FB6-EE60-49A3-A3A6-D79A7241B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246888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:8080</a:t>
            </a:r>
            <a:endParaRPr sz="1100"/>
          </a:p>
        </p:txBody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8194E300-E84F-4D4E-AADF-B1EC42CE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1828800"/>
            <a:ext cx="228600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pic>
        <p:nvPicPr>
          <p:cNvPr id="51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547511c9b244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23560" y="2011680"/>
            <a:ext cx="914400" cy="914400"/>
          </a:xfrm>
          <a:prstGeom xmlns:a="http://schemas.openxmlformats.org/drawingml/2006/main" prst="rect">
            <a:avLst/>
          </a:prstGeom>
        </p:spPr>
      </p:pic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155AFC4D-A92D-4495-8F3B-9EDB7E590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29260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HOST</a:t>
            </a:r>
            <a:endParaRPr sz="1300"/>
          </a:p>
        </p:txBody>
      </p:sp>
      <p:sp>
        <p:nvSpPr>
          <p:cNvPr id="19" name="Shape 13">
            <a:extLst xmlns:a="http://schemas.openxmlformats.org/drawingml/2006/main">
              <a:ext uri="{FF2B5EF4-FFF2-40B4-BE49-F238E27FC236}">
                <a16:creationId xmlns:a16="http://schemas.microsoft.com/office/drawing/2014/main" id="{DB7575CF-9BD7-4565-BA8E-D7229D528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2468880"/>
            <a:ext cx="1371600" cy="36576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0" name="Text 14">
            <a:extLst xmlns:a="http://schemas.openxmlformats.org/drawingml/2006/main">
              <a:ext uri="{FF2B5EF4-FFF2-40B4-BE49-F238E27FC236}">
                <a16:creationId xmlns:a16="http://schemas.microsoft.com/office/drawing/2014/main" id="{599782F6-8DA1-400A-A14F-C03772B42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246888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:80</a:t>
            </a:r>
            <a:endParaRPr sz="1100"/>
          </a:p>
        </p:txBody>
      </p:sp>
      <p:sp>
        <p:nvSpPr>
          <p:cNvPr id="21" name="Shape 15">
            <a:extLst xmlns:a="http://schemas.openxmlformats.org/drawingml/2006/main">
              <a:ext uri="{FF2B5EF4-FFF2-40B4-BE49-F238E27FC236}">
                <a16:creationId xmlns:a16="http://schemas.microsoft.com/office/drawing/2014/main" id="{3F9C6ECB-4453-476C-B8D7-6EFC0A0B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1828800"/>
            <a:ext cx="228600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6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a0796f315743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46920" y="2011680"/>
            <a:ext cx="914400" cy="914400"/>
          </a:xfrm>
          <a:prstGeom xmlns:a="http://schemas.openxmlformats.org/drawingml/2006/main" prst="rect">
            <a:avLst/>
          </a:prstGeom>
        </p:spPr>
      </p:pic>
      <p:sp>
        <p:nvSpPr>
          <p:cNvPr id="23" name="Text 16">
            <a:extLst xmlns:a="http://schemas.openxmlformats.org/drawingml/2006/main">
              <a:ext uri="{FF2B5EF4-FFF2-40B4-BE49-F238E27FC236}">
                <a16:creationId xmlns:a16="http://schemas.microsoft.com/office/drawing/2014/main" id="{1199CFB5-E6B1-40F2-9C21-4A065A5F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29260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CONTAINER</a:t>
            </a:r>
            <a:endParaRPr sz="1300"/>
          </a:p>
        </p:txBody>
      </p:sp>
      <p:sp>
        <p:nvSpPr>
          <p:cNvPr id="24" name="Shape 17">
            <a:extLst xmlns:a="http://schemas.openxmlformats.org/drawingml/2006/main">
              <a:ext uri="{FF2B5EF4-FFF2-40B4-BE49-F238E27FC236}">
                <a16:creationId xmlns:a16="http://schemas.microsoft.com/office/drawing/2014/main" id="{0BE13640-C4B1-4C1F-B1B1-CD3715A98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31920"/>
            <a:ext cx="112471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5" name="Shape 18">
            <a:extLst xmlns:a="http://schemas.openxmlformats.org/drawingml/2006/main">
              <a:ext uri="{FF2B5EF4-FFF2-40B4-BE49-F238E27FC236}">
                <a16:creationId xmlns:a16="http://schemas.microsoft.com/office/drawing/2014/main" id="{47D9BFC1-E9C0-46B5-8769-111098E37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319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6" name="Shape 19">
            <a:extLst xmlns:a="http://schemas.openxmlformats.org/drawingml/2006/main">
              <a:ext uri="{FF2B5EF4-FFF2-40B4-BE49-F238E27FC236}">
                <a16:creationId xmlns:a16="http://schemas.microsoft.com/office/drawing/2014/main" id="{9620A4EE-D24D-4B63-8681-3BDF99434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142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7" name="Shape 20">
            <a:extLst xmlns:a="http://schemas.openxmlformats.org/drawingml/2006/main">
              <a:ext uri="{FF2B5EF4-FFF2-40B4-BE49-F238E27FC236}">
                <a16:creationId xmlns:a16="http://schemas.microsoft.com/office/drawing/2014/main" id="{4C91B370-08F6-4DE7-A751-18A49C2A1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42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8" name="Shape 21">
            <a:extLst xmlns:a="http://schemas.openxmlformats.org/drawingml/2006/main">
              <a:ext uri="{FF2B5EF4-FFF2-40B4-BE49-F238E27FC236}">
                <a16:creationId xmlns:a16="http://schemas.microsoft.com/office/drawing/2014/main" id="{060C557E-DFF9-47E4-9207-84EDEC481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0142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9" name="Text 22">
            <a:extLst xmlns:a="http://schemas.openxmlformats.org/drawingml/2006/main">
              <a:ext uri="{FF2B5EF4-FFF2-40B4-BE49-F238E27FC236}">
                <a16:creationId xmlns:a16="http://schemas.microsoft.com/office/drawing/2014/main" id="{130F6E60-AC91-4625-916B-F80AA1061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9319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port mapping examples</a:t>
            </a:r>
            <a:endParaRPr sz="900"/>
          </a:p>
        </p:txBody>
      </p:sp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17CBB8E9-E0B6-4B50-9800-B59333BE3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297680"/>
            <a:ext cx="1097280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Map port 8080 host -&gt; 80 container (HTTP)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docker run -d -p 8080:80 nginx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Akses dari browser: http://localhost:8080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Map banyak port sekaligus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docker run -p 80:80 -p 443:443 nginx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Cuma terima dari localhost host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docker run -p 127.0.0.1:5432:5432 postgres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388339983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54F712E-25AD-4BE9-8A6E-6108A6BD4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4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9F89DFF-5570-4961-8EC4-912C86D90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FCFED77-47AB-48A0-A0BF-6BF411D5A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7a5e06f6e94b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534a527fee40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8F7F652A-C99E-4900-BF4D-6F48B2B95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177F723-23D0-4F1F-81BE-36F28FFB5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Docker Commands - Lainnya yang Berguna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57509B3-0F6C-40AB-B412-9ED35AC36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Untuk inspeksi, cleanup, dan debugging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7BF1199-37E9-4116-BB4E-A88CEE5BD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AA7FF9C4-8D24-49EF-93EB-228DAF62F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609A81F8-9767-427C-BC8D-B316A3B48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41732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docker inspect &lt;id&gt;</a:t>
            </a:r>
            <a:endParaRPr sz="105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1694A955-4E69-4D91-B923-BF480CA89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82880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Detail JSON container/image (IP, mount, env)</a:t>
            </a:r>
            <a:endParaRPr sz="100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549E6CEA-06EF-4BDB-9C46-AF4666AA9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21F7E668-D0A7-426F-A191-7C2F134C1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9F8AA2B5-7491-4C58-BB08-E0E73B481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41732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docker logs -f &lt;id&gt;</a:t>
            </a:r>
            <a:endParaRPr sz="105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AE8175CD-10AC-4C21-9891-0FDC407E1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82880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Follow log stdout/stderr (-f tail real-time)</a:t>
            </a:r>
            <a:endParaRPr sz="100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208CBBC5-1626-4407-8E93-D167E1646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A76FBFC1-B8AC-4C46-9138-6AA819BE6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A632A0CE-A8A4-487D-A6D0-43ED214D5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41732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docker exec -it &lt;id&gt; bash</a:t>
            </a:r>
            <a:endParaRPr sz="105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8BB6C077-FF28-4577-B080-F05871698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82880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Buka shell di container (debug)</a:t>
            </a:r>
            <a:endParaRPr sz="100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CB1A307D-F6C1-4318-894D-034714D7A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77440"/>
            <a:ext cx="37033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806BAED9-9CA9-4885-BEA5-A76145A0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77440"/>
            <a:ext cx="37033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DD1654D5-0070-4E8C-B51D-AFB42A154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37744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docker cp &lt;id&gt;:/path .</a:t>
            </a:r>
            <a:endParaRPr sz="105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5C4976A1-987C-4E8D-8035-48ACFC4FE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78892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Copy file dari container ke host</a:t>
            </a:r>
            <a:endParaRPr sz="100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31C355E3-B6AC-4B25-9C9A-7BC3C2CE1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377440"/>
            <a:ext cx="37033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FDEA9406-68D0-41AB-B814-6F38A608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377440"/>
            <a:ext cx="37033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CE0EE99E-3A6C-4579-8AEC-D9522E084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237744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docker stats</a:t>
            </a:r>
            <a:endParaRPr sz="105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B4FA49F6-E37C-4F9F-8AD7-BF4174C6A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278892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Real-time CPU/RAM/IO tiap container</a:t>
            </a:r>
            <a:endParaRPr sz="100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EA8C20B4-16EE-4C31-A610-47DA09298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377440"/>
            <a:ext cx="37033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6D8C85BF-8212-4CD1-82F4-8B5E7E323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377440"/>
            <a:ext cx="37033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A06486B1-B16F-4094-A97C-0F4C627AD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37744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docker system df</a:t>
            </a:r>
            <a:endParaRPr sz="10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CC9E1D2B-D701-4D89-8175-6FF24C6B3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78892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Lihat disk usage Docker</a:t>
            </a:r>
            <a:endParaRPr sz="100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7B3DF594-41B6-481D-95C7-06EFB23B2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37560"/>
            <a:ext cx="37033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E5F5C9BF-BDE2-4E22-A240-FB6C8E5DC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37560"/>
            <a:ext cx="37033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131C62DF-333D-4709-B1C7-1F1008727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33756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docker system prune -a</a:t>
            </a:r>
            <a:endParaRPr sz="10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7FDC320E-6A48-4A0D-9532-F0BADE431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74904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Hapus image/container/cache yang tidak dipakai</a:t>
            </a:r>
            <a:endParaRPr sz="100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9835DBCE-64E7-475D-9F05-D2E7CF2EA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337560"/>
            <a:ext cx="37033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9356AFF6-0F10-4AAE-A99C-19214E885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337560"/>
            <a:ext cx="37033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B3E95BEF-0574-4855-B77C-F1729B6B6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33756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docker volume ls / prune</a:t>
            </a:r>
            <a:endParaRPr sz="105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F6EC9C5D-2B25-44EC-A7A5-5364E977A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74904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List / cleanup volumes</a:t>
            </a:r>
            <a:endParaRPr sz="1000"/>
          </a:p>
        </p:txBody>
      </p:sp>
      <p:sp>
        <p:nvSpPr>
          <p:cNvPr id="42" name="Shape 38">
            <a:extLst xmlns:a="http://schemas.openxmlformats.org/drawingml/2006/main">
              <a:ext uri="{FF2B5EF4-FFF2-40B4-BE49-F238E27FC236}">
                <a16:creationId xmlns:a16="http://schemas.microsoft.com/office/drawing/2014/main" id="{9C3B6B17-99AD-4888-9366-5A3524F4B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337560"/>
            <a:ext cx="37033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3" name="Shape 39">
            <a:extLst xmlns:a="http://schemas.openxmlformats.org/drawingml/2006/main">
              <a:ext uri="{FF2B5EF4-FFF2-40B4-BE49-F238E27FC236}">
                <a16:creationId xmlns:a16="http://schemas.microsoft.com/office/drawing/2014/main" id="{99B370F5-D3C1-4DD1-B29C-2025A1713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337560"/>
            <a:ext cx="37033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44" name="Text 40">
            <a:extLst xmlns:a="http://schemas.openxmlformats.org/drawingml/2006/main">
              <a:ext uri="{FF2B5EF4-FFF2-40B4-BE49-F238E27FC236}">
                <a16:creationId xmlns:a16="http://schemas.microsoft.com/office/drawing/2014/main" id="{E0A8F7B5-6020-4B78-B41E-1BA50225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33756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docker image rm &lt;id&gt;</a:t>
            </a:r>
            <a:endParaRPr sz="1050"/>
          </a:p>
        </p:txBody>
      </p:sp>
      <p:sp>
        <p:nvSpPr>
          <p:cNvPr id="45" name="Text 41">
            <a:extLst xmlns:a="http://schemas.openxmlformats.org/drawingml/2006/main">
              <a:ext uri="{FF2B5EF4-FFF2-40B4-BE49-F238E27FC236}">
                <a16:creationId xmlns:a16="http://schemas.microsoft.com/office/drawing/2014/main" id="{D2127666-C40F-498D-A433-78B7CDD68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74904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Hapus image (kalau tidak dipakai)</a:t>
            </a:r>
            <a:endParaRPr sz="1000"/>
          </a:p>
        </p:txBody>
      </p:sp>
      <p:sp>
        <p:nvSpPr>
          <p:cNvPr id="46" name="Shape 42">
            <a:extLst xmlns:a="http://schemas.openxmlformats.org/drawingml/2006/main">
              <a:ext uri="{FF2B5EF4-FFF2-40B4-BE49-F238E27FC236}">
                <a16:creationId xmlns:a16="http://schemas.microsoft.com/office/drawing/2014/main" id="{D63FC678-977D-4994-AEAF-1E7D9B56C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97680"/>
            <a:ext cx="37033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7" name="Shape 43">
            <a:extLst xmlns:a="http://schemas.openxmlformats.org/drawingml/2006/main">
              <a:ext uri="{FF2B5EF4-FFF2-40B4-BE49-F238E27FC236}">
                <a16:creationId xmlns:a16="http://schemas.microsoft.com/office/drawing/2014/main" id="{AB8018DC-0321-4F8E-A6A0-8A450B60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97680"/>
            <a:ext cx="37033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48" name="Text 44">
            <a:extLst xmlns:a="http://schemas.openxmlformats.org/drawingml/2006/main">
              <a:ext uri="{FF2B5EF4-FFF2-40B4-BE49-F238E27FC236}">
                <a16:creationId xmlns:a16="http://schemas.microsoft.com/office/drawing/2014/main" id="{9CF98A6F-4C6D-4A2B-8299-2E7B7D677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29768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docker restart &lt;id&gt;</a:t>
            </a:r>
            <a:endParaRPr sz="1050"/>
          </a:p>
        </p:txBody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87E59AF0-7BF7-4FE5-B0B9-D84FA7385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70916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Restart container yang jalan</a:t>
            </a:r>
            <a:endParaRPr sz="1000"/>
          </a:p>
        </p:txBody>
      </p:sp>
      <p:sp>
        <p:nvSpPr>
          <p:cNvPr id="50" name="Text 46">
            <a:extLst xmlns:a="http://schemas.openxmlformats.org/drawingml/2006/main">
              <a:ext uri="{FF2B5EF4-FFF2-40B4-BE49-F238E27FC236}">
                <a16:creationId xmlns:a16="http://schemas.microsoft.com/office/drawing/2014/main" id="{022E7D10-C1C3-44E6-A9D9-EE63A77DC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Pro tip: </a:t>
            </a:r>
            <a:r>
              <a:rPr sz="1100" b="1" i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docker system prune -a --volumes 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buat reset Docker. </a:t>
            </a:r>
            <a:r>
              <a:rPr sz="1100" b="1" i="1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Hati-hati: 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ini hapus semua image, container, dan volume yang tidak dipakai.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53811498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CE7FAA3-C8B5-4161-A634-A25DA5226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4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5C874FE-ED88-4603-9A6C-C628F6E7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A509B55-5985-4AEA-9A80-6BE9E84E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27cc40d0a143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dbabe7e75e47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EF48D542-3FD9-4A92-AC8D-EEC64B222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D142B2C-70BE-4788-AF34-D153F2C61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Cheat Sheet - Virtualisasi &amp; Docker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EE0B170-6B08-4692-894A-E83ABB7E0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Print, tempel di samping laptop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B2CB097-8B4A-49CD-9FA7-8B2F13FA7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F55602AB-114E-4BED-8843-E76E4D6CE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A316CCFC-7367-4583-92AC-DDAB462AD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Concept</a:t>
            </a:r>
            <a:endParaRPr sz="13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2C7B1317-ECB0-4F51-9C93-A5D52D4F0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VM = full OS isolated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Container = isolated proc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Hypervisor T1 = bare metal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Hypervisor T2 = hosted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namespace = view isolation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cgroup = resource limit</a:t>
            </a:r>
            <a:endParaRPr sz="110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5A74AF3E-9D4D-4726-8DC4-D8B67D19D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3C8D5E5F-CBB1-4B62-9996-B93F0D9DE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C17FE7C6-FEBA-4926-A6BB-FC3EAACE7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Image</a:t>
            </a:r>
            <a:endParaRPr sz="13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B455DB11-E08A-4E2D-9C74-C3C19D949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pull &lt;img&gt;:&lt;tag&gt;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images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history &lt;img&gt;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image rm &lt;id&gt;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tag &lt;id&gt; name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Layered + read-only</a:t>
            </a:r>
            <a:endParaRPr sz="110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1859C3E1-37BF-4E89-A1CE-7AA8F7633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1EB4EA44-C290-4EF3-9883-91D2B619A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ABC4FE81-281B-4246-9D8E-3B7089BB0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Container</a:t>
            </a:r>
            <a:endParaRPr sz="13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4D56FA56-6BD6-4BA1-A585-B5B7A4082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run -d -p 80:80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ps -a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stop &lt;id&gt;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rm &lt;id&gt;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restart &lt;id&gt;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logs -f &lt;id&gt;</a:t>
            </a:r>
            <a:endParaRPr sz="110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ECDF8244-B3CA-4290-BB44-91909452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119AC525-6943-42D1-8C82-1A33006DE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59791275-6C5A-4EC8-AC3E-041001828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Debug</a:t>
            </a:r>
            <a:endParaRPr sz="13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9A482520-1629-40FC-BD5C-4EA0D675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exec -it &lt;id&gt; bash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inspect &lt;id&gt;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stats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port &lt;id&gt;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top &lt;id&gt;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logs --tail 100</a:t>
            </a:r>
            <a:endParaRPr sz="110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AF0F22C7-7596-4A7E-AC26-96F68EAF7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481271B6-B3B9-4620-BA02-20DCEBA85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60C2B46A-0AA1-4D1F-8730-6AC7A285C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Volume</a:t>
            </a:r>
            <a:endParaRPr sz="13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E2FC971E-FB38-41EF-BB86-0E7C02A91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volume ls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volume create db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-v db:/data (named)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-v $(pwd):/app (bind)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--tmpfs /tmp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volume prune</a:t>
            </a:r>
            <a:endParaRPr sz="110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5408E13D-F013-4A56-B50A-724D3F0C1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21C10749-C88B-4B83-9177-C006CE581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59E78EB7-7C3D-4843-988C-7F01F736F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Network</a:t>
            </a:r>
            <a:endParaRPr sz="13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ADE01689-8EA7-4D9A-9C43-EFD417F24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network ls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network create web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--network web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bridge (default)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host (no isolation)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none (isolated)</a:t>
            </a:r>
            <a:endParaRPr sz="110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A40168C1-7F03-4921-81A3-6F58E1E67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9137FAC8-2B6D-4063-8403-710E32C5E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5E4C9196-350F-40FB-B1AB-DB2EA4BE8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Run Flags</a:t>
            </a:r>
            <a:endParaRPr sz="13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FE9C5FC1-6803-4F55-AFB5-04C19B1FB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-d (detached)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-p host:cont (port)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--name &lt;name&gt;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--rm (auto-remove)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-e KEY=VAL (env)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-v src:dst (volume)</a:t>
            </a:r>
            <a:endParaRPr sz="110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ECEAD5FC-CE64-43DD-AB59-490E2955F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C5CC11A6-7283-46C1-9267-EE4A6B860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D248C94F-3E43-4A58-B12A-ED19E6F55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Cleanup</a:t>
            </a:r>
            <a:endParaRPr sz="13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3C684730-BB0D-41FE-A8C2-B6BEF7F92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system df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system prune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image prune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container prune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volume prune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--volumes flag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209308964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AE990C4-7EA9-4D9F-9B3E-1C132BEB5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4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B2B1BB8-C8CE-4B96-A67B-03F4F7ED6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06558B6-2F10-4DCE-A2BF-DE3DFE253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5f88b075814d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6f6bf0fd5e44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8967DE1-F468-49F5-871C-0E3B15C21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EB951CB-9F3F-40E1-BEA0-B74246E31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Wrap-Up &amp; Persiapan Pertemuan 5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99B6BFC-2E50-47D2-A903-38561B143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Docker Core minggu depan</a:t>
            </a:r>
            <a:endParaRPr sz="12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7DD497C4-6112-48F3-B6B3-A6989358B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Key Takeaways Hari Ini</a:t>
            </a:r>
            <a:endParaRPr sz="1600"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E21D4DEA-E9BF-4776-B0F9-BA50CAFDA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0240"/>
            <a:ext cx="320040" cy="32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57FE6B90-713C-456C-A0B1-891D0699D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024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12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B28F9FC3-9F7A-4CEB-B69C-BE9A8CF4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74520"/>
            <a:ext cx="5120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VM = full OS isolated (heavy). Container = isolated process (light).</a:t>
            </a:r>
            <a:endParaRPr sz="110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267BDEAF-2884-427D-A943-272E27BC6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23160"/>
            <a:ext cx="320040" cy="32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11E6FC30-21A0-4AA3-888A-79F952D36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2316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12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D6048553-0265-42EC-A04F-E53F10296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77440"/>
            <a:ext cx="5120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Hypervisor Type 1 (KVM, ESXi) = production. Type 2 (VirtualBox) = dev.</a:t>
            </a:r>
            <a:endParaRPr sz="11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FD1F445B-F7C2-4318-B8A0-7E6FC7278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0"/>
            <a:ext cx="320040" cy="32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BDD99DF2-F71C-4382-997E-F44BD6B0F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12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316F0864-215E-4D7F-B7ED-91700817B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80360"/>
            <a:ext cx="5120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Container possible karena namespace (isolation) + cgroup (limit).</a:t>
            </a:r>
            <a:endParaRPr sz="110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883C6BFE-0D3C-4B29-BE2C-EDA38FF8E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0"/>
            <a:ext cx="320040" cy="32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694A1B08-3733-47FC-BF5E-A448C98F6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sz="12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789C9E42-58BC-438F-9E12-053E4B4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83280"/>
            <a:ext cx="5120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Docker arch: CLI -&gt; daemon -&gt; registry. Image = template, container = instance.</a:t>
            </a:r>
            <a:endParaRPr sz="110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68674A0D-C935-4676-9F4C-B77125042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31920"/>
            <a:ext cx="320040" cy="32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C77A9EAC-6EE7-4314-88C6-4E1A89A8F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3192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  <a:endParaRPr sz="12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BFB1B6CD-BFCB-4484-B56F-C50B3B47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86200"/>
            <a:ext cx="5120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Image layered (immutable + cacheable). Container ephemeral.</a:t>
            </a:r>
            <a:endParaRPr sz="110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9456EAA4-F716-47A4-A483-AF2F12E56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34840"/>
            <a:ext cx="320040" cy="32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0B6E1C7E-C2A3-4359-80BB-F54670F3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3484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  <a:endParaRPr sz="120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AC0FD1BB-FC70-4CE0-856B-77498A5B1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9120"/>
            <a:ext cx="5120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Persistent data lewat volume (named, bind, atau tmpfs).</a:t>
            </a:r>
            <a:endParaRPr sz="11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2E1A5E52-2F3E-406A-8784-732432006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pic>
        <p:nvPicPr>
          <p:cNvPr id="7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6074c9b0ff4e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155448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31" name="Text 26">
            <a:extLst xmlns:a="http://schemas.openxmlformats.org/drawingml/2006/main">
              <a:ext uri="{FF2B5EF4-FFF2-40B4-BE49-F238E27FC236}">
                <a16:creationId xmlns:a16="http://schemas.microsoft.com/office/drawing/2014/main" id="{275245BC-ED7D-4836-AA61-2186638B3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155448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4 - LATIHAN SESI INI</a:t>
            </a:r>
            <a:endParaRPr sz="1100"/>
          </a:p>
        </p:txBody>
      </p:sp>
      <p:sp>
        <p:nvSpPr>
          <p:cNvPr id="32" name="Text 27">
            <a:extLst xmlns:a="http://schemas.openxmlformats.org/drawingml/2006/main">
              <a:ext uri="{FF2B5EF4-FFF2-40B4-BE49-F238E27FC236}">
                <a16:creationId xmlns:a16="http://schemas.microsoft.com/office/drawing/2014/main" id="{D8002430-6D4B-4F36-B0A5-49F9ED966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11680"/>
            <a:ext cx="52120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Docker basics: pull, run, build</a:t>
            </a:r>
            <a:endParaRPr sz="1300"/>
          </a:p>
        </p:txBody>
      </p:sp>
      <p:sp>
        <p:nvSpPr>
          <p:cNvPr id="33" name="Text 28">
            <a:extLst xmlns:a="http://schemas.openxmlformats.org/drawingml/2006/main">
              <a:ext uri="{FF2B5EF4-FFF2-40B4-BE49-F238E27FC236}">
                <a16:creationId xmlns:a16="http://schemas.microsoft.com/office/drawing/2014/main" id="{0DD84D6E-0B5D-4744-8A7F-1BCE5F979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377440"/>
            <a:ext cx="512064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Install Docker Desktop (Windows/Mac) atau Docker Engine (Linux)</a:t>
            </a:r>
            <a:endParaRPr sz="105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Coba: docker run hello-world</a:t>
            </a:r>
            <a:endParaRPr sz="105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Pull nginx, run dengan port 8080, akses dari browser</a:t>
            </a:r>
            <a:endParaRPr sz="105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Exec ke container, lihat /etc/nginx/nginx.conf</a:t>
            </a:r>
            <a:endParaRPr sz="1050"/>
          </a:p>
        </p:txBody>
      </p:sp>
      <p:sp>
        <p:nvSpPr>
          <p:cNvPr id="34" name="Shape 29">
            <a:extLst xmlns:a="http://schemas.openxmlformats.org/drawingml/2006/main">
              <a:ext uri="{FF2B5EF4-FFF2-40B4-BE49-F238E27FC236}">
                <a16:creationId xmlns:a16="http://schemas.microsoft.com/office/drawing/2014/main" id="{677F1BBB-EA6D-4C61-BD6F-9712FF72A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657600"/>
            <a:ext cx="5486400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f281144fae44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379476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17EA73B4-A7FA-426D-9CCE-54D22C2FD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79476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PERTEMUAN 5</a:t>
            </a:r>
            <a:endParaRPr sz="1100"/>
          </a:p>
        </p:txBody>
      </p:sp>
      <p:sp>
        <p:nvSpPr>
          <p:cNvPr id="37" name="Text 31">
            <a:extLst xmlns:a="http://schemas.openxmlformats.org/drawingml/2006/main">
              <a:ext uri="{FF2B5EF4-FFF2-40B4-BE49-F238E27FC236}">
                <a16:creationId xmlns:a16="http://schemas.microsoft.com/office/drawing/2014/main" id="{E4C83FF8-11CC-4313-B4FF-9145E1C1E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51960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Docker Core</a:t>
            </a:r>
            <a:endParaRPr sz="1400"/>
          </a:p>
        </p:txBody>
      </p:sp>
      <p:sp>
        <p:nvSpPr>
          <p:cNvPr id="38" name="Text 32">
            <a:extLst xmlns:a="http://schemas.openxmlformats.org/drawingml/2006/main">
              <a:ext uri="{FF2B5EF4-FFF2-40B4-BE49-F238E27FC236}">
                <a16:creationId xmlns:a16="http://schemas.microsoft.com/office/drawing/2014/main" id="{16A8BE3D-DCE8-4B64-9B0D-20ACE8A42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52120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Dockerfile mendalam, multi-stage build, optimasi image size, best practices.</a:t>
            </a:r>
            <a:endParaRPr sz="1100"/>
          </a:p>
        </p:txBody>
      </p:sp>
      <p:sp>
        <p:nvSpPr>
          <p:cNvPr id="39" name="Shape 33">
            <a:extLst xmlns:a="http://schemas.openxmlformats.org/drawingml/2006/main">
              <a:ext uri="{FF2B5EF4-FFF2-40B4-BE49-F238E27FC236}">
                <a16:creationId xmlns:a16="http://schemas.microsoft.com/office/drawing/2014/main" id="{97D63E20-B478-4B72-A491-D14F7FF63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29200"/>
            <a:ext cx="5486400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88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6a7c26e1fa40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5257800"/>
            <a:ext cx="640080" cy="640080"/>
          </a:xfrm>
          <a:prstGeom xmlns:a="http://schemas.openxmlformats.org/drawingml/2006/main" prst="rect">
            <a:avLst/>
          </a:prstGeom>
        </p:spPr>
      </p:pic>
      <p:sp>
        <p:nvSpPr>
          <p:cNvPr id="41" name="Text 34">
            <a:extLst xmlns:a="http://schemas.openxmlformats.org/drawingml/2006/main">
              <a:ext uri="{FF2B5EF4-FFF2-40B4-BE49-F238E27FC236}">
                <a16:creationId xmlns:a16="http://schemas.microsoft.com/office/drawing/2014/main" id="{04B8E3C0-2CEC-4BB6-8EB5-11A2F7927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07492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Pertanyaan?</a:t>
            </a:r>
            <a:endParaRPr sz="2200"/>
          </a:p>
        </p:txBody>
      </p:sp>
      <p:sp>
        <p:nvSpPr>
          <p:cNvPr id="42" name="Text 35">
            <a:extLst xmlns:a="http://schemas.openxmlformats.org/drawingml/2006/main">
              <a:ext uri="{FF2B5EF4-FFF2-40B4-BE49-F238E27FC236}">
                <a16:creationId xmlns:a16="http://schemas.microsoft.com/office/drawing/2014/main" id="{F2F127F5-02EC-45D5-B064-AFC8A01FF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57784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Diskusi sebelum praktikum</a:t>
            </a:r>
            <a:endParaRPr sz="1200"/>
          </a:p>
        </p:txBody>
      </p:sp>
      <p:sp>
        <p:nvSpPr>
          <p:cNvPr id="43" name="Shape 36">
            <a:extLst xmlns:a="http://schemas.openxmlformats.org/drawingml/2006/main">
              <a:ext uri="{FF2B5EF4-FFF2-40B4-BE49-F238E27FC236}">
                <a16:creationId xmlns:a16="http://schemas.microsoft.com/office/drawing/2014/main" id="{EE7DC14D-8DA6-42E5-A4FC-0D6086BD9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5440680"/>
            <a:ext cx="548640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44" name="Text 37">
            <a:extLst xmlns:a="http://schemas.openxmlformats.org/drawingml/2006/main">
              <a:ext uri="{FF2B5EF4-FFF2-40B4-BE49-F238E27FC236}">
                <a16:creationId xmlns:a16="http://schemas.microsoft.com/office/drawing/2014/main" id="{4B77EE0F-CD15-49A9-B3E8-92ACEB709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5440680"/>
            <a:ext cx="54864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Sesi ini mendukung:  </a:t>
            </a: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LO2 (Apply)</a:t>
            </a:r>
            <a:r>
              <a:rPr sz="1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  +  </a:t>
            </a: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LO1 (Analyze)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81207583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2B28C56-665A-BD39-2C0B-37B5A9FDF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7800"/>
            <a:ext cx="8890000" cy="153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000">
                <a:solidFill>
                  <a:srgbClr val="696969"/>
                </a:solidFill>
                <a:latin typeface="Calibri"/>
                <a:ea typeface="Calibri"/>
                <a:cs typeface="Calibri"/>
              </a:rPr>
              <a:t>BINUS UNIVERSITY  |  Cloud Services  |  Pertemuan 4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CFF62D2-DA8F-7060-7393-09BC95749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73100"/>
            <a:ext cx="11277600" cy="43088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2800" b="1">
                <a:solidFill>
                  <a:srgbClr val="004690"/>
                </a:solidFill>
                <a:latin typeface="Calibri"/>
                <a:ea typeface="Calibri"/>
                <a:cs typeface="Calibri"/>
              </a:rPr>
              <a:t>Praktik siklus hidup container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EDEBEC6-B653-73E8-CA36-972917F34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71600"/>
            <a:ext cx="11277600" cy="2308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500" i="1">
                <a:solidFill>
                  <a:srgbClr val="606060"/>
                </a:solidFill>
                <a:latin typeface="Calibri"/>
                <a:ea typeface="Calibri"/>
                <a:cs typeface="Calibri"/>
              </a:rPr>
              <a:t>Percobaan lokal sebelum menulis Dockerfile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7359143-AEB1-6794-753B-20F06A44F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2044700"/>
            <a:ext cx="10845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•  Tarik image nginx, python, dan node; bedakan image dari container.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C9186E7-6B6D-754E-CFA3-44DEA4990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2844800"/>
            <a:ext cx="10845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•  Jalankan port mapping dan environment; amati ps, logs, dan exec.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AF7503D-26F0-E9DD-2A71-24A9AF874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3644900"/>
            <a:ext cx="10845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•  Coba stop, start, dan rm lalu jelaskan data yang tetap atau hilang.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05FF445-47DB-3D20-3853-838865842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4445000"/>
            <a:ext cx="10845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•  Bandingkan isolasi namespace/cgroup dengan VM pada contoh sendiri.</a:t>
            </a:r>
            <a:endParaRPr>
              <a:solidFill>
                <a:srgbClr val="101919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CBB0E41-274B-5ADF-E689-57D93EBC3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5245100"/>
            <a:ext cx="10845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•  Langkah dan bukti praktik ada di </a:t>
            </a:r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SeedFlora/meet4CloudService</a:t>
            </a:r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F7D0C20-AAFB-942D-B5BB-FA7E98E1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3500"/>
            <a:ext cx="11277600" cy="1384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696969"/>
                </a:solidFill>
                <a:latin typeface="Calibri"/>
                <a:ea typeface="Calibri"/>
                <a:cs typeface="Calibri"/>
              </a:rPr>
              <a:t>Materi praktik: </a:t>
            </a:r>
            <a:r>
              <a:rPr sz="900">
                <a:solidFill>
                  <a:srgbClr val="696969"/>
                </a:solidFill>
                <a:latin typeface="Calibri"/>
                <a:ea typeface="Calibri"/>
                <a:cs typeface="Calibri"/>
              </a:rPr>
              <a:t>SeedFlora/meet4CloudService</a:t>
            </a:r>
            <a:r>
              <a:rPr sz="900">
                <a:solidFill>
                  <a:srgbClr val="696969"/>
                </a:solidFill>
                <a:latin typeface="Calibri"/>
                <a:ea typeface="Calibri"/>
                <a:cs typeface="Calibri"/>
              </a:rPr>
              <a:t>  |  Sumber: RPS COMP6991031</a:t>
            </a:r>
          </a:p>
        </p:txBody>
      </p:sp>
    </p:spTree>
    <p:extLst>
      <p:ext uri="{BB962C8B-B14F-4D97-AF65-F5344CB8AC3E}">
        <p14:creationId xmlns:p14="http://schemas.microsoft.com/office/powerpoint/2010/main" val="2502133808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E94F9A16-909F-410C-9863-90A30EB91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7175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2728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2728A"/>
                </a:solidFill>
                <a:latin typeface="Calibri"/>
                <a:ea typeface="Calibri"/>
                <a:cs typeface="Calibri"/>
              </a:rPr>
              <a:t>BINUS UNIVERSITY  |  Cloud Services  |  Pertemuan 4</a:t>
            </a:r>
          </a:p>
        </p:txBody>
      </p:sp>
      <p:sp>
        <p:nvSpPr>
          <p:cNvPr id="2" name="main-title">
            <a:extLst xmlns:a="http://schemas.openxmlformats.org/drawingml/2006/main">
              <a:ext uri="{FF2B5EF4-FFF2-40B4-BE49-F238E27FC236}">
                <a16:creationId xmlns:a16="http://schemas.microsoft.com/office/drawing/2014/main" id="{F77294B3-5E43-4AAA-8A89-E50950F7E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81025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72A79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072A79"/>
                </a:solidFill>
                <a:latin typeface="Calibri"/>
                <a:ea typeface="Calibri"/>
                <a:cs typeface="Calibri"/>
              </a:rPr>
              <a:t>Image yang sama, container bisa berganti status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B3F68211-B90F-421E-BC8E-CBE2531DE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04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62728A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62728A"/>
                </a:solidFill>
                <a:latin typeface="Calibri"/>
                <a:ea typeface="Calibri"/>
                <a:cs typeface="Calibri"/>
              </a:rPr>
              <a:t>Kasus kerja: layanan web perlu restart tanpa membangun ulang image.</a:t>
            </a:r>
          </a:p>
        </p:txBody>
      </p:sp>
      <p:sp>
        <p:nvSpPr>
          <p:cNvPr id="4" name="orange-rule">
            <a:extLst xmlns:a="http://schemas.openxmlformats.org/drawingml/2006/main">
              <a:ext uri="{FF2B5EF4-FFF2-40B4-BE49-F238E27FC236}">
                <a16:creationId xmlns:a16="http://schemas.microsoft.com/office/drawing/2014/main" id="{5DA5557B-BF31-4105-96C0-0F355B511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5735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01B"/>
          </a:solidFill>
          <a:ln xmlns:a="http://schemas.openxmlformats.org/drawingml/2006/main" w="0">
            <a:noFill/>
          </a:ln>
        </p:spPr>
      </p:sp>
      <p:sp>
        <p:nvSpPr>
          <p:cNvPr id="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81CC78C2-B3AE-49E8-97EF-8A7AAA04F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2937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2728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2728A"/>
                </a:solidFill>
                <a:latin typeface="Calibri"/>
                <a:ea typeface="Calibri"/>
                <a:cs typeface="Calibri"/>
              </a:rPr>
              <a:t>COMP6991031  |  Cloud Services</a:t>
            </a:r>
          </a:p>
        </p:txBody>
      </p:sp>
      <p:sp>
        <p:nvSpPr>
          <p:cNvPr id="6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FE9F8990-017D-47F6-899E-6326C2034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293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2728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2728A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9e602adf22478b"/>
          <a:stretch xmlns:a="http://schemas.openxmlformats.org/drawingml/2006/main"/>
        </p:blipFill>
        <p:spPr>
          <a:xfrm xmlns:a="http://schemas.openxmlformats.org/drawingml/2006/main">
            <a:off x="514350" y="2509361"/>
            <a:ext cx="7096125" cy="2696527"/>
          </a:xfrm>
          <a:prstGeom xmlns:a="http://schemas.openxmlformats.org/drawingml/2006/main" prst="rect">
            <a:avLst/>
          </a:prstGeom>
        </p:spPr>
      </p:pic>
      <p:sp>
        <p:nvSpPr>
          <p:cNvPr id="8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332A767A-69FB-422C-A6E6-7BF61311D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838825"/>
            <a:ext cx="709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2728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2728A"/>
                </a:solidFill>
                <a:latin typeface="Calibri"/>
                <a:ea typeface="Calibri"/>
                <a:cs typeface="Calibri"/>
              </a:rPr>
              <a:t>Lab 04: container berhenti dan mulai lagi dengan ID yang sama; rm menghapusnya.</a:t>
            </a:r>
          </a:p>
        </p:txBody>
      </p:sp>
      <p:sp>
        <p:nvSpPr>
          <p:cNvPr id="9" name="lab-link-label">
            <a:extLst xmlns:a="http://schemas.openxmlformats.org/drawingml/2006/main">
              <a:ext uri="{FF2B5EF4-FFF2-40B4-BE49-F238E27FC236}">
                <a16:creationId xmlns:a16="http://schemas.microsoft.com/office/drawing/2014/main" id="{E1ECA30C-15AF-4E2A-995B-6F9EC0265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952625"/>
            <a:ext cx="3333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701B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FF701B"/>
                </a:solidFill>
                <a:latin typeface="Calibri"/>
                <a:ea typeface="Calibri"/>
                <a:cs typeface="Calibri"/>
              </a:rPr>
              <a:t>LAB 04</a:t>
            </a:r>
          </a:p>
        </p:txBody>
      </p:sp>
      <p:sp>
        <p:nvSpPr>
          <p:cNvPr id="10" name="bridge-points">
            <a:extLst xmlns:a="http://schemas.openxmlformats.org/drawingml/2006/main">
              <a:ext uri="{FF2B5EF4-FFF2-40B4-BE49-F238E27FC236}">
                <a16:creationId xmlns:a16="http://schemas.microsoft.com/office/drawing/2014/main" id="{6C4095D4-BEE1-4095-A134-08CFD7996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333625"/>
            <a:ext cx="3429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3243B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3243B"/>
                </a:solidFill>
                <a:latin typeface="Calibri"/>
                <a:ea typeface="Calibri"/>
                <a:cs typeface="Calibri"/>
              </a:rPr>
              <a:t>1. Image adalah template. Container adalah proses yang dibuat dari image tersebut.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3243B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3243B"/>
                </a:solidFill>
                <a:latin typeface="Calibri"/>
                <a:ea typeface="Calibri"/>
                <a:cs typeface="Calibri"/>
              </a:rPr>
              <a:t>2. Port mapping membuat Nginx pada port 80 dapat dibuka dari host di port 8088.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3243B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3243B"/>
                </a:solidFill>
                <a:latin typeface="Calibri"/>
                <a:ea typeface="Calibri"/>
                <a:cs typeface="Calibri"/>
              </a:rPr>
              <a:t>3. Di Lab 04, bandingkan ps, logs, stop, start, exec, dan rm.</a:t>
            </a:r>
          </a:p>
        </p:txBody>
      </p:sp>
      <p:sp>
        <p:nvSpPr>
          <p:cNvPr id="11" name="command-label">
            <a:extLst xmlns:a="http://schemas.openxmlformats.org/drawingml/2006/main">
              <a:ext uri="{FF2B5EF4-FFF2-40B4-BE49-F238E27FC236}">
                <a16:creationId xmlns:a16="http://schemas.microsoft.com/office/drawing/2014/main" id="{076461EA-2674-4D27-9FC8-5E6BEC36E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286375"/>
            <a:ext cx="3429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72A79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72A79"/>
                </a:solidFill>
                <a:latin typeface="Calibri"/>
                <a:ea typeface="Calibri"/>
                <a:cs typeface="Calibri"/>
              </a:rPr>
              <a:t>Perintah pertama yang akan dicoba</a:t>
            </a:r>
          </a:p>
        </p:txBody>
      </p:sp>
      <p:sp>
        <p:nvSpPr>
          <p:cNvPr id="12" name="bridge-command">
            <a:extLst xmlns:a="http://schemas.openxmlformats.org/drawingml/2006/main">
              <a:ext uri="{FF2B5EF4-FFF2-40B4-BE49-F238E27FC236}">
                <a16:creationId xmlns:a16="http://schemas.microsoft.com/office/drawing/2014/main" id="{6FAD085F-8BE4-4B9E-B5AA-F9BE89673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591175"/>
            <a:ext cx="34766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31D5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31D5B"/>
                </a:solidFill>
                <a:latin typeface="Calibri"/>
                <a:ea typeface="Calibri"/>
                <a:cs typeface="Calibri"/>
              </a:rPr>
              <a:t>docker run -d --name cloudlab-nginx -p 127.0.0.1:8088:80 nginx:alpine</a:t>
            </a:r>
          </a:p>
        </p:txBody>
      </p:sp>
    </p:spTree>
    <p:extLst>
      <p:ext uri="{BB962C8B-B14F-4D97-AF65-F5344CB8AC3E}">
        <p14:creationId xmlns:p14="http://schemas.microsoft.com/office/powerpoint/2010/main" val="698679901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7E81F6F4-7FA5-42EF-B204-B36263751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7175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2728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2728A"/>
                </a:solidFill>
                <a:latin typeface="Calibri"/>
                <a:ea typeface="Calibri"/>
                <a:cs typeface="Calibri"/>
              </a:rPr>
              <a:t>BINUS UNIVERSITY  |  Cloud Services  |  Pertemuan 4</a:t>
            </a:r>
          </a:p>
        </p:txBody>
      </p:sp>
      <p:sp>
        <p:nvSpPr>
          <p:cNvPr id="2" name="main-title">
            <a:extLst xmlns:a="http://schemas.openxmlformats.org/drawingml/2006/main">
              <a:ext uri="{FF2B5EF4-FFF2-40B4-BE49-F238E27FC236}">
                <a16:creationId xmlns:a16="http://schemas.microsoft.com/office/drawing/2014/main" id="{C8D7DD0A-E876-4D3D-8363-5FDC2A62C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81025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72A79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072A79"/>
                </a:solidFill>
                <a:latin typeface="Calibri"/>
                <a:ea typeface="Calibri"/>
                <a:cs typeface="Calibri"/>
              </a:rPr>
              <a:t>Sebelum Lab 04: amati siklus container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894A9AEC-0C79-4900-A08D-67AA9DC9B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04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62728A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62728A"/>
                </a:solidFill>
                <a:latin typeface="Calibri"/>
                <a:ea typeface="Calibri"/>
                <a:cs typeface="Calibri"/>
              </a:rPr>
              <a:t>Apa yang tetap ada setelah stop, dan apa yang hilang setelah rm?</a:t>
            </a:r>
          </a:p>
        </p:txBody>
      </p:sp>
      <p:sp>
        <p:nvSpPr>
          <p:cNvPr id="4" name="orange-rule">
            <a:extLst xmlns:a="http://schemas.openxmlformats.org/drawingml/2006/main">
              <a:ext uri="{FF2B5EF4-FFF2-40B4-BE49-F238E27FC236}">
                <a16:creationId xmlns:a16="http://schemas.microsoft.com/office/drawing/2014/main" id="{98189693-8A9C-4805-A014-648506DEF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5735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01B"/>
          </a:solidFill>
          <a:ln xmlns:a="http://schemas.openxmlformats.org/drawingml/2006/main" w="0">
            <a:noFill/>
          </a:ln>
        </p:spPr>
      </p:sp>
      <p:sp>
        <p:nvSpPr>
          <p:cNvPr id="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A67F61E2-7B1D-4ED3-B4E7-6E1ADEF2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2937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2728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2728A"/>
                </a:solidFill>
                <a:latin typeface="Calibri"/>
                <a:ea typeface="Calibri"/>
                <a:cs typeface="Calibri"/>
              </a:rPr>
              <a:t>COMP6991031  |  Cloud Services</a:t>
            </a:r>
          </a:p>
        </p:txBody>
      </p:sp>
      <p:sp>
        <p:nvSpPr>
          <p:cNvPr id="6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50DD754B-F793-4E5F-B778-8958F1B9F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293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2728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2728A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sp>
        <p:nvSpPr>
          <p:cNvPr id="7" name="watch-label">
            <a:extLst xmlns:a="http://schemas.openxmlformats.org/drawingml/2006/main">
              <a:ext uri="{FF2B5EF4-FFF2-40B4-BE49-F238E27FC236}">
                <a16:creationId xmlns:a16="http://schemas.microsoft.com/office/drawing/2014/main" id="{A4A41B32-88B3-4BA3-82DC-190851E6C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002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701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F701B"/>
                </a:solidFill>
                <a:latin typeface="Calibri"/>
                <a:ea typeface="Calibri"/>
                <a:cs typeface="Calibri"/>
              </a:rPr>
              <a:t>TONTON</a:t>
            </a:r>
          </a:p>
        </p:txBody>
      </p:sp>
      <p:sp>
        <p:nvSpPr>
          <p:cNvPr id="8" name="video-link">
            <a:extLst xmlns:a="http://schemas.openxmlformats.org/drawingml/2006/main">
              <a:ext uri="{FF2B5EF4-FFF2-40B4-BE49-F238E27FC236}">
                <a16:creationId xmlns:a16="http://schemas.microsoft.com/office/drawing/2014/main" id="{B6E660F8-FAB6-45D9-BEA8-E5187900A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52675"/>
            <a:ext cx="619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77D4"/>
                </a:solidFill>
                <a:latin typeface="Calibri"/>
                <a:ea typeface="Calibri"/>
                <a:cs typeface="Calibri"/>
              </a:defRPr>
            </a:pPr>
            <a:r>
              <a:rPr sz="1725" u="sng">
                <a:solidFill>
                  <a:srgbClr val="1477D4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ae90c2eef8941e5"/>
              </a:rPr>
              <a:t>Docker: intro dan overview (video, 1:34–8:40)</a:t>
            </a:r>
          </a:p>
        </p:txBody>
      </p:sp>
      <p:sp>
        <p:nvSpPr>
          <p:cNvPr id="9" name="video-why">
            <a:extLst xmlns:a="http://schemas.openxmlformats.org/drawingml/2006/main">
              <a:ext uri="{FF2B5EF4-FFF2-40B4-BE49-F238E27FC236}">
                <a16:creationId xmlns:a16="http://schemas.microsoft.com/office/drawing/2014/main" id="{3D33546E-2036-422D-A220-A97245976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62250"/>
            <a:ext cx="628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3243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13243B"/>
                </a:solidFill>
                <a:latin typeface="Calibri"/>
                <a:ea typeface="Calibri"/>
                <a:cs typeface="Calibri"/>
              </a:rPr>
              <a:t>Perhatikan beda image dan container sebelum menjalankan Nginx lokal.</a:t>
            </a:r>
          </a:p>
        </p:txBody>
      </p:sp>
      <p:sp>
        <p:nvSpPr>
          <p:cNvPr id="10" name="read-label">
            <a:extLst xmlns:a="http://schemas.openxmlformats.org/drawingml/2006/main">
              <a:ext uri="{FF2B5EF4-FFF2-40B4-BE49-F238E27FC236}">
                <a16:creationId xmlns:a16="http://schemas.microsoft.com/office/drawing/2014/main" id="{FA57AFA6-C8B4-4977-85DC-B10ED8980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242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701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F701B"/>
                </a:solidFill>
                <a:latin typeface="Calibri"/>
                <a:ea typeface="Calibri"/>
                <a:cs typeface="Calibri"/>
              </a:rPr>
              <a:t>BACA</a:t>
            </a:r>
          </a:p>
        </p:txBody>
      </p:sp>
      <p:sp>
        <p:nvSpPr>
          <p:cNvPr id="11" name="article-link">
            <a:extLst xmlns:a="http://schemas.openxmlformats.org/drawingml/2006/main">
              <a:ext uri="{FF2B5EF4-FFF2-40B4-BE49-F238E27FC236}">
                <a16:creationId xmlns:a16="http://schemas.microsoft.com/office/drawing/2014/main" id="{DF1EAB33-3800-42A1-B585-62BC0C494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67150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77D4"/>
                </a:solidFill>
                <a:latin typeface="Calibri"/>
                <a:ea typeface="Calibri"/>
                <a:cs typeface="Calibri"/>
              </a:defRPr>
            </a:pPr>
            <a:r>
              <a:rPr sz="1725" u="sng">
                <a:solidFill>
                  <a:srgbClr val="1477D4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409568d896d84fef"/>
              </a:rPr>
              <a:t>Docker Docs: What is a container?</a:t>
            </a:r>
          </a:p>
        </p:txBody>
      </p:sp>
      <p:sp>
        <p:nvSpPr>
          <p:cNvPr id="12" name="extra-link">
            <a:extLst xmlns:a="http://schemas.openxmlformats.org/drawingml/2006/main">
              <a:ext uri="{FF2B5EF4-FFF2-40B4-BE49-F238E27FC236}">
                <a16:creationId xmlns:a16="http://schemas.microsoft.com/office/drawing/2014/main" id="{FBB93EBA-954A-4C79-A0A8-F96F88D91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0"/>
            <a:ext cx="647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77D4"/>
                </a:solidFill>
                <a:latin typeface="Calibri"/>
                <a:ea typeface="Calibri"/>
                <a:cs typeface="Calibri"/>
              </a:defRPr>
            </a:pPr>
            <a:r>
              <a:rPr sz="1500" u="sng">
                <a:solidFill>
                  <a:srgbClr val="1477D4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f2413e8e7944a98"/>
              </a:rPr>
              <a:t>Docker Docs: Publish container ports</a:t>
            </a:r>
          </a:p>
        </p:txBody>
      </p:sp>
      <p:sp>
        <p:nvSpPr>
          <p:cNvPr id="13" name="try-label">
            <a:extLst xmlns:a="http://schemas.openxmlformats.org/drawingml/2006/main">
              <a:ext uri="{FF2B5EF4-FFF2-40B4-BE49-F238E27FC236}">
                <a16:creationId xmlns:a16="http://schemas.microsoft.com/office/drawing/2014/main" id="{BE9B7AD8-5757-47F7-AACA-3736278D0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0002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701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F701B"/>
                </a:solidFill>
                <a:latin typeface="Calibri"/>
                <a:ea typeface="Calibri"/>
                <a:cs typeface="Calibri"/>
              </a:rPr>
              <a:t>COBA 5 MENIT</a:t>
            </a:r>
          </a:p>
        </p:txBody>
      </p:sp>
      <p:sp>
        <p:nvSpPr>
          <p:cNvPr id="14" name="code-lines">
            <a:extLst xmlns:a="http://schemas.openxmlformats.org/drawingml/2006/main">
              <a:ext uri="{FF2B5EF4-FFF2-40B4-BE49-F238E27FC236}">
                <a16:creationId xmlns:a16="http://schemas.microsoft.com/office/drawing/2014/main" id="{7652DE86-3C1A-4B0C-8794-93FD8AAF5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352675"/>
            <a:ext cx="42862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31D5B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31D5B"/>
                </a:solidFill>
                <a:latin typeface="Calibri"/>
                <a:ea typeface="Calibri"/>
                <a:cs typeface="Calibri"/>
              </a:rPr>
              <a:t>docker pull nginx:alpine</a:t>
            </a:r>
          </a:p>
          <a:p xmlns:a="http://schemas.openxmlformats.org/drawingml/2006/main">
            <a:pPr>
              <a:defRPr sz="1500" b="1">
                <a:solidFill>
                  <a:srgbClr val="031D5B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31D5B"/>
                </a:solidFill>
                <a:latin typeface="Calibri"/>
                <a:ea typeface="Calibri"/>
                <a:cs typeface="Calibri"/>
              </a:rPr>
              <a:t>docker run -d --name cloudlab-nginx -p 127.0.0.1:8088:80 nginx:alpine</a:t>
            </a:r>
          </a:p>
          <a:p xmlns:a="http://schemas.openxmlformats.org/drawingml/2006/main">
            <a:pPr>
              <a:defRPr sz="1500" b="1">
                <a:solidFill>
                  <a:srgbClr val="031D5B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31D5B"/>
                </a:solidFill>
                <a:latin typeface="Calibri"/>
                <a:ea typeface="Calibri"/>
                <a:cs typeface="Calibri"/>
              </a:rPr>
              <a:t>docker ps; docker logs cloudlab-nginx</a:t>
            </a:r>
          </a:p>
        </p:txBody>
      </p:sp>
      <p:sp>
        <p:nvSpPr>
          <p:cNvPr id="15" name="code-explain">
            <a:extLst xmlns:a="http://schemas.openxmlformats.org/drawingml/2006/main">
              <a:ext uri="{FF2B5EF4-FFF2-40B4-BE49-F238E27FC236}">
                <a16:creationId xmlns:a16="http://schemas.microsoft.com/office/drawing/2014/main" id="{82753425-23F8-4AA7-BA60-12E15EEA4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417195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3243B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13243B"/>
                </a:solidFill>
                <a:latin typeface="Calibri"/>
                <a:ea typeface="Calibri"/>
                <a:cs typeface="Calibri"/>
              </a:rPr>
              <a:t>Tarik image, jalankan Nginx lokal, lihat status dan log sebelum stop/start.</a:t>
            </a:r>
          </a:p>
        </p:txBody>
      </p:sp>
      <p:sp>
        <p:nvSpPr>
          <p:cNvPr id="16" name="repo-label">
            <a:extLst xmlns:a="http://schemas.openxmlformats.org/drawingml/2006/main">
              <a:ext uri="{FF2B5EF4-FFF2-40B4-BE49-F238E27FC236}">
                <a16:creationId xmlns:a16="http://schemas.microsoft.com/office/drawing/2014/main" id="{3B799DAD-7ED1-4386-9278-4A878847C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43525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701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701B"/>
                </a:solidFill>
                <a:latin typeface="Calibri"/>
                <a:ea typeface="Calibri"/>
                <a:cs typeface="Calibri"/>
              </a:rPr>
              <a:t>MODUL DAN KODE LAB</a:t>
            </a:r>
          </a:p>
        </p:txBody>
      </p:sp>
      <p:sp>
        <p:nvSpPr>
          <p:cNvPr id="17" name="repo-link">
            <a:extLst xmlns:a="http://schemas.openxmlformats.org/drawingml/2006/main">
              <a:ext uri="{FF2B5EF4-FFF2-40B4-BE49-F238E27FC236}">
                <a16:creationId xmlns:a16="http://schemas.microsoft.com/office/drawing/2014/main" id="{9E685000-8612-4059-9896-81A40687A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57850"/>
            <a:ext cx="857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77D4"/>
                </a:solidFill>
                <a:latin typeface="Calibri"/>
                <a:ea typeface="Calibri"/>
                <a:cs typeface="Calibri"/>
              </a:defRPr>
            </a:pPr>
            <a:r>
              <a:rPr sz="1725" u="sng">
                <a:solidFill>
                  <a:srgbClr val="1477D4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0cc019e7e0f4fba"/>
              </a:rPr>
              <a:t>github.com/SeedFlora/meet4CloudService</a:t>
            </a:r>
          </a:p>
        </p:txBody>
      </p:sp>
    </p:spTree>
    <p:extLst>
      <p:ext uri="{BB962C8B-B14F-4D97-AF65-F5344CB8AC3E}">
        <p14:creationId xmlns:p14="http://schemas.microsoft.com/office/powerpoint/2010/main" val="144123287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2026-10-07T19:02:23.2980000Z</dcterms:created>
  <dcterms:modified xsi:type="dcterms:W3CDTF">2026-10-07T19:02:23.2980000Z</dcterms:modified>
</coreProperties>
</file>