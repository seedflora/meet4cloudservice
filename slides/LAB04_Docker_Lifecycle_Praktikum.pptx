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647312afe5410e" /><Relationship Type="http://schemas.openxmlformats.org/officeDocument/2006/relationships/extended-properties" Target="/docProps/app.xml" Id="R087a537cb1864983" /><Relationship Type="http://schemas.openxmlformats.org/officeDocument/2006/relationships/officeDocument" Target="/ppt/presentation.xml" Id="R2ab193d260004c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14c5979c064308"/>
  </p:sldMasterIdLst>
  <p:notesMasterIdLst>
    <p:notesMasterId xmlns:r="http://schemas.openxmlformats.org/officeDocument/2006/relationships" r:id="Rbbc75658ca1d419e"/>
  </p:notesMasterIdLst>
  <p:sldIdLst>
    <p:sldId xmlns:r="http://schemas.openxmlformats.org/officeDocument/2006/relationships" id="256" r:id="R3fb846f785a148e1"/>
    <p:sldId xmlns:r="http://schemas.openxmlformats.org/officeDocument/2006/relationships" id="257" r:id="R1a2b4ebcbc734cc7"/>
    <p:sldId xmlns:r="http://schemas.openxmlformats.org/officeDocument/2006/relationships" id="258" r:id="R1ad9c074f4a24647"/>
    <p:sldId xmlns:r="http://schemas.openxmlformats.org/officeDocument/2006/relationships" id="259" r:id="Rc985e02931c740fb"/>
    <p:sldId xmlns:r="http://schemas.openxmlformats.org/officeDocument/2006/relationships" id="260" r:id="R5df025e6d6454125"/>
    <p:sldId xmlns:r="http://schemas.openxmlformats.org/officeDocument/2006/relationships" id="261" r:id="R909754d3f35b4617"/>
    <p:sldId xmlns:r="http://schemas.openxmlformats.org/officeDocument/2006/relationships" id="262" r:id="R559ef0478bb34492"/>
    <p:sldId xmlns:r="http://schemas.openxmlformats.org/officeDocument/2006/relationships" id="263" r:id="R00624a3160ac4e1d"/>
    <p:sldId xmlns:r="http://schemas.openxmlformats.org/officeDocument/2006/relationships" id="264" r:id="R57462168942048cb"/>
    <p:sldId xmlns:r="http://schemas.openxmlformats.org/officeDocument/2006/relationships" id="265" r:id="Rca9c461151894729"/>
    <p:sldId xmlns:r="http://schemas.openxmlformats.org/officeDocument/2006/relationships" id="266" r:id="R8d328a364e28476f"/>
    <p:sldId xmlns:r="http://schemas.openxmlformats.org/officeDocument/2006/relationships" id="267" r:id="R4c25f59e0c6e4587"/>
    <p:sldId xmlns:r="http://schemas.openxmlformats.org/officeDocument/2006/relationships" id="268" r:id="Rd68fb666b8f8439d"/>
    <p:sldId xmlns:r="http://schemas.openxmlformats.org/officeDocument/2006/relationships" id="269" r:id="Rf68d9bbcc3cf472e"/>
    <p:sldId xmlns:r="http://schemas.openxmlformats.org/officeDocument/2006/relationships" id="270" r:id="R623787710025415a"/>
    <p:sldId xmlns:r="http://schemas.openxmlformats.org/officeDocument/2006/relationships" id="271" r:id="R876f2431d34440fc"/>
    <p:sldId xmlns:r="http://schemas.openxmlformats.org/officeDocument/2006/relationships" id="272" r:id="Re1802c7a32f4404d"/>
    <p:sldId xmlns:r="http://schemas.openxmlformats.org/officeDocument/2006/relationships" id="273" r:id="R2ea8e52fbc2e4138"/>
    <p:sldId xmlns:r="http://schemas.openxmlformats.org/officeDocument/2006/relationships" id="274" r:id="R4f94c47063b04440"/>
    <p:sldId xmlns:r="http://schemas.openxmlformats.org/officeDocument/2006/relationships" id="275" r:id="Rd5e3614a2e244fee"/>
    <p:sldId xmlns:r="http://schemas.openxmlformats.org/officeDocument/2006/relationships" id="276" r:id="R359cf016ff2442e3"/>
    <p:sldId xmlns:r="http://schemas.openxmlformats.org/officeDocument/2006/relationships" id="277" r:id="R0f50644261004833"/>
    <p:sldId xmlns:r="http://schemas.openxmlformats.org/officeDocument/2006/relationships" id="278" r:id="Rcf51cddfb8c24e73"/>
    <p:sldId xmlns:r="http://schemas.openxmlformats.org/officeDocument/2006/relationships" id="279" r:id="Rd8b584e59b62456f"/>
    <p:sldId xmlns:r="http://schemas.openxmlformats.org/officeDocument/2006/relationships" id="280" r:id="R2cd6fe28d52a4f67"/>
    <p:sldId xmlns:r="http://schemas.openxmlformats.org/officeDocument/2006/relationships" id="281" r:id="R47acbfcf326842c0"/>
    <p:sldId xmlns:r="http://schemas.openxmlformats.org/officeDocument/2006/relationships" id="282" r:id="R4003b5934bce4cd0"/>
    <p:sldId xmlns:r="http://schemas.openxmlformats.org/officeDocument/2006/relationships" id="283" r:id="Re2ef04826fb14d79"/>
    <p:sldId xmlns:r="http://schemas.openxmlformats.org/officeDocument/2006/relationships" id="284" r:id="R28c37ebf75104058"/>
    <p:sldId xmlns:r="http://schemas.openxmlformats.org/officeDocument/2006/relationships" id="285" r:id="R6c4a3fadd50146f1"/>
    <p:sldId xmlns:r="http://schemas.openxmlformats.org/officeDocument/2006/relationships" id="286" r:id="Rbf4b33aa13034791"/>
    <p:sldId xmlns:r="http://schemas.openxmlformats.org/officeDocument/2006/relationships" id="287" r:id="R6cd661a292344977"/>
    <p:sldId xmlns:r="http://schemas.openxmlformats.org/officeDocument/2006/relationships" id="288" r:id="Rf816190ed03c4876"/>
    <p:sldId xmlns:r="http://schemas.openxmlformats.org/officeDocument/2006/relationships" id="289" r:id="Rf8bc6818702b40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98e7544e1b4cec" /><Relationship Type="http://schemas.openxmlformats.org/officeDocument/2006/relationships/slideMaster" Target="/ppt/slideMasters/slideMaster1.xml" Id="Rf314c5979c064308" /><Relationship Type="http://schemas.openxmlformats.org/officeDocument/2006/relationships/notesMaster" Target="/ppt/notesMasters/notesMaster1.xml" Id="Rbbc75658ca1d419e" /><Relationship Type="http://schemas.openxmlformats.org/officeDocument/2006/relationships/presProps" Target="/ppt/presProps.xml" Id="Re31265fff1e848bf" /><Relationship Type="http://schemas.openxmlformats.org/officeDocument/2006/relationships/tableStyles" Target="/ppt/tableStyles.xml" Id="Rb6a195778d1040f8" /><Relationship Type="http://schemas.openxmlformats.org/officeDocument/2006/relationships/slide" Target="/ppt/slides/slide1.xml" Id="R3fb846f785a148e1" /><Relationship Type="http://schemas.openxmlformats.org/officeDocument/2006/relationships/slide" Target="/ppt/slides/slide2.xml" Id="R1a2b4ebcbc734cc7" /><Relationship Type="http://schemas.openxmlformats.org/officeDocument/2006/relationships/slide" Target="/ppt/slides/slide3.xml" Id="R1ad9c074f4a24647" /><Relationship Type="http://schemas.openxmlformats.org/officeDocument/2006/relationships/slide" Target="/ppt/slides/slide4.xml" Id="Rc985e02931c740fb" /><Relationship Type="http://schemas.openxmlformats.org/officeDocument/2006/relationships/slide" Target="/ppt/slides/slide5.xml" Id="R5df025e6d6454125" /><Relationship Type="http://schemas.openxmlformats.org/officeDocument/2006/relationships/slide" Target="/ppt/slides/slide6.xml" Id="R909754d3f35b4617" /><Relationship Type="http://schemas.openxmlformats.org/officeDocument/2006/relationships/slide" Target="/ppt/slides/slide7.xml" Id="R559ef0478bb34492" /><Relationship Type="http://schemas.openxmlformats.org/officeDocument/2006/relationships/slide" Target="/ppt/slides/slide8.xml" Id="R00624a3160ac4e1d" /><Relationship Type="http://schemas.openxmlformats.org/officeDocument/2006/relationships/slide" Target="/ppt/slides/slide9.xml" Id="R57462168942048cb" /><Relationship Type="http://schemas.openxmlformats.org/officeDocument/2006/relationships/slide" Target="/ppt/slides/slide10.xml" Id="Rca9c461151894729" /><Relationship Type="http://schemas.openxmlformats.org/officeDocument/2006/relationships/slide" Target="/ppt/slides/slide11.xml" Id="R8d328a364e28476f" /><Relationship Type="http://schemas.openxmlformats.org/officeDocument/2006/relationships/slide" Target="/ppt/slides/slide12.xml" Id="R4c25f59e0c6e4587" /><Relationship Type="http://schemas.openxmlformats.org/officeDocument/2006/relationships/slide" Target="/ppt/slides/slide13.xml" Id="Rd68fb666b8f8439d" /><Relationship Type="http://schemas.openxmlformats.org/officeDocument/2006/relationships/slide" Target="/ppt/slides/slide14.xml" Id="Rf68d9bbcc3cf472e" /><Relationship Type="http://schemas.openxmlformats.org/officeDocument/2006/relationships/slide" Target="/ppt/slides/slide15.xml" Id="R623787710025415a" /><Relationship Type="http://schemas.openxmlformats.org/officeDocument/2006/relationships/slide" Target="/ppt/slides/slide16.xml" Id="R876f2431d34440fc" /><Relationship Type="http://schemas.openxmlformats.org/officeDocument/2006/relationships/slide" Target="/ppt/slides/slide17.xml" Id="Re1802c7a32f4404d" /><Relationship Type="http://schemas.openxmlformats.org/officeDocument/2006/relationships/slide" Target="/ppt/slides/slide18.xml" Id="R2ea8e52fbc2e4138" /><Relationship Type="http://schemas.openxmlformats.org/officeDocument/2006/relationships/slide" Target="/ppt/slides/slide19.xml" Id="R4f94c47063b04440" /><Relationship Type="http://schemas.openxmlformats.org/officeDocument/2006/relationships/slide" Target="/ppt/slides/slide20.xml" Id="Rd5e3614a2e244fee" /><Relationship Type="http://schemas.openxmlformats.org/officeDocument/2006/relationships/slide" Target="/ppt/slides/slide21.xml" Id="R359cf016ff2442e3" /><Relationship Type="http://schemas.openxmlformats.org/officeDocument/2006/relationships/slide" Target="/ppt/slides/slide22.xml" Id="R0f50644261004833" /><Relationship Type="http://schemas.openxmlformats.org/officeDocument/2006/relationships/slide" Target="/ppt/slides/slide23.xml" Id="Rcf51cddfb8c24e73" /><Relationship Type="http://schemas.openxmlformats.org/officeDocument/2006/relationships/slide" Target="/ppt/slides/slide24.xml" Id="Rd8b584e59b62456f" /><Relationship Type="http://schemas.openxmlformats.org/officeDocument/2006/relationships/slide" Target="/ppt/slides/slide25.xml" Id="R2cd6fe28d52a4f67" /><Relationship Type="http://schemas.openxmlformats.org/officeDocument/2006/relationships/slide" Target="/ppt/slides/slide26.xml" Id="R47acbfcf326842c0" /><Relationship Type="http://schemas.openxmlformats.org/officeDocument/2006/relationships/slide" Target="/ppt/slides/slide27.xml" Id="R4003b5934bce4cd0" /><Relationship Type="http://schemas.openxmlformats.org/officeDocument/2006/relationships/slide" Target="/ppt/slides/slide28.xml" Id="Re2ef04826fb14d79" /><Relationship Type="http://schemas.openxmlformats.org/officeDocument/2006/relationships/slide" Target="/ppt/slides/slide29.xml" Id="R28c37ebf75104058" /><Relationship Type="http://schemas.openxmlformats.org/officeDocument/2006/relationships/slide" Target="/ppt/slides/slide30.xml" Id="R6c4a3fadd50146f1" /><Relationship Type="http://schemas.openxmlformats.org/officeDocument/2006/relationships/slide" Target="/ppt/slides/slide31.xml" Id="Rbf4b33aa13034791" /><Relationship Type="http://schemas.openxmlformats.org/officeDocument/2006/relationships/slide" Target="/ppt/slides/slide32.xml" Id="R6cd661a292344977" /><Relationship Type="http://schemas.openxmlformats.org/officeDocument/2006/relationships/slide" Target="/ppt/slides/slide33.xml" Id="Rf816190ed03c4876" /><Relationship Type="http://schemas.openxmlformats.org/officeDocument/2006/relationships/slide" Target="/ppt/slides/slide34.xml" Id="Rf8bc6818702b40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7e57ab8f9b44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74d7d9fd094d69" /><Relationship Type="http://schemas.openxmlformats.org/officeDocument/2006/relationships/notesMaster" Target="/ppt/notesMasters/notesMaster1.xml" Id="R1c6ab634d8e24a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6cc7f0574e49dd" /><Relationship Type="http://schemas.openxmlformats.org/officeDocument/2006/relationships/notesMaster" Target="/ppt/notesMasters/notesMaster1.xml" Id="R2088cb643b734a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2eb2cad5e64211" /><Relationship Type="http://schemas.openxmlformats.org/officeDocument/2006/relationships/notesMaster" Target="/ppt/notesMasters/notesMaster1.xml" Id="R1532fcf3b52144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58476b87064270" /><Relationship Type="http://schemas.openxmlformats.org/officeDocument/2006/relationships/notesMaster" Target="/ppt/notesMasters/notesMaster1.xml" Id="Rf321ee09ec9c40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c796e0647b4f3f" /><Relationship Type="http://schemas.openxmlformats.org/officeDocument/2006/relationships/notesMaster" Target="/ppt/notesMasters/notesMaster1.xml" Id="R6833503d9a0944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88642655804f4c" /><Relationship Type="http://schemas.openxmlformats.org/officeDocument/2006/relationships/notesMaster" Target="/ppt/notesMasters/notesMaster1.xml" Id="Ra9bda145cfe546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e65f20925145d6" /><Relationship Type="http://schemas.openxmlformats.org/officeDocument/2006/relationships/notesMaster" Target="/ppt/notesMasters/notesMaster1.xml" Id="R3a731aa113e94f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07f53093d9460e" /><Relationship Type="http://schemas.openxmlformats.org/officeDocument/2006/relationships/notesMaster" Target="/ppt/notesMasters/notesMaster1.xml" Id="R4d298458ebcc47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f75ea94df443d7" /><Relationship Type="http://schemas.openxmlformats.org/officeDocument/2006/relationships/notesMaster" Target="/ppt/notesMasters/notesMaster1.xml" Id="R9f99c51fa36d41b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c8ee2582e544e0" /><Relationship Type="http://schemas.openxmlformats.org/officeDocument/2006/relationships/notesMaster" Target="/ppt/notesMasters/notesMaster1.xml" Id="Re5d411d1f17348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f3dcc2c37e4710" /><Relationship Type="http://schemas.openxmlformats.org/officeDocument/2006/relationships/notesMaster" Target="/ppt/notesMasters/notesMaster1.xml" Id="Re9bec1907edf48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6914240d0d4f1d" /><Relationship Type="http://schemas.openxmlformats.org/officeDocument/2006/relationships/notesMaster" Target="/ppt/notesMasters/notesMaster1.xml" Id="R876ca435ead54c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f352b43990484f" /><Relationship Type="http://schemas.openxmlformats.org/officeDocument/2006/relationships/notesMaster" Target="/ppt/notesMasters/notesMaster1.xml" Id="Rfbe6a71faa4e429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d26bcd3f63c4f42" /><Relationship Type="http://schemas.openxmlformats.org/officeDocument/2006/relationships/notesMaster" Target="/ppt/notesMasters/notesMaster1.xml" Id="Rd300e0764df948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f86e2c115d44ca" /><Relationship Type="http://schemas.openxmlformats.org/officeDocument/2006/relationships/notesMaster" Target="/ppt/notesMasters/notesMaster1.xml" Id="Rc851fa8e6a4c456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96a9e92a064388" /><Relationship Type="http://schemas.openxmlformats.org/officeDocument/2006/relationships/notesMaster" Target="/ppt/notesMasters/notesMaster1.xml" Id="R77c5e4c089fd4d7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fdbccf4384c4de0" /><Relationship Type="http://schemas.openxmlformats.org/officeDocument/2006/relationships/notesMaster" Target="/ppt/notesMasters/notesMaster1.xml" Id="R0885ddfcbc334f9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d63e547f0854323" /><Relationship Type="http://schemas.openxmlformats.org/officeDocument/2006/relationships/notesMaster" Target="/ppt/notesMasters/notesMaster1.xml" Id="R5f9bdfd4fd654d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03f3c1d50964bad" /><Relationship Type="http://schemas.openxmlformats.org/officeDocument/2006/relationships/notesMaster" Target="/ppt/notesMasters/notesMaster1.xml" Id="R266076599a22457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894b4fded094f4d" /><Relationship Type="http://schemas.openxmlformats.org/officeDocument/2006/relationships/notesMaster" Target="/ppt/notesMasters/notesMaster1.xml" Id="R5f5534330d4943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0ac21b9db5b4b29" /><Relationship Type="http://schemas.openxmlformats.org/officeDocument/2006/relationships/notesMaster" Target="/ppt/notesMasters/notesMaster1.xml" Id="R1274846a395242d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462c5a6150e4183" /><Relationship Type="http://schemas.openxmlformats.org/officeDocument/2006/relationships/notesMaster" Target="/ppt/notesMasters/notesMaster1.xml" Id="R81f5efd4c5534f8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05427fb10d942dd" /><Relationship Type="http://schemas.openxmlformats.org/officeDocument/2006/relationships/notesMaster" Target="/ppt/notesMasters/notesMaster1.xml" Id="Ree15f46e931c404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916721e3bb046db" /><Relationship Type="http://schemas.openxmlformats.org/officeDocument/2006/relationships/notesMaster" Target="/ppt/notesMasters/notesMaster1.xml" Id="Rcf5d119702e346e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16743ccfc9d4d24" /><Relationship Type="http://schemas.openxmlformats.org/officeDocument/2006/relationships/notesMaster" Target="/ppt/notesMasters/notesMaster1.xml" Id="Ree878f5074414d1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9b872e5d7be428e" /><Relationship Type="http://schemas.openxmlformats.org/officeDocument/2006/relationships/notesMaster" Target="/ppt/notesMasters/notesMaster1.xml" Id="Ra83ce4016da84f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fa4c2ca2b384677" /><Relationship Type="http://schemas.openxmlformats.org/officeDocument/2006/relationships/notesMaster" Target="/ppt/notesMasters/notesMaster1.xml" Id="Rb4336e6faaa44ae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997ac1f5e8a42db" /><Relationship Type="http://schemas.openxmlformats.org/officeDocument/2006/relationships/notesMaster" Target="/ppt/notesMasters/notesMaster1.xml" Id="R34cc5947e87b45c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7c7413de744eef" /><Relationship Type="http://schemas.openxmlformats.org/officeDocument/2006/relationships/notesMaster" Target="/ppt/notesMasters/notesMaster1.xml" Id="R4b9fbe23c08e42c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47c629aa8754c17" /><Relationship Type="http://schemas.openxmlformats.org/officeDocument/2006/relationships/notesMaster" Target="/ppt/notesMasters/notesMaster1.xml" Id="R14f573919300412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b9631942734951" /><Relationship Type="http://schemas.openxmlformats.org/officeDocument/2006/relationships/notesMaster" Target="/ppt/notesMasters/notesMaster1.xml" Id="R26d688f072f64dd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90a6528232b45ee" /><Relationship Type="http://schemas.openxmlformats.org/officeDocument/2006/relationships/notesMaster" Target="/ppt/notesMasters/notesMaster1.xml" Id="R6b5c94f7d276401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228e98ca42b4670" /><Relationship Type="http://schemas.openxmlformats.org/officeDocument/2006/relationships/notesMaster" Target="/ppt/notesMasters/notesMaster1.xml" Id="R7da47e8a787642f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7333741ef344325" /><Relationship Type="http://schemas.openxmlformats.org/officeDocument/2006/relationships/notesMaster" Target="/ppt/notesMasters/notesMaster1.xml" Id="R16367601741f49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 04 RPS COMP6991031: VM/hypervisor, container vs VM, namespaces/cgroups, arsitektur Docker, lifecycle image dan container. Kasus operasional dirancang untuk latihan harian; bukan insiden produksi nyata.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Semua perintah dijalankan pada mesin lokal dengan Docker Desktop/Engine. Perbandingan VM bersifat konseptual. Jangan menyebut layanan ini sebagai production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RPS Lab 04: membandingkan VM dan container, namespaces/cgroups, serta siklus image ke container. Hindari klaim ukuran/boot time universal karena bergantung konfigurasi.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Ini adalah pemetaan langsung materi arsitektur Docker pada sesi 04 RPS ke perintah yang akan digunakan. Docker Desktop menggunakan daemon Linux dalam lingkungan yang disiapkan untuk host Windows.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Server tidak muncul, jalankan Docker Desktop/Engine. Jika Test-Path False, pindah ke root repo Lab 04. Perintah docker ps memperlihatkan container yang sudah berjalan dan port yang terpakai.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screenshots/01_docker_engine.jpg. Tampilan Docker Desktop: indikator Engine running. Cek versi client/server melalui docker version di terminal..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perintah dari PowerShell atau Bash. Untuk perbedaan image dan container, tunjukkan docker image ls dan docker ps -a. Jangan pakai ukuran image sebagai angka tetap karena tag dapat berubah.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image ls nginx/python/node. Perhatikan tag dan ukuran pada mesin saat uji..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run --rm -e CLASS_SECTION=cloud ... . Output akhir: cloud..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 8088 harus kosong. Jika curl alias bermasalah di Windows PowerShell, gunakan curl.exe seperti modul. Buka juga URL yang sama di Chrome untuk melihat halaman Nginx bawaan.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screenshots/03_nginx_running.jpg. Tampilan Containers: cloudlab-nginx Up dan 8088:80. Konfirmasi HTTP dengan curl.exe -I..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Urutan terakhir stop lalu rm sengaja membebaskan 8088 sebelum memulai cloudlab-site.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screenshots/04_lifecycle.png. Perintah: docker stop, docker ps -a, docker start, docker ps. Status berubah; image sama..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dari root repo Lab 04 yang berisi site/index.html. --mount readonly melarang Nginx menulis ke host, tetapi pemilik host tetap dapat mengedit berkas. Output HTTP yang diharapkan: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screenshots/05_site_awal.jpg. Perintah: docker run cloudlab-site dengan --mount readonly. Browser menampilkan STATUS_OK: Layanan normal..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screenshots/06_docker_site.jpg. Tampilan Containers: cloudlab-site Up dan 8088:80. Jalankan docker inspect untuk memastikan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Latihan insiden: minta mahasiswa mencatat waktu, gejala, status, tindakan, dan bukti hasil. docker logs dapat tidak menampilkan error pada penghentian manual; status Exited tetap bukti utama.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screenshots/07_outage_browser.jpg. Tampilan web: ERR_CONNECTION_REFUSED di 127.0.0.1:8088. Lanjutkan diagnosis dengan docker ps -a..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screenshots/07_outage_docker.jpg. Tampilan Containers: cloudlab-site berhenti. Jalankan docker ps -a dan docker logs sebelum start..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screenshots/07_outage_recovery.png. Perintah: docker stop, curl gagal, docker ps -a, docker start, curl HTTP 200..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Kode mengikuti modul mahasiswa dan mempertahankan isi HTML lain. UTF-8 tanpa BOM dipilih agar respons HTTP bersih. readonly membatasi akses tulis dari container, bukan dari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screenshots/08_site_hotfix.jpg. Perintah: edit site/index.html, lalu refresh 127.0.0.1:8088. Image ID tetap;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Bila percobaan pertama tidak menyisakan container, docker rm -f boleh menampilkan No such container. Port internal 80 dapat sama karena setiap container memiliki namespace jaringan sendiri.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coba cloudlab-canary pada 8088. Docker melaporkan port is already allocated..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docker rm -f cloudlab-canary, lalu run pada 8089. Uji curl 8088 dan 8089..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screenshots/09_docker_two.jpg. Tampilan Containers: kedua container Up. Port host berbeda, port internal sama-sama 80..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ini sebagai kunci cepat presentasi. Detail perintah dan alasan terdapat pada slide tantangan masing-masing dan pada modul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 tidak memperbaiki konfigurasi. Perintah bash tests/challenge.sh harus dijalankan di Git Bash/WSL/Codespaces, bukan dari PowerShell: di laptop ini bash yang dipanggil PowerShell diarahkan ke WSL yang bermasalah. PowerShell memakai &amp; .\tests\challenge.ps1.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Perintah PowerShell: &amp; .\tests\challenge.ps1. Cek PASS bagian A, B, dan C..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Lihat PASS D/E dan ringkasan Challenge: 14 PASS, 0 FAIL..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 Bash/WSL yang terintegrasi Docker Desktop, path host harus dapat diakses oleh daemon. Semua langkah challenge lain menggunakan Docker CLI yang sama.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port masih gagal, cek proses host di luar Docker dengan netstat/Get-NetTCPConnection. Jangan jalankan docker system prune atau hapus volume secara massal untuk tugas ini.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Sebelum git add, salin hasil/TEMPLATE_LAPORAN.md menjadi hasil/lab04.md dan buat hasil/bukti/lab04 berisi screenshot pribadi. Jangan stage token, .env, atau output docker info lengkap. Push image Docker tidak diperlukan untuk Lab 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ef012a78946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e881dd75c34d3e" /><Relationship Type="http://schemas.openxmlformats.org/officeDocument/2006/relationships/slideLayout" Target="/ppt/slideLayouts/slideLayout1.xml" Id="R9127e58684434d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27e58684434d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c7d1f32b14b5a" /><Relationship Type="http://schemas.openxmlformats.org/officeDocument/2006/relationships/notesSlide" Target="/ppt/notesSlides/notesSlide1.xml" Id="R93d42125047241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a50b9fe30456a" /><Relationship Type="http://schemas.openxmlformats.org/officeDocument/2006/relationships/notesSlide" Target="/ppt/notesSlides/notesSlide2.xml" Id="R2ab8da90d94345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8d12e0cef4d68" /><Relationship Type="http://schemas.openxmlformats.org/officeDocument/2006/relationships/notesSlide" Target="/ppt/notesSlides/notesSlide3.xml" Id="Re042d222e2ad4b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e0f49bb2740d7" /><Relationship Type="http://schemas.openxmlformats.org/officeDocument/2006/relationships/notesSlide" Target="/ppt/notesSlides/notesSlide4.xml" Id="R240de4b6e1004e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0902cdbd74339" /><Relationship Type="http://schemas.openxmlformats.org/officeDocument/2006/relationships/notesSlide" Target="/ppt/notesSlides/notesSlide5.xml" Id="Re236e95a8c5c44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6153422d447ec" /><Relationship Type="http://schemas.openxmlformats.org/officeDocument/2006/relationships/image" Target="/ppt/media/image.jpeg" Id="Rea390dae4e264aa6" /><Relationship Type="http://schemas.openxmlformats.org/officeDocument/2006/relationships/notesSlide" Target="/ppt/notesSlides/notesSlide6.xml" Id="Ra520424f636647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24ce85d354bb7" /><Relationship Type="http://schemas.openxmlformats.org/officeDocument/2006/relationships/notesSlide" Target="/ppt/notesSlides/notesSlide7.xml" Id="R0764d6f3c3e44ad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cd6fed1d034b32" /><Relationship Type="http://schemas.openxmlformats.org/officeDocument/2006/relationships/image" Target="/ppt/media/image.png" Id="R22f9e8d1dfb54e9d" /><Relationship Type="http://schemas.openxmlformats.org/officeDocument/2006/relationships/notesSlide" Target="/ppt/notesSlides/notesSlide8.xml" Id="Re31b38b1ec544e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4fcfe6e814506" /><Relationship Type="http://schemas.openxmlformats.org/officeDocument/2006/relationships/image" Target="/ppt/media/image2.png" Id="Rcf2f5bd3716648ae" /><Relationship Type="http://schemas.openxmlformats.org/officeDocument/2006/relationships/notesSlide" Target="/ppt/notesSlides/notesSlide9.xml" Id="R58763a27621b42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762157b554237" /><Relationship Type="http://schemas.openxmlformats.org/officeDocument/2006/relationships/notesSlide" Target="/ppt/notesSlides/notesSlide10.xml" Id="R0aa22cb858de4d5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43b9655fe4595" /><Relationship Type="http://schemas.openxmlformats.org/officeDocument/2006/relationships/image" Target="/ppt/media/image2.jpeg" Id="Rbe1eaa664d214410" /><Relationship Type="http://schemas.openxmlformats.org/officeDocument/2006/relationships/notesSlide" Target="/ppt/notesSlides/notesSlide11.xml" Id="R6adad4c363eb41e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23cf642344483" /><Relationship Type="http://schemas.openxmlformats.org/officeDocument/2006/relationships/notesSlide" Target="/ppt/notesSlides/notesSlide12.xml" Id="R3e7a424b4e4a4d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261df6a70414b" /><Relationship Type="http://schemas.openxmlformats.org/officeDocument/2006/relationships/image" Target="/ppt/media/image3.png" Id="R205383b6628d4deb" /><Relationship Type="http://schemas.openxmlformats.org/officeDocument/2006/relationships/notesSlide" Target="/ppt/notesSlides/notesSlide13.xml" Id="R3ba04a9dca7d44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cc6ee22ef44c4" /><Relationship Type="http://schemas.openxmlformats.org/officeDocument/2006/relationships/notesSlide" Target="/ppt/notesSlides/notesSlide14.xml" Id="Re6cf3cacaac541e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307be0a2146b8" /><Relationship Type="http://schemas.openxmlformats.org/officeDocument/2006/relationships/image" Target="/ppt/media/image3.jpeg" Id="Rbbc63cc51edc4176" /><Relationship Type="http://schemas.openxmlformats.org/officeDocument/2006/relationships/notesSlide" Target="/ppt/notesSlides/notesSlide15.xml" Id="R2a98b486f41f4ab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292f06854244bf" /><Relationship Type="http://schemas.openxmlformats.org/officeDocument/2006/relationships/image" Target="/ppt/media/image4.jpeg" Id="Rae9616e58ad0411e" /><Relationship Type="http://schemas.openxmlformats.org/officeDocument/2006/relationships/notesSlide" Target="/ppt/notesSlides/notesSlide16.xml" Id="Rbac3659e38af410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c508564c74346" /><Relationship Type="http://schemas.openxmlformats.org/officeDocument/2006/relationships/notesSlide" Target="/ppt/notesSlides/notesSlide17.xml" Id="R1b15eada7a9343c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96a644ea34c55" /><Relationship Type="http://schemas.openxmlformats.org/officeDocument/2006/relationships/image" Target="/ppt/media/image5.jpeg" Id="R204fc7d49f764734" /><Relationship Type="http://schemas.openxmlformats.org/officeDocument/2006/relationships/notesSlide" Target="/ppt/notesSlides/notesSlide18.xml" Id="Rc0e380f732e74ce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2523adbbf4124" /><Relationship Type="http://schemas.openxmlformats.org/officeDocument/2006/relationships/image" Target="/ppt/media/image6.jpeg" Id="Rdbb0ba1dcb4f4f67" /><Relationship Type="http://schemas.openxmlformats.org/officeDocument/2006/relationships/notesSlide" Target="/ppt/notesSlides/notesSlide19.xml" Id="Rcd0e143ff2a047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6629808f340c2" /><Relationship Type="http://schemas.openxmlformats.org/officeDocument/2006/relationships/image" Target="/ppt/media/image4.png" Id="Re099aeff32524606" /><Relationship Type="http://schemas.openxmlformats.org/officeDocument/2006/relationships/notesSlide" Target="/ppt/notesSlides/notesSlide20.xml" Id="R7197610ecbfe48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6198b6cf714d5a" /><Relationship Type="http://schemas.openxmlformats.org/officeDocument/2006/relationships/notesSlide" Target="/ppt/notesSlides/notesSlide21.xml" Id="R5da70e6358a7457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a16fafd7b46ad" /><Relationship Type="http://schemas.openxmlformats.org/officeDocument/2006/relationships/image" Target="/ppt/media/image7.jpeg" Id="R4ef45ec04f5245af" /><Relationship Type="http://schemas.openxmlformats.org/officeDocument/2006/relationships/notesSlide" Target="/ppt/notesSlides/notesSlide22.xml" Id="Rad7d76f434fb4ea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3d85e1f98d4cbe" /><Relationship Type="http://schemas.openxmlformats.org/officeDocument/2006/relationships/notesSlide" Target="/ppt/notesSlides/notesSlide23.xml" Id="Rba415481602341f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aaed51af34d8a" /><Relationship Type="http://schemas.openxmlformats.org/officeDocument/2006/relationships/image" Target="/ppt/media/image5.png" Id="Raa64c4a5086c4ef2" /><Relationship Type="http://schemas.openxmlformats.org/officeDocument/2006/relationships/notesSlide" Target="/ppt/notesSlides/notesSlide24.xml" Id="R579d48006c964d2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6edea2f1b486f" /><Relationship Type="http://schemas.openxmlformats.org/officeDocument/2006/relationships/image" Target="/ppt/media/image6.png" Id="R8fa711a1b7bf4f6a" /><Relationship Type="http://schemas.openxmlformats.org/officeDocument/2006/relationships/notesSlide" Target="/ppt/notesSlides/notesSlide25.xml" Id="R131693d51d664a2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111d85bff499f" /><Relationship Type="http://schemas.openxmlformats.org/officeDocument/2006/relationships/image" Target="/ppt/media/image8.jpeg" Id="R9a58a3f3cbe34fd9" /><Relationship Type="http://schemas.openxmlformats.org/officeDocument/2006/relationships/notesSlide" Target="/ppt/notesSlides/notesSlide26.xml" Id="R385c2b682682437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3fd5bf91149e7" /><Relationship Type="http://schemas.openxmlformats.org/officeDocument/2006/relationships/notesSlide" Target="/ppt/notesSlides/notesSlide27.xml" Id="Ra05af992381e473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b97299c714667" /><Relationship Type="http://schemas.openxmlformats.org/officeDocument/2006/relationships/notesSlide" Target="/ppt/notesSlides/notesSlide28.xml" Id="Ra68a9034acd3484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13e1b0d354060" /><Relationship Type="http://schemas.openxmlformats.org/officeDocument/2006/relationships/image" Target="/ppt/media/image7.png" Id="Rbeee3fc78be34558" /><Relationship Type="http://schemas.openxmlformats.org/officeDocument/2006/relationships/notesSlide" Target="/ppt/notesSlides/notesSlide29.xml" Id="R76fc798cdc2f43b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205e510c8448e" /><Relationship Type="http://schemas.openxmlformats.org/officeDocument/2006/relationships/image" Target="/ppt/media/image8.png" Id="Re9d730fdad4147bb" /><Relationship Type="http://schemas.openxmlformats.org/officeDocument/2006/relationships/notesSlide" Target="/ppt/notesSlides/notesSlide30.xml" Id="Rd01f17f234fb415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5775b7e70416e" /><Relationship Type="http://schemas.openxmlformats.org/officeDocument/2006/relationships/notesSlide" Target="/ppt/notesSlides/notesSlide31.xml" Id="Ra2931b0f31434d8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aa6597139447a" /><Relationship Type="http://schemas.openxmlformats.org/officeDocument/2006/relationships/notesSlide" Target="/ppt/notesSlides/notesSlide32.xml" Id="R6f754337b5934d4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cb2e326ea341fa" /><Relationship Type="http://schemas.openxmlformats.org/officeDocument/2006/relationships/notesSlide" Target="/ppt/notesSlides/notesSlide33.xml" Id="R73d67f75df044e8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4c89051524dc4" /><Relationship Type="http://schemas.openxmlformats.org/officeDocument/2006/relationships/image" Target="/ppt/media/image9.jpeg" Id="Raed366157c784b54" /><Relationship Type="http://schemas.openxmlformats.org/officeDocument/2006/relationships/notesSlide" Target="/ppt/notesSlides/notesSlide34.xml" Id="R4ae63b8ec57c42b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267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lab">
            <a:extLst xmlns:a="http://schemas.openxmlformats.org/drawingml/2006/main">
              <a:ext uri="{FF2B5EF4-FFF2-40B4-BE49-F238E27FC236}">
                <a16:creationId xmlns:a16="http://schemas.microsoft.com/office/drawing/2014/main" id="{DC70F4A5-D5FC-4A23-9FEF-D48AB5C5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71550"/>
            <a:ext cx="981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LAB 04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2B5F012-1522-4FF3-B8EF-4FB2C33C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0668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untuk operasi layanan harian</a:t>
            </a:r>
          </a:p>
        </p:txBody>
      </p:sp>
      <p:sp>
        <p:nvSpPr>
          <p:cNvPr id="3" name="cover-sub">
            <a:extLst xmlns:a="http://schemas.openxmlformats.org/drawingml/2006/main">
              <a:ext uri="{FF2B5EF4-FFF2-40B4-BE49-F238E27FC236}">
                <a16:creationId xmlns:a16="http://schemas.microsoft.com/office/drawing/2014/main" id="{4E286DB7-FA61-4C61-A974-33E2BCBF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Kasus: halaman status internal berhenti, lalu dipulihkan dan diperbarui</a:t>
            </a:r>
          </a:p>
        </p:txBody>
      </p:sp>
      <p:sp>
        <p:nvSpPr>
          <p:cNvPr id="4" name="cover-meta">
            <a:extLst xmlns:a="http://schemas.openxmlformats.org/drawingml/2006/main">
              <a:ext uri="{FF2B5EF4-FFF2-40B4-BE49-F238E27FC236}">
                <a16:creationId xmlns:a16="http://schemas.microsoft.com/office/drawing/2014/main" id="{3B4458D2-4C91-41AA-953C-545C4EE4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Virtualisasi dan container  ·  Praktikum lokal  ·  Challenge A–E dengan kunci</a:t>
            </a:r>
          </a:p>
        </p:txBody>
      </p:sp>
    </p:spTree>
    <p:extLst>
      <p:ext uri="{BB962C8B-B14F-4D97-AF65-F5344CB8AC3E}">
        <p14:creationId xmlns:p14="http://schemas.microsoft.com/office/powerpoint/2010/main" val="6718213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6094666F-EA27-4512-997E-2C66A3E3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0934E1-03D0-42BC-A09F-5500FD66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Kasus kerja: halaman status internal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92657D9-FE19-435A-BC86-15E81205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Tim operasi harus membuktikan akar gangguan dan pemulihannya.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8BBF50-3190-4DC7-926E-1BD97E3D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5" name="scenario">
            <a:extLst xmlns:a="http://schemas.openxmlformats.org/drawingml/2006/main">
              <a:ext uri="{FF2B5EF4-FFF2-40B4-BE49-F238E27FC236}">
                <a16:creationId xmlns:a16="http://schemas.microsoft.com/office/drawing/2014/main" id="{272920B2-2C1F-4356-B8A9-FA5F22C7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7442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Layanan cloudlab-site menyajikan status pemeliharaan. Operator melihat halaman tidak dapat diakses. Ia memeriksa container, memulihkan HTTP 200, memperbarui pesan insiden, lalu menjalankan canary pada port lain.</a:t>
            </a:r>
          </a:p>
        </p:txBody>
      </p:sp>
      <p:sp>
        <p:nvSpPr>
          <p:cNvPr id="6" name="outcome-label">
            <a:extLst xmlns:a="http://schemas.openxmlformats.org/drawingml/2006/main">
              <a:ext uri="{FF2B5EF4-FFF2-40B4-BE49-F238E27FC236}">
                <a16:creationId xmlns:a16="http://schemas.microsoft.com/office/drawing/2014/main" id="{D961CE51-1DC0-4632-94B4-655C6FD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yang diperiksa</a:t>
            </a:r>
          </a:p>
        </p:txBody>
      </p:sp>
      <p:sp>
        <p:nvSpPr>
          <p:cNvPr id="7" name="outcome">
            <a:extLst xmlns:a="http://schemas.openxmlformats.org/drawingml/2006/main">
              <a:ext uri="{FF2B5EF4-FFF2-40B4-BE49-F238E27FC236}">
                <a16:creationId xmlns:a16="http://schemas.microsoft.com/office/drawing/2014/main" id="{E49C3423-EAAE-4F34-9C6F-7C94D01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7061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dan container  ·  port host dan container  ·  log  ·  stop/start  ·  bind mount hanya-baca  ·  benturan port</a:t>
            </a:r>
          </a:p>
        </p:txBody>
      </p:sp>
    </p:spTree>
    <p:extLst>
      <p:ext uri="{BB962C8B-B14F-4D97-AF65-F5344CB8AC3E}">
        <p14:creationId xmlns:p14="http://schemas.microsoft.com/office/powerpoint/2010/main" val="4534036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B59E8B64-6F91-4588-8386-2B2E637F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BE686F-B907-4E08-8416-872C2D12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VM, image, dan container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D12A20E-BD75-4D2F-AD9F-5CC5AE4C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Kerangka konsep sebelum menyentuh terminal.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7FFE50-FFFC-4EC2-ABBC-1A8AA012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5" name="vm-label">
            <a:extLst xmlns:a="http://schemas.openxmlformats.org/drawingml/2006/main">
              <a:ext uri="{FF2B5EF4-FFF2-40B4-BE49-F238E27FC236}">
                <a16:creationId xmlns:a16="http://schemas.microsoft.com/office/drawing/2014/main" id="{C7C6520B-A28B-43B7-9296-E253CC6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</a:t>
            </a:r>
          </a:p>
        </p:txBody>
      </p:sp>
      <p:sp>
        <p:nvSpPr>
          <p:cNvPr id="6" name="vm-body">
            <a:extLst xmlns:a="http://schemas.openxmlformats.org/drawingml/2006/main">
              <a:ext uri="{FF2B5EF4-FFF2-40B4-BE49-F238E27FC236}">
                <a16:creationId xmlns:a16="http://schemas.microsoft.com/office/drawing/2014/main" id="{FF4730B6-2871-4FCC-9E06-E88FDF29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4819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Guest OS memiliki kernel sendiri di atas hypervisor. Cocok saat perlu sistem operasi terpisah.</a:t>
            </a:r>
          </a:p>
        </p:txBody>
      </p:sp>
      <p:sp>
        <p:nvSpPr>
          <p:cNvPr id="7" name="container-label">
            <a:extLst xmlns:a="http://schemas.openxmlformats.org/drawingml/2006/main">
              <a:ext uri="{FF2B5EF4-FFF2-40B4-BE49-F238E27FC236}">
                <a16:creationId xmlns:a16="http://schemas.microsoft.com/office/drawing/2014/main" id="{60DC82A3-1D64-45FB-9CBB-AEFDCCB7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152650"/>
            <a:ext cx="3667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Container</a:t>
            </a:r>
          </a:p>
        </p:txBody>
      </p:sp>
      <p:sp>
        <p:nvSpPr>
          <p:cNvPr id="8" name="container-body">
            <a:extLst xmlns:a="http://schemas.openxmlformats.org/drawingml/2006/main">
              <a:ext uri="{FF2B5EF4-FFF2-40B4-BE49-F238E27FC236}">
                <a16:creationId xmlns:a16="http://schemas.microsoft.com/office/drawing/2014/main" id="{59E831EB-B0B9-4285-AA58-12A90EAE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581275"/>
            <a:ext cx="48863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Proses terisolasi memakai kernel host. Namespace mengatur pandangan; cgroup mengatur jatah sumber daya.</a:t>
            </a:r>
          </a:p>
        </p:txBody>
      </p:sp>
      <p:sp>
        <p:nvSpPr>
          <p:cNvPr id="9" name="image-label">
            <a:extLst xmlns:a="http://schemas.openxmlformats.org/drawingml/2006/main">
              <a:ext uri="{FF2B5EF4-FFF2-40B4-BE49-F238E27FC236}">
                <a16:creationId xmlns:a16="http://schemas.microsoft.com/office/drawing/2014/main" id="{0F29BE61-2E50-447B-9AF5-14487D97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→ container</a:t>
            </a:r>
          </a:p>
        </p:txBody>
      </p:sp>
      <p:sp>
        <p:nvSpPr>
          <p:cNvPr id="10" name="image-body">
            <a:extLst xmlns:a="http://schemas.openxmlformats.org/drawingml/2006/main">
              <a:ext uri="{FF2B5EF4-FFF2-40B4-BE49-F238E27FC236}">
                <a16:creationId xmlns:a16="http://schemas.microsoft.com/office/drawing/2014/main" id="{FB4FB7ED-F713-4800-80A5-7B746CCB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adalah template. docker run membuat instance baru; docker start menyalakan instance yang sama.</a:t>
            </a:r>
          </a:p>
        </p:txBody>
      </p:sp>
    </p:spTree>
    <p:extLst>
      <p:ext uri="{BB962C8B-B14F-4D97-AF65-F5344CB8AC3E}">
        <p14:creationId xmlns:p14="http://schemas.microsoft.com/office/powerpoint/2010/main" val="307305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2F0E9BE3-0FDC-4DCC-B1AD-DEC4922B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3DC834-4B05-415F-9282-94C31717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Alur Docker saat run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823E3F3-6EB5-44AB-8D55-02DC9583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CLI mengirim perintah; daemon menyiapkan image lalu menjalankan container.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F01890B-2C87-403E-85C7-49DA081B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5" name="flow1">
            <a:extLst xmlns:a="http://schemas.openxmlformats.org/drawingml/2006/main">
              <a:ext uri="{FF2B5EF4-FFF2-40B4-BE49-F238E27FC236}">
                <a16:creationId xmlns:a16="http://schemas.microsoft.com/office/drawing/2014/main" id="{2C8901CC-3D56-4067-A5F5-265FEEB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  Docker CLI</a:t>
            </a:r>
          </a:p>
        </p:txBody>
      </p:sp>
      <p:sp>
        <p:nvSpPr>
          <p:cNvPr id="6" name="flow1b">
            <a:extLst xmlns:a="http://schemas.openxmlformats.org/drawingml/2006/main">
              <a:ext uri="{FF2B5EF4-FFF2-40B4-BE49-F238E27FC236}">
                <a16:creationId xmlns:a16="http://schemas.microsoft.com/office/drawing/2014/main" id="{72AFE20F-FFA8-4E07-8266-F5A779F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docker pull, run, ps, logs, exec berasal dari terminal operator.</a:t>
            </a:r>
          </a:p>
        </p:txBody>
      </p:sp>
      <p:sp>
        <p:nvSpPr>
          <p:cNvPr id="7" name="flow2">
            <a:extLst xmlns:a="http://schemas.openxmlformats.org/drawingml/2006/main">
              <a:ext uri="{FF2B5EF4-FFF2-40B4-BE49-F238E27FC236}">
                <a16:creationId xmlns:a16="http://schemas.microsoft.com/office/drawing/2014/main" id="{26D9628F-28BC-4B30-A73C-BB09C26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  Docker daemon dan registry</a:t>
            </a:r>
          </a:p>
        </p:txBody>
      </p:sp>
      <p:sp>
        <p:nvSpPr>
          <p:cNvPr id="8" name="flow2b">
            <a:extLst xmlns:a="http://schemas.openxmlformats.org/drawingml/2006/main">
              <a:ext uri="{FF2B5EF4-FFF2-40B4-BE49-F238E27FC236}">
                <a16:creationId xmlns:a16="http://schemas.microsoft.com/office/drawing/2014/main" id="{C70FA976-25F3-4939-B9C3-7D9BEDF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Daemon menarik image dari registry jika belum tersimpan di komputer.</a:t>
            </a:r>
          </a:p>
        </p:txBody>
      </p:sp>
      <p:sp>
        <p:nvSpPr>
          <p:cNvPr id="9" name="flow3">
            <a:extLst xmlns:a="http://schemas.openxmlformats.org/drawingml/2006/main">
              <a:ext uri="{FF2B5EF4-FFF2-40B4-BE49-F238E27FC236}">
                <a16:creationId xmlns:a16="http://schemas.microsoft.com/office/drawing/2014/main" id="{14867205-7BEF-4510-ABD1-A2EEE5B2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  Image menjadi container</a:t>
            </a:r>
          </a:p>
        </p:txBody>
      </p:sp>
      <p:sp>
        <p:nvSpPr>
          <p:cNvPr id="10" name="flow3b">
            <a:extLst xmlns:a="http://schemas.openxmlformats.org/drawingml/2006/main">
              <a:ext uri="{FF2B5EF4-FFF2-40B4-BE49-F238E27FC236}">
                <a16:creationId xmlns:a16="http://schemas.microsoft.com/office/drawing/2014/main" id="{87A5D73F-4FCE-4E38-A4CB-30C41347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run membuat instance; start menghidupkan instance lama; rm menghapus instance.</a:t>
            </a:r>
          </a:p>
        </p:txBody>
      </p:sp>
    </p:spTree>
    <p:extLst>
      <p:ext uri="{BB962C8B-B14F-4D97-AF65-F5344CB8AC3E}">
        <p14:creationId xmlns:p14="http://schemas.microsoft.com/office/powerpoint/2010/main" val="1515181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F10720-458A-4531-A0E6-A901A5F7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6DCECC-E6FE-4157-8D7E-78C00C24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Preflight Docker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C01E144-5613-4098-952B-84237D1F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dari root repo Lab 04 di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AA1A9E4-D4CF-42D6-9F54-190D85A7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5" name="preflight-background">
            <a:extLst xmlns:a="http://schemas.openxmlformats.org/drawingml/2006/main">
              <a:ext uri="{FF2B5EF4-FFF2-40B4-BE49-F238E27FC236}">
                <a16:creationId xmlns:a16="http://schemas.microsoft.com/office/drawing/2014/main" id="{FA4CEA1C-D779-4346-9C15-FCDD88B0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preflight">
            <a:extLst xmlns:a="http://schemas.openxmlformats.org/drawingml/2006/main">
              <a:ext uri="{FF2B5EF4-FFF2-40B4-BE49-F238E27FC236}">
                <a16:creationId xmlns:a16="http://schemas.microsoft.com/office/drawing/2014/main" id="{653B348C-8F68-4D4D-9370-F33A9528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10363200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version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info --format '{{.ServerVersion}}'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>
              <a:buNone/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Test-Path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28B838EC-5E9D-4413-B2ED-10E87A15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D04073A-D72E-4F1B-BE9E-E1875955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Client dan Server pada docker version harus ada. Test-Path bernilai True; port 8088 belum dipakai container latihan.</a:t>
            </a:r>
          </a:p>
        </p:txBody>
      </p:sp>
    </p:spTree>
    <p:extLst>
      <p:ext uri="{BB962C8B-B14F-4D97-AF65-F5344CB8AC3E}">
        <p14:creationId xmlns:p14="http://schemas.microsoft.com/office/powerpoint/2010/main" val="49268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0FD240F4-141A-4F5E-BA73-D063F04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23E6A64-82FD-4775-8068-04B8DAB1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preflight — Engine aktif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12C40AE-B94E-4894-95C3-EA81C670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Docker Desktop dan hasil docker version harus saling sesuai.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4328DDD-6533-4902-B7B0-4DDD5D11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90dae4e264aa6"/>
          <a:stretch xmlns:a="http://schemas.openxmlformats.org/drawingml/2006/main"/>
        </p:blipFill>
        <p:spPr>
          <a:xfrm xmlns:a="http://schemas.openxmlformats.org/drawingml/2006/main">
            <a:off x="2657072" y="1857375"/>
            <a:ext cx="687785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ngine-caption">
            <a:extLst xmlns:a="http://schemas.openxmlformats.org/drawingml/2006/main">
              <a:ext uri="{FF2B5EF4-FFF2-40B4-BE49-F238E27FC236}">
                <a16:creationId xmlns:a16="http://schemas.microsoft.com/office/drawing/2014/main" id="{EF65C016-ECA1-4412-9B7B-E572F989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version meminta versi Server ke daemon; Client dan Server tampil berarti CLI terhubung ke Engine aktif.</a:t>
            </a:r>
          </a:p>
        </p:txBody>
      </p:sp>
    </p:spTree>
    <p:extLst>
      <p:ext uri="{BB962C8B-B14F-4D97-AF65-F5344CB8AC3E}">
        <p14:creationId xmlns:p14="http://schemas.microsoft.com/office/powerpoint/2010/main" val="342154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A5A28A04-9B0D-4014-934F-9A066270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288C658-73BC-4236-B2A7-0CFE77CA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A — image dan tugas sekali pakai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1C0516B-9AB9-40A5-8023-6C21C55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unduh tiga image, baca metadata, lalu kirim environment ke proses Python.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5867ECD-0CF9-43CB-8686-A2A30B0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5" name="solution-a-background">
            <a:extLst xmlns:a="http://schemas.openxmlformats.org/drawingml/2006/main">
              <a:ext uri="{FF2B5EF4-FFF2-40B4-BE49-F238E27FC236}">
                <a16:creationId xmlns:a16="http://schemas.microsoft.com/office/drawing/2014/main" id="{844C2D97-0DC1-486B-A0A7-BB4DD8CC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a">
            <a:extLst xmlns:a="http://schemas.openxmlformats.org/drawingml/2006/main">
              <a:ext uri="{FF2B5EF4-FFF2-40B4-BE49-F238E27FC236}">
                <a16:creationId xmlns:a16="http://schemas.microsoft.com/office/drawing/2014/main" id="{D5064364-B1C9-4A20-8A35-ABAA3060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10363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nginx:alpine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python:3.12-alpine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node:22-alpine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ls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inspect nginx:alpine --format '{{.Os}}/{{.Architecture}} {{.Id}}'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python:3.12-alpine python --version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node:22-alpine node --version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-e CLASS_SECTION=cloud python:3.12-alpine sh -c 'echo "$CLASS_SECTION"'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06D081C-11AD-4320-945C-F2C4897C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10ECF493-4B21-4071-83D5-FB54DA8C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391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pull menyiapkan template lokal; inspect membaca metadata; --rm menghapus container tugas sesudah keluar. Output environment: cloud.</a:t>
            </a:r>
          </a:p>
        </p:txBody>
      </p:sp>
    </p:spTree>
    <p:extLst>
      <p:ext uri="{BB962C8B-B14F-4D97-AF65-F5344CB8AC3E}">
        <p14:creationId xmlns:p14="http://schemas.microsoft.com/office/powerpoint/2010/main" val="265722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EC810297-26BF-49DB-A05F-F3480E5C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2F28956-00FE-4A09-BF82-ADD5A529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tiga image tersedia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F98B8FC-4BE1-4954-8211-7B9A560D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Ketiga tag ada pada daftar image lokal.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F4F4DEE-CE4A-46E0-A51E-2D6016ED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9e8d1dfb54e9d"/>
          <a:stretch xmlns:a="http://schemas.openxmlformats.org/drawingml/2006/main"/>
        </p:blipFill>
        <p:spPr>
          <a:xfrm xmlns:a="http://schemas.openxmlformats.org/drawingml/2006/main">
            <a:off x="685800" y="1903095"/>
            <a:ext cx="10820400" cy="3651885"/>
          </a:xfrm>
          <a:prstGeom xmlns:a="http://schemas.openxmlformats.org/drawingml/2006/main" prst="rect">
            <a:avLst/>
          </a:prstGeom>
        </p:spPr>
      </p:pic>
      <p:sp>
        <p:nvSpPr>
          <p:cNvPr id="6" name="evidence-a-images-caption">
            <a:extLst xmlns:a="http://schemas.openxmlformats.org/drawingml/2006/main">
              <a:ext uri="{FF2B5EF4-FFF2-40B4-BE49-F238E27FC236}">
                <a16:creationId xmlns:a16="http://schemas.microsoft.com/office/drawing/2014/main" id="{90456114-49B8-45A9-A4DE-2C5521DB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image ls membaca image lokal; tag nginx/python/node menunjukkan hasil docker pull sudah tersedia.</a:t>
            </a:r>
          </a:p>
        </p:txBody>
      </p:sp>
    </p:spTree>
    <p:extLst>
      <p:ext uri="{BB962C8B-B14F-4D97-AF65-F5344CB8AC3E}">
        <p14:creationId xmlns:p14="http://schemas.microsoft.com/office/powerpoint/2010/main" val="1316924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7660DB8-1A6E-4820-9EA6-C705848D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85E7C5-DA05-438A-8C82-FEEF189B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environment terbaca proses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6C4E337-3E29-47FA-AE26-6284AC4E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Container Python sekali pakai mencetak cloud, lalu dihapus oleh --rm.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0E0177-523C-4656-83DA-BCD1DE2F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f5bd3716648ae"/>
          <a:stretch xmlns:a="http://schemas.openxmlformats.org/drawingml/2006/main"/>
        </p:blipFill>
        <p:spPr>
          <a:xfrm xmlns:a="http://schemas.openxmlformats.org/drawingml/2006/main">
            <a:off x="685800" y="1886771"/>
            <a:ext cx="10820400" cy="3684533"/>
          </a:xfrm>
          <a:prstGeom xmlns:a="http://schemas.openxmlformats.org/drawingml/2006/main" prst="rect">
            <a:avLst/>
          </a:prstGeom>
        </p:spPr>
      </p:pic>
      <p:sp>
        <p:nvSpPr>
          <p:cNvPr id="6" name="evidence-a-env-caption">
            <a:extLst xmlns:a="http://schemas.openxmlformats.org/drawingml/2006/main">
              <a:ext uri="{FF2B5EF4-FFF2-40B4-BE49-F238E27FC236}">
                <a16:creationId xmlns:a16="http://schemas.microsoft.com/office/drawing/2014/main" id="{088408CA-FE3D-427E-AFEF-77F022F8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run --rm -e CLASS_SECTION=cloud ... . Output akhir: cloud.</a:t>
            </a:r>
          </a:p>
        </p:txBody>
      </p:sp>
    </p:spTree>
    <p:extLst>
      <p:ext uri="{BB962C8B-B14F-4D97-AF65-F5344CB8AC3E}">
        <p14:creationId xmlns:p14="http://schemas.microsoft.com/office/powerpoint/2010/main" val="5481486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BE6C5A-9F07-4EE5-BF1B-2A1CF8EB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EBA7F4-2F3C-4E27-A2E9-50864D37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Nginx pertama — run, HTTP, log, exec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646B1B5-0536-482E-AECE-A352D75C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Sebelum situs kasus, jalankan image bawaan pada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F07782-AA96-4771-81D7-BAC717C1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5" name="first-nginx-background">
            <a:extLst xmlns:a="http://schemas.openxmlformats.org/drawingml/2006/main">
              <a:ext uri="{FF2B5EF4-FFF2-40B4-BE49-F238E27FC236}">
                <a16:creationId xmlns:a16="http://schemas.microsoft.com/office/drawing/2014/main" id="{C980FAF9-870F-453C-834D-BAC6E90A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nginx">
            <a:extLst xmlns:a="http://schemas.openxmlformats.org/drawingml/2006/main">
              <a:ext uri="{FF2B5EF4-FFF2-40B4-BE49-F238E27FC236}">
                <a16:creationId xmlns:a16="http://schemas.microsoft.com/office/drawing/2014/main" id="{D003FE73-E9F7-403C-8C77-7A43C72B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cloudlab-nginx -d -p 127.0.0.1:8088:80 nginx:alpine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cloudlab-nginx</a:t>
            </a:r>
          </a:p>
          <a:p xmlns:a="http://schemas.openxmlformats.org/drawingml/2006/main">
            <a:pPr>
              <a:buNone/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exec cloudlab-nginx sh -c 'hostname; ls /usr/share/nginx/html'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FE37097-12BC-4825-B31D-FA843941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CF93A34-A88F-4C58-B0E2-E5D85856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Up dan HTTP 200 membuktikan layanan. logs memberi jejak request; exec membaca isi container tanpa mengubah image.</a:t>
            </a:r>
          </a:p>
        </p:txBody>
      </p:sp>
    </p:spTree>
    <p:extLst>
      <p:ext uri="{BB962C8B-B14F-4D97-AF65-F5344CB8AC3E}">
        <p14:creationId xmlns:p14="http://schemas.microsoft.com/office/powerpoint/2010/main" val="1735006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5BAB2BA-2AFE-4DAB-8D9F-8BA7CE58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57ABB01-CA62-429B-968F-1073FB99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Nginx pertama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09C5821-4C7D-4D7A-8AB4-654C17F3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Desktop menunjukkan cloudlab-nginx aktif di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4D6C930-394B-43B7-8ABF-F2A0A85E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eaa664d214410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nginx-caption">
            <a:extLst xmlns:a="http://schemas.openxmlformats.org/drawingml/2006/main">
              <a:ext uri="{FF2B5EF4-FFF2-40B4-BE49-F238E27FC236}">
                <a16:creationId xmlns:a16="http://schemas.microsoft.com/office/drawing/2014/main" id="{798AF8AE-EA56-43E3-AD3B-A3E69B9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run -p 127.0.0.1:8088:80 meneruskan host 8088 ke Nginx 80; curl.exe -I membuktikan HTTP 200.</a:t>
            </a:r>
          </a:p>
        </p:txBody>
      </p:sp>
    </p:spTree>
    <p:extLst>
      <p:ext uri="{BB962C8B-B14F-4D97-AF65-F5344CB8AC3E}">
        <p14:creationId xmlns:p14="http://schemas.microsoft.com/office/powerpoint/2010/main" val="9161764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35D182A3-EFC8-4C4B-B29D-038069FC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073811-E199-42C5-9F6E-A94FA9E4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Siklus container yang sama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4046377-B6B6-4F84-88BE-E2218110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stop mempertahankan container; rm menghapusnya dan membebaskan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021AD0-77D0-4520-8156-8B174F71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" name="first-lifecycle-background">
            <a:extLst xmlns:a="http://schemas.openxmlformats.org/drawingml/2006/main">
              <a:ext uri="{FF2B5EF4-FFF2-40B4-BE49-F238E27FC236}">
                <a16:creationId xmlns:a16="http://schemas.microsoft.com/office/drawing/2014/main" id="{73D5310C-E832-481D-A6B3-CD3BA167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108204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lifecycle">
            <a:extLst xmlns:a="http://schemas.openxmlformats.org/drawingml/2006/main">
              <a:ext uri="{FF2B5EF4-FFF2-40B4-BE49-F238E27FC236}">
                <a16:creationId xmlns:a16="http://schemas.microsoft.com/office/drawing/2014/main" id="{8BE1CC39-3421-4D2F-ACC1-EA72DB7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632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cloudlab-nginx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F1598BCA-2088-4EF1-9F2B-73EEC3CA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1C7B5BE-938F-4B08-9199-6B052596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9737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ps hanya menampilkan yang hidup; ps -a juga menampilkan Exited. start mempertahankan identitas. Setelah rm, image tetap tersimpan.</a:t>
            </a:r>
          </a:p>
        </p:txBody>
      </p:sp>
    </p:spTree>
    <p:extLst>
      <p:ext uri="{BB962C8B-B14F-4D97-AF65-F5344CB8AC3E}">
        <p14:creationId xmlns:p14="http://schemas.microsoft.com/office/powerpoint/2010/main" val="3663486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D90FC9D-E142-403E-A45A-A6BAE641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E65DF6F-DAF0-4ADB-9DA8-7F4C540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lifecycle — Exited lalu Up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09AEAB2-4843-49DA-9CAD-FF8EAD0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ID/nama container tetap selama stop dan start.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EA49EC-BC29-474A-A501-C0C26B0D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383b6628d4deb"/>
          <a:stretch xmlns:a="http://schemas.openxmlformats.org/drawingml/2006/main"/>
        </p:blipFill>
        <p:spPr>
          <a:xfrm xmlns:a="http://schemas.openxmlformats.org/drawingml/2006/main">
            <a:off x="1018847" y="1857375"/>
            <a:ext cx="1015430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lifecycle-caption">
            <a:extLst xmlns:a="http://schemas.openxmlformats.org/drawingml/2006/main">
              <a:ext uri="{FF2B5EF4-FFF2-40B4-BE49-F238E27FC236}">
                <a16:creationId xmlns:a16="http://schemas.microsoft.com/office/drawing/2014/main" id="{41A074AD-D333-47E6-97EC-0979380E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docker ps -a, docker start, docker ps. Status berubah; image sama.</a:t>
            </a:r>
          </a:p>
        </p:txBody>
      </p:sp>
    </p:spTree>
    <p:extLst>
      <p:ext uri="{BB962C8B-B14F-4D97-AF65-F5344CB8AC3E}">
        <p14:creationId xmlns:p14="http://schemas.microsoft.com/office/powerpoint/2010/main" val="9889224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5F3CD918-09CF-4D39-BC66-80EFEDB3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B1CF996-22A5-4EDE-B39C-70075DF4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B — situs di localhost:8088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DAF3FA4-9EAC-4544-A6AF-BDF28C5F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 PowerShell: mount direktori site sebagai berkas hanya-baca di Nginx.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0C78D83-C602-4D88-B573-705FBF25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5" name="solution-b-background">
            <a:extLst xmlns:a="http://schemas.openxmlformats.org/drawingml/2006/main">
              <a:ext uri="{FF2B5EF4-FFF2-40B4-BE49-F238E27FC236}">
                <a16:creationId xmlns:a16="http://schemas.microsoft.com/office/drawing/2014/main" id="{E911158A-6A53-46EF-891B-154A671A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b">
            <a:extLst xmlns:a="http://schemas.openxmlformats.org/drawingml/2006/main">
              <a:ext uri="{FF2B5EF4-FFF2-40B4-BE49-F238E27FC236}">
                <a16:creationId xmlns:a16="http://schemas.microsoft.com/office/drawing/2014/main" id="{71566FE2-80AB-49B2-AB96-C92E47B1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771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$siteDir = Join-Path (Get-Location).Path 'site'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$mount = "type=bind,source=$siteDir,target=/usr/share/nginx/html,readonly"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$mount nginx:alpine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port cloudlab-site 80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  <a:p xmlns:a="http://schemas.openxmlformats.org/drawingml/2006/main">
            <a:pPr>
              <a:buNone/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31EBD2BA-AFBC-4FDF-9261-0EC82AFB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8FC9289-42E6-4414-90F2-653D4F9D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8088 adalah port host, 80 port Nginx. 127.0.0.1 membatasi akses ke laptop. Bind mount membuat Nginx membaca file site langsung dari host.</a:t>
            </a:r>
          </a:p>
        </p:txBody>
      </p:sp>
    </p:spTree>
    <p:extLst>
      <p:ext uri="{BB962C8B-B14F-4D97-AF65-F5344CB8AC3E}">
        <p14:creationId xmlns:p14="http://schemas.microsoft.com/office/powerpoint/2010/main" val="17614025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B2E2928-45CF-4E07-9AE4-2560CB5C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783BB8-0A22-40A5-ADD4-03DA755C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halaman web tampil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DE71CCC-9D14-4AF5-9F47-56C7E80A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Akses http://127.0.0.1:8088 setelah container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4C09CE9-CCE0-461C-A68E-13D1DF7B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63cc51edc4176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web-caption">
            <a:extLst xmlns:a="http://schemas.openxmlformats.org/drawingml/2006/main">
              <a:ext uri="{FF2B5EF4-FFF2-40B4-BE49-F238E27FC236}">
                <a16:creationId xmlns:a16="http://schemas.microsoft.com/office/drawing/2014/main" id="{96DEBC81-BE07-42FE-AF73-A192B2E2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run --mount readonly membuat Nginx membaca site/ dari host; -p 8088:80 membuka STATUS_OK di browser.</a:t>
            </a:r>
          </a:p>
        </p:txBody>
      </p:sp>
    </p:spTree>
    <p:extLst>
      <p:ext uri="{BB962C8B-B14F-4D97-AF65-F5344CB8AC3E}">
        <p14:creationId xmlns:p14="http://schemas.microsoft.com/office/powerpoint/2010/main" val="5939611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4DD6B59-73D3-4993-87BD-EF97391A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805FB86-F106-4C16-96ED-2330ACE3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Docker memperlihatkan port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4F77A23-B3C1-48DA-AFF4-385B9D6C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GUI menunjukkan cloudlab-site Up dan 8088:80; terminal memeriksa RW=false.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1A4C4DC-9F95-494E-9A00-97D2C066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9616e58ad0411e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ps-caption">
            <a:extLst xmlns:a="http://schemas.openxmlformats.org/drawingml/2006/main">
              <a:ext uri="{FF2B5EF4-FFF2-40B4-BE49-F238E27FC236}">
                <a16:creationId xmlns:a16="http://schemas.microsoft.com/office/drawing/2014/main" id="{55E48A2A-6808-4430-B6DB-8D77965F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inspect membaca mount: RW=false berarti container hanya membaca site/; Docker Desktop menunjukkan 8088:80.</a:t>
            </a:r>
          </a:p>
        </p:txBody>
      </p:sp>
    </p:spTree>
    <p:extLst>
      <p:ext uri="{BB962C8B-B14F-4D97-AF65-F5344CB8AC3E}">
        <p14:creationId xmlns:p14="http://schemas.microsoft.com/office/powerpoint/2010/main" val="5451684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5F6576-CC5C-4794-B96D-9E510D10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2ACF3E8-F774-4ABB-8380-37860CE4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C — diagnosis dan pemulihan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B806AAF-E528-47DC-8F9E-69A27263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buat gangguan terkendali, lihat state/log, kemudian start dan cek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E9AC4FA-A228-417C-A1E4-FA04A74B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5" name="solution-c-background">
            <a:extLst xmlns:a="http://schemas.openxmlformats.org/drawingml/2006/main">
              <a:ext uri="{FF2B5EF4-FFF2-40B4-BE49-F238E27FC236}">
                <a16:creationId xmlns:a16="http://schemas.microsoft.com/office/drawing/2014/main" id="{80385B5D-2EEA-4B67-A8A7-491F2B2F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305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c">
            <a:extLst xmlns:a="http://schemas.openxmlformats.org/drawingml/2006/main">
              <a:ext uri="{FF2B5EF4-FFF2-40B4-BE49-F238E27FC236}">
                <a16:creationId xmlns:a16="http://schemas.microsoft.com/office/drawing/2014/main" id="{96D8F3CC-1D52-4939-A698-1058BCD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cloudlab-site</a:t>
            </a:r>
          </a:p>
          <a:p xmlns:a="http://schemas.openxmlformats.org/drawingml/2006/main">
            <a:pPr>
              <a:buNone/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D203740-B51D-4E37-8377-94193523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AA31F78-5C41-48CB-B242-1709FD48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15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curl pertama gagal sesuai skenario. ps -a menunjukkan Exited. start menyalakan objek yang sama; curl terakhir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1645770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C803C5E-3F41-47F7-9326-4177C298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F53C313-4BB9-4614-82D5-B129A799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browser gagal memuatnya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29570BF-55A9-4535-8170-12E530E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Ini gejala yang sengaja dibuat dengan docker stop cloudlab-site.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D3251E-C246-4131-A135-75B452B7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fc7d49f764734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browser-caption">
            <a:extLst xmlns:a="http://schemas.openxmlformats.org/drawingml/2006/main">
              <a:ext uri="{FF2B5EF4-FFF2-40B4-BE49-F238E27FC236}">
                <a16:creationId xmlns:a16="http://schemas.microsoft.com/office/drawing/2014/main" id="{40CF34BB-AF5B-49AF-9394-EF0F7893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web: ERR_CONNECTION_REFUSED di 127.0.0.1:8088. Lanjutkan diagnosis dengan docker ps -a.</a:t>
            </a:r>
          </a:p>
        </p:txBody>
      </p:sp>
    </p:spTree>
    <p:extLst>
      <p:ext uri="{BB962C8B-B14F-4D97-AF65-F5344CB8AC3E}">
        <p14:creationId xmlns:p14="http://schemas.microsoft.com/office/powerpoint/2010/main" val="3006401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C8F77964-EBD2-4E6A-B365-DACAFCBA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6D551D0-BE8C-4556-B389-E8D1D7CE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Docker menampilkan stopped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0684A3B-FBE5-48FA-827D-3698381C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Nama dan ID cloudlab-site tetap ada walau proses tidak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56002EA-008E-4A56-8B58-7A617024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0ba1dcb4f4f67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docker-caption">
            <a:extLst xmlns:a="http://schemas.openxmlformats.org/drawingml/2006/main">
              <a:ext uri="{FF2B5EF4-FFF2-40B4-BE49-F238E27FC236}">
                <a16:creationId xmlns:a16="http://schemas.microsoft.com/office/drawing/2014/main" id="{14DFD6BA-D6B8-4C6A-976E-C52BE90D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cloudlab-site berhenti. Jalankan docker ps -a dan docker logs sebelum start.</a:t>
            </a:r>
          </a:p>
        </p:txBody>
      </p:sp>
    </p:spTree>
    <p:extLst>
      <p:ext uri="{BB962C8B-B14F-4D97-AF65-F5344CB8AC3E}">
        <p14:creationId xmlns:p14="http://schemas.microsoft.com/office/powerpoint/2010/main" val="9101655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D2AD6355-30BF-4FCB-B5FA-C2DD0D36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C0815D-6238-4C63-A10D-0C598856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C — status berubah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EB7B2DD-4CFA-410A-9417-9AFD473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Sesudah stop: Exited. Sesudah start: Up dengan port yang sama.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F6C3D52-1F9A-4726-AA78-63F6CA22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9aeff32524606"/>
          <a:stretch xmlns:a="http://schemas.openxmlformats.org/drawingml/2006/main"/>
        </p:blipFill>
        <p:spPr>
          <a:xfrm xmlns:a="http://schemas.openxmlformats.org/drawingml/2006/main">
            <a:off x="855345" y="1857375"/>
            <a:ext cx="1048131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caption">
            <a:extLst xmlns:a="http://schemas.openxmlformats.org/drawingml/2006/main">
              <a:ext uri="{FF2B5EF4-FFF2-40B4-BE49-F238E27FC236}">
                <a16:creationId xmlns:a16="http://schemas.microsoft.com/office/drawing/2014/main" id="{FB2B2B77-58B0-4A4A-818F-BF7B68A2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curl gagal, docker ps -a, docker start,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6996140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03F83B7D-1121-445D-9CE9-8641DC08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EEA0DE3-A4C9-4E79-B312-AF70A07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D — ubah pesan tanpa rebuild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07BAD93-6695-4BDF-9DA4-DB4533E8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edit file host; Nginx membaca perubahan lewat bind mount.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E2D39DB-2FBE-499C-8506-706342A4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5" name="solution-d-background">
            <a:extLst xmlns:a="http://schemas.openxmlformats.org/drawingml/2006/main">
              <a:ext uri="{FF2B5EF4-FFF2-40B4-BE49-F238E27FC236}">
                <a16:creationId xmlns:a16="http://schemas.microsoft.com/office/drawing/2014/main" id="{A87ACEAF-41D1-4AEA-BAF1-3849EF3A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514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d">
            <a:extLst xmlns:a="http://schemas.openxmlformats.org/drawingml/2006/main">
              <a:ext uri="{FF2B5EF4-FFF2-40B4-BE49-F238E27FC236}">
                <a16:creationId xmlns:a16="http://schemas.microsoft.com/office/drawing/2014/main" id="{0817FFEA-D366-44AF-A9A1-8CE75AE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3114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= docker image inspect nginx:alpine --format '{{.Id}}'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$file = (Resolve-Path .\site\index.html).Path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[IO.File]::ReadAllText($file)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$html.Replace('STATUS_OK: Layanan normal', 'INCIDENT-042: Pemeliharaan selesai')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$utf8 = New-Object System.Text.UTF8Encoding($false)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[IO.File]::WriteAllText($file, $html, $utf8)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$after = docker image inspect nginx:alpine --format '{{.Id}}'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-eq $after; curl.exe -fsS http://127.0.0.1:8088/</a:t>
            </a:r>
          </a:p>
          <a:p xmlns:a="http://schemas.openxmlformats.org/drawingml/2006/main">
            <a:pPr>
              <a:buNone/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937AA24-6DE2-438F-87E5-B0F32C72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E8F7045-E845-479C-A2F1-898983D5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415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Browser menampilkan INCIDENT-042: Pemeliharaan selesai. Image ID sebelum/sesudah sama (True); RW=false pada mount.</a:t>
            </a:r>
          </a:p>
        </p:txBody>
      </p:sp>
    </p:spTree>
    <p:extLst>
      <p:ext uri="{BB962C8B-B14F-4D97-AF65-F5344CB8AC3E}">
        <p14:creationId xmlns:p14="http://schemas.microsoft.com/office/powerpoint/2010/main" val="16922622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E11086F-740F-4117-B28B-34300385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E3F725D-C395-4C1B-B4DF-18D91231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D — konten berubah di web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6FF7AF9-C888-4BE2-ACE2-CA117913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Pesan Pemeliharaan selesai dan INCIDENT-042 muncul setelah refresh.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752D51-E478-4749-AE72-24A4FA9E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45ec04f5245af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d-caption">
            <a:extLst xmlns:a="http://schemas.openxmlformats.org/drawingml/2006/main">
              <a:ext uri="{FF2B5EF4-FFF2-40B4-BE49-F238E27FC236}">
                <a16:creationId xmlns:a16="http://schemas.microsoft.com/office/drawing/2014/main" id="{22994E5C-C729-4E75-9046-4C4347BB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Edit site/index.html lalu refresh: bind mount memasok file baru tanpa build image; inspect tetap RW=false.</a:t>
            </a:r>
          </a:p>
        </p:txBody>
      </p:sp>
    </p:spTree>
    <p:extLst>
      <p:ext uri="{BB962C8B-B14F-4D97-AF65-F5344CB8AC3E}">
        <p14:creationId xmlns:p14="http://schemas.microsoft.com/office/powerpoint/2010/main" val="28318237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956E91B3-4B5F-43DC-B11D-7DC78684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917271-689C-4AD3-8D13-19D89B2A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E — benturan port dan canary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BF9D7AB-E5F8-4654-9BFC-74A0A34D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lihat kegagalan terduga pada 8088, bersihkan, lalu jalankan canary 8089.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C4B7000-AB48-4683-922A-E919B941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  <p:sp>
        <p:nvSpPr>
          <p:cNvPr id="5" name="solution-e-background">
            <a:extLst xmlns:a="http://schemas.openxmlformats.org/drawingml/2006/main">
              <a:ext uri="{FF2B5EF4-FFF2-40B4-BE49-F238E27FC236}">
                <a16:creationId xmlns:a16="http://schemas.microsoft.com/office/drawing/2014/main" id="{2E566244-F5DC-45CA-BB93-85A761C4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e">
            <a:extLst xmlns:a="http://schemas.openxmlformats.org/drawingml/2006/main">
              <a:ext uri="{FF2B5EF4-FFF2-40B4-BE49-F238E27FC236}">
                <a16:creationId xmlns:a16="http://schemas.microsoft.com/office/drawing/2014/main" id="{076AC057-3786-47EF-B1B7-4D8BF22F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127.0.0.1:8088:80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127.0.0.1:8089:80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name=cloudlab-canary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http://127.0.0.1:8089/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7DC9F21-19C8-4BDD-90E3-CCCAFC4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22726FD-723A-4DF2-BD09-A5577613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728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pertama gagal karena 8088 dipakai cloudlab-site. Kedua URL mengembalikan HTTP 200 setelah canary pindah ke 8089.</a:t>
            </a:r>
          </a:p>
        </p:txBody>
      </p:sp>
    </p:spTree>
    <p:extLst>
      <p:ext uri="{BB962C8B-B14F-4D97-AF65-F5344CB8AC3E}">
        <p14:creationId xmlns:p14="http://schemas.microsoft.com/office/powerpoint/2010/main" val="19551106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3C8917A4-04D4-4864-81CA-AECFEE25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9312EA6-EE70-4F9F-8989-68A3DB86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port 8088 bentrok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8407DC2-6746-4BA6-AB97-646A4C6C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Host tidak dapat memakai 8088 untuk dua container sekaligus.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ACA5148-076B-4FC9-850B-486EAE0B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4c4a5086c4ef2"/>
          <a:stretch xmlns:a="http://schemas.openxmlformats.org/drawingml/2006/main"/>
        </p:blipFill>
        <p:spPr>
          <a:xfrm xmlns:a="http://schemas.openxmlformats.org/drawingml/2006/main">
            <a:off x="685800" y="2274492"/>
            <a:ext cx="10820400" cy="2909091"/>
          </a:xfrm>
          <a:prstGeom xmlns:a="http://schemas.openxmlformats.org/drawingml/2006/main" prst="rect">
            <a:avLst/>
          </a:prstGeom>
        </p:spPr>
      </p:pic>
      <p:sp>
        <p:nvSpPr>
          <p:cNvPr id="6" name="evidence-e-error-caption">
            <a:extLst xmlns:a="http://schemas.openxmlformats.org/drawingml/2006/main">
              <a:ext uri="{FF2B5EF4-FFF2-40B4-BE49-F238E27FC236}">
                <a16:creationId xmlns:a16="http://schemas.microsoft.com/office/drawing/2014/main" id="{4D5D5AE9-6426-40EB-ADB9-973D9679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coba cloudlab-canary pada 8088. Docker melaporkan port is already allocated.</a:t>
            </a:r>
          </a:p>
        </p:txBody>
      </p:sp>
    </p:spTree>
    <p:extLst>
      <p:ext uri="{BB962C8B-B14F-4D97-AF65-F5344CB8AC3E}">
        <p14:creationId xmlns:p14="http://schemas.microsoft.com/office/powerpoint/2010/main" val="203363564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11CD0C17-B45C-4E08-B57E-5175BFA0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3E791DF-8F61-4843-BDD7-A4ECC11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canary pulih di 8089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F960BC9-3AAF-4DF2-9044-FF87F5CA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Situs utama tetap 8088; kedua URL memberi HTTP 200.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98B8964-D490-4322-A4C4-16103359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a711a1b7bf4f6a"/>
          <a:stretch xmlns:a="http://schemas.openxmlformats.org/drawingml/2006/main"/>
        </p:blipFill>
        <p:spPr>
          <a:xfrm xmlns:a="http://schemas.openxmlformats.org/drawingml/2006/main">
            <a:off x="685800" y="2286318"/>
            <a:ext cx="10820400" cy="2885440"/>
          </a:xfrm>
          <a:prstGeom xmlns:a="http://schemas.openxmlformats.org/drawingml/2006/main" prst="rect">
            <a:avLst/>
          </a:prstGeom>
        </p:spPr>
      </p:pic>
      <p:sp>
        <p:nvSpPr>
          <p:cNvPr id="6" name="evidence-e-recovery-caption">
            <a:extLst xmlns:a="http://schemas.openxmlformats.org/drawingml/2006/main">
              <a:ext uri="{FF2B5EF4-FFF2-40B4-BE49-F238E27FC236}">
                <a16:creationId xmlns:a16="http://schemas.microsoft.com/office/drawing/2014/main" id="{5A63035C-E571-4837-9ED4-24C03438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rm -f membersihkan canary gagal; -p 8089:80 membuka port host baru. curl -I menguji kedua URL.</a:t>
            </a:r>
          </a:p>
        </p:txBody>
      </p:sp>
    </p:spTree>
    <p:extLst>
      <p:ext uri="{BB962C8B-B14F-4D97-AF65-F5344CB8AC3E}">
        <p14:creationId xmlns:p14="http://schemas.microsoft.com/office/powerpoint/2010/main" val="1322050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3731D2E-2C69-4AC3-AB9F-3F8B519D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80EE1D-10D1-4B5B-893F-1AB2438E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dua container di Docker Desktop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DE90F3D-5D5F-432B-8FCB-8E16164C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cloudlab-site memakai 8088:80 dan cloudlab-canary memakai 8089:80.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73D4723-869C-403F-919E-A1A37EB9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8a3f3cbe34fd9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-docker-caption">
            <a:extLst xmlns:a="http://schemas.openxmlformats.org/drawingml/2006/main">
              <a:ext uri="{FF2B5EF4-FFF2-40B4-BE49-F238E27FC236}">
                <a16:creationId xmlns:a16="http://schemas.microsoft.com/office/drawing/2014/main" id="{B63B644F-FFA7-487C-B41F-DC038D5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kedua container Up. Port host berbeda, port internal sama-sama 80.</a:t>
            </a:r>
          </a:p>
        </p:txBody>
      </p:sp>
    </p:spTree>
    <p:extLst>
      <p:ext uri="{BB962C8B-B14F-4D97-AF65-F5344CB8AC3E}">
        <p14:creationId xmlns:p14="http://schemas.microsoft.com/office/powerpoint/2010/main" val="3981823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76942C31-FD20-4735-B750-BB1C8E54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EF646E3-CBC6-4E18-8393-9A90DFC5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Kunci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B660657-1E7A-46C8-98BC-6608A6D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Lima cek yang harus dapat dijelaskan mahasiswa.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DC5EC11-9A1D-4ABE-BFB0-78569759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5" name="key-0">
            <a:extLst xmlns:a="http://schemas.openxmlformats.org/drawingml/2006/main">
              <a:ext uri="{FF2B5EF4-FFF2-40B4-BE49-F238E27FC236}">
                <a16:creationId xmlns:a16="http://schemas.microsoft.com/office/drawing/2014/main" id="{AFD98167-1DF3-4CB4-B1A5-36D7BA53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" name="key-desc-0">
            <a:extLst xmlns:a="http://schemas.openxmlformats.org/drawingml/2006/main">
              <a:ext uri="{FF2B5EF4-FFF2-40B4-BE49-F238E27FC236}">
                <a16:creationId xmlns:a16="http://schemas.microsoft.com/office/drawing/2014/main" id="{3A05B615-F2F8-4D28-97FA-1F4A90B1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145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nginx/python/node ada; tugas Python mencetak cloud.</a:t>
            </a:r>
          </a:p>
        </p:txBody>
      </p:sp>
      <p:sp>
        <p:nvSpPr>
          <p:cNvPr id="7" name="key-1">
            <a:extLst xmlns:a="http://schemas.openxmlformats.org/drawingml/2006/main">
              <a:ext uri="{FF2B5EF4-FFF2-40B4-BE49-F238E27FC236}">
                <a16:creationId xmlns:a16="http://schemas.microsoft.com/office/drawing/2014/main" id="{CC79B16E-4BF9-45AE-AA2F-9D45746E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8" name="key-desc-1">
            <a:extLst xmlns:a="http://schemas.openxmlformats.org/drawingml/2006/main">
              <a:ext uri="{FF2B5EF4-FFF2-40B4-BE49-F238E27FC236}">
                <a16:creationId xmlns:a16="http://schemas.microsoft.com/office/drawing/2014/main" id="{0935BCEC-A1B3-4B4D-A28A-71DB27AC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670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cloudlab-site Up; 127.0.0.1:8088→80/tcp; halaman terbuka.</a:t>
            </a:r>
          </a:p>
        </p:txBody>
      </p:sp>
      <p:sp>
        <p:nvSpPr>
          <p:cNvPr id="9" name="key-2">
            <a:extLst xmlns:a="http://schemas.openxmlformats.org/drawingml/2006/main">
              <a:ext uri="{FF2B5EF4-FFF2-40B4-BE49-F238E27FC236}">
                <a16:creationId xmlns:a16="http://schemas.microsoft.com/office/drawing/2014/main" id="{BAB0C71F-11E7-47C9-ADD2-1E5CA5B5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0" name="key-desc-2">
            <a:extLst xmlns:a="http://schemas.openxmlformats.org/drawingml/2006/main">
              <a:ext uri="{FF2B5EF4-FFF2-40B4-BE49-F238E27FC236}">
                <a16:creationId xmlns:a16="http://schemas.microsoft.com/office/drawing/2014/main" id="{0D3F4862-7FD0-40AC-B6DA-04CB868A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195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stop → Exited, start → Up, HTTP kembali 200.</a:t>
            </a:r>
          </a:p>
        </p:txBody>
      </p:sp>
      <p:sp>
        <p:nvSpPr>
          <p:cNvPr id="11" name="key-3">
            <a:extLst xmlns:a="http://schemas.openxmlformats.org/drawingml/2006/main">
              <a:ext uri="{FF2B5EF4-FFF2-40B4-BE49-F238E27FC236}">
                <a16:creationId xmlns:a16="http://schemas.microsoft.com/office/drawing/2014/main" id="{27D45644-EB59-4CE7-A80B-DEB2B766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2" name="key-desc-3">
            <a:extLst xmlns:a="http://schemas.openxmlformats.org/drawingml/2006/main">
              <a:ext uri="{FF2B5EF4-FFF2-40B4-BE49-F238E27FC236}">
                <a16:creationId xmlns:a16="http://schemas.microsoft.com/office/drawing/2014/main" id="{EB000E36-4757-4A31-A332-7837FB1F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7197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INCIDENT-042: Pemeliharaan selesai tampil; RW=false; image ID tetap.</a:t>
            </a:r>
          </a:p>
        </p:txBody>
      </p:sp>
      <p:sp>
        <p:nvSpPr>
          <p:cNvPr id="13" name="key-4">
            <a:extLst xmlns:a="http://schemas.openxmlformats.org/drawingml/2006/main">
              <a:ext uri="{FF2B5EF4-FFF2-40B4-BE49-F238E27FC236}">
                <a16:creationId xmlns:a16="http://schemas.microsoft.com/office/drawing/2014/main" id="{CFB3B75E-C50E-4645-8A27-D5C996A0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4" name="key-desc-4">
            <a:extLst xmlns:a="http://schemas.openxmlformats.org/drawingml/2006/main">
              <a:ext uri="{FF2B5EF4-FFF2-40B4-BE49-F238E27FC236}">
                <a16:creationId xmlns:a16="http://schemas.microsoft.com/office/drawing/2014/main" id="{1C952E78-A7E0-4AA8-89F3-F23DEA22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Benturan 8088 terdiagnosis; canary 8089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213405897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6C47621-4B84-4FCD-8342-960E86C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2E4F74C-17AC-494D-B43C-97F6529A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Verifikasi otomatis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D2925E2-4AA2-4206-A533-0BAA7C01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setelah hotfix tampil dan kedua container hidup.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049450E-147F-4C65-8065-8A8B428B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  <p:sp>
        <p:nvSpPr>
          <p:cNvPr id="5" name="challenge-test-background">
            <a:extLst xmlns:a="http://schemas.openxmlformats.org/drawingml/2006/main">
              <a:ext uri="{FF2B5EF4-FFF2-40B4-BE49-F238E27FC236}">
                <a16:creationId xmlns:a16="http://schemas.microsoft.com/office/drawing/2014/main" id="{9C960D48-0101-4FF8-B334-693E826A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challenge-test">
            <a:extLst xmlns:a="http://schemas.openxmlformats.org/drawingml/2006/main">
              <a:ext uri="{FF2B5EF4-FFF2-40B4-BE49-F238E27FC236}">
                <a16:creationId xmlns:a16="http://schemas.microsoft.com/office/drawing/2014/main" id="{8D47D78D-2016-476F-AE81-02CE92D4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103632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PowerShell</a:t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&amp; .\tests\challenge.ps1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Git Bash / WSL / Codespaces</a:t>
            </a:r>
          </a:p>
          <a:p xmlns:a="http://schemas.openxmlformats.org/drawingml/2006/main">
            <a:pPr>
              <a:buNone/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bash tests/challenge.sh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A98D46F-13F5-433F-B594-6B775A8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B55017FE-0912-469D-BDC5-D0D755B1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8204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Semua bagian A–E harus PASS. Jalankan baris Bash di terminal Bash, bukan PowerShell; simpan bukti stop/start dan benturan port.</a:t>
            </a:r>
          </a:p>
        </p:txBody>
      </p:sp>
    </p:spTree>
    <p:extLst>
      <p:ext uri="{BB962C8B-B14F-4D97-AF65-F5344CB8AC3E}">
        <p14:creationId xmlns:p14="http://schemas.microsoft.com/office/powerpoint/2010/main" val="4096340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4B33D071-D8A9-426D-99E7-3D85A2FD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4B6F24-9FE4-46FC-8244-CC565E11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A sampai C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E9EEEB9-A41A-49A3-A2CF-474ED764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awal output memeriksa image, port situs, dan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419A14E-F2F4-4E27-84BF-938D518D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e3fc78be34558"/>
          <a:stretch xmlns:a="http://schemas.openxmlformats.org/drawingml/2006/main"/>
        </p:blipFill>
        <p:spPr>
          <a:xfrm xmlns:a="http://schemas.openxmlformats.org/drawingml/2006/main">
            <a:off x="685800" y="1889570"/>
            <a:ext cx="10820400" cy="367893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top-caption">
            <a:extLst xmlns:a="http://schemas.openxmlformats.org/drawingml/2006/main">
              <a:ext uri="{FF2B5EF4-FFF2-40B4-BE49-F238E27FC236}">
                <a16:creationId xmlns:a16="http://schemas.microsoft.com/office/drawing/2014/main" id="{C26555A8-35C5-491B-81F0-BEDEFC42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 PowerShell: &amp; .\tests\challenge.ps1. Cek PASS bagian A, B, dan C.</a:t>
            </a:r>
          </a:p>
        </p:txBody>
      </p:sp>
    </p:spTree>
    <p:extLst>
      <p:ext uri="{BB962C8B-B14F-4D97-AF65-F5344CB8AC3E}">
        <p14:creationId xmlns:p14="http://schemas.microsoft.com/office/powerpoint/2010/main" val="40676351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AB038A4-485E-4E1A-8EA7-A1349746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FF576F-51DB-4D3D-BA37-0B58A7B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D dan E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A20D18-3AFC-49C5-BDA1-9BC721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bawah output menegaskan 14 PASS, 0 FAIL.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6C0AC1E-CE3B-48DA-BD1F-EB4120B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730fdad4147bb"/>
          <a:stretch xmlns:a="http://schemas.openxmlformats.org/drawingml/2006/main"/>
        </p:blipFill>
        <p:spPr>
          <a:xfrm xmlns:a="http://schemas.openxmlformats.org/drawingml/2006/main">
            <a:off x="685800" y="2019414"/>
            <a:ext cx="10820400" cy="341924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bottom-caption">
            <a:extLst xmlns:a="http://schemas.openxmlformats.org/drawingml/2006/main">
              <a:ext uri="{FF2B5EF4-FFF2-40B4-BE49-F238E27FC236}">
                <a16:creationId xmlns:a16="http://schemas.microsoft.com/office/drawing/2014/main" id="{D4371BEE-53D1-466B-AF5C-123D697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&amp; .\tests\challenge.ps1 membaca web dan port; PASS D/E membuktikan hotfix dan canary, total 14 PASS.</a:t>
            </a:r>
          </a:p>
        </p:txBody>
      </p:sp>
    </p:spTree>
    <p:extLst>
      <p:ext uri="{BB962C8B-B14F-4D97-AF65-F5344CB8AC3E}">
        <p14:creationId xmlns:p14="http://schemas.microsoft.com/office/powerpoint/2010/main" val="17970377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E1EA4F-A692-4B6B-BBF6-7199C490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BB07285-736A-4493-AD08-AFE548D3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Bash/WSL/Codespaces: perintah terminal Bash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B5EBBC8-AC14-4821-9806-BC915CEA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Buka terminal Bash dulu; jangan jalankan baris ini dari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984AC5-EB48-4E8E-8F56-E50CD090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  <p:sp>
        <p:nvSpPr>
          <p:cNvPr id="5" name="bash-alternative-background">
            <a:extLst xmlns:a="http://schemas.openxmlformats.org/drawingml/2006/main">
              <a:ext uri="{FF2B5EF4-FFF2-40B4-BE49-F238E27FC236}">
                <a16:creationId xmlns:a16="http://schemas.microsoft.com/office/drawing/2014/main" id="{63C3598B-8714-4B09-9732-FBB43B74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bash-alternative">
            <a:extLst xmlns:a="http://schemas.openxmlformats.org/drawingml/2006/main">
              <a:ext uri="{FF2B5EF4-FFF2-40B4-BE49-F238E27FC236}">
                <a16:creationId xmlns:a16="http://schemas.microsoft.com/office/drawing/2014/main" id="{E65CD182-2EE6-4EE3-96DC-2465A28C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site_dir="$(pwd)/site"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mount="type=bind,source=$site_dir,target=/usr/share/nginx/html,readonly"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"$mount" nginx:alpine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 -I http://127.0.0.1:8088/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sed -i 's/STATUS_OK: Layanan normal/INCIDENT-042: Pemeliharaan selesai/'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E4C261E2-33BA-4F29-80C1-FBE943E1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Catatan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52069FBA-6BED-463D-AFF2-D35DCBE5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Bash memakai $(pwd); PowerShell memakai Join-Path untuk bind mount. Pilih satu terminal dan gunakan blok yang sesuai.</a:t>
            </a:r>
          </a:p>
        </p:txBody>
      </p:sp>
    </p:spTree>
    <p:extLst>
      <p:ext uri="{BB962C8B-B14F-4D97-AF65-F5344CB8AC3E}">
        <p14:creationId xmlns:p14="http://schemas.microsoft.com/office/powerpoint/2010/main" val="20601981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09260BD-AB8F-4734-B4EA-EE5383E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2056AB-BE6C-4A2A-855E-135E4A8A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Diagnosis cepat saat demo macet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7EB962C-9135-47E7-BC0E-E21386E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Periksa state dan pemetaan port sebelum mengubah kode.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AA1B1C3-22E3-4D28-970B-72E2A3C3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5" name="diag-1">
            <a:extLst xmlns:a="http://schemas.openxmlformats.org/drawingml/2006/main">
              <a:ext uri="{FF2B5EF4-FFF2-40B4-BE49-F238E27FC236}">
                <a16:creationId xmlns:a16="http://schemas.microsoft.com/office/drawing/2014/main" id="{866E179F-3FC5-44E7-97ED-623CBD24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Docker daemon belum terhubung</a:t>
            </a:r>
          </a:p>
        </p:txBody>
      </p:sp>
      <p:sp>
        <p:nvSpPr>
          <p:cNvPr id="6" name="diag-1b">
            <a:extLst xmlns:a="http://schemas.openxmlformats.org/drawingml/2006/main">
              <a:ext uri="{FF2B5EF4-FFF2-40B4-BE49-F238E27FC236}">
                <a16:creationId xmlns:a16="http://schemas.microsoft.com/office/drawing/2014/main" id="{C7B52E86-C0FA-42CA-B81C-CE7C62CB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Buka Docker Desktop/Engine; ulangi docker version.</a:t>
            </a:r>
          </a:p>
        </p:txBody>
      </p:sp>
      <p:sp>
        <p:nvSpPr>
          <p:cNvPr id="7" name="diag-2">
            <a:extLst xmlns:a="http://schemas.openxmlformats.org/drawingml/2006/main">
              <a:ext uri="{FF2B5EF4-FFF2-40B4-BE49-F238E27FC236}">
                <a16:creationId xmlns:a16="http://schemas.microsoft.com/office/drawing/2014/main" id="{98A97757-5BE8-4002-A18E-F4BC51FF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8088 sudah dipakai</a:t>
            </a:r>
          </a:p>
        </p:txBody>
      </p:sp>
      <p:sp>
        <p:nvSpPr>
          <p:cNvPr id="8" name="diag-2b">
            <a:extLst xmlns:a="http://schemas.openxmlformats.org/drawingml/2006/main">
              <a:ext uri="{FF2B5EF4-FFF2-40B4-BE49-F238E27FC236}">
                <a16:creationId xmlns:a16="http://schemas.microsoft.com/office/drawing/2014/main" id="{8CFF0FD0-9DFF-474B-98FB-B42A688F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docker ps --format "table {{.Names}}\t{{.Ports}}"; hentikan hanya container latihan.</a:t>
            </a:r>
          </a:p>
        </p:txBody>
      </p:sp>
      <p:sp>
        <p:nvSpPr>
          <p:cNvPr id="9" name="diag-3">
            <a:extLst xmlns:a="http://schemas.openxmlformats.org/drawingml/2006/main">
              <a:ext uri="{FF2B5EF4-FFF2-40B4-BE49-F238E27FC236}">
                <a16:creationId xmlns:a16="http://schemas.microsoft.com/office/drawing/2014/main" id="{0578FF98-FB54-48CA-92A0-D673DA54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Halaman belum berubah</a:t>
            </a:r>
          </a:p>
        </p:txBody>
      </p:sp>
      <p:sp>
        <p:nvSpPr>
          <p:cNvPr id="10" name="diag-3b">
            <a:extLst xmlns:a="http://schemas.openxmlformats.org/drawingml/2006/main">
              <a:ext uri="{FF2B5EF4-FFF2-40B4-BE49-F238E27FC236}">
                <a16:creationId xmlns:a16="http://schemas.microsoft.com/office/drawing/2014/main" id="{3DD8B612-FE5C-4DC2-8EF3-B85B95CA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Periksa site/index.html, mount Source, lalu refresh browser.</a:t>
            </a:r>
          </a:p>
        </p:txBody>
      </p:sp>
    </p:spTree>
    <p:extLst>
      <p:ext uri="{BB962C8B-B14F-4D97-AF65-F5344CB8AC3E}">
        <p14:creationId xmlns:p14="http://schemas.microsoft.com/office/powerpoint/2010/main" val="11981464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19CB7919-5467-4A1D-8A6F-DE207F42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814455-C365-4DA9-AE91-67B79B8F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Bukti, cleanup, dan Git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AF6A2F7-21A4-4049-9CAB-5313C045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Simpan hasil sendiri di repo mahasiswa; hapus hanya dua container latihan.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27026AE-9840-4D0B-8F05-8F8D4D38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  <p:sp>
        <p:nvSpPr>
          <p:cNvPr id="5" name="finish-background">
            <a:extLst xmlns:a="http://schemas.openxmlformats.org/drawingml/2006/main">
              <a:ext uri="{FF2B5EF4-FFF2-40B4-BE49-F238E27FC236}">
                <a16:creationId xmlns:a16="http://schemas.microsoft.com/office/drawing/2014/main" id="{852FB561-222F-4784-A521-2603FD47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10820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nish">
            <a:extLst xmlns:a="http://schemas.openxmlformats.org/drawingml/2006/main">
              <a:ext uri="{FF2B5EF4-FFF2-40B4-BE49-F238E27FC236}">
                <a16:creationId xmlns:a16="http://schemas.microsoft.com/office/drawing/2014/main" id="{293DBA52-0C34-47D3-9E92-209B72E5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0363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status --short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add site/index.html hasil/lab04.md hasil/bukti/lab04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--check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--name-only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commit -m "lab04: pulihkan situs dan dokumentasikan insiden"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push</a:t>
            </a:r>
          </a:p>
          <a:p xmlns:a="http://schemas.openxmlformats.org/drawingml/2006/main">
            <a:pPr>
              <a:buNone/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 cloudlab-site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4BEB97A-A155-4F61-9BF6-77321217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7F429B55-D3D5-486C-B611-7DDE67CE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376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Catat gejala, diagnosis, perintah pemulihan, HTTP 200, pesan INCIDENT-042, serta hasil A–E. Screenshot modul adalah contoh; bukti mahasiswa berasal dari run mereka sendiri.</a:t>
            </a:r>
          </a:p>
        </p:txBody>
      </p:sp>
    </p:spTree>
    <p:extLst>
      <p:ext uri="{BB962C8B-B14F-4D97-AF65-F5344CB8AC3E}">
        <p14:creationId xmlns:p14="http://schemas.microsoft.com/office/powerpoint/2010/main" val="666701363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AB038A4-485E-4E1A-8EA7-A1349746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FF576F-51DB-4D3D-BA37-0B58A7B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Git: commit dan modul tersedia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A20D18-3AFC-49C5-BDA1-9BC721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Setelah git push, buka repo pribadi dan periksa commit pada branch main.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6C0AC1E-CE3B-48DA-BD1F-EB4120B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34</a:t>
            </a:r>
          </a:p>
        </p:txBody>
      </p:sp>
      <p:sp>
        <p:nvSpPr>
          <p:cNvPr id="6" name="evidence-final-test-bottom-caption">
            <a:extLst xmlns:a="http://schemas.openxmlformats.org/drawingml/2006/main">
              <a:ext uri="{FF2B5EF4-FFF2-40B4-BE49-F238E27FC236}">
                <a16:creationId xmlns:a16="http://schemas.microsoft.com/office/drawing/2014/main" id="{D4371BEE-53D1-466B-AF5C-123D697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Buka halaman repo, lihat branch main dan commit terbaru. Template dosen hanya contoh lokasi pemeriksaan.</a:t>
            </a:r>
          </a:p>
        </p:txBody>
      </p:sp>
      <p:pic>
        <p:nvPicPr>
          <p:cNvPr id="16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366157c784b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2011680"/>
            <a:ext cx="7498079" cy="3624958"/>
          </a:xfrm>
          <a:prstGeom xmlns:a="http://schemas.openxmlformats.org/drawingml/2006/main" prst="rect">
            <a:avLst/>
          </a:prstGeom>
        </p:spPr>
      </p:pic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20D216-EEA0-477F-9B79-2422F55C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057400"/>
            <a:ext cx="3063240" cy="3383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70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t>Perintah: git push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Fungsi: mengirim commit dan laporan ke origin.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Cara kerja: Git memperbarui branch main di GitHub.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t>Baca hasil: pesan commit, modul, dan file hasil muncul.</a:t>
            </a:r>
          </a:p>
        </p:txBody>
      </p:sp>
    </p:spTree>
    <p:extLst>
      <p:ext uri="{BB962C8B-B14F-4D97-AF65-F5344CB8AC3E}">
        <p14:creationId xmlns:p14="http://schemas.microsoft.com/office/powerpoint/2010/main" val="12624021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2026-10-07T17:18:18.1820000Z</dcterms:created>
  <dcterms:modified xsi:type="dcterms:W3CDTF">2026-10-07T17:18:18.1820000Z</dcterms:modified>
</coreProperties>
</file>