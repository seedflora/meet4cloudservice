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02b885f7b29408e" /><Relationship Type="http://schemas.openxmlformats.org/officeDocument/2006/relationships/extended-properties" Target="/docProps/app.xml" Id="R57a6e88afe36405d" /><Relationship Type="http://schemas.openxmlformats.org/officeDocument/2006/relationships/officeDocument" Target="/ppt/presentation.xml" Id="Rc04e8b31f67b46db" /></Relationships>
</file>

<file path=ppt/presentation.xml><?xml version="1.0" encoding="utf-8"?>
<p:presentation xmlns:p="http://schemas.openxmlformats.org/presentationml/2006/main">
  <p:sldMasterIdLst>
    <p:sldMasterId xmlns:r="http://schemas.openxmlformats.org/officeDocument/2006/relationships" id="2147483648" r:id="R841481101690417d"/>
  </p:sldMasterIdLst>
  <p:notesMasterIdLst>
    <p:notesMasterId xmlns:r="http://schemas.openxmlformats.org/officeDocument/2006/relationships" r:id="Rd549c5bbf1f44420"/>
  </p:notesMasterIdLst>
  <p:sldIdLst>
    <p:sldId xmlns:r="http://schemas.openxmlformats.org/officeDocument/2006/relationships" id="256" r:id="R294361b8a7d4410c"/>
    <p:sldId xmlns:r="http://schemas.openxmlformats.org/officeDocument/2006/relationships" id="257" r:id="Rbef279dbff024930"/>
    <p:sldId xmlns:r="http://schemas.openxmlformats.org/officeDocument/2006/relationships" id="258" r:id="Rc3c37be649984ad2"/>
    <p:sldId xmlns:r="http://schemas.openxmlformats.org/officeDocument/2006/relationships" id="259" r:id="R1a192e3af2654d12"/>
    <p:sldId xmlns:r="http://schemas.openxmlformats.org/officeDocument/2006/relationships" id="260" r:id="Rf31f12c720b64687"/>
    <p:sldId xmlns:r="http://schemas.openxmlformats.org/officeDocument/2006/relationships" id="261" r:id="R7141d6046dbb40be"/>
    <p:sldId xmlns:r="http://schemas.openxmlformats.org/officeDocument/2006/relationships" id="262" r:id="Rbe8ae69e447942c2"/>
    <p:sldId xmlns:r="http://schemas.openxmlformats.org/officeDocument/2006/relationships" id="263" r:id="R84b125ab9e6e47f3"/>
    <p:sldId xmlns:r="http://schemas.openxmlformats.org/officeDocument/2006/relationships" id="264" r:id="R04524f36ab274167"/>
    <p:sldId xmlns:r="http://schemas.openxmlformats.org/officeDocument/2006/relationships" id="265" r:id="Ra578324f2fd54dca"/>
    <p:sldId xmlns:r="http://schemas.openxmlformats.org/officeDocument/2006/relationships" id="266" r:id="Rb9ef1b2678b44df3"/>
    <p:sldId xmlns:r="http://schemas.openxmlformats.org/officeDocument/2006/relationships" id="267" r:id="Rc8b1d9e1462d430c"/>
    <p:sldId xmlns:r="http://schemas.openxmlformats.org/officeDocument/2006/relationships" id="268" r:id="R068d14b0e02d4103"/>
    <p:sldId xmlns:r="http://schemas.openxmlformats.org/officeDocument/2006/relationships" id="269" r:id="R7cc4deb21eef4fdf"/>
    <p:sldId xmlns:r="http://schemas.openxmlformats.org/officeDocument/2006/relationships" id="270" r:id="R0feaa2c0ff304304"/>
    <p:sldId xmlns:r="http://schemas.openxmlformats.org/officeDocument/2006/relationships" id="271" r:id="R62859ad571374c19"/>
    <p:sldId xmlns:r="http://schemas.openxmlformats.org/officeDocument/2006/relationships" id="272" r:id="R94aadbd38a5743a7"/>
    <p:sldId xmlns:r="http://schemas.openxmlformats.org/officeDocument/2006/relationships" id="273" r:id="R75072010ba8c4f20"/>
    <p:sldId xmlns:r="http://schemas.openxmlformats.org/officeDocument/2006/relationships" id="274" r:id="R8a78205ed77f43e0"/>
    <p:sldId xmlns:r="http://schemas.openxmlformats.org/officeDocument/2006/relationships" id="275" r:id="Re5577abafba54035"/>
    <p:sldId xmlns:r="http://schemas.openxmlformats.org/officeDocument/2006/relationships" id="276" r:id="R267022a02eb24469"/>
    <p:sldId xmlns:r="http://schemas.openxmlformats.org/officeDocument/2006/relationships" id="277" r:id="R2e50166267534efe"/>
    <p:sldId xmlns:r="http://schemas.openxmlformats.org/officeDocument/2006/relationships" id="278" r:id="Re3804226eef147d2"/>
    <p:sldId xmlns:r="http://schemas.openxmlformats.org/officeDocument/2006/relationships" id="279" r:id="R51e0d18b818940ae"/>
    <p:sldId xmlns:r="http://schemas.openxmlformats.org/officeDocument/2006/relationships" id="280" r:id="Rdc00ff46dd5f40f5"/>
    <p:sldId xmlns:r="http://schemas.openxmlformats.org/officeDocument/2006/relationships" id="281" r:id="R5ef8309349a34ce4"/>
    <p:sldId xmlns:r="http://schemas.openxmlformats.org/officeDocument/2006/relationships" id="282" r:id="Rd570ce61bdaf4b5f"/>
    <p:sldId xmlns:r="http://schemas.openxmlformats.org/officeDocument/2006/relationships" id="283" r:id="R130adcd345334b17"/>
    <p:sldId xmlns:r="http://schemas.openxmlformats.org/officeDocument/2006/relationships" id="284" r:id="R5aa86db3fafa4df0"/>
    <p:sldId xmlns:r="http://schemas.openxmlformats.org/officeDocument/2006/relationships" id="285" r:id="Ra3478d9fee5f4c7e"/>
    <p:sldId xmlns:r="http://schemas.openxmlformats.org/officeDocument/2006/relationships" id="286" r:id="R5fda8426905d44ca"/>
    <p:sldId xmlns:r="http://schemas.openxmlformats.org/officeDocument/2006/relationships" id="287" r:id="Rba69db4006e84546"/>
    <p:sldId xmlns:r="http://schemas.openxmlformats.org/officeDocument/2006/relationships" id="288" r:id="R9ba4c07a637549e0"/>
    <p:sldId xmlns:r="http://schemas.openxmlformats.org/officeDocument/2006/relationships" id="289" r:id="R8ce64448e3c34b72"/>
    <p:sldId xmlns:r="http://schemas.openxmlformats.org/officeDocument/2006/relationships" id="290" r:id="Rf78fe91477ff4c13"/>
    <p:sldId xmlns:r="http://schemas.openxmlformats.org/officeDocument/2006/relationships" id="291" r:id="R4904ef9cdd47441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6aceb34fb924400" /><Relationship Type="http://schemas.openxmlformats.org/officeDocument/2006/relationships/slideMaster" Target="/ppt/slideMasters/slideMaster1.xml" Id="R841481101690417d" /><Relationship Type="http://schemas.openxmlformats.org/officeDocument/2006/relationships/notesMaster" Target="/ppt/notesMasters/notesMaster1.xml" Id="Rd549c5bbf1f44420" /><Relationship Type="http://schemas.openxmlformats.org/officeDocument/2006/relationships/presProps" Target="/ppt/presProps.xml" Id="Rbfef7fe78cc444ff" /><Relationship Type="http://schemas.openxmlformats.org/officeDocument/2006/relationships/tableStyles" Target="/ppt/tableStyles.xml" Id="R1349a629a4cb4d85" /><Relationship Type="http://schemas.openxmlformats.org/officeDocument/2006/relationships/slide" Target="/ppt/slides/slide1.xml" Id="R294361b8a7d4410c" /><Relationship Type="http://schemas.openxmlformats.org/officeDocument/2006/relationships/slide" Target="/ppt/slides/slide2.xml" Id="Rbef279dbff024930" /><Relationship Type="http://schemas.openxmlformats.org/officeDocument/2006/relationships/slide" Target="/ppt/slides/slide3.xml" Id="Rc3c37be649984ad2" /><Relationship Type="http://schemas.openxmlformats.org/officeDocument/2006/relationships/slide" Target="/ppt/slides/slide4.xml" Id="R1a192e3af2654d12" /><Relationship Type="http://schemas.openxmlformats.org/officeDocument/2006/relationships/slide" Target="/ppt/slides/slide5.xml" Id="Rf31f12c720b64687" /><Relationship Type="http://schemas.openxmlformats.org/officeDocument/2006/relationships/slide" Target="/ppt/slides/slide6.xml" Id="R7141d6046dbb40be" /><Relationship Type="http://schemas.openxmlformats.org/officeDocument/2006/relationships/slide" Target="/ppt/slides/slide7.xml" Id="Rbe8ae69e447942c2" /><Relationship Type="http://schemas.openxmlformats.org/officeDocument/2006/relationships/slide" Target="/ppt/slides/slide8.xml" Id="R84b125ab9e6e47f3" /><Relationship Type="http://schemas.openxmlformats.org/officeDocument/2006/relationships/slide" Target="/ppt/slides/slide9.xml" Id="R04524f36ab274167" /><Relationship Type="http://schemas.openxmlformats.org/officeDocument/2006/relationships/slide" Target="/ppt/slides/slide10.xml" Id="Ra578324f2fd54dca" /><Relationship Type="http://schemas.openxmlformats.org/officeDocument/2006/relationships/slide" Target="/ppt/slides/slide11.xml" Id="Rb9ef1b2678b44df3" /><Relationship Type="http://schemas.openxmlformats.org/officeDocument/2006/relationships/slide" Target="/ppt/slides/slide12.xml" Id="Rc8b1d9e1462d430c" /><Relationship Type="http://schemas.openxmlformats.org/officeDocument/2006/relationships/slide" Target="/ppt/slides/slide13.xml" Id="R068d14b0e02d4103" /><Relationship Type="http://schemas.openxmlformats.org/officeDocument/2006/relationships/slide" Target="/ppt/slides/slide14.xml" Id="R7cc4deb21eef4fdf" /><Relationship Type="http://schemas.openxmlformats.org/officeDocument/2006/relationships/slide" Target="/ppt/slides/slide15.xml" Id="R0feaa2c0ff304304" /><Relationship Type="http://schemas.openxmlformats.org/officeDocument/2006/relationships/slide" Target="/ppt/slides/slide16.xml" Id="R62859ad571374c19" /><Relationship Type="http://schemas.openxmlformats.org/officeDocument/2006/relationships/slide" Target="/ppt/slides/slide17.xml" Id="R94aadbd38a5743a7" /><Relationship Type="http://schemas.openxmlformats.org/officeDocument/2006/relationships/slide" Target="/ppt/slides/slide18.xml" Id="R75072010ba8c4f20" /><Relationship Type="http://schemas.openxmlformats.org/officeDocument/2006/relationships/slide" Target="/ppt/slides/slide19.xml" Id="R8a78205ed77f43e0" /><Relationship Type="http://schemas.openxmlformats.org/officeDocument/2006/relationships/slide" Target="/ppt/slides/slide20.xml" Id="Re5577abafba54035" /><Relationship Type="http://schemas.openxmlformats.org/officeDocument/2006/relationships/slide" Target="/ppt/slides/slide21.xml" Id="R267022a02eb24469" /><Relationship Type="http://schemas.openxmlformats.org/officeDocument/2006/relationships/slide" Target="/ppt/slides/slide22.xml" Id="R2e50166267534efe" /><Relationship Type="http://schemas.openxmlformats.org/officeDocument/2006/relationships/slide" Target="/ppt/slides/slide23.xml" Id="Re3804226eef147d2" /><Relationship Type="http://schemas.openxmlformats.org/officeDocument/2006/relationships/slide" Target="/ppt/slides/slide24.xml" Id="R51e0d18b818940ae" /><Relationship Type="http://schemas.openxmlformats.org/officeDocument/2006/relationships/slide" Target="/ppt/slides/slide25.xml" Id="Rdc00ff46dd5f40f5" /><Relationship Type="http://schemas.openxmlformats.org/officeDocument/2006/relationships/slide" Target="/ppt/slides/slide26.xml" Id="R5ef8309349a34ce4" /><Relationship Type="http://schemas.openxmlformats.org/officeDocument/2006/relationships/slide" Target="/ppt/slides/slide27.xml" Id="Rd570ce61bdaf4b5f" /><Relationship Type="http://schemas.openxmlformats.org/officeDocument/2006/relationships/slide" Target="/ppt/slides/slide28.xml" Id="R130adcd345334b17" /><Relationship Type="http://schemas.openxmlformats.org/officeDocument/2006/relationships/slide" Target="/ppt/slides/slide29.xml" Id="R5aa86db3fafa4df0" /><Relationship Type="http://schemas.openxmlformats.org/officeDocument/2006/relationships/slide" Target="/ppt/slides/slide30.xml" Id="Ra3478d9fee5f4c7e" /><Relationship Type="http://schemas.openxmlformats.org/officeDocument/2006/relationships/slide" Target="/ppt/slides/slide31.xml" Id="R5fda8426905d44ca" /><Relationship Type="http://schemas.openxmlformats.org/officeDocument/2006/relationships/slide" Target="/ppt/slides/slide32.xml" Id="Rba69db4006e84546" /><Relationship Type="http://schemas.openxmlformats.org/officeDocument/2006/relationships/slide" Target="/ppt/slides/slide33.xml" Id="R9ba4c07a637549e0" /><Relationship Type="http://schemas.openxmlformats.org/officeDocument/2006/relationships/slide" Target="/ppt/slides/slide34.xml" Id="R8ce64448e3c34b72" /><Relationship Type="http://schemas.openxmlformats.org/officeDocument/2006/relationships/slide" Target="/ppt/slides/slide35.xml" Id="Rf78fe91477ff4c13" /><Relationship Type="http://schemas.openxmlformats.org/officeDocument/2006/relationships/slide" Target="/ppt/slides/slide36.xml" Id="R4904ef9cdd47441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4ceda32aabd40e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0c46e9dcd1047e1" /><Relationship Type="http://schemas.openxmlformats.org/officeDocument/2006/relationships/notesMaster" Target="/ppt/notesMasters/notesMaster1.xml" Id="Rddc5ad8129a44500" /></Relationships>
</file>

<file path=ppt/notesSlides/_rels/notesSlide2.xml.rels>&#65279;<?xml version="1.0" encoding="utf-8"?><Relationships xmlns="http://schemas.openxmlformats.org/package/2006/relationships"><Relationship Type="http://schemas.openxmlformats.org/officeDocument/2006/relationships/slide" Target="/ppt/slides/slide2.xml" Id="Rbd8c908ac62945f2" /><Relationship Type="http://schemas.openxmlformats.org/officeDocument/2006/relationships/notesMaster" Target="/ppt/notesMasters/notesMaster1.xml" Id="Rbeaa84036e624cd3" /></Relationships>
</file>

<file path=ppt/notesSlides/_rels/notesSlide3.xml.rels>&#65279;<?xml version="1.0" encoding="utf-8"?><Relationships xmlns="http://schemas.openxmlformats.org/package/2006/relationships"><Relationship Type="http://schemas.openxmlformats.org/officeDocument/2006/relationships/slide" Target="/ppt/slides/slide3.xml" Id="R9da97ef1ddfb4b9c" /><Relationship Type="http://schemas.openxmlformats.org/officeDocument/2006/relationships/notesMaster" Target="/ppt/notesMasters/notesMaster1.xml" Id="R818bc0db9e0a475a" /></Relationships>
</file>

<file path=ppt/notesSlides/_rels/notesSlide4.xml.rels>&#65279;<?xml version="1.0" encoding="utf-8"?><Relationships xmlns="http://schemas.openxmlformats.org/package/2006/relationships"><Relationship Type="http://schemas.openxmlformats.org/officeDocument/2006/relationships/slide" Target="/ppt/slides/slide4.xml" Id="R47dc022303424103" /><Relationship Type="http://schemas.openxmlformats.org/officeDocument/2006/relationships/notesMaster" Target="/ppt/notesMasters/notesMaster1.xml" Id="Rff5706550f6c449a" /></Relationships>
</file>

<file path=ppt/notesSlides/_rels/notesSlide5.xml.rels>&#65279;<?xml version="1.0" encoding="utf-8"?><Relationships xmlns="http://schemas.openxmlformats.org/package/2006/relationships"><Relationship Type="http://schemas.openxmlformats.org/officeDocument/2006/relationships/slide" Target="/ppt/slides/slide5.xml" Id="R65351428168140cd" /><Relationship Type="http://schemas.openxmlformats.org/officeDocument/2006/relationships/notesMaster" Target="/ppt/notesMasters/notesMaster1.xml" Id="R8ac5e47370114ae4" /></Relationships>
</file>

<file path=ppt/notesSlides/_rels/notesSlide6.xml.rels>&#65279;<?xml version="1.0" encoding="utf-8"?><Relationships xmlns="http://schemas.openxmlformats.org/package/2006/relationships"><Relationship Type="http://schemas.openxmlformats.org/officeDocument/2006/relationships/slide" Target="/ppt/slides/slide6.xml" Id="R9c3d3ef4ae2a48e0" /><Relationship Type="http://schemas.openxmlformats.org/officeDocument/2006/relationships/notesMaster" Target="/ppt/notesMasters/notesMaster1.xml" Id="R21032614e44b4ba8" /></Relationships>
</file>

<file path=ppt/notesSlides/_rels/notesSlide7.xml.rels>&#65279;<?xml version="1.0" encoding="utf-8"?><Relationships xmlns="http://schemas.openxmlformats.org/package/2006/relationships"><Relationship Type="http://schemas.openxmlformats.org/officeDocument/2006/relationships/slide" Target="/ppt/slides/slide7.xml" Id="Rccafac3d97ae4640" /><Relationship Type="http://schemas.openxmlformats.org/officeDocument/2006/relationships/notesMaster" Target="/ppt/notesMasters/notesMaster1.xml" Id="R9aedd1e14ab84465" /></Relationships>
</file>

<file path=ppt/notesSlides/_rels/notesSlide8.xml.rels>&#65279;<?xml version="1.0" encoding="utf-8"?><Relationships xmlns="http://schemas.openxmlformats.org/package/2006/relationships"><Relationship Type="http://schemas.openxmlformats.org/officeDocument/2006/relationships/slide" Target="/ppt/slides/slide8.xml" Id="Re41292658e914235" /><Relationship Type="http://schemas.openxmlformats.org/officeDocument/2006/relationships/notesMaster" Target="/ppt/notesMasters/notesMaster1.xml" Id="R72badf2cc0044cd4" /></Relationships>
</file>

<file path=ppt/notesSlides/_rels/notesSlide9.xml.rels>&#65279;<?xml version="1.0" encoding="utf-8"?><Relationships xmlns="http://schemas.openxmlformats.org/package/2006/relationships"><Relationship Type="http://schemas.openxmlformats.org/officeDocument/2006/relationships/slide" Target="/ppt/slides/slide9.xml" Id="R3d1d6a6d22a546d8" /><Relationship Type="http://schemas.openxmlformats.org/officeDocument/2006/relationships/notesMaster" Target="/ppt/notesMasters/notesMaster1.xml" Id="R85e674cddfb444f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f66f1fcf0534b3d" /><Relationship Type="http://schemas.openxmlformats.org/officeDocument/2006/relationships/notesMaster" Target="/ppt/notesMasters/notesMaster1.xml" Id="R2b468e345b30439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9a879e384e24daa" /><Relationship Type="http://schemas.openxmlformats.org/officeDocument/2006/relationships/notesMaster" Target="/ppt/notesMasters/notesMaster1.xml" Id="R36843bab73f04d5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b85490cbd88416f" /><Relationship Type="http://schemas.openxmlformats.org/officeDocument/2006/relationships/notesMaster" Target="/ppt/notesMasters/notesMaster1.xml" Id="R33b2facc6e5c47b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905d0f9f11b408d" /><Relationship Type="http://schemas.openxmlformats.org/officeDocument/2006/relationships/notesMaster" Target="/ppt/notesMasters/notesMaster1.xml" Id="Rcbe866917f5e407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1544b62c70d4d4b" /><Relationship Type="http://schemas.openxmlformats.org/officeDocument/2006/relationships/notesMaster" Target="/ppt/notesMasters/notesMaster1.xml" Id="Ra90ed45991df455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0efae322f5b4e0d" /><Relationship Type="http://schemas.openxmlformats.org/officeDocument/2006/relationships/notesMaster" Target="/ppt/notesMasters/notesMaster1.xml" Id="R1e88b64ed37e42b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41b93e1e2964863" /><Relationship Type="http://schemas.openxmlformats.org/officeDocument/2006/relationships/notesMaster" Target="/ppt/notesMasters/notesMaster1.xml" Id="R1d875b00d555484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fa137849efa4d85" /><Relationship Type="http://schemas.openxmlformats.org/officeDocument/2006/relationships/notesMaster" Target="/ppt/notesMasters/notesMaster1.xml" Id="Rfe5b28b3b46f4b0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f99c1955ae545a4" /><Relationship Type="http://schemas.openxmlformats.org/officeDocument/2006/relationships/notesMaster" Target="/ppt/notesMasters/notesMaster1.xml" Id="Rb495ace762e54cb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bae8fd80b984e14" /><Relationship Type="http://schemas.openxmlformats.org/officeDocument/2006/relationships/notesMaster" Target="/ppt/notesMasters/notesMaster1.xml" Id="R377beaade6d54ba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5d65855aacc414e" /><Relationship Type="http://schemas.openxmlformats.org/officeDocument/2006/relationships/notesMaster" Target="/ppt/notesMasters/notesMaster1.xml" Id="R15e5be0bb7ec4fa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ac7cf0519c24358" /><Relationship Type="http://schemas.openxmlformats.org/officeDocument/2006/relationships/notesMaster" Target="/ppt/notesMasters/notesMaster1.xml" Id="Rbbc0cc6d81c445c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c444d906876411e" /><Relationship Type="http://schemas.openxmlformats.org/officeDocument/2006/relationships/notesMaster" Target="/ppt/notesMasters/notesMaster1.xml" Id="Rb50be7eb9b574fa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afb7d030f7d4641" /><Relationship Type="http://schemas.openxmlformats.org/officeDocument/2006/relationships/notesMaster" Target="/ppt/notesMasters/notesMaster1.xml" Id="R87845a4e6fb84eb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12e2777b24943e8" /><Relationship Type="http://schemas.openxmlformats.org/officeDocument/2006/relationships/notesMaster" Target="/ppt/notesMasters/notesMaster1.xml" Id="R7256324a8c2b4df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9c55e1c0af74f06" /><Relationship Type="http://schemas.openxmlformats.org/officeDocument/2006/relationships/notesMaster" Target="/ppt/notesMasters/notesMaster1.xml" Id="R155e6fee7ebb466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48819cc4a32a43e3" /><Relationship Type="http://schemas.openxmlformats.org/officeDocument/2006/relationships/notesMaster" Target="/ppt/notesMasters/notesMaster1.xml" Id="Rbda5e537f8e64cc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8936bfcec5a4aa0" /><Relationship Type="http://schemas.openxmlformats.org/officeDocument/2006/relationships/notesMaster" Target="/ppt/notesMasters/notesMaster1.xml" Id="Rcae26672fc2d4b4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b0e3a60fad442e2" /><Relationship Type="http://schemas.openxmlformats.org/officeDocument/2006/relationships/notesMaster" Target="/ppt/notesMasters/notesMaster1.xml" Id="Rf2b7b47589f6494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cb955ef402b4ecc" /><Relationship Type="http://schemas.openxmlformats.org/officeDocument/2006/relationships/notesMaster" Target="/ppt/notesMasters/notesMaster1.xml" Id="R5e407c280e1549b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2ad2e4a4e81447d" /><Relationship Type="http://schemas.openxmlformats.org/officeDocument/2006/relationships/notesMaster" Target="/ppt/notesMasters/notesMaster1.xml" Id="R8d9d546949f04ed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3342465e63544ee" /><Relationship Type="http://schemas.openxmlformats.org/officeDocument/2006/relationships/notesMaster" Target="/ppt/notesMasters/notesMaster1.xml" Id="R590fd32de3c740d1"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bf120cbf63ef4cb2" /><Relationship Type="http://schemas.openxmlformats.org/officeDocument/2006/relationships/notesMaster" Target="/ppt/notesMasters/notesMaster1.xml" Id="Ra42dfd56d612415a"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636a2ecd3f9e45e0" /><Relationship Type="http://schemas.openxmlformats.org/officeDocument/2006/relationships/notesMaster" Target="/ppt/notesMasters/notesMaster1.xml" Id="R44c10ff3d99d417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916d17890c04295" /><Relationship Type="http://schemas.openxmlformats.org/officeDocument/2006/relationships/notesMaster" Target="/ppt/notesMasters/notesMaster1.xml" Id="R5fd2f6b7fd714fe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2d893e712d84891" /><Relationship Type="http://schemas.openxmlformats.org/officeDocument/2006/relationships/notesMaster" Target="/ppt/notesMasters/notesMaster1.xml" Id="R1c4f3464e61b4cce"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00bb0f6f71204015" /><Relationship Type="http://schemas.openxmlformats.org/officeDocument/2006/relationships/notesMaster" Target="/ppt/notesMasters/notesMaster1.xml" Id="R79f29c37c9ac440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Sesi 04 RPS COMP6991031: VM/hypervisor, container vs VM, namespaces/cgroups, arsitektur Docker, lifecycle image dan container. Kasus operasional dirancang untuk latihan harian; bukan insiden produksi nyata.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Semua perintah dijalankan pada mesin lokal dengan Docker Desktop/Engine. Perbandingan VM bersifat konseptual. Jangan menyebut layanan ini sebagai production deployment.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RPS Lab 04: membandingkan VM dan container, namespaces/cgroups, serta siklus image ke container. Hindari klaim ukuran/boot time universal karena bergantung konfigurasi.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Ini adalah pemetaan langsung materi arsitektur Docker pada sesi 04 RPS ke perintah yang akan digunakan. Docker Desktop menggunakan daemon Linux dalam lingkungan yang disiapkan untuk host Windows.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Jika Server tidak muncul, jalankan Docker Desktop/Engine. Jika Test-Path False, pindah ke root repo Lab 04. Perintah docker ps memperlihatkan container yang sudah berjalan dan port yang terpakai.</a:t>
            </a:r>
          </a:p>
          <a:p xmlns:a="http://schemas.openxmlformats.org/drawingml/2006/main">
            <a:r>
              <a:t/>
            </a:r>
          </a:p>
          <a:p xmlns:a="http://schemas.openxmlformats.org/drawingml/2006/main">
            <a:r>
              <a:t>Path dan mount: Tempel path folder clone yang sebenarnya, tanpa tanda kutip karena Read-Host menerima string. Folder boleh berada pada drive mana pun dan mengandung spasi. Resolve-Path menormalkan path yang ada. $repoRoot dipakai kembali untuk hotfix dan checker pada sesi PowerShell yang sama. Root repo memuat site/index.html, tests, dan scripts. Jika sudah berada pada root repo, jawaban dapat berupa titik. Jika sedang di folder induk repo bernama meet4CloudService, jawaban dapat berupa .\meet4CloudService. Nama folder tersebut contoh clone default, bukan syarat lokasi. Stop bila validasi file False atau Engine tidak tersedia. https://learn.microsoft.com/en-us/powershell/module/microsoft.powershell.management/resolve-path?view=powershell-7.5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Bukti gambar: screenshots/01_docker_engine.jpg. Tampilan Docker Desktop: indikator Engine running. Cek versi client/server melalui docker version di terminal.. Gambar diambil saat uji lokal; jika berupa output terminal, formatnya dapat ditata agar terbaca. Potongan gambar di slide tidak mengubah data sumber.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Jalankan perintah dari PowerShell atau Bash. Untuk perbedaan image dan container, tunjukkan docker image ls dan docker ps -a. Jangan pakai ukuran image sebagai angka tetap karena tag dapat berubah.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Bukti gambar: screenshots/02_images_env.png. Perintah: docker image ls nginx/python/node. Perhatikan tag dan ukuran pada mesin saat uji.. Gambar diambil saat uji lokal; jika berupa output terminal, formatnya dapat ditata agar terbaca. Potongan gambar di slide tidak mengubah data sumber.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Bukti gambar: screenshots/02_images_env.png. Perintah: docker run --rm -e CLASS_SECTION=cloud ... . Output akhir: cloud.. Gambar diambil saat uji lokal; jika berupa output terminal, formatnya dapat ditata agar terbaca. Potongan gambar di slide tidak mengubah data sumber.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Port 8088 harus kosong. Jika curl alias bermasalah di Windows PowerShell, gunakan curl.exe seperti modul. Buka juga URL yang sama di Chrome untuk melihat halaman Nginx bawaan.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Bukti gambar: screenshots/03_nginx_running.jpg. Tampilan Containers: cloudlab-nginx Up dan 8088:80. Konfirmasi HTTP dengan curl.exe -I.. Gambar diambil saat uji lokal; jika berupa output terminal, formatnya dapat ditata agar terbaca. Potongan gambar di slide tidak mengubah data sumber.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Urutan terakhir stop lalu rm sengaja membebaskan 8088 sebelum memulai cloudlab-site.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Bukti gambar: screenshots/04_lifecycle.png. Perintah: docker stop, docker ps -a, docker start, docker ps. Status berubah; image sama.. Gambar diambil saat uji lokal; jika berupa output terminal, formatnya dapat ditata agar terbaca. Potongan gambar di slide tidak mengubah data sumber.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Jalankan dari root repo Lab 04 yang berisi site/index.html. --mount readonly melarang Nginx menulis ke host, tetapi pemilik host tetap dapat mengedit berkas. Output HTTP yang diharapkan: 200.</a:t>
            </a:r>
          </a:p>
          <a:p xmlns:a="http://schemas.openxmlformats.org/drawingml/2006/main">
            <a:r>
              <a:t/>
            </a:r>
          </a:p>
          <a:p xmlns:a="http://schemas.openxmlformats.org/drawingml/2006/main">
            <a:r>
              <a:t>Path dan mount: Manual ini memvalidasi index.html sebelum membuat container, menyelesaikan site menjadi absolute path, menginisialisasi mount, mencetaknya, dan memakai --mount "$mount" dalam satu blok PowerShell. Jangan menyalin command run saja ke sesi baru tanpa inisialisasi. Scope blok mencegah pemakaian mount lama setelah blok selesai. cloudlab-nginx harus sudah dihentikan/dihapus pada latihan lifecycle sebelum port8088 dipakai situs kasus. Jika cloudlab-site sudah ada, jangan menjalankan run lagi secara buta. Pilih helper -Repair pada slide berikut setelah membaca ruang lingkupnya. --mount biasanya menolak source yang tidak ada, sedangkan -v dapat membuat direktori kosong. Source yang ada tetapi kosong dapat menutupi berkas default Nginx. https://docs.docker.com/engine/storage/bind-mounts/ https://docs.docker.com/reference/cli/docker/container/run/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Tanpa opsi repair, helper menolak konflik nama/port. -Repair atau --repair membuat ulang container situs latihan yang tepat dengan image Nginx dikenali. Helper dapat membersihkan legacy cloudlab-nginx hanya ketika memakai port yang dipilih sesuai validasi implementasi. Container unrelated atau image berbeda tidak boleh dihapus. Source repo dihitung dari lokasi script, sehingga cwd pemanggil dapat root, folderinduk, atau lokasi lain bila script dipanggil dengan absolute quoted path. Folder meet4CloudService adalah contoh nama hasilclone default. Ganti bagian namafolder bila clone berbeda. Windows gunakan baris PowerShell, Bash gunakan baris Bash. Helper menguji HTTP dan mount, tidak mengerjakan challengeA/C/D/E. Helper tidak mengubah cwd terminalpemanggil sehingga gunakan $repoRoot darisetup untuk kembali ke rootsebelummanualhotfix/Git. https://docs.docker.com/engine/storage/bind-mounts/ https://learn.microsoft.com/en-us/powershell/module/microsoft.powershell.core/about/about_automatic_variables?view=powershell-7.5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Chrome dari halaman laporan runtime. Panel kiri menata log command aktual yang direkam setelah bash helper --repair pada repo publik aktif, docker inspect Source/Target/RW, dan curl.exe -I HTTP200. Panel kanan memuat iframe layanan web yang sedang berjalan di127.0.0.1:8088 dengan STATUS_OK. Tampilan slide memotong area laporan yang berisi command, mount, HTTP, dan halaman live agar terbaca. JPEG lengkap tetap tersedia di screenshots/mount/01_path_and_mount.jpg. Path dalam screenshot adalah snapshot lingkungan pengajar, bukan lokasi wajib pada komputer mahasiswa. Source cocok dengan folder site dari repo, target /usr/share/nginx/html, RW=false, dan HTTP200. Helper menentukan path dari script dan tidak mengubah terminal pemanggil. Materi tetap latihan formatif dan proyek3orangminggu7/14. https://docs.docker.com/engine/storage/bind-mounts/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Bukti gambar: screenshots/05_site_awal.jpg. Perintah: docker run cloudlab-site dengan --mount readonly. Browser menampilkan STATUS_OK: Layanan normal.. Gambar diambil saat uji lokal; jika berupa output terminal, formatnya dapat ditata agar terbaca. Potongan gambar di slide tidak mengubah data sumber.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Bukti gambar: screenshots/06_docker_site.jpg. Tampilan Containers: cloudlab-site Up dan 8088:80. Jalankan docker inspect untuk memastikan RW=false.. Gambar diambil saat uji lokal; jika berupa output terminal, formatnya dapat ditata agar terbaca. Potongan gambar di slide tidak mengubah data sumber.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Latihan insiden: minta mahasiswa mencatat waktu, gejala, status, tindakan, dan bukti hasil. docker logs dapat tidak menampilkan error pada penghentian manual; status Exited tetap bukti utama.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Bukti gambar: screenshots/07_outage_browser.jpg. Tampilan web: ERR_CONNECTION_REFUSED di 127.0.0.1:8088. Lanjutkan diagnosis dengan docker ps -a.. Gambar diambil saat uji lokal; jika berupa output terminal, formatnya dapat ditata agar terbaca. Potongan gambar di slide tidak mengubah data sumber.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Bukti gambar: screenshots/07_outage_docker.jpg. Tampilan Containers: cloudlab-site berhenti. Jalankan docker ps -a dan docker logs sebelum start.. Gambar diambil saat uji lokal; jika berupa output terminal, formatnya dapat ditata agar terbaca. Potongan gambar di slide tidak mengubah data sumber.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Bukti gambar: screenshots/07_outage_recovery.png. Perintah: docker stop, curl gagal, docker ps -a, docker start, curl HTTP 200.. Gambar diambil saat uji lokal; jika berupa output terminal, formatnya dapat ditata agar terbaca. Potongan gambar di slide tidak mengubah data sumber.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Kode mengikuti modul mahasiswa dan mempertahankan isi HTML lain. UTF-8 tanpa BOM dipilih agar respons HTTP bersih. readonly membatasi akses tulis dari container, bukan dari host.</a:t>
            </a:r>
          </a:p>
          <a:p xmlns:a="http://schemas.openxmlformats.org/drawingml/2006/main">
            <a:r>
              <a:t/>
            </a:r>
          </a:p>
          <a:p xmlns:a="http://schemas.openxmlformats.org/drawingml/2006/main">
            <a:r>
              <a:t>Path dan mount: $repoRoot berasal dari setup preflight pada sesi PowerShell yang sama dan berisi path repo aktual. Jika membuka terminal baru, ulangi setup. Resolve-Path -LiteralPath menghentikan langkah bila index.html tidak ada. Bandingkan file yang diedit dengan Source mount cloudlab-site. Helper menentukan repo dari folder script dan tidak mengubah cwd/variabel terminal pemanggil. https://learn.microsoft.com/en-us/powershell/module/microsoft.powershell.management/resolve-path?view=powershell-7.5 https://docs.docker.com/engine/storage/bind-mounts/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Bukti gambar: screenshots/08_site_hotfix.jpg. Perintah: edit site/index.html, lalu refresh 127.0.0.1:8088. Image ID tetap; RW=false.. Gambar diambil saat uji lokal; jika berupa output terminal, formatnya dapat ditata agar terbaca. Potongan gambar di slide tidak mengubah data sumber.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Bila percobaan pertama tidak menyisakan container, docker rm -f boleh menampilkan No such container. Port internal 80 dapat sama karena setiap container memiliki namespace jaringan sendiri.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Bukti gambar: screenshots/09_port_canary.png. Perintah: coba cloudlab-canary pada 8088. Docker melaporkan port is already allocated.. Gambar diambil saat uji lokal; jika berupa output terminal, formatnya dapat ditata agar terbaca. Potongan gambar di slide tidak mengubah data sumber.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Bukti gambar: screenshots/09_port_canary.png. Perintah: docker rm -f cloudlab-canary, lalu run pada 8089. Uji curl 8088 dan 8089.. Gambar diambil saat uji lokal; jika berupa output terminal, formatnya dapat ditata agar terbaca. Potongan gambar di slide tidak mengubah data sumber.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Bukti gambar: screenshots/09_docker_two.jpg. Tampilan Containers: kedua container Up. Port host berbeda, port internal sama-sama 80.. Gambar diambil saat uji lokal; jika berupa output terminal, formatnya dapat ditata agar terbaca. Potongan gambar di slide tidak mengubah data sumber.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Gunakan ini sebagai kunci cepat presentasi. Detail perintah dan alasan terdapat pada slide tantangan masing-masing dan pada modul mahasiswa.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Tes tidak memperbaiki konfigurasi. Perintah bash tests/challenge.sh harus dijalankan di Git Bash/WSL/Codespaces, bukan dari PowerShell: di laptop ini bash yang dipanggil PowerShell diarahkan ke WSL yang bermasalah. PowerShell memakai &amp; .\tests\challenge.ps1.</a:t>
            </a:r>
          </a:p>
          <a:p xmlns:a="http://schemas.openxmlformats.org/drawingml/2006/main">
            <a:r>
              <a:t/>
            </a:r>
          </a:p>
          <a:p xmlns:a="http://schemas.openxmlformats.org/drawingml/2006/main">
            <a:r>
              <a:t>Path dan mount: Checker PowerShell menggunakan $PSScriptRoot, sedangkan Bash menyelesaikan lokasi BASH_SOURCE. Perhitungan expected site mengikuti folder script. Pemanggil tetap harus menunjuk file checker yang ada: root-relative, parent-relative, atau absolute quoted path. Helper startup tidak mengerjakan challengeA/C/D/E otomatis. Tanpa hotfix/canary, bagian terkait memang FAIL. Tidak ada penyerahan/nilai lab tersendiri. https://learn.microsoft.com/en-us/powershell/module/microsoft.powershell.core/about/about_automatic_variables?view=powershell-7.5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Bukti gambar: screenshots/10_challenge_pass.png. Perintah PowerShell: &amp; .\tests\challenge.ps1. Cek PASS bagian A, B, dan C.. Gambar diambil saat uji lokal; jika berupa output terminal, formatnya dapat ditata agar terbaca. Potongan gambar di slide tidak mengubah data sumber.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Bukti gambar: screenshots/10_challenge_pass.png. Lihat PASS D/E dan ringkasan Challenge: 14 PASS, 0 FAIL.. Gambar diambil saat uji lokal; jika berupa output terminal, formatnya dapat ditata agar terbaca. Potongan gambar di slide tidak mengubah data sumber.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 Bash/WSL yang terintegrasi Docker Desktop, path host harus dapat diakses oleh daemon. Semua langkah challenge lain menggunakan Docker CLI yang sama.</a:t>
            </a:r>
          </a:p>
          <a:p xmlns:a="http://schemas.openxmlformats.org/drawingml/2006/main">
            <a:r>
              <a:t/>
            </a:r>
          </a:p>
          <a:p xmlns:a="http://schemas.openxmlformats.org/drawingml/2006/main">
            <a:r>
              <a:t>Path dan mount: Pilih satu jalur startup situs kasus: manual PowerShell atau helper. Helper Bash memakai foldernya sendiri untuk repo root, termasuk path berspasi dan konversi Windows/GitBash/WSL yang disediakan implementasi. Blok subshell menghentikan hotfix bila index.html hilang tanpa menutup terminal pemanggil. --repair hanya untuk container latihan Nginx yang dikenali. Jika helper gagal, baca error dan hentikan alur sebelum melanjutkan hotfix. Checker dijalankan setelah seluruh A-E, bukan sesudah startup saja. HTTP di terminal cloud memakai127.0.0.1:8088, browser laptop memakai forwardedURL Ports. https://docs.docker.com/engine/storage/bind-mounts/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Jika port masih gagal, cek proses host di luar Docker dengan netstat/Get-NetTCPConnection. Jangan jalankan docker system prune atau hapus volume secara massal untuk tugas ini.</a:t>
            </a:r>
          </a:p>
          <a:p xmlns:a="http://schemas.openxmlformats.org/drawingml/2006/main">
            <a:r>
              <a:t/>
            </a:r>
          </a:p>
          <a:p xmlns:a="http://schemas.openxmlformats.org/drawingml/2006/main">
            <a:r>
              <a:t>Path dan mount: HTTP403/404 adalah respons dari server, berbeda dari connectionrefused saat server berhenti. Mount salah atau index hilang adalah salah satu kemungkinan, bukan diagnosis universal. Periksa docker inspect cloudlab-site --format "{{json .Mounts}}", docker logs --tail10 cloudlab-site, dan docker exec cloudlab-site ls -l /usr/share/nginx/html/index.html. Jangan membuat folder site kosong hanya untuk lolos --mount. Validasi file clone asli lalu recreate via helper -Repair atau --repair. https://docs.docker.com/engine/storage/bind-mounts/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Sebelum git add, salin hasil/TEMPLATE_LAPORAN.md menjadi hasil/lab04.md dan buat hasil/bukti/lab04 berisi screenshot pribadi. Jangan stage token, .env, atau output docker info lengkap. Push image Docker tidak diperlukan untuk Lab 04.</a:t>
            </a:r>
          </a:p>
          <a:p xmlns:a="http://schemas.openxmlformats.org/drawingml/2006/main">
            <a:r>
              <a:t/>
            </a:r>
          </a:p>
          <a:p xmlns:a="http://schemas.openxmlformats.org/drawingml/2006/main">
            <a:r>
              <a:t>Path dan mount: Jalankan command Git setelah berpindah ke $repoRoot dari setup. Pastikan origin milik pribadi/kelompok yang memang akan menerima bukti. Clone repo pengajar tidak mengharuskan push. File hasil/lab04.md dan folder hasil/bukti/lab04 adalah contoh opsional yang dibuat terlebih dahulu dan ditinjau sebelum stage. Git push tidak mencadangkan data runtime Docker. Kebijakan proyek tetap kelompok3, checkpointUTSweek7 danUASweek14. Tidak menambahkan tugas perlab.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b7de283233b462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3bd9922b04d49d5" /><Relationship Type="http://schemas.openxmlformats.org/officeDocument/2006/relationships/slideLayout" Target="/ppt/slideLayouts/slideLayout1.xml" Id="R684c6b92019045a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84c6b92019045a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1ae7567ba2c4291" /><Relationship Type="http://schemas.openxmlformats.org/officeDocument/2006/relationships/notesSlide" Target="/ppt/notesSlides/notesSlide1.xml" Id="R7885011897e04df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13eba14e82347b1" /><Relationship Type="http://schemas.openxmlformats.org/officeDocument/2006/relationships/notesSlide" Target="/ppt/notesSlides/notesSlide2.xml" Id="R4aaf0fad0ec643a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14b416dcab740aa" /><Relationship Type="http://schemas.openxmlformats.org/officeDocument/2006/relationships/notesSlide" Target="/ppt/notesSlides/notesSlide3.xml" Id="R6e9f84fb32df4f2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423324446f7474e" /><Relationship Type="http://schemas.openxmlformats.org/officeDocument/2006/relationships/notesSlide" Target="/ppt/notesSlides/notesSlide4.xml" Id="R13d4980d5e09471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d05fbcc4253449d" /><Relationship Type="http://schemas.openxmlformats.org/officeDocument/2006/relationships/notesSlide" Target="/ppt/notesSlides/notesSlide5.xml" Id="R3d08146e7fc7432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a0130c7a6de4742" /><Relationship Type="http://schemas.openxmlformats.org/officeDocument/2006/relationships/image" Target="/ppt/media/image.jpeg" Id="R1f26bd560ecd4cd6" /><Relationship Type="http://schemas.openxmlformats.org/officeDocument/2006/relationships/notesSlide" Target="/ppt/notesSlides/notesSlide6.xml" Id="R396263e8ef8d487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816c617e3094e8f" /><Relationship Type="http://schemas.openxmlformats.org/officeDocument/2006/relationships/notesSlide" Target="/ppt/notesSlides/notesSlide7.xml" Id="R31394b74ef90400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d2f5253dcb84f22" /><Relationship Type="http://schemas.openxmlformats.org/officeDocument/2006/relationships/image" Target="/ppt/media/image.png" Id="R3d0cb470773e4b49" /><Relationship Type="http://schemas.openxmlformats.org/officeDocument/2006/relationships/notesSlide" Target="/ppt/notesSlides/notesSlide8.xml" Id="Rb8599be26de24f6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661e6e764174b18" /><Relationship Type="http://schemas.openxmlformats.org/officeDocument/2006/relationships/image" Target="/ppt/media/image2.png" Id="R33a20f6f8d784ea6" /><Relationship Type="http://schemas.openxmlformats.org/officeDocument/2006/relationships/notesSlide" Target="/ppt/notesSlides/notesSlide9.xml" Id="R4e6d194b88214d2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a5170783c1d43de" /><Relationship Type="http://schemas.openxmlformats.org/officeDocument/2006/relationships/notesSlide" Target="/ppt/notesSlides/notesSlide10.xml" Id="R99688b7f749a4e8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4e808c61537407e" /><Relationship Type="http://schemas.openxmlformats.org/officeDocument/2006/relationships/image" Target="/ppt/media/image2.jpeg" Id="R008f14c75b8a4c4d" /><Relationship Type="http://schemas.openxmlformats.org/officeDocument/2006/relationships/notesSlide" Target="/ppt/notesSlides/notesSlide11.xml" Id="Rd22d84dafd4a488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1a4e3d0c059478a" /><Relationship Type="http://schemas.openxmlformats.org/officeDocument/2006/relationships/notesSlide" Target="/ppt/notesSlides/notesSlide12.xml" Id="Re8a6dc02b08546a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5013e25089e4067" /><Relationship Type="http://schemas.openxmlformats.org/officeDocument/2006/relationships/image" Target="/ppt/media/image3.png" Id="Rd0693e852abd4165" /><Relationship Type="http://schemas.openxmlformats.org/officeDocument/2006/relationships/notesSlide" Target="/ppt/notesSlides/notesSlide13.xml" Id="Rc20123d3d51a44d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7532b1badc5430e" /><Relationship Type="http://schemas.openxmlformats.org/officeDocument/2006/relationships/notesSlide" Target="/ppt/notesSlides/notesSlide14.xml" Id="Rbac4559b1dc84c6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84775d8167b4115" /><Relationship Type="http://schemas.openxmlformats.org/officeDocument/2006/relationships/notesSlide" Target="/ppt/notesSlides/notesSlide15.xml" Id="R659e6a924912408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454cde4d11a4171" /><Relationship Type="http://schemas.openxmlformats.org/officeDocument/2006/relationships/image" Target="/ppt/media/image3.jpeg" Id="Ra57ec8af5c6e4c04" /><Relationship Type="http://schemas.openxmlformats.org/officeDocument/2006/relationships/notesSlide" Target="/ppt/notesSlides/notesSlide16.xml" Id="R45d6ffe45f96472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59f792009b94589" /><Relationship Type="http://schemas.openxmlformats.org/officeDocument/2006/relationships/image" Target="/ppt/media/image4.jpeg" Id="R27e26a2893d44c8d" /><Relationship Type="http://schemas.openxmlformats.org/officeDocument/2006/relationships/notesSlide" Target="/ppt/notesSlides/notesSlide17.xml" Id="R8c70cd63b9ce4c2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42553d769fc455d" /><Relationship Type="http://schemas.openxmlformats.org/officeDocument/2006/relationships/image" Target="/ppt/media/image5.jpeg" Id="Re26e4d3999c248d7" /><Relationship Type="http://schemas.openxmlformats.org/officeDocument/2006/relationships/notesSlide" Target="/ppt/notesSlides/notesSlide18.xml" Id="R212eeb6df852413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2eb1c87b160a4ee5" /><Relationship Type="http://schemas.openxmlformats.org/officeDocument/2006/relationships/notesSlide" Target="/ppt/notesSlides/notesSlide19.xml" Id="R24b2c6d40e84429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8efd1497b0c4fe0" /><Relationship Type="http://schemas.openxmlformats.org/officeDocument/2006/relationships/image" Target="/ppt/media/image6.jpeg" Id="Rd1a18242fa764e85" /><Relationship Type="http://schemas.openxmlformats.org/officeDocument/2006/relationships/notesSlide" Target="/ppt/notesSlides/notesSlide20.xml" Id="Rd35492ac728a438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f9c049721794f80" /><Relationship Type="http://schemas.openxmlformats.org/officeDocument/2006/relationships/image" Target="/ppt/media/image7.jpeg" Id="Rb05b6645916541a9" /><Relationship Type="http://schemas.openxmlformats.org/officeDocument/2006/relationships/notesSlide" Target="/ppt/notesSlides/notesSlide21.xml" Id="R988a2b4f455a48d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a95e774f3a664736" /><Relationship Type="http://schemas.openxmlformats.org/officeDocument/2006/relationships/image" Target="/ppt/media/image4.png" Id="R786a5cf42f4148bc" /><Relationship Type="http://schemas.openxmlformats.org/officeDocument/2006/relationships/notesSlide" Target="/ppt/notesSlides/notesSlide22.xml" Id="R73136b57eef9462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6432bd5cd714697" /><Relationship Type="http://schemas.openxmlformats.org/officeDocument/2006/relationships/notesSlide" Target="/ppt/notesSlides/notesSlide23.xml" Id="Rfbb40fbcb9954d4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cd8a59649a1941e6" /><Relationship Type="http://schemas.openxmlformats.org/officeDocument/2006/relationships/image" Target="/ppt/media/image8.jpeg" Id="Rfd8359a211754054" /><Relationship Type="http://schemas.openxmlformats.org/officeDocument/2006/relationships/notesSlide" Target="/ppt/notesSlides/notesSlide24.xml" Id="R7905df705b6b429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bc79a2b08d8d4a5d" /><Relationship Type="http://schemas.openxmlformats.org/officeDocument/2006/relationships/notesSlide" Target="/ppt/notesSlides/notesSlide25.xml" Id="R259bd9235b3e449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bb3997631bf54720" /><Relationship Type="http://schemas.openxmlformats.org/officeDocument/2006/relationships/image" Target="/ppt/media/image5.png" Id="Rdee043246e5e4d6f" /><Relationship Type="http://schemas.openxmlformats.org/officeDocument/2006/relationships/notesSlide" Target="/ppt/notesSlides/notesSlide26.xml" Id="Ra971ad6ba02648c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025949b515d04e90" /><Relationship Type="http://schemas.openxmlformats.org/officeDocument/2006/relationships/image" Target="/ppt/media/image6.png" Id="R450277223c25403c" /><Relationship Type="http://schemas.openxmlformats.org/officeDocument/2006/relationships/notesSlide" Target="/ppt/notesSlides/notesSlide27.xml" Id="R12224f7639b740b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95aea95ca3bb4e2a" /><Relationship Type="http://schemas.openxmlformats.org/officeDocument/2006/relationships/image" Target="/ppt/media/image9.jpeg" Id="R38949238c4c346b1" /><Relationship Type="http://schemas.openxmlformats.org/officeDocument/2006/relationships/notesSlide" Target="/ppt/notesSlides/notesSlide28.xml" Id="Re26fd1b68c86495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8b6ae1cd0c31432f" /><Relationship Type="http://schemas.openxmlformats.org/officeDocument/2006/relationships/notesSlide" Target="/ppt/notesSlides/notesSlide29.xml" Id="Ra16db5044537497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353bf7ae12894a69" /><Relationship Type="http://schemas.openxmlformats.org/officeDocument/2006/relationships/notesSlide" Target="/ppt/notesSlides/notesSlide30.xml" Id="Rb446eb8ab56346e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de8e0b908f4d4a86" /><Relationship Type="http://schemas.openxmlformats.org/officeDocument/2006/relationships/image" Target="/ppt/media/image7.png" Id="R2fa16a7702b548ae" /><Relationship Type="http://schemas.openxmlformats.org/officeDocument/2006/relationships/notesSlide" Target="/ppt/notesSlides/notesSlide31.xml" Id="Rd08e67dc7bc842bd"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9134a63400754328" /><Relationship Type="http://schemas.openxmlformats.org/officeDocument/2006/relationships/image" Target="/ppt/media/image8.png" Id="Rf69a2ada12014b34" /><Relationship Type="http://schemas.openxmlformats.org/officeDocument/2006/relationships/notesSlide" Target="/ppt/notesSlides/notesSlide32.xml" Id="R6e9d9aaa7101424e"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dd256359a3e449fc" /><Relationship Type="http://schemas.openxmlformats.org/officeDocument/2006/relationships/notesSlide" Target="/ppt/notesSlides/notesSlide33.xml" Id="R91348cfde40c4776"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874e7bd788d84fe1" /><Relationship Type="http://schemas.openxmlformats.org/officeDocument/2006/relationships/notesSlide" Target="/ppt/notesSlides/notesSlide34.xml" Id="R3868704b5c904361"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6a8cad9c5a0f4397" /><Relationship Type="http://schemas.openxmlformats.org/officeDocument/2006/relationships/notesSlide" Target="/ppt/notesSlides/notesSlide35.xml" Id="Rfda2f672745e4fc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833ac26b532648c0" /><Relationship Type="http://schemas.openxmlformats.org/officeDocument/2006/relationships/image" Target="/ppt/media/image10.jpeg" Id="R4bb26366c8074b0a" /><Relationship Type="http://schemas.openxmlformats.org/officeDocument/2006/relationships/notesSlide" Target="/ppt/notesSlides/notesSlide36.xml" Id="R042fc747eaa74705" /></Relationships>
</file>

<file path=ppt/slides/slide1.xml><?xml version="1.0" encoding="utf-8"?>
<p:sld xmlns:p="http://schemas.openxmlformats.org/presentationml/2006/main">
  <p:cSld>
    <p:bg>
      <p:bgPr>
        <a:solidFill xmlns:a="http://schemas.openxmlformats.org/drawingml/2006/main">
          <a:srgbClr val="002677"/>
        </a:solidFill>
      </p:bgPr>
    </p:bg>
    <p:spTree>
      <p:nvGrpSpPr>
        <p:cNvPr id="1" name=""/>
        <p:cNvGrpSpPr/>
        <p:nvPr/>
      </p:nvGrpSpPr>
      <p:grpSpPr>
        <a:xfrm xmlns:a="http://schemas.openxmlformats.org/drawingml/2006/main"/>
      </p:grpSpPr>
      <p:sp>
        <p:nvSpPr>
          <p:cNvPr id="5" name="cover-lab">
            <a:extLst xmlns:a="http://schemas.openxmlformats.org/drawingml/2006/main">
              <a:ext uri="{FF2B5EF4-FFF2-40B4-BE49-F238E27FC236}">
                <a16:creationId xmlns:a16="http://schemas.microsoft.com/office/drawing/2014/main" id="{DC70F4A5-D5FC-4A23-9FEF-D48AB5C52204}"/>
              </a:ext>
            </a:extLst>
          </p:cNvPr>
          <p:cNvSpPr>
            <a:spLocks xmlns:a="http://schemas.openxmlformats.org/drawingml/2006/main" noGrp="1"/>
          </p:cNvSpPr>
          <p:nvPr/>
        </p:nvSpPr>
        <p:spPr>
          <a:xfrm xmlns:a="http://schemas.openxmlformats.org/drawingml/2006/main">
            <a:off x="742950" y="971550"/>
            <a:ext cx="9810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2100" b="1">
                <a:solidFill>
                  <a:srgbClr val="F37021"/>
                </a:solidFill>
                <a:latin typeface="Calibri"/>
                <a:ea typeface="Calibri"/>
                <a:cs typeface="Calibri"/>
              </a:defRPr>
            </a:pPr>
            <a:r>
              <a:rPr sz="2100" b="1">
                <a:solidFill>
                  <a:srgbClr val="F37021"/>
                </a:solidFill>
                <a:latin typeface="Calibri"/>
                <a:ea typeface="Calibri"/>
                <a:cs typeface="Calibri"/>
              </a:rPr>
              <a:t>LAB 04</a:t>
            </a:r>
          </a:p>
        </p:txBody>
      </p:sp>
      <p:sp>
        <p:nvSpPr>
          <p:cNvPr id="2" name="cover-title">
            <a:extLst xmlns:a="http://schemas.openxmlformats.org/drawingml/2006/main">
              <a:ext uri="{FF2B5EF4-FFF2-40B4-BE49-F238E27FC236}">
                <a16:creationId xmlns:a16="http://schemas.microsoft.com/office/drawing/2014/main" id="{62B5F012-1522-4FF3-B8EF-4FB2C33C23E0}"/>
              </a:ext>
            </a:extLst>
          </p:cNvPr>
          <p:cNvSpPr>
            <a:spLocks xmlns:a="http://schemas.openxmlformats.org/drawingml/2006/main" noGrp="1"/>
          </p:cNvSpPr>
          <p:nvPr/>
        </p:nvSpPr>
        <p:spPr>
          <a:xfrm xmlns:a="http://schemas.openxmlformats.org/drawingml/2006/main">
            <a:off x="742950" y="1600200"/>
            <a:ext cx="106680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4800" b="1">
                <a:solidFill>
                  <a:srgbClr val="FFFFFF"/>
                </a:solidFill>
                <a:latin typeface="Calibri"/>
                <a:ea typeface="Calibri"/>
                <a:cs typeface="Calibri"/>
              </a:defRPr>
            </a:pPr>
            <a:r>
              <a:rPr sz="4800" b="1">
                <a:solidFill>
                  <a:srgbClr val="FFFFFF"/>
                </a:solidFill>
                <a:latin typeface="Calibri"/>
                <a:ea typeface="Calibri"/>
                <a:cs typeface="Calibri"/>
              </a:rPr>
              <a:t>Docker untuk operasi layanan harian</a:t>
            </a:r>
          </a:p>
        </p:txBody>
      </p:sp>
      <p:sp>
        <p:nvSpPr>
          <p:cNvPr id="3" name="cover-sub">
            <a:extLst xmlns:a="http://schemas.openxmlformats.org/drawingml/2006/main">
              <a:ext uri="{FF2B5EF4-FFF2-40B4-BE49-F238E27FC236}">
                <a16:creationId xmlns:a16="http://schemas.microsoft.com/office/drawing/2014/main" id="{4E286DB7-FA61-4C61-A974-33E2BCBFE7BE}"/>
              </a:ext>
            </a:extLst>
          </p:cNvPr>
          <p:cNvSpPr>
            <a:spLocks xmlns:a="http://schemas.openxmlformats.org/drawingml/2006/main" noGrp="1"/>
          </p:cNvSpPr>
          <p:nvPr/>
        </p:nvSpPr>
        <p:spPr>
          <a:xfrm xmlns:a="http://schemas.openxmlformats.org/drawingml/2006/main">
            <a:off x="742950" y="3810000"/>
            <a:ext cx="10287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2175" b="0">
                <a:solidFill>
                  <a:srgbClr val="FFFFFF"/>
                </a:solidFill>
                <a:latin typeface="Calibri"/>
                <a:ea typeface="Calibri"/>
                <a:cs typeface="Calibri"/>
              </a:defRPr>
            </a:pPr>
            <a:r>
              <a:rPr sz="2175" b="0">
                <a:solidFill>
                  <a:srgbClr val="FFFFFF"/>
                </a:solidFill>
                <a:latin typeface="Calibri"/>
                <a:ea typeface="Calibri"/>
                <a:cs typeface="Calibri"/>
              </a:rPr>
              <a:t>Kasus: halaman status internal berhenti, lalu dipulihkan dan diperbarui</a:t>
            </a:r>
          </a:p>
        </p:txBody>
      </p:sp>
      <p:sp>
        <p:nvSpPr>
          <p:cNvPr id="4" name="cover-meta">
            <a:extLst xmlns:a="http://schemas.openxmlformats.org/drawingml/2006/main">
              <a:ext uri="{FF2B5EF4-FFF2-40B4-BE49-F238E27FC236}">
                <a16:creationId xmlns:a16="http://schemas.microsoft.com/office/drawing/2014/main" id="{3B4458D2-4C91-41AA-953C-545C4EE47969}"/>
              </a:ext>
            </a:extLst>
          </p:cNvPr>
          <p:cNvSpPr>
            <a:spLocks xmlns:a="http://schemas.openxmlformats.org/drawingml/2006/main" noGrp="1"/>
          </p:cNvSpPr>
          <p:nvPr/>
        </p:nvSpPr>
        <p:spPr>
          <a:xfrm xmlns:a="http://schemas.openxmlformats.org/drawingml/2006/main">
            <a:off x="742950" y="5848350"/>
            <a:ext cx="1028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500" b="0">
                <a:solidFill>
                  <a:srgbClr val="FFFFFF"/>
                </a:solidFill>
                <a:latin typeface="Calibri"/>
                <a:ea typeface="Calibri"/>
                <a:cs typeface="Calibri"/>
              </a:defRPr>
            </a:pPr>
            <a:r>
              <a:rPr sz="1500" b="0">
                <a:solidFill>
                  <a:srgbClr val="FFFFFF"/>
                </a:solidFill>
                <a:latin typeface="Calibri"/>
                <a:ea typeface="Calibri"/>
                <a:cs typeface="Calibri"/>
              </a:rPr>
              <a:t>Virtualisasi dan container  ·  Praktikum lokal  ·  Challenge A–E dengan kunci</a:t>
            </a:r>
          </a:p>
        </p:txBody>
      </p:sp>
    </p:spTree>
    <p:extLst>
      <p:ext uri="{BB962C8B-B14F-4D97-AF65-F5344CB8AC3E}">
        <p14:creationId xmlns:p14="http://schemas.microsoft.com/office/powerpoint/2010/main" val="671821390"/>
      </p:ext>
    </p:extLst>
  </p:cSld>
</p:sld>
</file>

<file path=ppt/slides/slide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8" name="section">
            <a:extLst xmlns:a="http://schemas.openxmlformats.org/drawingml/2006/main">
              <a:ext uri="{FF2B5EF4-FFF2-40B4-BE49-F238E27FC236}">
                <a16:creationId xmlns:a16="http://schemas.microsoft.com/office/drawing/2014/main" id="{6094666F-EA27-4512-997E-2C66A3E3F981}"/>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7B0934E1-03D0-42BC-A09F-5500FD66C57E}"/>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Kasus kerja: halaman status internal</a:t>
            </a:r>
          </a:p>
        </p:txBody>
      </p:sp>
      <p:sp>
        <p:nvSpPr>
          <p:cNvPr id="3" name="subtitle">
            <a:extLst xmlns:a="http://schemas.openxmlformats.org/drawingml/2006/main">
              <a:ext uri="{FF2B5EF4-FFF2-40B4-BE49-F238E27FC236}">
                <a16:creationId xmlns:a16="http://schemas.microsoft.com/office/drawing/2014/main" id="{592657D9-FE19-435A-BC86-15E81205D4FE}"/>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Tim operasi harus membuktikan akar gangguan dan pemulihannya.</a:t>
            </a:r>
          </a:p>
        </p:txBody>
      </p:sp>
      <p:sp>
        <p:nvSpPr>
          <p:cNvPr id="4" name="page">
            <a:extLst xmlns:a="http://schemas.openxmlformats.org/drawingml/2006/main">
              <a:ext uri="{FF2B5EF4-FFF2-40B4-BE49-F238E27FC236}">
                <a16:creationId xmlns:a16="http://schemas.microsoft.com/office/drawing/2014/main" id="{CE8BBF50-3190-4DC7-926E-1BD97E3D6B63}"/>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02</a:t>
            </a:r>
          </a:p>
        </p:txBody>
      </p:sp>
      <p:sp>
        <p:nvSpPr>
          <p:cNvPr id="5" name="scenario">
            <a:extLst xmlns:a="http://schemas.openxmlformats.org/drawingml/2006/main">
              <a:ext uri="{FF2B5EF4-FFF2-40B4-BE49-F238E27FC236}">
                <a16:creationId xmlns:a16="http://schemas.microsoft.com/office/drawing/2014/main" id="{272920B2-2C1F-4356-B8A9-FA5F22C7271B}"/>
              </a:ext>
            </a:extLst>
          </p:cNvPr>
          <p:cNvSpPr>
            <a:spLocks xmlns:a="http://schemas.openxmlformats.org/drawingml/2006/main" noGrp="1"/>
          </p:cNvSpPr>
          <p:nvPr/>
        </p:nvSpPr>
        <p:spPr>
          <a:xfrm xmlns:a="http://schemas.openxmlformats.org/drawingml/2006/main">
            <a:off x="685800" y="2171700"/>
            <a:ext cx="10744200"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2325" b="0">
                <a:solidFill>
                  <a:srgbClr val="0F172A"/>
                </a:solidFill>
                <a:latin typeface="Calibri"/>
                <a:ea typeface="Calibri"/>
                <a:cs typeface="Calibri"/>
              </a:defRPr>
            </a:pPr>
            <a:r>
              <a:rPr sz="2325" b="0">
                <a:solidFill>
                  <a:srgbClr val="0F172A"/>
                </a:solidFill>
                <a:latin typeface="Calibri"/>
                <a:ea typeface="Calibri"/>
                <a:cs typeface="Calibri"/>
              </a:rPr>
              <a:t>Layanan cloudlab-site menyajikan status pemeliharaan. Operator melihat halaman tidak dapat diakses. Ia memeriksa container, memulihkan HTTP 200, memperbarui pesan insiden, lalu menjalankan canary pada port lain.</a:t>
            </a:r>
          </a:p>
        </p:txBody>
      </p:sp>
      <p:sp>
        <p:nvSpPr>
          <p:cNvPr id="6" name="outcome-label">
            <a:extLst xmlns:a="http://schemas.openxmlformats.org/drawingml/2006/main">
              <a:ext uri="{FF2B5EF4-FFF2-40B4-BE49-F238E27FC236}">
                <a16:creationId xmlns:a16="http://schemas.microsoft.com/office/drawing/2014/main" id="{D961CE51-1DC0-4632-94B4-655C6FDA1C0F}"/>
              </a:ext>
            </a:extLst>
          </p:cNvPr>
          <p:cNvSpPr>
            <a:spLocks xmlns:a="http://schemas.openxmlformats.org/drawingml/2006/main" noGrp="1"/>
          </p:cNvSpPr>
          <p:nvPr/>
        </p:nvSpPr>
        <p:spPr>
          <a:xfrm xmlns:a="http://schemas.openxmlformats.org/drawingml/2006/main">
            <a:off x="685800" y="4381500"/>
            <a:ext cx="3810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1">
                <a:solidFill>
                  <a:srgbClr val="F37021"/>
                </a:solidFill>
                <a:latin typeface="Calibri"/>
                <a:ea typeface="Calibri"/>
                <a:cs typeface="Calibri"/>
              </a:defRPr>
            </a:pPr>
            <a:r>
              <a:rPr sz="1725" b="1">
                <a:solidFill>
                  <a:srgbClr val="F37021"/>
                </a:solidFill>
                <a:latin typeface="Calibri"/>
                <a:ea typeface="Calibri"/>
                <a:cs typeface="Calibri"/>
              </a:rPr>
              <a:t>Hasil yang diperiksa</a:t>
            </a:r>
          </a:p>
        </p:txBody>
      </p:sp>
      <p:sp>
        <p:nvSpPr>
          <p:cNvPr id="7" name="outcome">
            <a:extLst xmlns:a="http://schemas.openxmlformats.org/drawingml/2006/main">
              <a:ext uri="{FF2B5EF4-FFF2-40B4-BE49-F238E27FC236}">
                <a16:creationId xmlns:a16="http://schemas.microsoft.com/office/drawing/2014/main" id="{E49C3423-EAAE-4F34-9C6F-7C94D01B6121}"/>
              </a:ext>
            </a:extLst>
          </p:cNvPr>
          <p:cNvSpPr>
            <a:spLocks xmlns:a="http://schemas.openxmlformats.org/drawingml/2006/main" noGrp="1"/>
          </p:cNvSpPr>
          <p:nvPr/>
        </p:nvSpPr>
        <p:spPr>
          <a:xfrm xmlns:a="http://schemas.openxmlformats.org/drawingml/2006/main">
            <a:off x="685800" y="4857750"/>
            <a:ext cx="107061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2025" b="1">
                <a:solidFill>
                  <a:srgbClr val="002677"/>
                </a:solidFill>
                <a:latin typeface="Calibri"/>
                <a:ea typeface="Calibri"/>
                <a:cs typeface="Calibri"/>
              </a:defRPr>
            </a:pPr>
            <a:r>
              <a:rPr sz="2025" b="1">
                <a:solidFill>
                  <a:srgbClr val="002677"/>
                </a:solidFill>
                <a:latin typeface="Calibri"/>
                <a:ea typeface="Calibri"/>
                <a:cs typeface="Calibri"/>
              </a:rPr>
              <a:t>Image dan container  ·  port host dan container  ·  log  ·  stop/start  ·  bind mount hanya-baca  ·  benturan port</a:t>
            </a:r>
          </a:p>
        </p:txBody>
      </p:sp>
    </p:spTree>
    <p:extLst>
      <p:ext uri="{BB962C8B-B14F-4D97-AF65-F5344CB8AC3E}">
        <p14:creationId xmlns:p14="http://schemas.microsoft.com/office/powerpoint/2010/main" val="453403671"/>
      </p:ext>
    </p:extLst>
  </p:cSld>
</p:sld>
</file>

<file path=ppt/slides/slide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B59E8B64-6F91-4588-8386-2B2E637F0162}"/>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35BE686F-B907-4E08-8416-872C2D1290BD}"/>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VM, image, dan container</a:t>
            </a:r>
          </a:p>
        </p:txBody>
      </p:sp>
      <p:sp>
        <p:nvSpPr>
          <p:cNvPr id="3" name="subtitle">
            <a:extLst xmlns:a="http://schemas.openxmlformats.org/drawingml/2006/main">
              <a:ext uri="{FF2B5EF4-FFF2-40B4-BE49-F238E27FC236}">
                <a16:creationId xmlns:a16="http://schemas.microsoft.com/office/drawing/2014/main" id="{8D12A20E-BD75-4D2F-AD9F-5CC5AE4C6FAE}"/>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Kerangka konsep sebelum menyentuh terminal.</a:t>
            </a:r>
          </a:p>
        </p:txBody>
      </p:sp>
      <p:sp>
        <p:nvSpPr>
          <p:cNvPr id="4" name="page">
            <a:extLst xmlns:a="http://schemas.openxmlformats.org/drawingml/2006/main">
              <a:ext uri="{FF2B5EF4-FFF2-40B4-BE49-F238E27FC236}">
                <a16:creationId xmlns:a16="http://schemas.microsoft.com/office/drawing/2014/main" id="{327FFE50-FFFC-4EC2-ABBC-1A8AA012C7CC}"/>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03</a:t>
            </a:r>
          </a:p>
        </p:txBody>
      </p:sp>
      <p:sp>
        <p:nvSpPr>
          <p:cNvPr id="5" name="vm-label">
            <a:extLst xmlns:a="http://schemas.openxmlformats.org/drawingml/2006/main">
              <a:ext uri="{FF2B5EF4-FFF2-40B4-BE49-F238E27FC236}">
                <a16:creationId xmlns:a16="http://schemas.microsoft.com/office/drawing/2014/main" id="{C7C6520B-A28B-43B7-9296-E253CC6F4800}"/>
              </a:ext>
            </a:extLst>
          </p:cNvPr>
          <p:cNvSpPr>
            <a:spLocks xmlns:a="http://schemas.openxmlformats.org/drawingml/2006/main" noGrp="1"/>
          </p:cNvSpPr>
          <p:nvPr/>
        </p:nvSpPr>
        <p:spPr>
          <a:xfrm xmlns:a="http://schemas.openxmlformats.org/drawingml/2006/main">
            <a:off x="685800" y="2152650"/>
            <a:ext cx="219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2025" b="1">
                <a:solidFill>
                  <a:srgbClr val="F37021"/>
                </a:solidFill>
                <a:latin typeface="Calibri"/>
                <a:ea typeface="Calibri"/>
                <a:cs typeface="Calibri"/>
              </a:defRPr>
            </a:pPr>
            <a:r>
              <a:rPr sz="2025" b="1">
                <a:solidFill>
                  <a:srgbClr val="F37021"/>
                </a:solidFill>
                <a:latin typeface="Calibri"/>
                <a:ea typeface="Calibri"/>
                <a:cs typeface="Calibri"/>
              </a:rPr>
              <a:t>VM</a:t>
            </a:r>
          </a:p>
        </p:txBody>
      </p:sp>
      <p:sp>
        <p:nvSpPr>
          <p:cNvPr id="6" name="vm-body">
            <a:extLst xmlns:a="http://schemas.openxmlformats.org/drawingml/2006/main">
              <a:ext uri="{FF2B5EF4-FFF2-40B4-BE49-F238E27FC236}">
                <a16:creationId xmlns:a16="http://schemas.microsoft.com/office/drawing/2014/main" id="{FF4730B6-2871-4FCC-9E06-E88FDF291186}"/>
              </a:ext>
            </a:extLst>
          </p:cNvPr>
          <p:cNvSpPr>
            <a:spLocks xmlns:a="http://schemas.openxmlformats.org/drawingml/2006/main" noGrp="1"/>
          </p:cNvSpPr>
          <p:nvPr/>
        </p:nvSpPr>
        <p:spPr>
          <a:xfrm xmlns:a="http://schemas.openxmlformats.org/drawingml/2006/main">
            <a:off x="685800" y="2581275"/>
            <a:ext cx="48196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2100" b="0">
                <a:solidFill>
                  <a:srgbClr val="0F172A"/>
                </a:solidFill>
                <a:latin typeface="Calibri"/>
                <a:ea typeface="Calibri"/>
                <a:cs typeface="Calibri"/>
              </a:defRPr>
            </a:pPr>
            <a:r>
              <a:rPr sz="2100" b="0">
                <a:solidFill>
                  <a:srgbClr val="0F172A"/>
                </a:solidFill>
                <a:latin typeface="Calibri"/>
                <a:ea typeface="Calibri"/>
                <a:cs typeface="Calibri"/>
              </a:rPr>
              <a:t>Guest OS memiliki kernel sendiri di atas hypervisor. Cocok saat perlu sistem operasi terpisah.</a:t>
            </a:r>
          </a:p>
        </p:txBody>
      </p:sp>
      <p:sp>
        <p:nvSpPr>
          <p:cNvPr id="7" name="container-label">
            <a:extLst xmlns:a="http://schemas.openxmlformats.org/drawingml/2006/main">
              <a:ext uri="{FF2B5EF4-FFF2-40B4-BE49-F238E27FC236}">
                <a16:creationId xmlns:a16="http://schemas.microsoft.com/office/drawing/2014/main" id="{60DC82A3-1D64-45FB-9CBB-AEFDCCB7728A}"/>
              </a:ext>
            </a:extLst>
          </p:cNvPr>
          <p:cNvSpPr>
            <a:spLocks xmlns:a="http://schemas.openxmlformats.org/drawingml/2006/main" noGrp="1"/>
          </p:cNvSpPr>
          <p:nvPr/>
        </p:nvSpPr>
        <p:spPr>
          <a:xfrm xmlns:a="http://schemas.openxmlformats.org/drawingml/2006/main">
            <a:off x="6486525" y="2152650"/>
            <a:ext cx="3667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2025" b="1">
                <a:solidFill>
                  <a:srgbClr val="F37021"/>
                </a:solidFill>
                <a:latin typeface="Calibri"/>
                <a:ea typeface="Calibri"/>
                <a:cs typeface="Calibri"/>
              </a:defRPr>
            </a:pPr>
            <a:r>
              <a:rPr sz="2025" b="1">
                <a:solidFill>
                  <a:srgbClr val="F37021"/>
                </a:solidFill>
                <a:latin typeface="Calibri"/>
                <a:ea typeface="Calibri"/>
                <a:cs typeface="Calibri"/>
              </a:rPr>
              <a:t>Container</a:t>
            </a:r>
          </a:p>
        </p:txBody>
      </p:sp>
      <p:sp>
        <p:nvSpPr>
          <p:cNvPr id="8" name="container-body">
            <a:extLst xmlns:a="http://schemas.openxmlformats.org/drawingml/2006/main">
              <a:ext uri="{FF2B5EF4-FFF2-40B4-BE49-F238E27FC236}">
                <a16:creationId xmlns:a16="http://schemas.microsoft.com/office/drawing/2014/main" id="{59E831EB-B0B9-4285-AA58-12A90EAEFD11}"/>
              </a:ext>
            </a:extLst>
          </p:cNvPr>
          <p:cNvSpPr>
            <a:spLocks xmlns:a="http://schemas.openxmlformats.org/drawingml/2006/main" noGrp="1"/>
          </p:cNvSpPr>
          <p:nvPr/>
        </p:nvSpPr>
        <p:spPr>
          <a:xfrm xmlns:a="http://schemas.openxmlformats.org/drawingml/2006/main">
            <a:off x="6486525" y="2581275"/>
            <a:ext cx="48863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2100" b="0">
                <a:solidFill>
                  <a:srgbClr val="0F172A"/>
                </a:solidFill>
                <a:latin typeface="Calibri"/>
                <a:ea typeface="Calibri"/>
                <a:cs typeface="Calibri"/>
              </a:defRPr>
            </a:pPr>
            <a:r>
              <a:rPr sz="2100" b="0">
                <a:solidFill>
                  <a:srgbClr val="0F172A"/>
                </a:solidFill>
                <a:latin typeface="Calibri"/>
                <a:ea typeface="Calibri"/>
                <a:cs typeface="Calibri"/>
              </a:rPr>
              <a:t>Proses terisolasi memakai kernel host. Namespace mengatur pandangan; cgroup mengatur jatah sumber daya.</a:t>
            </a:r>
          </a:p>
        </p:txBody>
      </p:sp>
      <p:sp>
        <p:nvSpPr>
          <p:cNvPr id="9" name="image-label">
            <a:extLst xmlns:a="http://schemas.openxmlformats.org/drawingml/2006/main">
              <a:ext uri="{FF2B5EF4-FFF2-40B4-BE49-F238E27FC236}">
                <a16:creationId xmlns:a16="http://schemas.microsoft.com/office/drawing/2014/main" id="{0F29BE61-2E50-447B-9AF5-14487D9705F5}"/>
              </a:ext>
            </a:extLst>
          </p:cNvPr>
          <p:cNvSpPr>
            <a:spLocks xmlns:a="http://schemas.openxmlformats.org/drawingml/2006/main" noGrp="1"/>
          </p:cNvSpPr>
          <p:nvPr/>
        </p:nvSpPr>
        <p:spPr>
          <a:xfrm xmlns:a="http://schemas.openxmlformats.org/drawingml/2006/main">
            <a:off x="685800" y="4533900"/>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2025" b="1">
                <a:solidFill>
                  <a:srgbClr val="002677"/>
                </a:solidFill>
                <a:latin typeface="Calibri"/>
                <a:ea typeface="Calibri"/>
                <a:cs typeface="Calibri"/>
              </a:defRPr>
            </a:pPr>
            <a:r>
              <a:rPr sz="2025" b="1">
                <a:solidFill>
                  <a:srgbClr val="002677"/>
                </a:solidFill>
                <a:latin typeface="Calibri"/>
                <a:ea typeface="Calibri"/>
                <a:cs typeface="Calibri"/>
              </a:rPr>
              <a:t>Image → container</a:t>
            </a:r>
          </a:p>
        </p:txBody>
      </p:sp>
      <p:sp>
        <p:nvSpPr>
          <p:cNvPr id="10" name="image-body">
            <a:extLst xmlns:a="http://schemas.openxmlformats.org/drawingml/2006/main">
              <a:ext uri="{FF2B5EF4-FFF2-40B4-BE49-F238E27FC236}">
                <a16:creationId xmlns:a16="http://schemas.microsoft.com/office/drawing/2014/main" id="{FB4FB7ED-F713-4800-80A5-7B746CCB1AB5}"/>
              </a:ext>
            </a:extLst>
          </p:cNvPr>
          <p:cNvSpPr>
            <a:spLocks xmlns:a="http://schemas.openxmlformats.org/drawingml/2006/main" noGrp="1"/>
          </p:cNvSpPr>
          <p:nvPr/>
        </p:nvSpPr>
        <p:spPr>
          <a:xfrm xmlns:a="http://schemas.openxmlformats.org/drawingml/2006/main">
            <a:off x="685800" y="4943475"/>
            <a:ext cx="10591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950" b="0">
                <a:solidFill>
                  <a:srgbClr val="0F172A"/>
                </a:solidFill>
                <a:latin typeface="Calibri"/>
                <a:ea typeface="Calibri"/>
                <a:cs typeface="Calibri"/>
              </a:defRPr>
            </a:pPr>
            <a:r>
              <a:rPr sz="1950" b="0">
                <a:solidFill>
                  <a:srgbClr val="0F172A"/>
                </a:solidFill>
                <a:latin typeface="Calibri"/>
                <a:ea typeface="Calibri"/>
                <a:cs typeface="Calibri"/>
              </a:rPr>
              <a:t>Image adalah template. docker run membuat instance baru; docker start menyalakan instance yang sama.</a:t>
            </a:r>
          </a:p>
        </p:txBody>
      </p:sp>
    </p:spTree>
    <p:extLst>
      <p:ext uri="{BB962C8B-B14F-4D97-AF65-F5344CB8AC3E}">
        <p14:creationId xmlns:p14="http://schemas.microsoft.com/office/powerpoint/2010/main" val="307305026"/>
      </p:ext>
    </p:extLst>
  </p:cSld>
</p:sld>
</file>

<file path=ppt/slides/slide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2F0E9BE3-0FDC-4DCC-B1AD-DEC4922B119F}"/>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F33DC834-4B05-415F-9282-94C3171729E3}"/>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Alur Docker saat run</a:t>
            </a:r>
          </a:p>
        </p:txBody>
      </p:sp>
      <p:sp>
        <p:nvSpPr>
          <p:cNvPr id="3" name="subtitle">
            <a:extLst xmlns:a="http://schemas.openxmlformats.org/drawingml/2006/main">
              <a:ext uri="{FF2B5EF4-FFF2-40B4-BE49-F238E27FC236}">
                <a16:creationId xmlns:a16="http://schemas.microsoft.com/office/drawing/2014/main" id="{B823E3F3-6EB5-44AB-8D55-02DC958367CB}"/>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CLI mengirim perintah; daemon menyiapkan image lalu menjalankan container.</a:t>
            </a:r>
          </a:p>
        </p:txBody>
      </p:sp>
      <p:sp>
        <p:nvSpPr>
          <p:cNvPr id="4" name="page">
            <a:extLst xmlns:a="http://schemas.openxmlformats.org/drawingml/2006/main">
              <a:ext uri="{FF2B5EF4-FFF2-40B4-BE49-F238E27FC236}">
                <a16:creationId xmlns:a16="http://schemas.microsoft.com/office/drawing/2014/main" id="{0F01890B-2C87-403E-85C7-49DA081BBB65}"/>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04</a:t>
            </a:r>
          </a:p>
        </p:txBody>
      </p:sp>
      <p:sp>
        <p:nvSpPr>
          <p:cNvPr id="5" name="flow1">
            <a:extLst xmlns:a="http://schemas.openxmlformats.org/drawingml/2006/main">
              <a:ext uri="{FF2B5EF4-FFF2-40B4-BE49-F238E27FC236}">
                <a16:creationId xmlns:a16="http://schemas.microsoft.com/office/drawing/2014/main" id="{2C8901CC-3D56-4067-A5F5-265FEEB20DDE}"/>
              </a:ext>
            </a:extLst>
          </p:cNvPr>
          <p:cNvSpPr>
            <a:spLocks xmlns:a="http://schemas.openxmlformats.org/drawingml/2006/main" noGrp="1"/>
          </p:cNvSpPr>
          <p:nvPr/>
        </p:nvSpPr>
        <p:spPr>
          <a:xfrm xmlns:a="http://schemas.openxmlformats.org/drawingml/2006/main">
            <a:off x="685800" y="2152650"/>
            <a:ext cx="10191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2250" b="1">
                <a:solidFill>
                  <a:srgbClr val="F37021"/>
                </a:solidFill>
                <a:latin typeface="Calibri"/>
                <a:ea typeface="Calibri"/>
                <a:cs typeface="Calibri"/>
              </a:defRPr>
            </a:pPr>
            <a:r>
              <a:rPr sz="2250" b="1">
                <a:solidFill>
                  <a:srgbClr val="F37021"/>
                </a:solidFill>
                <a:latin typeface="Calibri"/>
                <a:ea typeface="Calibri"/>
                <a:cs typeface="Calibri"/>
              </a:rPr>
              <a:t>1  Docker CLI</a:t>
            </a:r>
          </a:p>
        </p:txBody>
      </p:sp>
      <p:sp>
        <p:nvSpPr>
          <p:cNvPr id="6" name="flow1b">
            <a:extLst xmlns:a="http://schemas.openxmlformats.org/drawingml/2006/main">
              <a:ext uri="{FF2B5EF4-FFF2-40B4-BE49-F238E27FC236}">
                <a16:creationId xmlns:a16="http://schemas.microsoft.com/office/drawing/2014/main" id="{72AFE20F-FFA8-4E07-8266-F5A779FB0657}"/>
              </a:ext>
            </a:extLst>
          </p:cNvPr>
          <p:cNvSpPr>
            <a:spLocks xmlns:a="http://schemas.openxmlformats.org/drawingml/2006/main" noGrp="1"/>
          </p:cNvSpPr>
          <p:nvPr/>
        </p:nvSpPr>
        <p:spPr>
          <a:xfrm xmlns:a="http://schemas.openxmlformats.org/drawingml/2006/main">
            <a:off x="685800" y="2590800"/>
            <a:ext cx="105727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2025" b="0">
                <a:solidFill>
                  <a:srgbClr val="0F172A"/>
                </a:solidFill>
                <a:latin typeface="Calibri"/>
                <a:ea typeface="Calibri"/>
                <a:cs typeface="Calibri"/>
              </a:defRPr>
            </a:pPr>
            <a:r>
              <a:rPr sz="2025" b="0">
                <a:solidFill>
                  <a:srgbClr val="0F172A"/>
                </a:solidFill>
                <a:latin typeface="Calibri"/>
                <a:ea typeface="Calibri"/>
                <a:cs typeface="Calibri"/>
              </a:rPr>
              <a:t>Perintah docker pull, run, ps, logs, exec berasal dari terminal operator.</a:t>
            </a:r>
          </a:p>
        </p:txBody>
      </p:sp>
      <p:sp>
        <p:nvSpPr>
          <p:cNvPr id="7" name="flow2">
            <a:extLst xmlns:a="http://schemas.openxmlformats.org/drawingml/2006/main">
              <a:ext uri="{FF2B5EF4-FFF2-40B4-BE49-F238E27FC236}">
                <a16:creationId xmlns:a16="http://schemas.microsoft.com/office/drawing/2014/main" id="{26D9628F-28BC-4B30-A73C-BB09C26FE530}"/>
              </a:ext>
            </a:extLst>
          </p:cNvPr>
          <p:cNvSpPr>
            <a:spLocks xmlns:a="http://schemas.openxmlformats.org/drawingml/2006/main" noGrp="1"/>
          </p:cNvSpPr>
          <p:nvPr/>
        </p:nvSpPr>
        <p:spPr>
          <a:xfrm xmlns:a="http://schemas.openxmlformats.org/drawingml/2006/main">
            <a:off x="685800" y="3409950"/>
            <a:ext cx="10191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2250" b="1">
                <a:solidFill>
                  <a:srgbClr val="F37021"/>
                </a:solidFill>
                <a:latin typeface="Calibri"/>
                <a:ea typeface="Calibri"/>
                <a:cs typeface="Calibri"/>
              </a:defRPr>
            </a:pPr>
            <a:r>
              <a:rPr sz="2250" b="1">
                <a:solidFill>
                  <a:srgbClr val="F37021"/>
                </a:solidFill>
                <a:latin typeface="Calibri"/>
                <a:ea typeface="Calibri"/>
                <a:cs typeface="Calibri"/>
              </a:rPr>
              <a:t>2  Docker daemon dan registry</a:t>
            </a:r>
          </a:p>
        </p:txBody>
      </p:sp>
      <p:sp>
        <p:nvSpPr>
          <p:cNvPr id="8" name="flow2b">
            <a:extLst xmlns:a="http://schemas.openxmlformats.org/drawingml/2006/main">
              <a:ext uri="{FF2B5EF4-FFF2-40B4-BE49-F238E27FC236}">
                <a16:creationId xmlns:a16="http://schemas.microsoft.com/office/drawing/2014/main" id="{C70FA976-25F3-4939-B9C3-7D9BEDFD7277}"/>
              </a:ext>
            </a:extLst>
          </p:cNvPr>
          <p:cNvSpPr>
            <a:spLocks xmlns:a="http://schemas.openxmlformats.org/drawingml/2006/main" noGrp="1"/>
          </p:cNvSpPr>
          <p:nvPr/>
        </p:nvSpPr>
        <p:spPr>
          <a:xfrm xmlns:a="http://schemas.openxmlformats.org/drawingml/2006/main">
            <a:off x="685800" y="385762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2025" b="0">
                <a:solidFill>
                  <a:srgbClr val="0F172A"/>
                </a:solidFill>
                <a:latin typeface="Calibri"/>
                <a:ea typeface="Calibri"/>
                <a:cs typeface="Calibri"/>
              </a:defRPr>
            </a:pPr>
            <a:r>
              <a:rPr sz="2025" b="0">
                <a:solidFill>
                  <a:srgbClr val="0F172A"/>
                </a:solidFill>
                <a:latin typeface="Calibri"/>
                <a:ea typeface="Calibri"/>
                <a:cs typeface="Calibri"/>
              </a:rPr>
              <a:t>Daemon menarik image dari registry jika belum tersimpan di komputer.</a:t>
            </a:r>
          </a:p>
        </p:txBody>
      </p:sp>
      <p:sp>
        <p:nvSpPr>
          <p:cNvPr id="9" name="flow3">
            <a:extLst xmlns:a="http://schemas.openxmlformats.org/drawingml/2006/main">
              <a:ext uri="{FF2B5EF4-FFF2-40B4-BE49-F238E27FC236}">
                <a16:creationId xmlns:a16="http://schemas.microsoft.com/office/drawing/2014/main" id="{14867205-7BEF-4510-ABD1-A2EEE5B233F1}"/>
              </a:ext>
            </a:extLst>
          </p:cNvPr>
          <p:cNvSpPr>
            <a:spLocks xmlns:a="http://schemas.openxmlformats.org/drawingml/2006/main" noGrp="1"/>
          </p:cNvSpPr>
          <p:nvPr/>
        </p:nvSpPr>
        <p:spPr>
          <a:xfrm xmlns:a="http://schemas.openxmlformats.org/drawingml/2006/main">
            <a:off x="685800" y="4648200"/>
            <a:ext cx="10191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2250" b="1">
                <a:solidFill>
                  <a:srgbClr val="F37021"/>
                </a:solidFill>
                <a:latin typeface="Calibri"/>
                <a:ea typeface="Calibri"/>
                <a:cs typeface="Calibri"/>
              </a:defRPr>
            </a:pPr>
            <a:r>
              <a:rPr sz="2250" b="1">
                <a:solidFill>
                  <a:srgbClr val="F37021"/>
                </a:solidFill>
                <a:latin typeface="Calibri"/>
                <a:ea typeface="Calibri"/>
                <a:cs typeface="Calibri"/>
              </a:rPr>
              <a:t>3  Image menjadi container</a:t>
            </a:r>
          </a:p>
        </p:txBody>
      </p:sp>
      <p:sp>
        <p:nvSpPr>
          <p:cNvPr id="10" name="flow3b">
            <a:extLst xmlns:a="http://schemas.openxmlformats.org/drawingml/2006/main">
              <a:ext uri="{FF2B5EF4-FFF2-40B4-BE49-F238E27FC236}">
                <a16:creationId xmlns:a16="http://schemas.microsoft.com/office/drawing/2014/main" id="{87A5D73F-4FCE-4E38-A4CB-30C41347FA0D}"/>
              </a:ext>
            </a:extLst>
          </p:cNvPr>
          <p:cNvSpPr>
            <a:spLocks xmlns:a="http://schemas.openxmlformats.org/drawingml/2006/main" noGrp="1"/>
          </p:cNvSpPr>
          <p:nvPr/>
        </p:nvSpPr>
        <p:spPr>
          <a:xfrm xmlns:a="http://schemas.openxmlformats.org/drawingml/2006/main">
            <a:off x="685800" y="5095875"/>
            <a:ext cx="105727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2025" b="0">
                <a:solidFill>
                  <a:srgbClr val="0F172A"/>
                </a:solidFill>
                <a:latin typeface="Calibri"/>
                <a:ea typeface="Calibri"/>
                <a:cs typeface="Calibri"/>
              </a:defRPr>
            </a:pPr>
            <a:r>
              <a:rPr sz="2025" b="0">
                <a:solidFill>
                  <a:srgbClr val="0F172A"/>
                </a:solidFill>
                <a:latin typeface="Calibri"/>
                <a:ea typeface="Calibri"/>
                <a:cs typeface="Calibri"/>
              </a:rPr>
              <a:t>run membuat instance; start menghidupkan instance lama; rm menghapus instance.</a:t>
            </a:r>
          </a:p>
        </p:txBody>
      </p:sp>
    </p:spTree>
    <p:extLst>
      <p:ext uri="{BB962C8B-B14F-4D97-AF65-F5344CB8AC3E}">
        <p14:creationId xmlns:p14="http://schemas.microsoft.com/office/powerpoint/2010/main" val="1515181989"/>
      </p:ext>
    </p:extLst>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9" name="section">
            <a:extLst xmlns:a="http://schemas.openxmlformats.org/drawingml/2006/main">
              <a:ext uri="{FF2B5EF4-FFF2-40B4-BE49-F238E27FC236}">
                <a16:creationId xmlns:a16="http://schemas.microsoft.com/office/drawing/2014/main" id="{65F10720-458A-4531-A0E6-A901A5F72EA3}"/>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846DCECC-E6FE-4157-8D7E-78C00C24FFB1}"/>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Root repo dan preflight Docker</a:t>
            </a:r>
          </a:p>
        </p:txBody>
      </p:sp>
      <p:sp>
        <p:nvSpPr>
          <p:cNvPr id="3" name="subtitle">
            <a:extLst xmlns:a="http://schemas.openxmlformats.org/drawingml/2006/main">
              <a:ext uri="{FF2B5EF4-FFF2-40B4-BE49-F238E27FC236}">
                <a16:creationId xmlns:a16="http://schemas.microsoft.com/office/drawing/2014/main" id="{DC01E144-5613-4098-952B-84237D1FC163}"/>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Pilih folder clone aktual yang memuat site/index.html dan tests/.</a:t>
            </a:r>
          </a:p>
        </p:txBody>
      </p:sp>
      <p:sp>
        <p:nvSpPr>
          <p:cNvPr id="4" name="page">
            <a:extLst xmlns:a="http://schemas.openxmlformats.org/drawingml/2006/main">
              <a:ext uri="{FF2B5EF4-FFF2-40B4-BE49-F238E27FC236}">
                <a16:creationId xmlns:a16="http://schemas.microsoft.com/office/drawing/2014/main" id="{6AA1A9E4-D4CF-42D6-9F54-190D85A7DE8D}"/>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05</a:t>
            </a:r>
          </a:p>
        </p:txBody>
      </p:sp>
      <p:sp>
        <p:nvSpPr>
          <p:cNvPr id="5" name="preflight-background">
            <a:extLst xmlns:a="http://schemas.openxmlformats.org/drawingml/2006/main">
              <a:ext uri="{FF2B5EF4-FFF2-40B4-BE49-F238E27FC236}">
                <a16:creationId xmlns:a16="http://schemas.microsoft.com/office/drawing/2014/main" id="{FA4CEA1C-D779-4346-9C15-FCDD88B0669C}"/>
              </a:ext>
            </a:extLst>
          </p:cNvPr>
          <p:cNvSpPr>
            <a:spLocks xmlns:a="http://schemas.openxmlformats.org/drawingml/2006/main" noGrp="1"/>
          </p:cNvSpPr>
          <p:nvPr/>
        </p:nvSpPr>
        <p:spPr>
          <a:xfrm xmlns:a="http://schemas.openxmlformats.org/drawingml/2006/main">
            <a:off x="685800" y="2095500"/>
            <a:ext cx="10820400" cy="2714625"/>
          </a:xfrm>
          <a:prstGeom xmlns:a="http://schemas.openxmlformats.org/drawingml/2006/main" prst="rect">
            <a:avLst/>
          </a:prstGeom>
          <a:solidFill xmlns:a="http://schemas.openxmlformats.org/drawingml/2006/main">
            <a:srgbClr val="101722"/>
          </a:solidFill>
          <a:ln xmlns:a="http://schemas.openxmlformats.org/drawingml/2006/main" w="0">
            <a:noFill/>
          </a:ln>
        </p:spPr>
      </p:sp>
      <p:sp>
        <p:nvSpPr>
          <p:cNvPr id="6" name="preflight">
            <a:extLst xmlns:a="http://schemas.openxmlformats.org/drawingml/2006/main">
              <a:ext uri="{FF2B5EF4-FFF2-40B4-BE49-F238E27FC236}">
                <a16:creationId xmlns:a16="http://schemas.microsoft.com/office/drawing/2014/main" id="{653B348C-8F68-4D4D-9370-F33A9528B3E4}"/>
              </a:ext>
            </a:extLst>
          </p:cNvPr>
          <p:cNvSpPr>
            <a:spLocks xmlns:a="http://schemas.openxmlformats.org/drawingml/2006/main" noGrp="1"/>
          </p:cNvSpPr>
          <p:nvPr/>
        </p:nvSpPr>
        <p:spPr>
          <a:xfrm xmlns:a="http://schemas.openxmlformats.org/drawingml/2006/main">
            <a:off x="914400" y="2314575"/>
            <a:ext cx="10363200" cy="2314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a:solidFill>
                  <a:srgbClr val="E6F3FF"/>
                </a:solidFill>
                <a:latin typeface="Consolas"/>
                <a:ea typeface="Consolas"/>
                <a:cs typeface="Consolas"/>
              </a:defRPr>
            </a:defPPr>
          </a:lstStyle>
          <a:p xmlns:a="http://schemas.openxmlformats.org/drawingml/2006/main">
            <a:pPr algn="l">
              <a:buNone/>
              <a:defRPr sz="1575" b="0">
                <a:solidFill>
                  <a:srgbClr val="E6F3FF"/>
                </a:solidFill>
                <a:latin typeface="Consolas"/>
                <a:ea typeface="Consolas"/>
                <a:cs typeface="Consolas"/>
              </a:defRPr>
            </a:pPr>
            <a:r>
              <a:rPr sz="1575" b="0">
                <a:solidFill>
                  <a:srgbClr val="E6F3FF"/>
                </a:solidFill>
                <a:latin typeface="Consolas"/>
                <a:ea typeface="Consolas"/>
                <a:cs typeface="Consolas"/>
              </a:rPr>
              <a:t>$repoRoot = Read-Host 'Path folder clone tanpa tanda kutip'</a:t>
            </a:r>
          </a:p>
          <a:p xmlns:a="http://schemas.openxmlformats.org/drawingml/2006/main">
            <a:pPr algn="l">
              <a:buNone/>
              <a:defRPr sz="1575" b="0">
                <a:solidFill>
                  <a:srgbClr val="E6F3FF"/>
                </a:solidFill>
                <a:latin typeface="Consolas"/>
                <a:ea typeface="Consolas"/>
                <a:cs typeface="Consolas"/>
              </a:defRPr>
            </a:pPr>
            <a:r>
              <a:rPr sz="1575" b="0">
                <a:solidFill>
                  <a:srgbClr val="E6F3FF"/>
                </a:solidFill>
                <a:latin typeface="Consolas"/>
                <a:ea typeface="Consolas"/>
                <a:cs typeface="Consolas"/>
              </a:rPr>
              <a:t>$repoRoot = (Resolve-Path -LiteralPath $repoRoot -ErrorAction Stop).Path</a:t>
            </a:r>
          </a:p>
          <a:p xmlns:a="http://schemas.openxmlformats.org/drawingml/2006/main">
            <a:pPr algn="l">
              <a:buNone/>
              <a:defRPr sz="1575" b="0">
                <a:solidFill>
                  <a:srgbClr val="E6F3FF"/>
                </a:solidFill>
                <a:latin typeface="Consolas"/>
                <a:ea typeface="Consolas"/>
                <a:cs typeface="Consolas"/>
              </a:defRPr>
            </a:pPr>
            <a:r>
              <a:rPr sz="1575" b="0">
                <a:solidFill>
                  <a:srgbClr val="E6F3FF"/>
                </a:solidFill>
                <a:latin typeface="Consolas"/>
                <a:ea typeface="Consolas"/>
                <a:cs typeface="Consolas"/>
              </a:rPr>
              <a:t>Set-Location -LiteralPath $repoRoot</a:t>
            </a:r>
          </a:p>
          <a:p xmlns:a="http://schemas.openxmlformats.org/drawingml/2006/main">
            <a:pPr algn="l">
              <a:buNone/>
              <a:defRPr sz="1575" b="0">
                <a:solidFill>
                  <a:srgbClr val="E6F3FF"/>
                </a:solidFill>
                <a:latin typeface="Consolas"/>
                <a:ea typeface="Consolas"/>
                <a:cs typeface="Consolas"/>
              </a:defRPr>
            </a:pPr>
            <a:r>
              <a:rPr sz="1575" b="0">
                <a:solidFill>
                  <a:srgbClr val="E6F3FF"/>
                </a:solidFill>
                <a:latin typeface="Consolas"/>
                <a:ea typeface="Consolas"/>
                <a:cs typeface="Consolas"/>
              </a:rPr>
              <a:t>Get-Location</a:t>
            </a:r>
          </a:p>
          <a:p xmlns:a="http://schemas.openxmlformats.org/drawingml/2006/main">
            <a:pPr algn="l">
              <a:buNone/>
              <a:defRPr sz="1575" b="0">
                <a:solidFill>
                  <a:srgbClr val="E6F3FF"/>
                </a:solidFill>
                <a:latin typeface="Consolas"/>
                <a:ea typeface="Consolas"/>
                <a:cs typeface="Consolas"/>
              </a:defRPr>
            </a:pPr>
            <a:r>
              <a:rPr sz="1575" b="0">
                <a:solidFill>
                  <a:srgbClr val="E6F3FF"/>
                </a:solidFill>
                <a:latin typeface="Consolas"/>
                <a:ea typeface="Consolas"/>
                <a:cs typeface="Consolas"/>
              </a:rPr>
              <a:t>Test-Path -LiteralPath '.\site\index.html' -PathType Leaf</a:t>
            </a:r>
          </a:p>
          <a:p xmlns:a="http://schemas.openxmlformats.org/drawingml/2006/main">
            <a:pPr algn="l">
              <a:buNone/>
              <a:defRPr sz="1575" b="0">
                <a:solidFill>
                  <a:srgbClr val="E6F3FF"/>
                </a:solidFill>
                <a:latin typeface="Consolas"/>
                <a:ea typeface="Consolas"/>
                <a:cs typeface="Consolas"/>
              </a:defRPr>
            </a:pPr>
            <a:r>
              <a:rPr sz="1575" b="0">
                <a:solidFill>
                  <a:srgbClr val="E6F3FF"/>
                </a:solidFill>
                <a:latin typeface="Consolas"/>
                <a:ea typeface="Consolas"/>
                <a:cs typeface="Consolas"/>
              </a:rPr>
              <a:t>Test-Path -LiteralPath '.\tests\challenge.ps1' -PathType Leaf</a:t>
            </a:r>
          </a:p>
          <a:p xmlns:a="http://schemas.openxmlformats.org/drawingml/2006/main">
            <a:pPr algn="l">
              <a:buNone/>
              <a:defRPr sz="1575" b="0">
                <a:solidFill>
                  <a:srgbClr val="E6F3FF"/>
                </a:solidFill>
                <a:latin typeface="Consolas"/>
                <a:ea typeface="Consolas"/>
                <a:cs typeface="Consolas"/>
              </a:defRPr>
            </a:pPr>
            <a:r>
              <a:rPr sz="1575" b="0">
                <a:solidFill>
                  <a:srgbClr val="E6F3FF"/>
                </a:solidFill>
                <a:latin typeface="Consolas"/>
                <a:ea typeface="Consolas"/>
                <a:cs typeface="Consolas"/>
              </a:rPr>
              <a:t>docker version</a:t>
            </a:r>
          </a:p>
          <a:p xmlns:a="http://schemas.openxmlformats.org/drawingml/2006/main">
            <a:pPr algn="l">
              <a:buNone/>
              <a:defRPr sz="1575" b="0">
                <a:solidFill>
                  <a:srgbClr val="E6F3FF"/>
                </a:solidFill>
                <a:latin typeface="Consolas"/>
                <a:ea typeface="Consolas"/>
                <a:cs typeface="Consolas"/>
              </a:defRPr>
            </a:pPr>
            <a:r>
              <a:rPr sz="1575" b="0">
                <a:solidFill>
                  <a:srgbClr val="E6F3FF"/>
                </a:solidFill>
                <a:latin typeface="Consolas"/>
                <a:ea typeface="Consolas"/>
                <a:cs typeface="Consolas"/>
              </a:rPr>
              <a:t>docker info --format '{{.OSType}}'</a:t>
            </a:r>
          </a:p>
          <a:p xmlns:a="http://schemas.openxmlformats.org/drawingml/2006/main">
            <a:pPr algn="l">
              <a:buNone/>
              <a:defRPr sz="1575" b="0">
                <a:solidFill>
                  <a:srgbClr val="E6F3FF"/>
                </a:solidFill>
                <a:latin typeface="Consolas"/>
                <a:ea typeface="Consolas"/>
                <a:cs typeface="Consolas"/>
              </a:defRPr>
            </a:pPr>
            <a:r>
              <a:rPr sz="1575" b="0">
                <a:solidFill>
                  <a:srgbClr val="E6F3FF"/>
                </a:solidFill>
                <a:latin typeface="Consolas"/>
                <a:ea typeface="Consolas"/>
                <a:cs typeface="Consolas"/>
              </a:rPr>
              <a:t>docker ps</a:t>
            </a:r>
          </a:p>
        </p:txBody>
      </p:sp>
      <p:sp>
        <p:nvSpPr>
          <p:cNvPr id="7" name="explanation-label">
            <a:extLst xmlns:a="http://schemas.openxmlformats.org/drawingml/2006/main">
              <a:ext uri="{FF2B5EF4-FFF2-40B4-BE49-F238E27FC236}">
                <a16:creationId xmlns:a16="http://schemas.microsoft.com/office/drawing/2014/main" id="{28B838EC-5E9D-4413-B2ED-10E87A150938}"/>
              </a:ext>
            </a:extLst>
          </p:cNvPr>
          <p:cNvSpPr>
            <a:spLocks xmlns:a="http://schemas.openxmlformats.org/drawingml/2006/main" noGrp="1"/>
          </p:cNvSpPr>
          <p:nvPr/>
        </p:nvSpPr>
        <p:spPr>
          <a:xfrm xmlns:a="http://schemas.openxmlformats.org/drawingml/2006/main">
            <a:off x="685800" y="4933950"/>
            <a:ext cx="200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425" b="1">
                <a:solidFill>
                  <a:srgbClr val="F37021"/>
                </a:solidFill>
                <a:latin typeface="Calibri"/>
                <a:ea typeface="Calibri"/>
                <a:cs typeface="Calibri"/>
              </a:defRPr>
            </a:pPr>
            <a:r>
              <a:rPr sz="1425" b="1">
                <a:solidFill>
                  <a:srgbClr val="F37021"/>
                </a:solidFill>
                <a:latin typeface="Calibri"/>
                <a:ea typeface="Calibri"/>
                <a:cs typeface="Calibri"/>
              </a:rPr>
              <a:t>Baca hasil</a:t>
            </a:r>
          </a:p>
        </p:txBody>
      </p:sp>
      <p:sp>
        <p:nvSpPr>
          <p:cNvPr id="8" name="explanation-text">
            <a:extLst xmlns:a="http://schemas.openxmlformats.org/drawingml/2006/main">
              <a:ext uri="{FF2B5EF4-FFF2-40B4-BE49-F238E27FC236}">
                <a16:creationId xmlns:a16="http://schemas.microsoft.com/office/drawing/2014/main" id="{8D04073A-D72E-4F1B-BE9E-E18759553C9B}"/>
              </a:ext>
            </a:extLst>
          </p:cNvPr>
          <p:cNvSpPr>
            <a:spLocks xmlns:a="http://schemas.openxmlformats.org/drawingml/2006/main" noGrp="1"/>
          </p:cNvSpPr>
          <p:nvPr/>
        </p:nvSpPr>
        <p:spPr>
          <a:xfrm xmlns:a="http://schemas.openxmlformats.org/drawingml/2006/main">
            <a:off x="685800" y="5257800"/>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0F172A"/>
                </a:solidFill>
                <a:latin typeface="Calibri"/>
                <a:ea typeface="Calibri"/>
                <a:cs typeface="Calibri"/>
              </a:defRPr>
            </a:pPr>
            <a:r>
              <a:rPr sz="1725" b="0">
                <a:solidFill>
                  <a:srgbClr val="0F172A"/>
                </a:solidFill>
                <a:latin typeface="Calibri"/>
                <a:ea typeface="Calibri"/>
                <a:cs typeface="Calibri"/>
              </a:rPr>
              <a:t>Kedua Test-Path harus True. Docker menampilkan Client + Server dan OSType linux. Jika False, pilih root repo sebelum melanjutkan.</a:t>
            </a:r>
          </a:p>
        </p:txBody>
      </p:sp>
    </p:spTree>
    <p:extLst>
      <p:ext uri="{BB962C8B-B14F-4D97-AF65-F5344CB8AC3E}">
        <p14:creationId xmlns:p14="http://schemas.microsoft.com/office/powerpoint/2010/main" val="49268885"/>
      </p:ext>
    </p:extLst>
  </p:cSld>
</p:sld>
</file>

<file path=ppt/slides/slide6.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7" name="section">
            <a:extLst xmlns:a="http://schemas.openxmlformats.org/drawingml/2006/main">
              <a:ext uri="{FF2B5EF4-FFF2-40B4-BE49-F238E27FC236}">
                <a16:creationId xmlns:a16="http://schemas.microsoft.com/office/drawing/2014/main" id="{0FD240F4-141A-4F5E-BA73-D063F04092C7}"/>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823E6A64-82FD-4775-8068-04B8DAB1B402}"/>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Bukti preflight — Engine aktif</a:t>
            </a:r>
          </a:p>
        </p:txBody>
      </p:sp>
      <p:sp>
        <p:nvSpPr>
          <p:cNvPr id="3" name="subtitle">
            <a:extLst xmlns:a="http://schemas.openxmlformats.org/drawingml/2006/main">
              <a:ext uri="{FF2B5EF4-FFF2-40B4-BE49-F238E27FC236}">
                <a16:creationId xmlns:a16="http://schemas.microsoft.com/office/drawing/2014/main" id="{912C40AE-B94E-4894-95C3-EA81C6705B53}"/>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Tampilan Docker Desktop dan hasil docker version harus saling sesuai.</a:t>
            </a:r>
          </a:p>
        </p:txBody>
      </p:sp>
      <p:sp>
        <p:nvSpPr>
          <p:cNvPr id="4" name="page">
            <a:extLst xmlns:a="http://schemas.openxmlformats.org/drawingml/2006/main">
              <a:ext uri="{FF2B5EF4-FFF2-40B4-BE49-F238E27FC236}">
                <a16:creationId xmlns:a16="http://schemas.microsoft.com/office/drawing/2014/main" id="{B4328DDD-6533-4902-B7B0-4DDD5D118F78}"/>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06</a:t>
            </a:r>
          </a:p>
        </p:txBody>
      </p:sp>
      <p:pic>
        <p:nvPicPr>
          <p:cNvPr id="13" name="">
            <a:extLst xmlns:a="http://schemas.openxmlformats.org/drawingml/2006/main">
              <a:ext uri="{FF2B5EF4-FFF2-40B4-BE49-F238E27FC236}">
                <a16:creationId xmlns:a16="http://schemas.microsoft.com/office/drawing/2014/main" id="{05B64833-B788-4D3A-8ABE-69C68E7E56AE}"/>
              </a:ext>
            </a:extLst>
          </p:cNvPr>
          <p:cNvPicPr>
            <a:picLocks xmlns:a="http://schemas.openxmlformats.org/drawingml/2006/main" noChangeAspect="1"/>
          </p:cNvPicPr>
          <p:nvPr/>
        </p:nvPicPr>
        <p:blipFill>
          <a:blip xmlns:r="http://schemas.openxmlformats.org/officeDocument/2006/relationships" xmlns:a="http://schemas.openxmlformats.org/drawingml/2006/main" r:embed="R1f26bd560ecd4cd6"/>
          <a:stretch xmlns:a="http://schemas.openxmlformats.org/drawingml/2006/main"/>
        </p:blipFill>
        <p:spPr>
          <a:xfrm xmlns:a="http://schemas.openxmlformats.org/drawingml/2006/main">
            <a:off x="2657072" y="1857375"/>
            <a:ext cx="6877857" cy="3743325"/>
          </a:xfrm>
          <a:prstGeom xmlns:a="http://schemas.openxmlformats.org/drawingml/2006/main" prst="rect">
            <a:avLst/>
          </a:prstGeom>
        </p:spPr>
      </p:pic>
      <p:sp>
        <p:nvSpPr>
          <p:cNvPr id="6" name="evidence-engine-caption">
            <a:extLst xmlns:a="http://schemas.openxmlformats.org/drawingml/2006/main">
              <a:ext uri="{FF2B5EF4-FFF2-40B4-BE49-F238E27FC236}">
                <a16:creationId xmlns:a16="http://schemas.microsoft.com/office/drawing/2014/main" id="{EF65C016-ECA1-4412-9B7B-E572F989B198}"/>
              </a:ext>
            </a:extLst>
          </p:cNvPr>
          <p:cNvSpPr>
            <a:spLocks xmlns:a="http://schemas.openxmlformats.org/drawingml/2006/main" noGrp="1"/>
          </p:cNvSpPr>
          <p:nvPr/>
        </p:nvSpPr>
        <p:spPr>
          <a:xfrm xmlns:a="http://schemas.openxmlformats.org/drawingml/2006/main">
            <a:off x="685800" y="5705475"/>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500" b="0">
                <a:solidFill>
                  <a:srgbClr val="475569"/>
                </a:solidFill>
                <a:latin typeface="Calibri"/>
                <a:ea typeface="Calibri"/>
                <a:cs typeface="Calibri"/>
              </a:defRPr>
            </a:pPr>
            <a:r>
              <a:rPr sz="1500" b="0">
                <a:solidFill>
                  <a:srgbClr val="475569"/>
                </a:solidFill>
                <a:latin typeface="Calibri"/>
                <a:ea typeface="Calibri"/>
                <a:cs typeface="Calibri"/>
              </a:rPr>
              <a:t>docker version meminta versi Server ke daemon; Client dan Server tampil berarti CLI terhubung ke Engine aktif.</a:t>
            </a:r>
          </a:p>
        </p:txBody>
      </p:sp>
    </p:spTree>
    <p:extLst>
      <p:ext uri="{BB962C8B-B14F-4D97-AF65-F5344CB8AC3E}">
        <p14:creationId xmlns:p14="http://schemas.microsoft.com/office/powerpoint/2010/main" val="342154905"/>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9" name="section">
            <a:extLst xmlns:a="http://schemas.openxmlformats.org/drawingml/2006/main">
              <a:ext uri="{FF2B5EF4-FFF2-40B4-BE49-F238E27FC236}">
                <a16:creationId xmlns:a16="http://schemas.microsoft.com/office/drawing/2014/main" id="{A5A28A04-9B0D-4014-934F-9A066270A4FE}"/>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C288C658-73BC-4236-B2A7-0CFE77CA2920}"/>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Challenge A — image dan tugas sekali pakai</a:t>
            </a:r>
          </a:p>
        </p:txBody>
      </p:sp>
      <p:sp>
        <p:nvSpPr>
          <p:cNvPr id="3" name="subtitle">
            <a:extLst xmlns:a="http://schemas.openxmlformats.org/drawingml/2006/main">
              <a:ext uri="{FF2B5EF4-FFF2-40B4-BE49-F238E27FC236}">
                <a16:creationId xmlns:a16="http://schemas.microsoft.com/office/drawing/2014/main" id="{41C0516B-9AB9-40A5-8023-6C21C55F7852}"/>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Kunci: unduh tiga image, baca metadata, lalu kirim environment ke proses Python.</a:t>
            </a:r>
          </a:p>
        </p:txBody>
      </p:sp>
      <p:sp>
        <p:nvSpPr>
          <p:cNvPr id="4" name="page">
            <a:extLst xmlns:a="http://schemas.openxmlformats.org/drawingml/2006/main">
              <a:ext uri="{FF2B5EF4-FFF2-40B4-BE49-F238E27FC236}">
                <a16:creationId xmlns:a16="http://schemas.microsoft.com/office/drawing/2014/main" id="{45867ECD-0CF9-43CB-8686-A2A30B0BC94B}"/>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07</a:t>
            </a:r>
          </a:p>
        </p:txBody>
      </p:sp>
      <p:sp>
        <p:nvSpPr>
          <p:cNvPr id="5" name="solution-a-background">
            <a:extLst xmlns:a="http://schemas.openxmlformats.org/drawingml/2006/main">
              <a:ext uri="{FF2B5EF4-FFF2-40B4-BE49-F238E27FC236}">
                <a16:creationId xmlns:a16="http://schemas.microsoft.com/office/drawing/2014/main" id="{844C2D97-0DC1-486B-A0A7-BB4DD8CCCE16}"/>
              </a:ext>
            </a:extLst>
          </p:cNvPr>
          <p:cNvSpPr>
            <a:spLocks xmlns:a="http://schemas.openxmlformats.org/drawingml/2006/main" noGrp="1"/>
          </p:cNvSpPr>
          <p:nvPr/>
        </p:nvSpPr>
        <p:spPr>
          <a:xfrm xmlns:a="http://schemas.openxmlformats.org/drawingml/2006/main">
            <a:off x="685800" y="1962150"/>
            <a:ext cx="10820400" cy="3257550"/>
          </a:xfrm>
          <a:prstGeom xmlns:a="http://schemas.openxmlformats.org/drawingml/2006/main" prst="rect">
            <a:avLst/>
          </a:prstGeom>
          <a:solidFill xmlns:a="http://schemas.openxmlformats.org/drawingml/2006/main">
            <a:srgbClr val="101722"/>
          </a:solidFill>
          <a:ln xmlns:a="http://schemas.openxmlformats.org/drawingml/2006/main" w="0">
            <a:noFill/>
          </a:ln>
        </p:spPr>
      </p:sp>
      <p:sp>
        <p:nvSpPr>
          <p:cNvPr id="6" name="solution-a">
            <a:extLst xmlns:a="http://schemas.openxmlformats.org/drawingml/2006/main">
              <a:ext uri="{FF2B5EF4-FFF2-40B4-BE49-F238E27FC236}">
                <a16:creationId xmlns:a16="http://schemas.microsoft.com/office/drawing/2014/main" id="{D5064364-B1C9-4A20-8A35-ABAA30602398}"/>
              </a:ext>
            </a:extLst>
          </p:cNvPr>
          <p:cNvSpPr>
            <a:spLocks xmlns:a="http://schemas.openxmlformats.org/drawingml/2006/main" noGrp="1"/>
          </p:cNvSpPr>
          <p:nvPr/>
        </p:nvSpPr>
        <p:spPr>
          <a:xfrm xmlns:a="http://schemas.openxmlformats.org/drawingml/2006/main">
            <a:off x="914400" y="2181225"/>
            <a:ext cx="10363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0">
                <a:solidFill>
                  <a:srgbClr val="E6F3FF"/>
                </a:solidFill>
                <a:latin typeface="Consolas"/>
                <a:ea typeface="Consolas"/>
                <a:cs typeface="Consolas"/>
              </a:defRPr>
            </a:pPr>
            <a:r>
              <a:rPr sz="1350" b="0">
                <a:solidFill>
                  <a:srgbClr val="E6F3FF"/>
                </a:solidFill>
                <a:latin typeface="Consolas"/>
                <a:ea typeface="Consolas"/>
                <a:cs typeface="Consolas"/>
              </a:rPr>
              <a:t>docker pull nginx:alpine</a:t>
            </a:r>
          </a:p>
          <a:p xmlns:a="http://schemas.openxmlformats.org/drawingml/2006/main">
            <a:pPr>
              <a:buNone/>
              <a:defRPr sz="1350" b="0">
                <a:solidFill>
                  <a:srgbClr val="E6F3FF"/>
                </a:solidFill>
                <a:latin typeface="Consolas"/>
                <a:ea typeface="Consolas"/>
                <a:cs typeface="Consolas"/>
              </a:defRPr>
            </a:pPr>
            <a:r>
              <a:rPr sz="1350" b="0">
                <a:solidFill>
                  <a:srgbClr val="E6F3FF"/>
                </a:solidFill>
                <a:latin typeface="Consolas"/>
                <a:ea typeface="Consolas"/>
                <a:cs typeface="Consolas"/>
              </a:rPr>
              <a:t>docker pull python:3.12-alpine</a:t>
            </a:r>
          </a:p>
          <a:p xmlns:a="http://schemas.openxmlformats.org/drawingml/2006/main">
            <a:pPr>
              <a:buNone/>
              <a:defRPr sz="1350" b="0">
                <a:solidFill>
                  <a:srgbClr val="E6F3FF"/>
                </a:solidFill>
                <a:latin typeface="Consolas"/>
                <a:ea typeface="Consolas"/>
                <a:cs typeface="Consolas"/>
              </a:defRPr>
            </a:pPr>
            <a:r>
              <a:rPr sz="1350" b="0">
                <a:solidFill>
                  <a:srgbClr val="E6F3FF"/>
                </a:solidFill>
                <a:latin typeface="Consolas"/>
                <a:ea typeface="Consolas"/>
                <a:cs typeface="Consolas"/>
              </a:rPr>
              <a:t>docker pull node:22-alpine</a:t>
            </a:r>
          </a:p>
          <a:p xmlns:a="http://schemas.openxmlformats.org/drawingml/2006/main">
            <a:pPr>
              <a:buNone/>
              <a:defRPr sz="1350" b="0">
                <a:solidFill>
                  <a:srgbClr val="E6F3FF"/>
                </a:solidFill>
                <a:latin typeface="Consolas"/>
                <a:ea typeface="Consolas"/>
                <a:cs typeface="Consolas"/>
              </a:defRPr>
            </a:pPr>
            <a:r>
              <a:rPr sz="1350" b="0">
                <a:solidFill>
                  <a:srgbClr val="E6F3FF"/>
                </a:solidFill>
                <a:latin typeface="Consolas"/>
                <a:ea typeface="Consolas"/>
                <a:cs typeface="Consolas"/>
              </a:rPr>
              <a:t>docker image ls</a:t>
            </a:r>
          </a:p>
          <a:p xmlns:a="http://schemas.openxmlformats.org/drawingml/2006/main">
            <a:pPr>
              <a:buNone/>
              <a:defRPr sz="1350" b="0">
                <a:solidFill>
                  <a:srgbClr val="E6F3FF"/>
                </a:solidFill>
                <a:latin typeface="Consolas"/>
                <a:ea typeface="Consolas"/>
                <a:cs typeface="Consolas"/>
              </a:defRPr>
            </a:pPr>
            <a:r>
              <a:rPr sz="1350" b="0">
                <a:solidFill>
                  <a:srgbClr val="E6F3FF"/>
                </a:solidFill>
                <a:latin typeface="Consolas"/>
                <a:ea typeface="Consolas"/>
                <a:cs typeface="Consolas"/>
              </a:rPr>
              <a:t>docker image inspect nginx:alpine --format '{{.Os}}/{{.Architecture}} {{.Id}}'</a:t>
            </a:r>
          </a:p>
          <a:p xmlns:a="http://schemas.openxmlformats.org/drawingml/2006/main">
            <a:pPr>
              <a:buNone/>
              <a:defRPr sz="1350" b="0">
                <a:solidFill>
                  <a:srgbClr val="E6F3FF"/>
                </a:solidFill>
                <a:latin typeface="Consolas"/>
                <a:ea typeface="Consolas"/>
                <a:cs typeface="Consolas"/>
              </a:defRPr>
            </a:pPr>
            <a:r>
              <a:rPr sz="1350" b="0">
                <a:solidFill>
                  <a:srgbClr val="E6F3FF"/>
                </a:solidFill>
                <a:latin typeface="Consolas"/>
                <a:ea typeface="Consolas"/>
                <a:cs typeface="Consolas"/>
              </a:rPr>
              <a:t>docker run --rm python:3.12-alpine python --version</a:t>
            </a:r>
          </a:p>
          <a:p xmlns:a="http://schemas.openxmlformats.org/drawingml/2006/main">
            <a:pPr>
              <a:buNone/>
              <a:defRPr sz="1350" b="0">
                <a:solidFill>
                  <a:srgbClr val="E6F3FF"/>
                </a:solidFill>
                <a:latin typeface="Consolas"/>
                <a:ea typeface="Consolas"/>
                <a:cs typeface="Consolas"/>
              </a:defRPr>
            </a:pPr>
            <a:r>
              <a:rPr sz="1350" b="0">
                <a:solidFill>
                  <a:srgbClr val="E6F3FF"/>
                </a:solidFill>
                <a:latin typeface="Consolas"/>
                <a:ea typeface="Consolas"/>
                <a:cs typeface="Consolas"/>
              </a:rPr>
              <a:t>docker run --rm node:22-alpine node --version</a:t>
            </a:r>
          </a:p>
          <a:p xmlns:a="http://schemas.openxmlformats.org/drawingml/2006/main">
            <a:pPr>
              <a:buNone/>
              <a:defRPr sz="1350" b="0">
                <a:solidFill>
                  <a:srgbClr val="E6F3FF"/>
                </a:solidFill>
                <a:latin typeface="Consolas"/>
                <a:ea typeface="Consolas"/>
                <a:cs typeface="Consolas"/>
              </a:defRPr>
            </a:pPr>
            <a:r>
              <a:rPr sz="1350" b="0">
                <a:solidFill>
                  <a:srgbClr val="E6F3FF"/>
                </a:solidFill>
                <a:latin typeface="Consolas"/>
                <a:ea typeface="Consolas"/>
                <a:cs typeface="Consolas"/>
              </a:rPr>
              <a:t>docker run --rm -e CLASS_SECTION=cloud python:3.12-alpine sh -c 'echo "$CLASS_SECTION"'</a:t>
            </a:r>
          </a:p>
        </p:txBody>
      </p:sp>
      <p:sp>
        <p:nvSpPr>
          <p:cNvPr id="7" name="explanation-label">
            <a:extLst xmlns:a="http://schemas.openxmlformats.org/drawingml/2006/main">
              <a:ext uri="{FF2B5EF4-FFF2-40B4-BE49-F238E27FC236}">
                <a16:creationId xmlns:a16="http://schemas.microsoft.com/office/drawing/2014/main" id="{D06D081C-11AD-4320-945C-F2C4897CA446}"/>
              </a:ext>
            </a:extLst>
          </p:cNvPr>
          <p:cNvSpPr>
            <a:spLocks xmlns:a="http://schemas.openxmlformats.org/drawingml/2006/main" noGrp="1"/>
          </p:cNvSpPr>
          <p:nvPr/>
        </p:nvSpPr>
        <p:spPr>
          <a:xfrm xmlns:a="http://schemas.openxmlformats.org/drawingml/2006/main">
            <a:off x="685800" y="5343525"/>
            <a:ext cx="200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425" b="1">
                <a:solidFill>
                  <a:srgbClr val="F37021"/>
                </a:solidFill>
                <a:latin typeface="Calibri"/>
                <a:ea typeface="Calibri"/>
                <a:cs typeface="Calibri"/>
              </a:defRPr>
            </a:pPr>
            <a:r>
              <a:rPr sz="1425" b="1">
                <a:solidFill>
                  <a:srgbClr val="F37021"/>
                </a:solidFill>
                <a:latin typeface="Calibri"/>
                <a:ea typeface="Calibri"/>
                <a:cs typeface="Calibri"/>
              </a:rPr>
              <a:t>Mengapa</a:t>
            </a:r>
          </a:p>
        </p:txBody>
      </p:sp>
      <p:sp>
        <p:nvSpPr>
          <p:cNvPr id="8" name="explanation-text">
            <a:extLst xmlns:a="http://schemas.openxmlformats.org/drawingml/2006/main">
              <a:ext uri="{FF2B5EF4-FFF2-40B4-BE49-F238E27FC236}">
                <a16:creationId xmlns:a16="http://schemas.microsoft.com/office/drawing/2014/main" id="{10ECF493-4B21-4071-83D5-FB54DA8C5B96}"/>
              </a:ext>
            </a:extLst>
          </p:cNvPr>
          <p:cNvSpPr>
            <a:spLocks xmlns:a="http://schemas.openxmlformats.org/drawingml/2006/main" noGrp="1"/>
          </p:cNvSpPr>
          <p:nvPr/>
        </p:nvSpPr>
        <p:spPr>
          <a:xfrm xmlns:a="http://schemas.openxmlformats.org/drawingml/2006/main">
            <a:off x="685800" y="5667375"/>
            <a:ext cx="10820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2391"/>
          </a:bodyPr>
          <a:lstStyle xmlns:a="http://schemas.openxmlformats.org/drawingml/2006/main"/>
          <a:p xmlns:a="http://schemas.openxmlformats.org/drawingml/2006/main">
            <a:pPr>
              <a:buNone/>
              <a:defRPr sz="1725" b="0">
                <a:solidFill>
                  <a:srgbClr val="0F172A"/>
                </a:solidFill>
                <a:latin typeface="Calibri"/>
                <a:ea typeface="Calibri"/>
                <a:cs typeface="Calibri"/>
              </a:defRPr>
            </a:pPr>
            <a:r>
              <a:rPr sz="1725" b="0">
                <a:solidFill>
                  <a:srgbClr val="0F172A"/>
                </a:solidFill>
                <a:latin typeface="Calibri"/>
                <a:ea typeface="Calibri"/>
                <a:cs typeface="Calibri"/>
              </a:rPr>
              <a:t>pull menyiapkan template lokal; inspect membaca metadata; --rm menghapus container tugas sesudah keluar. Output environment: cloud.</a:t>
            </a:r>
          </a:p>
        </p:txBody>
      </p:sp>
    </p:spTree>
    <p:extLst>
      <p:ext uri="{BB962C8B-B14F-4D97-AF65-F5344CB8AC3E}">
        <p14:creationId xmlns:p14="http://schemas.microsoft.com/office/powerpoint/2010/main" val="265722162"/>
      </p:ext>
    </p:extLst>
  </p:cSld>
</p:sld>
</file>

<file path=ppt/slides/slide8.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7" name="section">
            <a:extLst xmlns:a="http://schemas.openxmlformats.org/drawingml/2006/main">
              <a:ext uri="{FF2B5EF4-FFF2-40B4-BE49-F238E27FC236}">
                <a16:creationId xmlns:a16="http://schemas.microsoft.com/office/drawing/2014/main" id="{EC810297-26BF-49DB-A05F-F3480E5CF8D6}"/>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A2F28956-00FE-4A09-BF82-ADD5A529E3FF}"/>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Bukti A — tiga image tersedia</a:t>
            </a:r>
          </a:p>
        </p:txBody>
      </p:sp>
      <p:sp>
        <p:nvSpPr>
          <p:cNvPr id="3" name="subtitle">
            <a:extLst xmlns:a="http://schemas.openxmlformats.org/drawingml/2006/main">
              <a:ext uri="{FF2B5EF4-FFF2-40B4-BE49-F238E27FC236}">
                <a16:creationId xmlns:a16="http://schemas.microsoft.com/office/drawing/2014/main" id="{6F98B8FC-4BE1-4954-8211-7B9A560D1C04}"/>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Ketiga tag ada pada daftar image lokal.</a:t>
            </a:r>
          </a:p>
        </p:txBody>
      </p:sp>
      <p:sp>
        <p:nvSpPr>
          <p:cNvPr id="4" name="page">
            <a:extLst xmlns:a="http://schemas.openxmlformats.org/drawingml/2006/main">
              <a:ext uri="{FF2B5EF4-FFF2-40B4-BE49-F238E27FC236}">
                <a16:creationId xmlns:a16="http://schemas.microsoft.com/office/drawing/2014/main" id="{BF4F4DEE-CE4A-46E0-A51E-2D6016ED674D}"/>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08</a:t>
            </a:r>
          </a:p>
        </p:txBody>
      </p:sp>
      <p:pic>
        <p:nvPicPr>
          <p:cNvPr id="13" name="">
            <a:extLst xmlns:a="http://schemas.openxmlformats.org/drawingml/2006/main">
              <a:ext uri="{FF2B5EF4-FFF2-40B4-BE49-F238E27FC236}">
                <a16:creationId xmlns:a16="http://schemas.microsoft.com/office/drawing/2014/main" id="{950C959C-4E4C-4B3A-83AD-3D7C8ADD0DA2}"/>
              </a:ext>
            </a:extLst>
          </p:cNvPr>
          <p:cNvPicPr>
            <a:picLocks xmlns:a="http://schemas.openxmlformats.org/drawingml/2006/main" noChangeAspect="1"/>
          </p:cNvPicPr>
          <p:nvPr/>
        </p:nvPicPr>
        <p:blipFill>
          <a:blip xmlns:r="http://schemas.openxmlformats.org/officeDocument/2006/relationships" xmlns:a="http://schemas.openxmlformats.org/drawingml/2006/main" r:embed="R3d0cb470773e4b49"/>
          <a:stretch xmlns:a="http://schemas.openxmlformats.org/drawingml/2006/main"/>
        </p:blipFill>
        <p:spPr>
          <a:xfrm xmlns:a="http://schemas.openxmlformats.org/drawingml/2006/main">
            <a:off x="685800" y="1903095"/>
            <a:ext cx="10820400" cy="3651885"/>
          </a:xfrm>
          <a:prstGeom xmlns:a="http://schemas.openxmlformats.org/drawingml/2006/main" prst="rect">
            <a:avLst/>
          </a:prstGeom>
        </p:spPr>
      </p:pic>
      <p:sp>
        <p:nvSpPr>
          <p:cNvPr id="6" name="evidence-a-images-caption">
            <a:extLst xmlns:a="http://schemas.openxmlformats.org/drawingml/2006/main">
              <a:ext uri="{FF2B5EF4-FFF2-40B4-BE49-F238E27FC236}">
                <a16:creationId xmlns:a16="http://schemas.microsoft.com/office/drawing/2014/main" id="{90456114-49B8-45A9-A4DE-2C5521DBFF84}"/>
              </a:ext>
            </a:extLst>
          </p:cNvPr>
          <p:cNvSpPr>
            <a:spLocks xmlns:a="http://schemas.openxmlformats.org/drawingml/2006/main" noGrp="1"/>
          </p:cNvSpPr>
          <p:nvPr/>
        </p:nvSpPr>
        <p:spPr>
          <a:xfrm xmlns:a="http://schemas.openxmlformats.org/drawingml/2006/main">
            <a:off x="685800" y="5705475"/>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500" b="0">
                <a:solidFill>
                  <a:srgbClr val="475569"/>
                </a:solidFill>
                <a:latin typeface="Calibri"/>
                <a:ea typeface="Calibri"/>
                <a:cs typeface="Calibri"/>
              </a:defRPr>
            </a:pPr>
            <a:r>
              <a:rPr sz="1500" b="0">
                <a:solidFill>
                  <a:srgbClr val="475569"/>
                </a:solidFill>
                <a:latin typeface="Calibri"/>
                <a:ea typeface="Calibri"/>
                <a:cs typeface="Calibri"/>
              </a:rPr>
              <a:t>docker image ls membaca image lokal; tag nginx/python/node menunjukkan hasil docker pull sudah tersedia.</a:t>
            </a:r>
          </a:p>
        </p:txBody>
      </p:sp>
    </p:spTree>
    <p:extLst>
      <p:ext uri="{BB962C8B-B14F-4D97-AF65-F5344CB8AC3E}">
        <p14:creationId xmlns:p14="http://schemas.microsoft.com/office/powerpoint/2010/main" val="1316924586"/>
      </p:ext>
    </p:extLst>
  </p:cSld>
</p:sld>
</file>

<file path=ppt/slides/slide9.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7" name="section">
            <a:extLst xmlns:a="http://schemas.openxmlformats.org/drawingml/2006/main">
              <a:ext uri="{FF2B5EF4-FFF2-40B4-BE49-F238E27FC236}">
                <a16:creationId xmlns:a16="http://schemas.microsoft.com/office/drawing/2014/main" id="{97660DB8-1A6E-4820-9EA6-C705848DBEFF}"/>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4A85E7C5-DA05-438A-8C82-FEEF189B4064}"/>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Bukti A — environment terbaca proses</a:t>
            </a:r>
          </a:p>
        </p:txBody>
      </p:sp>
      <p:sp>
        <p:nvSpPr>
          <p:cNvPr id="3" name="subtitle">
            <a:extLst xmlns:a="http://schemas.openxmlformats.org/drawingml/2006/main">
              <a:ext uri="{FF2B5EF4-FFF2-40B4-BE49-F238E27FC236}">
                <a16:creationId xmlns:a16="http://schemas.microsoft.com/office/drawing/2014/main" id="{B6C4E337-3E29-47FA-AE26-6284AC4EB0B4}"/>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Container Python sekali pakai mencetak cloud, lalu dihapus oleh --rm.</a:t>
            </a:r>
          </a:p>
        </p:txBody>
      </p:sp>
      <p:sp>
        <p:nvSpPr>
          <p:cNvPr id="4" name="page">
            <a:extLst xmlns:a="http://schemas.openxmlformats.org/drawingml/2006/main">
              <a:ext uri="{FF2B5EF4-FFF2-40B4-BE49-F238E27FC236}">
                <a16:creationId xmlns:a16="http://schemas.microsoft.com/office/drawing/2014/main" id="{E10E0177-523C-4656-83DA-BCD1DE2F8C49}"/>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09</a:t>
            </a:r>
          </a:p>
        </p:txBody>
      </p:sp>
      <p:pic>
        <p:nvPicPr>
          <p:cNvPr id="13" name="">
            <a:extLst xmlns:a="http://schemas.openxmlformats.org/drawingml/2006/main">
              <a:ext uri="{FF2B5EF4-FFF2-40B4-BE49-F238E27FC236}">
                <a16:creationId xmlns:a16="http://schemas.microsoft.com/office/drawing/2014/main" id="{96BAE2E6-DCF0-471A-9FE1-0CBB0E47EB21}"/>
              </a:ext>
            </a:extLst>
          </p:cNvPr>
          <p:cNvPicPr>
            <a:picLocks xmlns:a="http://schemas.openxmlformats.org/drawingml/2006/main" noChangeAspect="1"/>
          </p:cNvPicPr>
          <p:nvPr/>
        </p:nvPicPr>
        <p:blipFill>
          <a:blip xmlns:r="http://schemas.openxmlformats.org/officeDocument/2006/relationships" xmlns:a="http://schemas.openxmlformats.org/drawingml/2006/main" r:embed="R33a20f6f8d784ea6"/>
          <a:stretch xmlns:a="http://schemas.openxmlformats.org/drawingml/2006/main"/>
        </p:blipFill>
        <p:spPr>
          <a:xfrm xmlns:a="http://schemas.openxmlformats.org/drawingml/2006/main">
            <a:off x="685800" y="1886771"/>
            <a:ext cx="10820400" cy="3684533"/>
          </a:xfrm>
          <a:prstGeom xmlns:a="http://schemas.openxmlformats.org/drawingml/2006/main" prst="rect">
            <a:avLst/>
          </a:prstGeom>
        </p:spPr>
      </p:pic>
      <p:sp>
        <p:nvSpPr>
          <p:cNvPr id="6" name="evidence-a-env-caption">
            <a:extLst xmlns:a="http://schemas.openxmlformats.org/drawingml/2006/main">
              <a:ext uri="{FF2B5EF4-FFF2-40B4-BE49-F238E27FC236}">
                <a16:creationId xmlns:a16="http://schemas.microsoft.com/office/drawing/2014/main" id="{088408CA-FE3D-427E-AFEF-77F022F8D869}"/>
              </a:ext>
            </a:extLst>
          </p:cNvPr>
          <p:cNvSpPr>
            <a:spLocks xmlns:a="http://schemas.openxmlformats.org/drawingml/2006/main" noGrp="1"/>
          </p:cNvSpPr>
          <p:nvPr/>
        </p:nvSpPr>
        <p:spPr>
          <a:xfrm xmlns:a="http://schemas.openxmlformats.org/drawingml/2006/main">
            <a:off x="685800" y="5705475"/>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500" b="0">
                <a:solidFill>
                  <a:srgbClr val="475569"/>
                </a:solidFill>
                <a:latin typeface="Calibri"/>
                <a:ea typeface="Calibri"/>
                <a:cs typeface="Calibri"/>
              </a:defRPr>
            </a:pPr>
            <a:r>
              <a:rPr sz="1500" b="0">
                <a:solidFill>
                  <a:srgbClr val="475569"/>
                </a:solidFill>
                <a:latin typeface="Calibri"/>
                <a:ea typeface="Calibri"/>
                <a:cs typeface="Calibri"/>
              </a:rPr>
              <a:t>Perintah: docker run --rm -e CLASS_SECTION=cloud ... . Output akhir: cloud.</a:t>
            </a:r>
          </a:p>
        </p:txBody>
      </p:sp>
    </p:spTree>
    <p:extLst>
      <p:ext uri="{BB962C8B-B14F-4D97-AF65-F5344CB8AC3E}">
        <p14:creationId xmlns:p14="http://schemas.microsoft.com/office/powerpoint/2010/main" val="548148673"/>
      </p:ext>
    </p:extLst>
  </p:cSld>
</p:sld>
</file>

<file path=ppt/slides/slide10.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9" name="section">
            <a:extLst xmlns:a="http://schemas.openxmlformats.org/drawingml/2006/main">
              <a:ext uri="{FF2B5EF4-FFF2-40B4-BE49-F238E27FC236}">
                <a16:creationId xmlns:a16="http://schemas.microsoft.com/office/drawing/2014/main" id="{85BE6C5A-9F07-4EE5-BF1B-2A1CF8EB085F}"/>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52EBA7F4-2F3C-4E27-A2E9-50864D376532}"/>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Nginx pertama — run, HTTP, log, exec</a:t>
            </a:r>
          </a:p>
        </p:txBody>
      </p:sp>
      <p:sp>
        <p:nvSpPr>
          <p:cNvPr id="3" name="subtitle">
            <a:extLst xmlns:a="http://schemas.openxmlformats.org/drawingml/2006/main">
              <a:ext uri="{FF2B5EF4-FFF2-40B4-BE49-F238E27FC236}">
                <a16:creationId xmlns:a16="http://schemas.microsoft.com/office/drawing/2014/main" id="{A646B1B5-0536-482E-AECE-A352D75C479C}"/>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Sebelum situs kasus, jalankan image bawaan pada port 8088.</a:t>
            </a:r>
          </a:p>
        </p:txBody>
      </p:sp>
      <p:sp>
        <p:nvSpPr>
          <p:cNvPr id="4" name="page">
            <a:extLst xmlns:a="http://schemas.openxmlformats.org/drawingml/2006/main">
              <a:ext uri="{FF2B5EF4-FFF2-40B4-BE49-F238E27FC236}">
                <a16:creationId xmlns:a16="http://schemas.microsoft.com/office/drawing/2014/main" id="{7FF07782-AA96-4771-81D7-BAC717C18463}"/>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10</a:t>
            </a:r>
          </a:p>
        </p:txBody>
      </p:sp>
      <p:sp>
        <p:nvSpPr>
          <p:cNvPr id="5" name="first-nginx-background">
            <a:extLst xmlns:a="http://schemas.openxmlformats.org/drawingml/2006/main">
              <a:ext uri="{FF2B5EF4-FFF2-40B4-BE49-F238E27FC236}">
                <a16:creationId xmlns:a16="http://schemas.microsoft.com/office/drawing/2014/main" id="{C980FAF9-870F-453C-834D-BAC6E90A6E0E}"/>
              </a:ext>
            </a:extLst>
          </p:cNvPr>
          <p:cNvSpPr>
            <a:spLocks xmlns:a="http://schemas.openxmlformats.org/drawingml/2006/main" noGrp="1"/>
          </p:cNvSpPr>
          <p:nvPr/>
        </p:nvSpPr>
        <p:spPr>
          <a:xfrm xmlns:a="http://schemas.openxmlformats.org/drawingml/2006/main">
            <a:off x="685800" y="2038350"/>
            <a:ext cx="10820400" cy="2971800"/>
          </a:xfrm>
          <a:prstGeom xmlns:a="http://schemas.openxmlformats.org/drawingml/2006/main" prst="rect">
            <a:avLst/>
          </a:prstGeom>
          <a:solidFill xmlns:a="http://schemas.openxmlformats.org/drawingml/2006/main">
            <a:srgbClr val="101722"/>
          </a:solidFill>
          <a:ln xmlns:a="http://schemas.openxmlformats.org/drawingml/2006/main" w="0">
            <a:noFill/>
          </a:ln>
        </p:spPr>
      </p:sp>
      <p:sp>
        <p:nvSpPr>
          <p:cNvPr id="6" name="first-nginx">
            <a:extLst xmlns:a="http://schemas.openxmlformats.org/drawingml/2006/main">
              <a:ext uri="{FF2B5EF4-FFF2-40B4-BE49-F238E27FC236}">
                <a16:creationId xmlns:a16="http://schemas.microsoft.com/office/drawing/2014/main" id="{D003FE73-E9F7-403C-8C77-7A43C72BE0B3}"/>
              </a:ext>
            </a:extLst>
          </p:cNvPr>
          <p:cNvSpPr>
            <a:spLocks xmlns:a="http://schemas.openxmlformats.org/drawingml/2006/main" noGrp="1"/>
          </p:cNvSpPr>
          <p:nvPr/>
        </p:nvSpPr>
        <p:spPr>
          <a:xfrm xmlns:a="http://schemas.openxmlformats.org/drawingml/2006/main">
            <a:off x="914400" y="2257425"/>
            <a:ext cx="103632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500" b="0">
                <a:solidFill>
                  <a:srgbClr val="E6F3FF"/>
                </a:solidFill>
                <a:latin typeface="Consolas"/>
                <a:ea typeface="Consolas"/>
                <a:cs typeface="Consolas"/>
              </a:defRPr>
            </a:pPr>
            <a:r>
              <a:rPr sz="1500" b="0">
                <a:solidFill>
                  <a:srgbClr val="E6F3FF"/>
                </a:solidFill>
                <a:latin typeface="Consolas"/>
                <a:ea typeface="Consolas"/>
                <a:cs typeface="Consolas"/>
              </a:rPr>
              <a:t>docker run --name cloudlab-nginx -d -p 127.0.0.1:8088:80 nginx:alpine</a:t>
            </a:r>
          </a:p>
          <a:p xmlns:a="http://schemas.openxmlformats.org/drawingml/2006/main">
            <a:pPr>
              <a:buNone/>
              <a:defRPr sz="1500" b="0">
                <a:solidFill>
                  <a:srgbClr val="E6F3FF"/>
                </a:solidFill>
                <a:latin typeface="Consolas"/>
                <a:ea typeface="Consolas"/>
                <a:cs typeface="Consolas"/>
              </a:defRPr>
            </a:pPr>
            <a:r>
              <a:rPr sz="1500" b="0">
                <a:solidFill>
                  <a:srgbClr val="E6F3FF"/>
                </a:solidFill>
                <a:latin typeface="Consolas"/>
                <a:ea typeface="Consolas"/>
                <a:cs typeface="Consolas"/>
              </a:rPr>
              <a:t>docker ps --filter name=cloudlab-nginx</a:t>
            </a:r>
          </a:p>
          <a:p xmlns:a="http://schemas.openxmlformats.org/drawingml/2006/main">
            <a:pPr>
              <a:buNone/>
              <a:defRPr sz="1500" b="0">
                <a:solidFill>
                  <a:srgbClr val="E6F3FF"/>
                </a:solidFill>
                <a:latin typeface="Consolas"/>
                <a:ea typeface="Consolas"/>
                <a:cs typeface="Consolas"/>
              </a:defRPr>
            </a:pPr>
            <a:r>
              <a:rPr sz="1500" b="0">
                <a:solidFill>
                  <a:srgbClr val="E6F3FF"/>
                </a:solidFill>
                <a:latin typeface="Consolas"/>
                <a:ea typeface="Consolas"/>
                <a:cs typeface="Consolas"/>
              </a:rPr>
              <a:t>curl.exe -I http://127.0.0.1:8088/</a:t>
            </a:r>
          </a:p>
          <a:p xmlns:a="http://schemas.openxmlformats.org/drawingml/2006/main">
            <a:pPr>
              <a:buNone/>
              <a:defRPr sz="1500" b="0">
                <a:solidFill>
                  <a:srgbClr val="E6F3FF"/>
                </a:solidFill>
                <a:latin typeface="Consolas"/>
                <a:ea typeface="Consolas"/>
                <a:cs typeface="Consolas"/>
              </a:defRPr>
            </a:pPr>
            <a:r>
              <a:rPr sz="1500" b="0">
                <a:solidFill>
                  <a:srgbClr val="E6F3FF"/>
                </a:solidFill>
                <a:latin typeface="Consolas"/>
                <a:ea typeface="Consolas"/>
                <a:cs typeface="Consolas"/>
              </a:rPr>
              <a:t>docker logs --tail 10 cloudlab-nginx</a:t>
            </a:r>
          </a:p>
          <a:p xmlns:a="http://schemas.openxmlformats.org/drawingml/2006/main">
            <a:pPr>
              <a:buNone/>
              <a:defRPr sz="1500" b="0">
                <a:solidFill>
                  <a:srgbClr val="E6F3FF"/>
                </a:solidFill>
                <a:latin typeface="Consolas"/>
                <a:ea typeface="Consolas"/>
                <a:cs typeface="Consolas"/>
              </a:defRPr>
            </a:pPr>
            <a:r>
              <a:rPr sz="1500" b="0">
                <a:solidFill>
                  <a:srgbClr val="E6F3FF"/>
                </a:solidFill>
                <a:latin typeface="Consolas"/>
                <a:ea typeface="Consolas"/>
                <a:cs typeface="Consolas"/>
              </a:rPr>
              <a:t>docker exec cloudlab-nginx sh -c 'hostname; ls /usr/share/nginx/html'</a:t>
            </a:r>
          </a:p>
        </p:txBody>
      </p:sp>
      <p:sp>
        <p:nvSpPr>
          <p:cNvPr id="7" name="explanation-label">
            <a:extLst xmlns:a="http://schemas.openxmlformats.org/drawingml/2006/main">
              <a:ext uri="{FF2B5EF4-FFF2-40B4-BE49-F238E27FC236}">
                <a16:creationId xmlns:a16="http://schemas.microsoft.com/office/drawing/2014/main" id="{7FE37097-12BC-4825-B31D-FA843941C148}"/>
              </a:ext>
            </a:extLst>
          </p:cNvPr>
          <p:cNvSpPr>
            <a:spLocks xmlns:a="http://schemas.openxmlformats.org/drawingml/2006/main" noGrp="1"/>
          </p:cNvSpPr>
          <p:nvPr/>
        </p:nvSpPr>
        <p:spPr>
          <a:xfrm xmlns:a="http://schemas.openxmlformats.org/drawingml/2006/main">
            <a:off x="685800" y="5238750"/>
            <a:ext cx="200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425" b="1">
                <a:solidFill>
                  <a:srgbClr val="F37021"/>
                </a:solidFill>
                <a:latin typeface="Calibri"/>
                <a:ea typeface="Calibri"/>
                <a:cs typeface="Calibri"/>
              </a:defRPr>
            </a:pPr>
            <a:r>
              <a:rPr sz="1425" b="1">
                <a:solidFill>
                  <a:srgbClr val="F37021"/>
                </a:solidFill>
                <a:latin typeface="Calibri"/>
                <a:ea typeface="Calibri"/>
                <a:cs typeface="Calibri"/>
              </a:rPr>
              <a:t>Baca hasil</a:t>
            </a:r>
          </a:p>
        </p:txBody>
      </p:sp>
      <p:sp>
        <p:nvSpPr>
          <p:cNvPr id="8" name="explanation-text">
            <a:extLst xmlns:a="http://schemas.openxmlformats.org/drawingml/2006/main">
              <a:ext uri="{FF2B5EF4-FFF2-40B4-BE49-F238E27FC236}">
                <a16:creationId xmlns:a16="http://schemas.microsoft.com/office/drawing/2014/main" id="{FCF93A34-A88F-4C58-B0E2-E5D858567A93}"/>
              </a:ext>
            </a:extLst>
          </p:cNvPr>
          <p:cNvSpPr>
            <a:spLocks xmlns:a="http://schemas.openxmlformats.org/drawingml/2006/main" noGrp="1"/>
          </p:cNvSpPr>
          <p:nvPr/>
        </p:nvSpPr>
        <p:spPr>
          <a:xfrm xmlns:a="http://schemas.openxmlformats.org/drawingml/2006/main">
            <a:off x="685800" y="5562600"/>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0F172A"/>
                </a:solidFill>
                <a:latin typeface="Calibri"/>
                <a:ea typeface="Calibri"/>
                <a:cs typeface="Calibri"/>
              </a:defRPr>
            </a:pPr>
            <a:r>
              <a:rPr sz="1725" b="0">
                <a:solidFill>
                  <a:srgbClr val="0F172A"/>
                </a:solidFill>
                <a:latin typeface="Calibri"/>
                <a:ea typeface="Calibri"/>
                <a:cs typeface="Calibri"/>
              </a:rPr>
              <a:t>Up dan HTTP 200 membuktikan layanan. logs memberi jejak request; exec membaca isi container tanpa mengubah image.</a:t>
            </a:r>
          </a:p>
        </p:txBody>
      </p:sp>
    </p:spTree>
    <p:extLst>
      <p:ext uri="{BB962C8B-B14F-4D97-AF65-F5344CB8AC3E}">
        <p14:creationId xmlns:p14="http://schemas.microsoft.com/office/powerpoint/2010/main" val="173500616"/>
      </p:ext>
    </p:extLst>
  </p:cSld>
</p:sld>
</file>

<file path=ppt/slides/slide11.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7" name="section">
            <a:extLst xmlns:a="http://schemas.openxmlformats.org/drawingml/2006/main">
              <a:ext uri="{FF2B5EF4-FFF2-40B4-BE49-F238E27FC236}">
                <a16:creationId xmlns:a16="http://schemas.microsoft.com/office/drawing/2014/main" id="{F5BAB2BA-2AFE-4DAB-8D9F-8BA7CE58E320}"/>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457ABB01-CA62-429B-968F-1073FB99931B}"/>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Bukti Nginx pertama</a:t>
            </a:r>
          </a:p>
        </p:txBody>
      </p:sp>
      <p:sp>
        <p:nvSpPr>
          <p:cNvPr id="3" name="subtitle">
            <a:extLst xmlns:a="http://schemas.openxmlformats.org/drawingml/2006/main">
              <a:ext uri="{FF2B5EF4-FFF2-40B4-BE49-F238E27FC236}">
                <a16:creationId xmlns:a16="http://schemas.microsoft.com/office/drawing/2014/main" id="{E09C5821-4C7D-4D7A-8AB4-654C17F35A82}"/>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Docker Desktop menunjukkan cloudlab-nginx aktif di port 8088.</a:t>
            </a:r>
          </a:p>
        </p:txBody>
      </p:sp>
      <p:sp>
        <p:nvSpPr>
          <p:cNvPr id="4" name="page">
            <a:extLst xmlns:a="http://schemas.openxmlformats.org/drawingml/2006/main">
              <a:ext uri="{FF2B5EF4-FFF2-40B4-BE49-F238E27FC236}">
                <a16:creationId xmlns:a16="http://schemas.microsoft.com/office/drawing/2014/main" id="{94D6C930-394B-43B7-8ABF-F2A0A85E0BBE}"/>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11</a:t>
            </a:r>
          </a:p>
        </p:txBody>
      </p:sp>
      <p:pic>
        <p:nvPicPr>
          <p:cNvPr id="13" name="">
            <a:extLst xmlns:a="http://schemas.openxmlformats.org/drawingml/2006/main">
              <a:ext uri="{FF2B5EF4-FFF2-40B4-BE49-F238E27FC236}">
                <a16:creationId xmlns:a16="http://schemas.microsoft.com/office/drawing/2014/main" id="{8AE713CC-FD6E-4964-9509-DA95019FA5FF}"/>
              </a:ext>
            </a:extLst>
          </p:cNvPr>
          <p:cNvPicPr>
            <a:picLocks xmlns:a="http://schemas.openxmlformats.org/drawingml/2006/main" noChangeAspect="1"/>
          </p:cNvPicPr>
          <p:nvPr/>
        </p:nvPicPr>
        <p:blipFill>
          <a:blip xmlns:r="http://schemas.openxmlformats.org/officeDocument/2006/relationships" xmlns:a="http://schemas.openxmlformats.org/drawingml/2006/main" r:embed="R008f14c75b8a4c4d"/>
          <a:srcRect xmlns:a="http://schemas.openxmlformats.org/drawingml/2006/main" l="0" t="18218" r="0" b="18218"/>
          <a:stretch xmlns:a="http://schemas.openxmlformats.org/drawingml/2006/main">
            <a:fillRect l="0" t="0" r="0" b="0"/>
          </a:stretch>
        </p:blipFill>
        <p:spPr>
          <a:xfrm xmlns:a="http://schemas.openxmlformats.org/drawingml/2006/main">
            <a:off x="685800" y="1857375"/>
            <a:ext cx="10820400" cy="3743325"/>
          </a:xfrm>
          <a:prstGeom xmlns:a="http://schemas.openxmlformats.org/drawingml/2006/main" prst="rect">
            <a:avLst/>
          </a:prstGeom>
        </p:spPr>
      </p:pic>
      <p:sp>
        <p:nvSpPr>
          <p:cNvPr id="6" name="evidence-nginx-caption">
            <a:extLst xmlns:a="http://schemas.openxmlformats.org/drawingml/2006/main">
              <a:ext uri="{FF2B5EF4-FFF2-40B4-BE49-F238E27FC236}">
                <a16:creationId xmlns:a16="http://schemas.microsoft.com/office/drawing/2014/main" id="{798AF8AE-EA56-43E3-AD3B-A3E69B9F7F35}"/>
              </a:ext>
            </a:extLst>
          </p:cNvPr>
          <p:cNvSpPr>
            <a:spLocks xmlns:a="http://schemas.openxmlformats.org/drawingml/2006/main" noGrp="1"/>
          </p:cNvSpPr>
          <p:nvPr/>
        </p:nvSpPr>
        <p:spPr>
          <a:xfrm xmlns:a="http://schemas.openxmlformats.org/drawingml/2006/main">
            <a:off x="685800" y="5705475"/>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500" b="0">
                <a:solidFill>
                  <a:srgbClr val="475569"/>
                </a:solidFill>
                <a:latin typeface="Calibri"/>
                <a:ea typeface="Calibri"/>
                <a:cs typeface="Calibri"/>
              </a:defRPr>
            </a:pPr>
            <a:r>
              <a:rPr sz="1500" b="0">
                <a:solidFill>
                  <a:srgbClr val="475569"/>
                </a:solidFill>
                <a:latin typeface="Calibri"/>
                <a:ea typeface="Calibri"/>
                <a:cs typeface="Calibri"/>
              </a:rPr>
              <a:t>docker run -p 127.0.0.1:8088:80 meneruskan host 8088 ke Nginx 80; curl.exe -I membuktikan HTTP 200.</a:t>
            </a:r>
          </a:p>
        </p:txBody>
      </p:sp>
    </p:spTree>
    <p:extLst>
      <p:ext uri="{BB962C8B-B14F-4D97-AF65-F5344CB8AC3E}">
        <p14:creationId xmlns:p14="http://schemas.microsoft.com/office/powerpoint/2010/main" val="916176440"/>
      </p:ext>
    </p:extLst>
  </p:cSld>
</p:sld>
</file>

<file path=ppt/slides/slide1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9" name="section">
            <a:extLst xmlns:a="http://schemas.openxmlformats.org/drawingml/2006/main">
              <a:ext uri="{FF2B5EF4-FFF2-40B4-BE49-F238E27FC236}">
                <a16:creationId xmlns:a16="http://schemas.microsoft.com/office/drawing/2014/main" id="{35D182A3-EFC8-4C4B-B29D-038069FC3FA0}"/>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74073811-E199-42C5-9F6E-A94FA9E40942}"/>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Siklus container yang sama</a:t>
            </a:r>
          </a:p>
        </p:txBody>
      </p:sp>
      <p:sp>
        <p:nvSpPr>
          <p:cNvPr id="3" name="subtitle">
            <a:extLst xmlns:a="http://schemas.openxmlformats.org/drawingml/2006/main">
              <a:ext uri="{FF2B5EF4-FFF2-40B4-BE49-F238E27FC236}">
                <a16:creationId xmlns:a16="http://schemas.microsoft.com/office/drawing/2014/main" id="{74046377-B6B6-4F84-88BE-E22181101662}"/>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stop mempertahankan container; rm menghapusnya dan membebaskan port 8088.</a:t>
            </a:r>
          </a:p>
        </p:txBody>
      </p:sp>
      <p:sp>
        <p:nvSpPr>
          <p:cNvPr id="4" name="page">
            <a:extLst xmlns:a="http://schemas.openxmlformats.org/drawingml/2006/main">
              <a:ext uri="{FF2B5EF4-FFF2-40B4-BE49-F238E27FC236}">
                <a16:creationId xmlns:a16="http://schemas.microsoft.com/office/drawing/2014/main" id="{C6021AD0-77D0-4520-8156-8B174F7104CC}"/>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12</a:t>
            </a:r>
          </a:p>
        </p:txBody>
      </p:sp>
      <p:sp>
        <p:nvSpPr>
          <p:cNvPr id="5" name="first-lifecycle-background">
            <a:extLst xmlns:a="http://schemas.openxmlformats.org/drawingml/2006/main">
              <a:ext uri="{FF2B5EF4-FFF2-40B4-BE49-F238E27FC236}">
                <a16:creationId xmlns:a16="http://schemas.microsoft.com/office/drawing/2014/main" id="{73D5310C-E832-481D-A6B3-CD3BA167C734}"/>
              </a:ext>
            </a:extLst>
          </p:cNvPr>
          <p:cNvSpPr>
            <a:spLocks xmlns:a="http://schemas.openxmlformats.org/drawingml/2006/main" noGrp="1"/>
          </p:cNvSpPr>
          <p:nvPr/>
        </p:nvSpPr>
        <p:spPr>
          <a:xfrm xmlns:a="http://schemas.openxmlformats.org/drawingml/2006/main">
            <a:off x="685800" y="2009775"/>
            <a:ext cx="10820400" cy="3276600"/>
          </a:xfrm>
          <a:prstGeom xmlns:a="http://schemas.openxmlformats.org/drawingml/2006/main" prst="rect">
            <a:avLst/>
          </a:prstGeom>
          <a:solidFill xmlns:a="http://schemas.openxmlformats.org/drawingml/2006/main">
            <a:srgbClr val="101722"/>
          </a:solidFill>
          <a:ln xmlns:a="http://schemas.openxmlformats.org/drawingml/2006/main" w="0">
            <a:noFill/>
          </a:ln>
        </p:spPr>
      </p:sp>
      <p:sp>
        <p:nvSpPr>
          <p:cNvPr id="6" name="first-lifecycle">
            <a:extLst xmlns:a="http://schemas.openxmlformats.org/drawingml/2006/main">
              <a:ext uri="{FF2B5EF4-FFF2-40B4-BE49-F238E27FC236}">
                <a16:creationId xmlns:a16="http://schemas.microsoft.com/office/drawing/2014/main" id="{8BE1CC39-3421-4D2F-ACC1-EA72DB7A8556}"/>
              </a:ext>
            </a:extLst>
          </p:cNvPr>
          <p:cNvSpPr>
            <a:spLocks xmlns:a="http://schemas.openxmlformats.org/drawingml/2006/main" noGrp="1"/>
          </p:cNvSpPr>
          <p:nvPr/>
        </p:nvSpPr>
        <p:spPr>
          <a:xfrm xmlns:a="http://schemas.openxmlformats.org/drawingml/2006/main">
            <a:off x="914400" y="2228850"/>
            <a:ext cx="10363200" cy="287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575" b="0">
                <a:solidFill>
                  <a:srgbClr val="E6F3FF"/>
                </a:solidFill>
                <a:latin typeface="Consolas"/>
                <a:ea typeface="Consolas"/>
                <a:cs typeface="Consolas"/>
              </a:defRPr>
            </a:pPr>
            <a:r>
              <a:rPr sz="1575" b="0">
                <a:solidFill>
                  <a:srgbClr val="E6F3FF"/>
                </a:solidFill>
                <a:latin typeface="Consolas"/>
                <a:ea typeface="Consolas"/>
                <a:cs typeface="Consolas"/>
              </a:rPr>
              <a:t>docker stop cloudlab-nginx</a:t>
            </a:r>
          </a:p>
          <a:p xmlns:a="http://schemas.openxmlformats.org/drawingml/2006/main">
            <a:pPr>
              <a:buNone/>
              <a:defRPr sz="1575" b="0">
                <a:solidFill>
                  <a:srgbClr val="E6F3FF"/>
                </a:solidFill>
                <a:latin typeface="Consolas"/>
                <a:ea typeface="Consolas"/>
                <a:cs typeface="Consolas"/>
              </a:defRPr>
            </a:pPr>
            <a:r>
              <a:rPr sz="1575" b="0">
                <a:solidFill>
                  <a:srgbClr val="E6F3FF"/>
                </a:solidFill>
                <a:latin typeface="Consolas"/>
                <a:ea typeface="Consolas"/>
                <a:cs typeface="Consolas"/>
              </a:rPr>
              <a:t>docker ps --filter name=cloudlab-nginx</a:t>
            </a:r>
          </a:p>
          <a:p xmlns:a="http://schemas.openxmlformats.org/drawingml/2006/main">
            <a:pPr>
              <a:buNone/>
              <a:defRPr sz="1575" b="0">
                <a:solidFill>
                  <a:srgbClr val="E6F3FF"/>
                </a:solidFill>
                <a:latin typeface="Consolas"/>
                <a:ea typeface="Consolas"/>
                <a:cs typeface="Consolas"/>
              </a:defRPr>
            </a:pPr>
            <a:r>
              <a:rPr sz="1575" b="0">
                <a:solidFill>
                  <a:srgbClr val="E6F3FF"/>
                </a:solidFill>
                <a:latin typeface="Consolas"/>
                <a:ea typeface="Consolas"/>
                <a:cs typeface="Consolas"/>
              </a:rPr>
              <a:t>docker ps -a --filter name=cloudlab-nginx</a:t>
            </a:r>
          </a:p>
          <a:p xmlns:a="http://schemas.openxmlformats.org/drawingml/2006/main">
            <a:pPr>
              <a:buNone/>
              <a:defRPr sz="1575" b="0">
                <a:solidFill>
                  <a:srgbClr val="E6F3FF"/>
                </a:solidFill>
                <a:latin typeface="Consolas"/>
                <a:ea typeface="Consolas"/>
                <a:cs typeface="Consolas"/>
              </a:defRPr>
            </a:pPr>
            <a:r>
              <a:rPr sz="1575" b="0">
                <a:solidFill>
                  <a:srgbClr val="E6F3FF"/>
                </a:solidFill>
                <a:latin typeface="Consolas"/>
                <a:ea typeface="Consolas"/>
                <a:cs typeface="Consolas"/>
              </a:rPr>
              <a:t>docker start cloudlab-nginx</a:t>
            </a:r>
          </a:p>
          <a:p xmlns:a="http://schemas.openxmlformats.org/drawingml/2006/main">
            <a:pPr>
              <a:buNone/>
              <a:defRPr sz="1575" b="0">
                <a:solidFill>
                  <a:srgbClr val="E6F3FF"/>
                </a:solidFill>
                <a:latin typeface="Consolas"/>
                <a:ea typeface="Consolas"/>
                <a:cs typeface="Consolas"/>
              </a:defRPr>
            </a:pPr>
            <a:r>
              <a:rPr sz="1575" b="0">
                <a:solidFill>
                  <a:srgbClr val="E6F3FF"/>
                </a:solidFill>
                <a:latin typeface="Consolas"/>
                <a:ea typeface="Consolas"/>
                <a:cs typeface="Consolas"/>
              </a:rPr>
              <a:t>docker ps --filter name=cloudlab-nginx</a:t>
            </a:r>
          </a:p>
          <a:p xmlns:a="http://schemas.openxmlformats.org/drawingml/2006/main">
            <a:pPr>
              <a:buNone/>
              <a:defRPr sz="1575" b="0">
                <a:solidFill>
                  <a:srgbClr val="E6F3FF"/>
                </a:solidFill>
                <a:latin typeface="Consolas"/>
                <a:ea typeface="Consolas"/>
                <a:cs typeface="Consolas"/>
              </a:defRPr>
            </a:pPr>
            <a:r>
              <a:rPr sz="1575" b="0">
                <a:solidFill>
                  <a:srgbClr val="E6F3FF"/>
                </a:solidFill>
                <a:latin typeface="Consolas"/>
                <a:ea typeface="Consolas"/>
                <a:cs typeface="Consolas"/>
              </a:rPr>
              <a:t>docker stop cloudlab-nginx</a:t>
            </a:r>
          </a:p>
          <a:p xmlns:a="http://schemas.openxmlformats.org/drawingml/2006/main">
            <a:pPr>
              <a:buNone/>
              <a:defRPr sz="1575" b="0">
                <a:solidFill>
                  <a:srgbClr val="E6F3FF"/>
                </a:solidFill>
                <a:latin typeface="Consolas"/>
                <a:ea typeface="Consolas"/>
                <a:cs typeface="Consolas"/>
              </a:defRPr>
            </a:pPr>
            <a:r>
              <a:rPr sz="1575" b="0">
                <a:solidFill>
                  <a:srgbClr val="E6F3FF"/>
                </a:solidFill>
                <a:latin typeface="Consolas"/>
                <a:ea typeface="Consolas"/>
                <a:cs typeface="Consolas"/>
              </a:rPr>
              <a:t>docker rm cloudlab-nginx</a:t>
            </a:r>
          </a:p>
        </p:txBody>
      </p:sp>
      <p:sp>
        <p:nvSpPr>
          <p:cNvPr id="7" name="explanation-label">
            <a:extLst xmlns:a="http://schemas.openxmlformats.org/drawingml/2006/main">
              <a:ext uri="{FF2B5EF4-FFF2-40B4-BE49-F238E27FC236}">
                <a16:creationId xmlns:a16="http://schemas.microsoft.com/office/drawing/2014/main" id="{F1598BCA-2088-4EF1-9F2B-73EEC3CAEB3E}"/>
              </a:ext>
            </a:extLst>
          </p:cNvPr>
          <p:cNvSpPr>
            <a:spLocks xmlns:a="http://schemas.openxmlformats.org/drawingml/2006/main" noGrp="1"/>
          </p:cNvSpPr>
          <p:nvPr/>
        </p:nvSpPr>
        <p:spPr>
          <a:xfrm xmlns:a="http://schemas.openxmlformats.org/drawingml/2006/main">
            <a:off x="685800" y="5438775"/>
            <a:ext cx="200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425" b="1">
                <a:solidFill>
                  <a:srgbClr val="F37021"/>
                </a:solidFill>
                <a:latin typeface="Calibri"/>
                <a:ea typeface="Calibri"/>
                <a:cs typeface="Calibri"/>
              </a:defRPr>
            </a:pPr>
            <a:r>
              <a:rPr sz="1425" b="1">
                <a:solidFill>
                  <a:srgbClr val="F37021"/>
                </a:solidFill>
                <a:latin typeface="Calibri"/>
                <a:ea typeface="Calibri"/>
                <a:cs typeface="Calibri"/>
              </a:rPr>
              <a:t>Baca hasil</a:t>
            </a:r>
          </a:p>
        </p:txBody>
      </p:sp>
      <p:sp>
        <p:nvSpPr>
          <p:cNvPr id="8" name="explanation-text">
            <a:extLst xmlns:a="http://schemas.openxmlformats.org/drawingml/2006/main">
              <a:ext uri="{FF2B5EF4-FFF2-40B4-BE49-F238E27FC236}">
                <a16:creationId xmlns:a16="http://schemas.microsoft.com/office/drawing/2014/main" id="{F1C7B5BE-938F-4B08-9199-6B052596681C}"/>
              </a:ext>
            </a:extLst>
          </p:cNvPr>
          <p:cNvSpPr>
            <a:spLocks xmlns:a="http://schemas.openxmlformats.org/drawingml/2006/main" noGrp="1"/>
          </p:cNvSpPr>
          <p:nvPr/>
        </p:nvSpPr>
        <p:spPr>
          <a:xfrm xmlns:a="http://schemas.openxmlformats.org/drawingml/2006/main">
            <a:off x="685800" y="576262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89737"/>
          </a:bodyPr>
          <a:lstStyle xmlns:a="http://schemas.openxmlformats.org/drawingml/2006/main"/>
          <a:p xmlns:a="http://schemas.openxmlformats.org/drawingml/2006/main">
            <a:pPr>
              <a:buNone/>
              <a:defRPr sz="1725" b="0">
                <a:solidFill>
                  <a:srgbClr val="0F172A"/>
                </a:solidFill>
                <a:latin typeface="Calibri"/>
                <a:ea typeface="Calibri"/>
                <a:cs typeface="Calibri"/>
              </a:defRPr>
            </a:pPr>
            <a:r>
              <a:rPr sz="1725" b="0">
                <a:solidFill>
                  <a:srgbClr val="0F172A"/>
                </a:solidFill>
                <a:latin typeface="Calibri"/>
                <a:ea typeface="Calibri"/>
                <a:cs typeface="Calibri"/>
              </a:rPr>
              <a:t>ps hanya menampilkan yang hidup; ps -a juga menampilkan Exited. start mempertahankan identitas. Setelah rm, image tetap tersimpan.</a:t>
            </a:r>
          </a:p>
        </p:txBody>
      </p:sp>
    </p:spTree>
    <p:extLst>
      <p:ext uri="{BB962C8B-B14F-4D97-AF65-F5344CB8AC3E}">
        <p14:creationId xmlns:p14="http://schemas.microsoft.com/office/powerpoint/2010/main" val="366348626"/>
      </p:ext>
    </p:extLst>
  </p:cSld>
</p:sld>
</file>

<file path=ppt/slides/slide1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7" name="section">
            <a:extLst xmlns:a="http://schemas.openxmlformats.org/drawingml/2006/main">
              <a:ext uri="{FF2B5EF4-FFF2-40B4-BE49-F238E27FC236}">
                <a16:creationId xmlns:a16="http://schemas.microsoft.com/office/drawing/2014/main" id="{2D90FC9D-E142-403E-A45A-A6BAE641F734}"/>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CE65DF6F-DAF0-4ADB-9DA8-7F4C5403E1A3}"/>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Bukti lifecycle — Exited lalu Up</a:t>
            </a:r>
          </a:p>
        </p:txBody>
      </p:sp>
      <p:sp>
        <p:nvSpPr>
          <p:cNvPr id="3" name="subtitle">
            <a:extLst xmlns:a="http://schemas.openxmlformats.org/drawingml/2006/main">
              <a:ext uri="{FF2B5EF4-FFF2-40B4-BE49-F238E27FC236}">
                <a16:creationId xmlns:a16="http://schemas.microsoft.com/office/drawing/2014/main" id="{209AEAB2-4843-49DA-9CAD-FF8EAD051EC2}"/>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ID/nama container tetap selama stop dan start.</a:t>
            </a:r>
          </a:p>
        </p:txBody>
      </p:sp>
      <p:sp>
        <p:nvSpPr>
          <p:cNvPr id="4" name="page">
            <a:extLst xmlns:a="http://schemas.openxmlformats.org/drawingml/2006/main">
              <a:ext uri="{FF2B5EF4-FFF2-40B4-BE49-F238E27FC236}">
                <a16:creationId xmlns:a16="http://schemas.microsoft.com/office/drawing/2014/main" id="{68EA49EC-BC29-474A-A501-C0C26B0DB66F}"/>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13</a:t>
            </a:r>
          </a:p>
        </p:txBody>
      </p:sp>
      <p:pic>
        <p:nvPicPr>
          <p:cNvPr id="13" name="">
            <a:extLst xmlns:a="http://schemas.openxmlformats.org/drawingml/2006/main">
              <a:ext uri="{FF2B5EF4-FFF2-40B4-BE49-F238E27FC236}">
                <a16:creationId xmlns:a16="http://schemas.microsoft.com/office/drawing/2014/main" id="{33B81930-F568-40EA-882B-A5E2D76ED686}"/>
              </a:ext>
            </a:extLst>
          </p:cNvPr>
          <p:cNvPicPr>
            <a:picLocks xmlns:a="http://schemas.openxmlformats.org/drawingml/2006/main" noChangeAspect="1"/>
          </p:cNvPicPr>
          <p:nvPr/>
        </p:nvPicPr>
        <p:blipFill>
          <a:blip xmlns:r="http://schemas.openxmlformats.org/officeDocument/2006/relationships" xmlns:a="http://schemas.openxmlformats.org/drawingml/2006/main" r:embed="Rd0693e852abd4165"/>
          <a:stretch xmlns:a="http://schemas.openxmlformats.org/drawingml/2006/main"/>
        </p:blipFill>
        <p:spPr>
          <a:xfrm xmlns:a="http://schemas.openxmlformats.org/drawingml/2006/main">
            <a:off x="1018847" y="1857375"/>
            <a:ext cx="10154307" cy="3743325"/>
          </a:xfrm>
          <a:prstGeom xmlns:a="http://schemas.openxmlformats.org/drawingml/2006/main" prst="rect">
            <a:avLst/>
          </a:prstGeom>
        </p:spPr>
      </p:pic>
      <p:sp>
        <p:nvSpPr>
          <p:cNvPr id="6" name="evidence-lifecycle-caption">
            <a:extLst xmlns:a="http://schemas.openxmlformats.org/drawingml/2006/main">
              <a:ext uri="{FF2B5EF4-FFF2-40B4-BE49-F238E27FC236}">
                <a16:creationId xmlns:a16="http://schemas.microsoft.com/office/drawing/2014/main" id="{41A074AD-D333-47E6-97EC-0979380EC582}"/>
              </a:ext>
            </a:extLst>
          </p:cNvPr>
          <p:cNvSpPr>
            <a:spLocks xmlns:a="http://schemas.openxmlformats.org/drawingml/2006/main" noGrp="1"/>
          </p:cNvSpPr>
          <p:nvPr/>
        </p:nvSpPr>
        <p:spPr>
          <a:xfrm xmlns:a="http://schemas.openxmlformats.org/drawingml/2006/main">
            <a:off x="685800" y="5705475"/>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500" b="0">
                <a:solidFill>
                  <a:srgbClr val="475569"/>
                </a:solidFill>
                <a:latin typeface="Calibri"/>
                <a:ea typeface="Calibri"/>
                <a:cs typeface="Calibri"/>
              </a:defRPr>
            </a:pPr>
            <a:r>
              <a:rPr sz="1500" b="0">
                <a:solidFill>
                  <a:srgbClr val="475569"/>
                </a:solidFill>
                <a:latin typeface="Calibri"/>
                <a:ea typeface="Calibri"/>
                <a:cs typeface="Calibri"/>
              </a:rPr>
              <a:t>Perintah: docker stop, docker ps -a, docker start, docker ps. Status berubah; image sama.</a:t>
            </a:r>
          </a:p>
        </p:txBody>
      </p:sp>
    </p:spTree>
    <p:extLst>
      <p:ext uri="{BB962C8B-B14F-4D97-AF65-F5344CB8AC3E}">
        <p14:creationId xmlns:p14="http://schemas.microsoft.com/office/powerpoint/2010/main" val="988922419"/>
      </p:ext>
    </p:extLst>
  </p:cSld>
</p:sld>
</file>

<file path=ppt/slides/slide1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9" name="section">
            <a:extLst xmlns:a="http://schemas.openxmlformats.org/drawingml/2006/main">
              <a:ext uri="{FF2B5EF4-FFF2-40B4-BE49-F238E27FC236}">
                <a16:creationId xmlns:a16="http://schemas.microsoft.com/office/drawing/2014/main" id="{5F3CD918-09CF-4D39-BC66-80EFEDB34E2E}"/>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EB1CF996-22A5-4EDE-B39C-70075DF4E41F}"/>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Challenge B — situs di localhost:8088</a:t>
            </a:r>
          </a:p>
        </p:txBody>
      </p:sp>
      <p:sp>
        <p:nvSpPr>
          <p:cNvPr id="3" name="subtitle">
            <a:extLst xmlns:a="http://schemas.openxmlformats.org/drawingml/2006/main">
              <a:ext uri="{FF2B5EF4-FFF2-40B4-BE49-F238E27FC236}">
                <a16:creationId xmlns:a16="http://schemas.microsoft.com/office/drawing/2014/main" id="{9DAF3FA4-9EAC-4544-A6AF-BDF28C5F64D4}"/>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Jalur manual PowerShell dari root repo. Jalankan satu blok lengkap di terminal yang sama.</a:t>
            </a:r>
          </a:p>
        </p:txBody>
      </p:sp>
      <p:sp>
        <p:nvSpPr>
          <p:cNvPr id="4" name="page">
            <a:extLst xmlns:a="http://schemas.openxmlformats.org/drawingml/2006/main">
              <a:ext uri="{FF2B5EF4-FFF2-40B4-BE49-F238E27FC236}">
                <a16:creationId xmlns:a16="http://schemas.microsoft.com/office/drawing/2014/main" id="{90C78D83-C602-4D88-B573-705FBF253E5B}"/>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14</a:t>
            </a:r>
          </a:p>
        </p:txBody>
      </p:sp>
      <p:sp>
        <p:nvSpPr>
          <p:cNvPr id="5" name="solution-b-background">
            <a:extLst xmlns:a="http://schemas.openxmlformats.org/drawingml/2006/main">
              <a:ext uri="{FF2B5EF4-FFF2-40B4-BE49-F238E27FC236}">
                <a16:creationId xmlns:a16="http://schemas.microsoft.com/office/drawing/2014/main" id="{E911158A-6A53-46EF-891B-154A671A35F5}"/>
              </a:ext>
            </a:extLst>
          </p:cNvPr>
          <p:cNvSpPr>
            <a:spLocks xmlns:a="http://schemas.openxmlformats.org/drawingml/2006/main" noGrp="1"/>
          </p:cNvSpPr>
          <p:nvPr/>
        </p:nvSpPr>
        <p:spPr>
          <a:xfrm xmlns:a="http://schemas.openxmlformats.org/drawingml/2006/main">
            <a:off x="685800" y="2028825"/>
            <a:ext cx="10820400" cy="3171825"/>
          </a:xfrm>
          <a:prstGeom xmlns:a="http://schemas.openxmlformats.org/drawingml/2006/main" prst="rect">
            <a:avLst/>
          </a:prstGeom>
          <a:solidFill xmlns:a="http://schemas.openxmlformats.org/drawingml/2006/main">
            <a:srgbClr val="101722"/>
          </a:solidFill>
          <a:ln xmlns:a="http://schemas.openxmlformats.org/drawingml/2006/main" w="0">
            <a:noFill/>
          </a:ln>
        </p:spPr>
      </p:sp>
      <p:sp>
        <p:nvSpPr>
          <p:cNvPr id="6" name="solution-b">
            <a:extLst xmlns:a="http://schemas.openxmlformats.org/drawingml/2006/main">
              <a:ext uri="{FF2B5EF4-FFF2-40B4-BE49-F238E27FC236}">
                <a16:creationId xmlns:a16="http://schemas.microsoft.com/office/drawing/2014/main" id="{71566FE2-80AB-49B2-AB96-C92E47B13837}"/>
              </a:ext>
            </a:extLst>
          </p:cNvPr>
          <p:cNvSpPr>
            <a:spLocks xmlns:a="http://schemas.openxmlformats.org/drawingml/2006/main" noGrp="1"/>
          </p:cNvSpPr>
          <p:nvPr/>
        </p:nvSpPr>
        <p:spPr>
          <a:xfrm xmlns:a="http://schemas.openxmlformats.org/drawingml/2006/main">
            <a:off x="914400" y="2247900"/>
            <a:ext cx="10363200" cy="2771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a:solidFill>
                  <a:srgbClr val="E6F3FF"/>
                </a:solidFill>
                <a:latin typeface="Consolas"/>
                <a:ea typeface="Consolas"/>
                <a:cs typeface="Consolas"/>
              </a:defRPr>
            </a:defPPr>
          </a:lstStyle>
          <a:p xmlns:a="http://schemas.openxmlformats.org/drawingml/2006/main">
            <a:pPr algn="l">
              <a:buNone/>
              <a:defRPr sz="1350" b="0">
                <a:solidFill>
                  <a:srgbClr val="E6F3FF"/>
                </a:solidFill>
                <a:latin typeface="Consolas"/>
                <a:ea typeface="Consolas"/>
                <a:cs typeface="Consolas"/>
              </a:defRPr>
            </a:pPr>
            <a:r>
              <a:rPr sz="1350" b="0">
                <a:solidFill>
                  <a:srgbClr val="E6F3FF"/>
                </a:solidFill>
                <a:latin typeface="Consolas"/>
                <a:ea typeface="Consolas"/>
                <a:cs typeface="Consolas"/>
              </a:rPr>
              <a:t>&amp; {</a:t>
            </a:r>
          </a:p>
          <a:p xmlns:a="http://schemas.openxmlformats.org/drawingml/2006/main">
            <a:pPr algn="l">
              <a:buNone/>
              <a:defRPr sz="1350" b="0">
                <a:solidFill>
                  <a:srgbClr val="E6F3FF"/>
                </a:solidFill>
                <a:latin typeface="Consolas"/>
                <a:ea typeface="Consolas"/>
                <a:cs typeface="Consolas"/>
              </a:defRPr>
            </a:pPr>
            <a:r>
              <a:rPr sz="1350" b="0">
                <a:solidFill>
                  <a:srgbClr val="E6F3FF"/>
                </a:solidFill>
                <a:latin typeface="Consolas"/>
                <a:ea typeface="Consolas"/>
                <a:cs typeface="Consolas"/>
              </a:rPr>
              <a:t>  if (-not (Test-Path -LiteralPath '.\site\index.html' -PathType Leaf)) { throw 'Buka root repo' }</a:t>
            </a:r>
          </a:p>
          <a:p xmlns:a="http://schemas.openxmlformats.org/drawingml/2006/main">
            <a:pPr algn="l">
              <a:buNone/>
              <a:defRPr sz="1350" b="0">
                <a:solidFill>
                  <a:srgbClr val="E6F3FF"/>
                </a:solidFill>
                <a:latin typeface="Consolas"/>
                <a:ea typeface="Consolas"/>
                <a:cs typeface="Consolas"/>
              </a:defRPr>
            </a:pPr>
            <a:r>
              <a:rPr sz="1350" b="0">
                <a:solidFill>
                  <a:srgbClr val="E6F3FF"/>
                </a:solidFill>
                <a:latin typeface="Consolas"/>
                <a:ea typeface="Consolas"/>
                <a:cs typeface="Consolas"/>
              </a:rPr>
              <a:t>  $siteDir = (Resolve-Path -LiteralPath '.\site' -ErrorAction Stop).Path</a:t>
            </a:r>
          </a:p>
          <a:p xmlns:a="http://schemas.openxmlformats.org/drawingml/2006/main">
            <a:pPr algn="l">
              <a:buNone/>
              <a:defRPr sz="1350" b="0">
                <a:solidFill>
                  <a:srgbClr val="E6F3FF"/>
                </a:solidFill>
                <a:latin typeface="Consolas"/>
                <a:ea typeface="Consolas"/>
                <a:cs typeface="Consolas"/>
              </a:defRPr>
            </a:pPr>
            <a:r>
              <a:rPr sz="1350" b="0">
                <a:solidFill>
                  <a:srgbClr val="E6F3FF"/>
                </a:solidFill>
                <a:latin typeface="Consolas"/>
                <a:ea typeface="Consolas"/>
                <a:cs typeface="Consolas"/>
              </a:rPr>
              <a:t>  $mount = "type=bind,source=$siteDir,target=/usr/share/nginx/html,readonly"</a:t>
            </a:r>
          </a:p>
          <a:p xmlns:a="http://schemas.openxmlformats.org/drawingml/2006/main">
            <a:pPr algn="l">
              <a:buNone/>
              <a:defRPr sz="1350" b="0">
                <a:solidFill>
                  <a:srgbClr val="E6F3FF"/>
                </a:solidFill>
                <a:latin typeface="Consolas"/>
                <a:ea typeface="Consolas"/>
                <a:cs typeface="Consolas"/>
              </a:defRPr>
            </a:pPr>
            <a:r>
              <a:rPr sz="1350" b="0">
                <a:solidFill>
                  <a:srgbClr val="E6F3FF"/>
                </a:solidFill>
                <a:latin typeface="Consolas"/>
                <a:ea typeface="Consolas"/>
                <a:cs typeface="Consolas"/>
              </a:rPr>
              <a:t>  $mount</a:t>
            </a:r>
          </a:p>
          <a:p xmlns:a="http://schemas.openxmlformats.org/drawingml/2006/main">
            <a:pPr algn="l">
              <a:buNone/>
              <a:defRPr sz="1350" b="0">
                <a:solidFill>
                  <a:srgbClr val="E6F3FF"/>
                </a:solidFill>
                <a:latin typeface="Consolas"/>
                <a:ea typeface="Consolas"/>
                <a:cs typeface="Consolas"/>
              </a:defRPr>
            </a:pPr>
            <a:r>
              <a:rPr sz="1350" b="0">
                <a:solidFill>
                  <a:srgbClr val="E6F3FF"/>
                </a:solidFill>
                <a:latin typeface="Consolas"/>
                <a:ea typeface="Consolas"/>
                <a:cs typeface="Consolas"/>
              </a:rPr>
              <a:t>  docker run --name cloudlab-site -d -p 127.0.0.1:8088:80 --mount "$mount" nginx:alpine</a:t>
            </a:r>
          </a:p>
          <a:p xmlns:a="http://schemas.openxmlformats.org/drawingml/2006/main">
            <a:pPr algn="l">
              <a:buNone/>
              <a:defRPr sz="1350" b="0">
                <a:solidFill>
                  <a:srgbClr val="E6F3FF"/>
                </a:solidFill>
                <a:latin typeface="Consolas"/>
                <a:ea typeface="Consolas"/>
                <a:cs typeface="Consolas"/>
              </a:defRPr>
            </a:pPr>
            <a:r>
              <a:rPr sz="1350" b="0">
                <a:solidFill>
                  <a:srgbClr val="E6F3FF"/>
                </a:solidFill>
                <a:latin typeface="Consolas"/>
                <a:ea typeface="Consolas"/>
                <a:cs typeface="Consolas"/>
              </a:rPr>
              <a:t>  if ($LASTEXITCODE -ne 0) { throw 'Startup gagal. Baca error atau gunakan helper repair.' }</a:t>
            </a:r>
          </a:p>
          <a:p xmlns:a="http://schemas.openxmlformats.org/drawingml/2006/main">
            <a:pPr algn="l">
              <a:buNone/>
              <a:defRPr sz="1350" b="0">
                <a:solidFill>
                  <a:srgbClr val="E6F3FF"/>
                </a:solidFill>
                <a:latin typeface="Consolas"/>
                <a:ea typeface="Consolas"/>
                <a:cs typeface="Consolas"/>
              </a:defRPr>
            </a:pPr>
            <a:r>
              <a:rPr sz="1350" b="0">
                <a:solidFill>
                  <a:srgbClr val="E6F3FF"/>
                </a:solidFill>
                <a:latin typeface="Consolas"/>
                <a:ea typeface="Consolas"/>
                <a:cs typeface="Consolas"/>
              </a:rPr>
              <a:t>  docker ps --filter name=cloudlab-site</a:t>
            </a:r>
          </a:p>
          <a:p xmlns:a="http://schemas.openxmlformats.org/drawingml/2006/main">
            <a:pPr algn="l">
              <a:buNone/>
              <a:defRPr sz="1350" b="0">
                <a:solidFill>
                  <a:srgbClr val="E6F3FF"/>
                </a:solidFill>
                <a:latin typeface="Consolas"/>
                <a:ea typeface="Consolas"/>
                <a:cs typeface="Consolas"/>
              </a:defRPr>
            </a:pPr>
            <a:r>
              <a:rPr sz="1350" b="0">
                <a:solidFill>
                  <a:srgbClr val="E6F3FF"/>
                </a:solidFill>
                <a:latin typeface="Consolas"/>
                <a:ea typeface="Consolas"/>
                <a:cs typeface="Consolas"/>
              </a:rPr>
              <a:t>  docker port cloudlab-site 80</a:t>
            </a:r>
          </a:p>
          <a:p xmlns:a="http://schemas.openxmlformats.org/drawingml/2006/main">
            <a:pPr algn="l">
              <a:buNone/>
              <a:defRPr sz="1350" b="0">
                <a:solidFill>
                  <a:srgbClr val="E6F3FF"/>
                </a:solidFill>
                <a:latin typeface="Consolas"/>
                <a:ea typeface="Consolas"/>
                <a:cs typeface="Consolas"/>
              </a:defRPr>
            </a:pPr>
            <a:r>
              <a:rPr sz="1350" b="0">
                <a:solidFill>
                  <a:srgbClr val="E6F3FF"/>
                </a:solidFill>
                <a:latin typeface="Consolas"/>
                <a:ea typeface="Consolas"/>
                <a:cs typeface="Consolas"/>
              </a:rPr>
              <a:t>  docker inspect cloudlab-site --format '{{range .Mounts}}RW={{.RW}}{{end}}'</a:t>
            </a:r>
          </a:p>
          <a:p xmlns:a="http://schemas.openxmlformats.org/drawingml/2006/main">
            <a:pPr algn="l">
              <a:buNone/>
              <a:defRPr sz="1350" b="0">
                <a:solidFill>
                  <a:srgbClr val="E6F3FF"/>
                </a:solidFill>
                <a:latin typeface="Consolas"/>
                <a:ea typeface="Consolas"/>
                <a:cs typeface="Consolas"/>
              </a:defRPr>
            </a:pPr>
            <a:r>
              <a:rPr sz="1350" b="0">
                <a:solidFill>
                  <a:srgbClr val="E6F3FF"/>
                </a:solidFill>
                <a:latin typeface="Consolas"/>
                <a:ea typeface="Consolas"/>
                <a:cs typeface="Consolas"/>
              </a:rPr>
              <a:t>  curl.exe -I http://127.0.0.1:8088/</a:t>
            </a:r>
          </a:p>
          <a:p xmlns:a="http://schemas.openxmlformats.org/drawingml/2006/main">
            <a:pPr algn="l">
              <a:buNone/>
              <a:defRPr sz="1350" b="0">
                <a:solidFill>
                  <a:srgbClr val="E6F3FF"/>
                </a:solidFill>
                <a:latin typeface="Consolas"/>
                <a:ea typeface="Consolas"/>
                <a:cs typeface="Consolas"/>
              </a:defRPr>
            </a:pPr>
            <a:r>
              <a:rPr sz="1350" b="0">
                <a:solidFill>
                  <a:srgbClr val="E6F3FF"/>
                </a:solidFill>
                <a:latin typeface="Consolas"/>
                <a:ea typeface="Consolas"/>
                <a:cs typeface="Consolas"/>
              </a:rPr>
              <a:t>}</a:t>
            </a:r>
          </a:p>
        </p:txBody>
      </p:sp>
      <p:sp>
        <p:nvSpPr>
          <p:cNvPr id="7" name="explanation-label">
            <a:extLst xmlns:a="http://schemas.openxmlformats.org/drawingml/2006/main">
              <a:ext uri="{FF2B5EF4-FFF2-40B4-BE49-F238E27FC236}">
                <a16:creationId xmlns:a16="http://schemas.microsoft.com/office/drawing/2014/main" id="{31EBD2BA-AFBC-4FDF-9261-0EC82AFBEBAF}"/>
              </a:ext>
            </a:extLst>
          </p:cNvPr>
          <p:cNvSpPr>
            <a:spLocks xmlns:a="http://schemas.openxmlformats.org/drawingml/2006/main" noGrp="1"/>
          </p:cNvSpPr>
          <p:nvPr/>
        </p:nvSpPr>
        <p:spPr>
          <a:xfrm xmlns:a="http://schemas.openxmlformats.org/drawingml/2006/main">
            <a:off x="685800" y="5305425"/>
            <a:ext cx="200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425" b="1">
                <a:solidFill>
                  <a:srgbClr val="F37021"/>
                </a:solidFill>
                <a:latin typeface="Calibri"/>
                <a:ea typeface="Calibri"/>
                <a:cs typeface="Calibri"/>
              </a:defRPr>
            </a:pPr>
            <a:r>
              <a:rPr sz="1425" b="1">
                <a:solidFill>
                  <a:srgbClr val="F37021"/>
                </a:solidFill>
                <a:latin typeface="Calibri"/>
                <a:ea typeface="Calibri"/>
                <a:cs typeface="Calibri"/>
              </a:rPr>
              <a:t>Mengapa</a:t>
            </a:r>
          </a:p>
        </p:txBody>
      </p:sp>
      <p:sp>
        <p:nvSpPr>
          <p:cNvPr id="8" name="explanation-text">
            <a:extLst xmlns:a="http://schemas.openxmlformats.org/drawingml/2006/main">
              <a:ext uri="{FF2B5EF4-FFF2-40B4-BE49-F238E27FC236}">
                <a16:creationId xmlns:a16="http://schemas.microsoft.com/office/drawing/2014/main" id="{88FC9289-42E6-4414-90F2-653D4F9D0881}"/>
              </a:ext>
            </a:extLst>
          </p:cNvPr>
          <p:cNvSpPr>
            <a:spLocks xmlns:a="http://schemas.openxmlformats.org/drawingml/2006/main" noGrp="1"/>
          </p:cNvSpPr>
          <p:nvPr/>
        </p:nvSpPr>
        <p:spPr>
          <a:xfrm xmlns:a="http://schemas.openxmlformats.org/drawingml/2006/main">
            <a:off x="685800" y="5629275"/>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0F172A"/>
                </a:solidFill>
                <a:latin typeface="Calibri"/>
                <a:ea typeface="Calibri"/>
                <a:cs typeface="Calibri"/>
              </a:defRPr>
            </a:pPr>
            <a:r>
              <a:rPr sz="1725" b="0">
                <a:solidFill>
                  <a:srgbClr val="0F172A"/>
                </a:solidFill>
                <a:latin typeface="Calibri"/>
                <a:ea typeface="Calibri"/>
                <a:cs typeface="Calibri"/>
              </a:rPr>
              <a:t>Source harus menunjuk site/ yang memiliki index.html. Tanda kutip menjaga path berspasi tetap satu argumen. Mount readonly memberi RW=false.</a:t>
            </a:r>
          </a:p>
        </p:txBody>
      </p:sp>
    </p:spTree>
    <p:extLst>
      <p:ext uri="{BB962C8B-B14F-4D97-AF65-F5344CB8AC3E}">
        <p14:creationId xmlns:p14="http://schemas.microsoft.com/office/powerpoint/2010/main" val="1761402510"/>
      </p:ext>
    </p:extLst>
  </p:cSld>
</p:sld>
</file>

<file path=ppt/slides/slide1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9" name="section">
            <a:extLst xmlns:a="http://schemas.openxmlformats.org/drawingml/2006/main">
              <a:ext uri="{FF2B5EF4-FFF2-40B4-BE49-F238E27FC236}">
                <a16:creationId xmlns:a16="http://schemas.microsoft.com/office/drawing/2014/main" id="{65F10720-458A-4531-A0E6-A901A5F72EA3}"/>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846DCECC-E6FE-4157-8D7E-78C00C24FFB1}"/>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Helper startup dan repair bind mount</a:t>
            </a:r>
          </a:p>
        </p:txBody>
      </p:sp>
      <p:sp>
        <p:nvSpPr>
          <p:cNvPr id="3" name="subtitle">
            <a:extLst xmlns:a="http://schemas.openxmlformats.org/drawingml/2006/main">
              <a:ext uri="{FF2B5EF4-FFF2-40B4-BE49-F238E27FC236}">
                <a16:creationId xmlns:a16="http://schemas.microsoft.com/office/drawing/2014/main" id="{DC01E144-5613-4098-952B-84237D1FC163}"/>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Pilih baris sesuai shell. Lokasi script menentukan source mount.</a:t>
            </a:r>
          </a:p>
        </p:txBody>
      </p:sp>
      <p:sp>
        <p:nvSpPr>
          <p:cNvPr id="4" name="page">
            <a:extLst xmlns:a="http://schemas.openxmlformats.org/drawingml/2006/main">
              <a:ext uri="{FF2B5EF4-FFF2-40B4-BE49-F238E27FC236}">
                <a16:creationId xmlns:a16="http://schemas.microsoft.com/office/drawing/2014/main" id="{6AA1A9E4-D4CF-42D6-9F54-190D85A7DE8D}"/>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15</a:t>
            </a:r>
          </a:p>
        </p:txBody>
      </p:sp>
      <p:sp>
        <p:nvSpPr>
          <p:cNvPr id="5" name="preflight-background">
            <a:extLst xmlns:a="http://schemas.openxmlformats.org/drawingml/2006/main">
              <a:ext uri="{FF2B5EF4-FFF2-40B4-BE49-F238E27FC236}">
                <a16:creationId xmlns:a16="http://schemas.microsoft.com/office/drawing/2014/main" id="{FA4CEA1C-D779-4346-9C15-FCDD88B0669C}"/>
              </a:ext>
            </a:extLst>
          </p:cNvPr>
          <p:cNvSpPr>
            <a:spLocks xmlns:a="http://schemas.openxmlformats.org/drawingml/2006/main" noGrp="1"/>
          </p:cNvSpPr>
          <p:nvPr/>
        </p:nvSpPr>
        <p:spPr>
          <a:xfrm xmlns:a="http://schemas.openxmlformats.org/drawingml/2006/main">
            <a:off x="685800" y="2095500"/>
            <a:ext cx="10820400" cy="2714625"/>
          </a:xfrm>
          <a:prstGeom xmlns:a="http://schemas.openxmlformats.org/drawingml/2006/main" prst="rect">
            <a:avLst/>
          </a:prstGeom>
          <a:solidFill xmlns:a="http://schemas.openxmlformats.org/drawingml/2006/main">
            <a:srgbClr val="101722"/>
          </a:solidFill>
          <a:ln xmlns:a="http://schemas.openxmlformats.org/drawingml/2006/main" w="0">
            <a:noFill/>
          </a:ln>
        </p:spPr>
      </p:sp>
      <p:sp>
        <p:nvSpPr>
          <p:cNvPr id="6" name="preflight">
            <a:extLst xmlns:a="http://schemas.openxmlformats.org/drawingml/2006/main">
              <a:ext uri="{FF2B5EF4-FFF2-40B4-BE49-F238E27FC236}">
                <a16:creationId xmlns:a16="http://schemas.microsoft.com/office/drawing/2014/main" id="{653B348C-8F68-4D4D-9370-F33A9528B3E4}"/>
              </a:ext>
            </a:extLst>
          </p:cNvPr>
          <p:cNvSpPr>
            <a:spLocks xmlns:a="http://schemas.openxmlformats.org/drawingml/2006/main" noGrp="1"/>
          </p:cNvSpPr>
          <p:nvPr/>
        </p:nvSpPr>
        <p:spPr>
          <a:xfrm xmlns:a="http://schemas.openxmlformats.org/drawingml/2006/main">
            <a:off x="914400" y="2314575"/>
            <a:ext cx="10363200" cy="2314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a:solidFill>
                  <a:srgbClr val="E6F3FF"/>
                </a:solidFill>
                <a:latin typeface="Consolas"/>
                <a:ea typeface="Consolas"/>
                <a:cs typeface="Consolas"/>
              </a:defRPr>
            </a:defPPr>
          </a:lstStyle>
          <a:p xmlns:a="http://schemas.openxmlformats.org/drawingml/2006/main">
            <a:pPr algn="l">
              <a:buNone/>
              <a:defRPr sz="1575" b="0">
                <a:solidFill>
                  <a:srgbClr val="E6F3FF"/>
                </a:solidFill>
                <a:latin typeface="Consolas"/>
                <a:ea typeface="Consolas"/>
                <a:cs typeface="Consolas"/>
              </a:defRPr>
            </a:pPr>
            <a:r>
              <a:rPr sz="1575" b="0">
                <a:solidFill>
                  <a:srgbClr val="E6F3FF"/>
                </a:solidFill>
                <a:latin typeface="Consolas"/>
                <a:ea typeface="Consolas"/>
                <a:cs typeface="Consolas"/>
              </a:rPr>
              <a:t># PowerShell dari root repo:</a:t>
            </a:r>
          </a:p>
          <a:p xmlns:a="http://schemas.openxmlformats.org/drawingml/2006/main">
            <a:pPr algn="l">
              <a:buNone/>
              <a:defRPr sz="1575" b="0">
                <a:solidFill>
                  <a:srgbClr val="E6F3FF"/>
                </a:solidFill>
                <a:latin typeface="Consolas"/>
                <a:ea typeface="Consolas"/>
                <a:cs typeface="Consolas"/>
              </a:defRPr>
            </a:pPr>
            <a:r>
              <a:rPr sz="1575" b="0">
                <a:solidFill>
                  <a:srgbClr val="E6F3FF"/>
                </a:solidFill>
                <a:latin typeface="Consolas"/>
                <a:ea typeface="Consolas"/>
                <a:cs typeface="Consolas"/>
              </a:rPr>
              <a:t>&amp; '.\scripts\start-lab04.ps1' -Repair</a:t>
            </a:r>
          </a:p>
          <a:p xmlns:a="http://schemas.openxmlformats.org/drawingml/2006/main">
            <a:pPr algn="l">
              <a:buNone/>
              <a:defRPr sz="1575" b="0">
                <a:solidFill>
                  <a:srgbClr val="E6F3FF"/>
                </a:solidFill>
                <a:latin typeface="Consolas"/>
                <a:ea typeface="Consolas"/>
                <a:cs typeface="Consolas"/>
              </a:defRPr>
            </a:pPr>
            <a:r>
              <a:rPr sz="1575" b="0">
                <a:solidFill>
                  <a:srgbClr val="E6F3FF"/>
                </a:solidFill>
                <a:latin typeface="Consolas"/>
                <a:ea typeface="Consolas"/>
                <a:cs typeface="Consolas"/>
              </a:rPr>
              <a:t># Bash dari root repo:</a:t>
            </a:r>
          </a:p>
          <a:p xmlns:a="http://schemas.openxmlformats.org/drawingml/2006/main">
            <a:pPr algn="l">
              <a:buNone/>
              <a:defRPr sz="1575" b="0">
                <a:solidFill>
                  <a:srgbClr val="E6F3FF"/>
                </a:solidFill>
                <a:latin typeface="Consolas"/>
                <a:ea typeface="Consolas"/>
                <a:cs typeface="Consolas"/>
              </a:defRPr>
            </a:pPr>
            <a:r>
              <a:rPr sz="1575" b="0">
                <a:solidFill>
                  <a:srgbClr val="E6F3FF"/>
                </a:solidFill>
                <a:latin typeface="Consolas"/>
                <a:ea typeface="Consolas"/>
                <a:cs typeface="Consolas"/>
              </a:rPr>
              <a:t>bash './scripts/start-lab04.sh' --repair</a:t>
            </a:r>
          </a:p>
          <a:p xmlns:a="http://schemas.openxmlformats.org/drawingml/2006/main">
            <a:pPr algn="l">
              <a:buNone/>
              <a:defRPr sz="1575" b="0">
                <a:solidFill>
                  <a:srgbClr val="E6F3FF"/>
                </a:solidFill>
                <a:latin typeface="Consolas"/>
                <a:ea typeface="Consolas"/>
                <a:cs typeface="Consolas"/>
              </a:defRPr>
            </a:pPr>
            <a:r>
              <a:rPr sz="1575" b="0">
                <a:solidFill>
                  <a:srgbClr val="E6F3FF"/>
                </a:solidFill>
                <a:latin typeface="Consolas"/>
                <a:ea typeface="Consolas"/>
                <a:cs typeface="Consolas"/>
              </a:rPr>
              <a:t># PowerShell dari folder induk repo bernama meet4CloudService:</a:t>
            </a:r>
          </a:p>
          <a:p xmlns:a="http://schemas.openxmlformats.org/drawingml/2006/main">
            <a:pPr algn="l">
              <a:buNone/>
              <a:defRPr sz="1575" b="0">
                <a:solidFill>
                  <a:srgbClr val="E6F3FF"/>
                </a:solidFill>
                <a:latin typeface="Consolas"/>
                <a:ea typeface="Consolas"/>
                <a:cs typeface="Consolas"/>
              </a:defRPr>
            </a:pPr>
            <a:r>
              <a:rPr sz="1575" b="0">
                <a:solidFill>
                  <a:srgbClr val="E6F3FF"/>
                </a:solidFill>
                <a:latin typeface="Consolas"/>
                <a:ea typeface="Consolas"/>
                <a:cs typeface="Consolas"/>
              </a:rPr>
              <a:t>&amp; '.\meet4CloudService\scripts\start-lab04.ps1' -Repair</a:t>
            </a:r>
          </a:p>
          <a:p xmlns:a="http://schemas.openxmlformats.org/drawingml/2006/main">
            <a:pPr algn="l">
              <a:buNone/>
              <a:defRPr sz="1575" b="0">
                <a:solidFill>
                  <a:srgbClr val="E6F3FF"/>
                </a:solidFill>
                <a:latin typeface="Consolas"/>
                <a:ea typeface="Consolas"/>
                <a:cs typeface="Consolas"/>
              </a:defRPr>
            </a:pPr>
            <a:r>
              <a:rPr sz="1575" b="0">
                <a:solidFill>
                  <a:srgbClr val="E6F3FF"/>
                </a:solidFill>
                <a:latin typeface="Consolas"/>
                <a:ea typeface="Consolas"/>
                <a:cs typeface="Consolas"/>
              </a:rPr>
              <a:t># Bash dari folder induk yang sama:</a:t>
            </a:r>
          </a:p>
          <a:p xmlns:a="http://schemas.openxmlformats.org/drawingml/2006/main">
            <a:pPr algn="l">
              <a:buNone/>
              <a:defRPr sz="1575" b="0">
                <a:solidFill>
                  <a:srgbClr val="E6F3FF"/>
                </a:solidFill>
                <a:latin typeface="Consolas"/>
                <a:ea typeface="Consolas"/>
                <a:cs typeface="Consolas"/>
              </a:defRPr>
            </a:pPr>
            <a:r>
              <a:rPr sz="1575" b="0">
                <a:solidFill>
                  <a:srgbClr val="E6F3FF"/>
                </a:solidFill>
                <a:latin typeface="Consolas"/>
                <a:ea typeface="Consolas"/>
                <a:cs typeface="Consolas"/>
              </a:rPr>
              <a:t>bash './meet4CloudService/scripts/start-lab04.sh' --repair</a:t>
            </a:r>
          </a:p>
        </p:txBody>
      </p:sp>
      <p:sp>
        <p:nvSpPr>
          <p:cNvPr id="7" name="explanation-label">
            <a:extLst xmlns:a="http://schemas.openxmlformats.org/drawingml/2006/main">
              <a:ext uri="{FF2B5EF4-FFF2-40B4-BE49-F238E27FC236}">
                <a16:creationId xmlns:a16="http://schemas.microsoft.com/office/drawing/2014/main" id="{28B838EC-5E9D-4413-B2ED-10E87A150938}"/>
              </a:ext>
            </a:extLst>
          </p:cNvPr>
          <p:cNvSpPr>
            <a:spLocks xmlns:a="http://schemas.openxmlformats.org/drawingml/2006/main" noGrp="1"/>
          </p:cNvSpPr>
          <p:nvPr/>
        </p:nvSpPr>
        <p:spPr>
          <a:xfrm xmlns:a="http://schemas.openxmlformats.org/drawingml/2006/main">
            <a:off x="685800" y="4933950"/>
            <a:ext cx="200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425" b="1">
                <a:solidFill>
                  <a:srgbClr val="F37021"/>
                </a:solidFill>
                <a:latin typeface="Calibri"/>
                <a:ea typeface="Calibri"/>
                <a:cs typeface="Calibri"/>
              </a:defRPr>
            </a:pPr>
            <a:r>
              <a:rPr sz="1425" b="1">
                <a:solidFill>
                  <a:srgbClr val="F37021"/>
                </a:solidFill>
                <a:latin typeface="Calibri"/>
                <a:ea typeface="Calibri"/>
                <a:cs typeface="Calibri"/>
              </a:rPr>
              <a:t>Ruang lingkup repair</a:t>
            </a:r>
          </a:p>
        </p:txBody>
      </p:sp>
      <p:sp>
        <p:nvSpPr>
          <p:cNvPr id="8" name="explanation-text">
            <a:extLst xmlns:a="http://schemas.openxmlformats.org/drawingml/2006/main">
              <a:ext uri="{FF2B5EF4-FFF2-40B4-BE49-F238E27FC236}">
                <a16:creationId xmlns:a16="http://schemas.microsoft.com/office/drawing/2014/main" id="{8D04073A-D72E-4F1B-BE9E-E18759553C9B}"/>
              </a:ext>
            </a:extLst>
          </p:cNvPr>
          <p:cNvSpPr>
            <a:spLocks xmlns:a="http://schemas.openxmlformats.org/drawingml/2006/main" noGrp="1"/>
          </p:cNvSpPr>
          <p:nvPr/>
        </p:nvSpPr>
        <p:spPr>
          <a:xfrm xmlns:a="http://schemas.openxmlformats.org/drawingml/2006/main">
            <a:off x="685800" y="5257800"/>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0F172A"/>
                </a:solidFill>
                <a:latin typeface="Calibri"/>
                <a:ea typeface="Calibri"/>
                <a:cs typeface="Calibri"/>
              </a:defRPr>
            </a:pPr>
            <a:r>
              <a:rPr sz="1725" b="0">
                <a:solidFill>
                  <a:srgbClr val="0F172A"/>
                </a:solidFill>
                <a:latin typeface="Calibri"/>
                <a:ea typeface="Calibri"/>
                <a:cs typeface="Calibri"/>
              </a:rPr>
              <a:t>Validasi file dan Engine mendahului recreate container latihan Nginx. Helper tidak memindahkan terminal. Hotfix/checker berikutnya memakai root repo aktual.</a:t>
            </a:r>
          </a:p>
        </p:txBody>
      </p:sp>
    </p:spTree>
    <p:extLst>
      <p:ext uri="{BB962C8B-B14F-4D97-AF65-F5344CB8AC3E}">
        <p14:creationId xmlns:p14="http://schemas.microsoft.com/office/powerpoint/2010/main" val="49268885"/>
      </p:ext>
    </p:extLst>
  </p:cSld>
</p:sld>
</file>

<file path=ppt/slides/slide16.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7" name="section">
            <a:extLst xmlns:a="http://schemas.openxmlformats.org/drawingml/2006/main">
              <a:ext uri="{FF2B5EF4-FFF2-40B4-BE49-F238E27FC236}">
                <a16:creationId xmlns:a16="http://schemas.microsoft.com/office/drawing/2014/main" id="{FB2E2928-45CF-4E07-9AE4-2560CB5C0003}"/>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DE783BB8-0A22-40A5-ADD4-03DA755C4BEA}"/>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Bukti path repo dan source mount</a:t>
            </a:r>
          </a:p>
        </p:txBody>
      </p:sp>
      <p:sp>
        <p:nvSpPr>
          <p:cNvPr id="3" name="subtitle">
            <a:extLst xmlns:a="http://schemas.openxmlformats.org/drawingml/2006/main">
              <a:ext uri="{FF2B5EF4-FFF2-40B4-BE49-F238E27FC236}">
                <a16:creationId xmlns:a16="http://schemas.microsoft.com/office/drawing/2014/main" id="{5DE71CCC-9D14-4AF5-9F47-56C7E80AC0A2}"/>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Contoh hasil pemeriksaan helper dari repo pada folder berspasi.</a:t>
            </a:r>
          </a:p>
        </p:txBody>
      </p:sp>
      <p:sp>
        <p:nvSpPr>
          <p:cNvPr id="4" name="page">
            <a:extLst xmlns:a="http://schemas.openxmlformats.org/drawingml/2006/main">
              <a:ext uri="{FF2B5EF4-FFF2-40B4-BE49-F238E27FC236}">
                <a16:creationId xmlns:a16="http://schemas.microsoft.com/office/drawing/2014/main" id="{E4C09CE9-CCE0-461C-A68E-13D1DF7B51CF}"/>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16</a:t>
            </a:r>
          </a:p>
        </p:txBody>
      </p:sp>
      <p:pic>
        <p:nvPicPr>
          <p:cNvPr id="13" name="">
            <a:extLst xmlns:a="http://schemas.openxmlformats.org/drawingml/2006/main">
              <a:ext uri="{FF2B5EF4-FFF2-40B4-BE49-F238E27FC236}">
                <a16:creationId xmlns:a16="http://schemas.microsoft.com/office/drawing/2014/main" id="{19D05615-3402-4AB6-A8B3-79C40C054FB6}"/>
              </a:ext>
            </a:extLst>
          </p:cNvPr>
          <p:cNvPicPr>
            <a:picLocks xmlns:a="http://schemas.openxmlformats.org/drawingml/2006/main" noChangeAspect="1"/>
          </p:cNvPicPr>
          <p:nvPr/>
        </p:nvPicPr>
        <p:blipFill>
          <a:blip xmlns:r="http://schemas.openxmlformats.org/officeDocument/2006/relationships" xmlns:a="http://schemas.openxmlformats.org/drawingml/2006/main" r:embed="Ra57ec8af5c6e4c04"/>
          <a:srcRect xmlns:a="http://schemas.openxmlformats.org/drawingml/2006/main" l="0" t="20563" r="0" b="25325"/>
          <a:stretch xmlns:a="http://schemas.openxmlformats.org/drawingml/2006/main">
            <a:fillRect l="0" t="0" r="0" b="0"/>
          </a:stretch>
        </p:blipFill>
        <p:spPr>
          <a:xfrm xmlns:a="http://schemas.openxmlformats.org/drawingml/2006/main">
            <a:off x="685800" y="2047875"/>
            <a:ext cx="10820400" cy="3197518"/>
          </a:xfrm>
          <a:prstGeom xmlns:a="http://schemas.openxmlformats.org/drawingml/2006/main" prst="rect">
            <a:avLst/>
          </a:prstGeom>
        </p:spPr>
      </p:pic>
      <p:sp>
        <p:nvSpPr>
          <p:cNvPr id="6" name="evidence-b-web-caption">
            <a:extLst xmlns:a="http://schemas.openxmlformats.org/drawingml/2006/main">
              <a:ext uri="{FF2B5EF4-FFF2-40B4-BE49-F238E27FC236}">
                <a16:creationId xmlns:a16="http://schemas.microsoft.com/office/drawing/2014/main" id="{96DEBC81-BE07-42FE-AF73-A192B2E261E9}"/>
              </a:ext>
            </a:extLst>
          </p:cNvPr>
          <p:cNvSpPr>
            <a:spLocks xmlns:a="http://schemas.openxmlformats.org/drawingml/2006/main" noGrp="1"/>
          </p:cNvSpPr>
          <p:nvPr/>
        </p:nvSpPr>
        <p:spPr>
          <a:xfrm xmlns:a="http://schemas.openxmlformats.org/drawingml/2006/main">
            <a:off x="685800" y="5705475"/>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500" b="0">
                <a:solidFill>
                  <a:srgbClr val="475569"/>
                </a:solidFill>
                <a:latin typeface="Calibri"/>
                <a:ea typeface="Calibri"/>
                <a:cs typeface="Calibri"/>
              </a:defRPr>
            </a:pPr>
            <a:r>
              <a:rPr sz="1500" b="0">
                <a:solidFill>
                  <a:srgbClr val="475569"/>
                </a:solidFill>
                <a:latin typeface="Calibri"/>
                <a:ea typeface="Calibri"/>
                <a:cs typeface="Calibri"/>
              </a:rPr>
              <a:t>Output command aktual ditata + web live. Source sesuai repo, RW=false, dan HTTP 200. Lokasi ini contoh lingkungan pengajar.</a:t>
            </a:r>
          </a:p>
        </p:txBody>
      </p:sp>
    </p:spTree>
    <p:extLst>
      <p:ext uri="{BB962C8B-B14F-4D97-AF65-F5344CB8AC3E}">
        <p14:creationId xmlns:p14="http://schemas.microsoft.com/office/powerpoint/2010/main" val="593961186"/>
      </p:ext>
    </p:extLst>
  </p:cSld>
</p:sld>
</file>

<file path=ppt/slides/slide1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7" name="section">
            <a:extLst xmlns:a="http://schemas.openxmlformats.org/drawingml/2006/main">
              <a:ext uri="{FF2B5EF4-FFF2-40B4-BE49-F238E27FC236}">
                <a16:creationId xmlns:a16="http://schemas.microsoft.com/office/drawing/2014/main" id="{FB2E2928-45CF-4E07-9AE4-2560CB5C0003}"/>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DE783BB8-0A22-40A5-ADD4-03DA755C4BEA}"/>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Bukti B — halaman web tampil</a:t>
            </a:r>
          </a:p>
        </p:txBody>
      </p:sp>
      <p:sp>
        <p:nvSpPr>
          <p:cNvPr id="3" name="subtitle">
            <a:extLst xmlns:a="http://schemas.openxmlformats.org/drawingml/2006/main">
              <a:ext uri="{FF2B5EF4-FFF2-40B4-BE49-F238E27FC236}">
                <a16:creationId xmlns:a16="http://schemas.microsoft.com/office/drawing/2014/main" id="{5DE71CCC-9D14-4AF5-9F47-56C7E80AC0A2}"/>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Akses http://127.0.0.1:8088 setelah container berjalan.</a:t>
            </a:r>
          </a:p>
        </p:txBody>
      </p:sp>
      <p:sp>
        <p:nvSpPr>
          <p:cNvPr id="4" name="page">
            <a:extLst xmlns:a="http://schemas.openxmlformats.org/drawingml/2006/main">
              <a:ext uri="{FF2B5EF4-FFF2-40B4-BE49-F238E27FC236}">
                <a16:creationId xmlns:a16="http://schemas.microsoft.com/office/drawing/2014/main" id="{E4C09CE9-CCE0-461C-A68E-13D1DF7B51CF}"/>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17</a:t>
            </a:r>
          </a:p>
        </p:txBody>
      </p:sp>
      <p:pic>
        <p:nvPicPr>
          <p:cNvPr id="13" name="">
            <a:extLst xmlns:a="http://schemas.openxmlformats.org/drawingml/2006/main">
              <a:ext uri="{FF2B5EF4-FFF2-40B4-BE49-F238E27FC236}">
                <a16:creationId xmlns:a16="http://schemas.microsoft.com/office/drawing/2014/main" id="{19D05615-3402-4AB6-A8B3-79C40C054FB6}"/>
              </a:ext>
            </a:extLst>
          </p:cNvPr>
          <p:cNvPicPr>
            <a:picLocks xmlns:a="http://schemas.openxmlformats.org/drawingml/2006/main" noChangeAspect="1"/>
          </p:cNvPicPr>
          <p:nvPr/>
        </p:nvPicPr>
        <p:blipFill>
          <a:blip xmlns:r="http://schemas.openxmlformats.org/officeDocument/2006/relationships" xmlns:a="http://schemas.openxmlformats.org/drawingml/2006/main" r:embed="R27e26a2893d44c8d"/>
          <a:srcRect xmlns:a="http://schemas.openxmlformats.org/drawingml/2006/main" l="0" t="20563" r="0" b="25325"/>
          <a:stretch xmlns:a="http://schemas.openxmlformats.org/drawingml/2006/main">
            <a:fillRect l="0" t="0" r="0" b="0"/>
          </a:stretch>
        </p:blipFill>
        <p:spPr>
          <a:xfrm xmlns:a="http://schemas.openxmlformats.org/drawingml/2006/main">
            <a:off x="685800" y="1857375"/>
            <a:ext cx="10820400" cy="3743325"/>
          </a:xfrm>
          <a:prstGeom xmlns:a="http://schemas.openxmlformats.org/drawingml/2006/main" prst="rect">
            <a:avLst/>
          </a:prstGeom>
        </p:spPr>
      </p:pic>
      <p:sp>
        <p:nvSpPr>
          <p:cNvPr id="6" name="evidence-b-web-caption">
            <a:extLst xmlns:a="http://schemas.openxmlformats.org/drawingml/2006/main">
              <a:ext uri="{FF2B5EF4-FFF2-40B4-BE49-F238E27FC236}">
                <a16:creationId xmlns:a16="http://schemas.microsoft.com/office/drawing/2014/main" id="{96DEBC81-BE07-42FE-AF73-A192B2E261E9}"/>
              </a:ext>
            </a:extLst>
          </p:cNvPr>
          <p:cNvSpPr>
            <a:spLocks xmlns:a="http://schemas.openxmlformats.org/drawingml/2006/main" noGrp="1"/>
          </p:cNvSpPr>
          <p:nvPr/>
        </p:nvSpPr>
        <p:spPr>
          <a:xfrm xmlns:a="http://schemas.openxmlformats.org/drawingml/2006/main">
            <a:off x="685800" y="5705475"/>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500" b="0">
                <a:solidFill>
                  <a:srgbClr val="475569"/>
                </a:solidFill>
                <a:latin typeface="Calibri"/>
                <a:ea typeface="Calibri"/>
                <a:cs typeface="Calibri"/>
              </a:defRPr>
            </a:pPr>
            <a:r>
              <a:rPr sz="1500" b="0">
                <a:solidFill>
                  <a:srgbClr val="475569"/>
                </a:solidFill>
                <a:latin typeface="Calibri"/>
                <a:ea typeface="Calibri"/>
                <a:cs typeface="Calibri"/>
              </a:rPr>
              <a:t>docker run --mount readonly membuat Nginx membaca site/ dari host; -p 8088:80 membuka STATUS_OK di browser.</a:t>
            </a:r>
          </a:p>
        </p:txBody>
      </p:sp>
    </p:spTree>
    <p:extLst>
      <p:ext uri="{BB962C8B-B14F-4D97-AF65-F5344CB8AC3E}">
        <p14:creationId xmlns:p14="http://schemas.microsoft.com/office/powerpoint/2010/main" val="593961186"/>
      </p:ext>
    </p:extLst>
  </p:cSld>
</p:sld>
</file>

<file path=ppt/slides/slide18.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7" name="section">
            <a:extLst xmlns:a="http://schemas.openxmlformats.org/drawingml/2006/main">
              <a:ext uri="{FF2B5EF4-FFF2-40B4-BE49-F238E27FC236}">
                <a16:creationId xmlns:a16="http://schemas.microsoft.com/office/drawing/2014/main" id="{24DD6B59-73D3-4993-87BD-EF97391A6391}"/>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1805FB86-F106-4C16-96ED-2330ACE3F64F}"/>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Bukti B — Docker memperlihatkan port</a:t>
            </a:r>
          </a:p>
        </p:txBody>
      </p:sp>
      <p:sp>
        <p:nvSpPr>
          <p:cNvPr id="3" name="subtitle">
            <a:extLst xmlns:a="http://schemas.openxmlformats.org/drawingml/2006/main">
              <a:ext uri="{FF2B5EF4-FFF2-40B4-BE49-F238E27FC236}">
                <a16:creationId xmlns:a16="http://schemas.microsoft.com/office/drawing/2014/main" id="{F4F77A23-B3C1-48DA-AFF4-385B9D6C186F}"/>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GUI menunjukkan cloudlab-site Up dan 8088:80; terminal memeriksa RW=false.</a:t>
            </a:r>
          </a:p>
        </p:txBody>
      </p:sp>
      <p:sp>
        <p:nvSpPr>
          <p:cNvPr id="4" name="page">
            <a:extLst xmlns:a="http://schemas.openxmlformats.org/drawingml/2006/main">
              <a:ext uri="{FF2B5EF4-FFF2-40B4-BE49-F238E27FC236}">
                <a16:creationId xmlns:a16="http://schemas.microsoft.com/office/drawing/2014/main" id="{81A4C4DC-9F95-494E-9A00-97D2C066AFCD}"/>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18</a:t>
            </a:r>
          </a:p>
        </p:txBody>
      </p:sp>
      <p:pic>
        <p:nvPicPr>
          <p:cNvPr id="13" name="">
            <a:extLst xmlns:a="http://schemas.openxmlformats.org/drawingml/2006/main">
              <a:ext uri="{FF2B5EF4-FFF2-40B4-BE49-F238E27FC236}">
                <a16:creationId xmlns:a16="http://schemas.microsoft.com/office/drawing/2014/main" id="{B85B1A33-2C6D-463F-A6A5-3FA3636A5492}"/>
              </a:ext>
            </a:extLst>
          </p:cNvPr>
          <p:cNvPicPr>
            <a:picLocks xmlns:a="http://schemas.openxmlformats.org/drawingml/2006/main" noChangeAspect="1"/>
          </p:cNvPicPr>
          <p:nvPr/>
        </p:nvPicPr>
        <p:blipFill>
          <a:blip xmlns:r="http://schemas.openxmlformats.org/officeDocument/2006/relationships" xmlns:a="http://schemas.openxmlformats.org/drawingml/2006/main" r:embed="Re26e4d3999c248d7"/>
          <a:srcRect xmlns:a="http://schemas.openxmlformats.org/drawingml/2006/main" l="0" t="18218" r="0" b="18218"/>
          <a:stretch xmlns:a="http://schemas.openxmlformats.org/drawingml/2006/main">
            <a:fillRect l="0" t="0" r="0" b="0"/>
          </a:stretch>
        </p:blipFill>
        <p:spPr>
          <a:xfrm xmlns:a="http://schemas.openxmlformats.org/drawingml/2006/main">
            <a:off x="685800" y="1857375"/>
            <a:ext cx="10820400" cy="3743325"/>
          </a:xfrm>
          <a:prstGeom xmlns:a="http://schemas.openxmlformats.org/drawingml/2006/main" prst="rect">
            <a:avLst/>
          </a:prstGeom>
        </p:spPr>
      </p:pic>
      <p:sp>
        <p:nvSpPr>
          <p:cNvPr id="6" name="evidence-b-ps-caption">
            <a:extLst xmlns:a="http://schemas.openxmlformats.org/drawingml/2006/main">
              <a:ext uri="{FF2B5EF4-FFF2-40B4-BE49-F238E27FC236}">
                <a16:creationId xmlns:a16="http://schemas.microsoft.com/office/drawing/2014/main" id="{55E48A2A-6808-4430-B6DB-8D77965F2C18}"/>
              </a:ext>
            </a:extLst>
          </p:cNvPr>
          <p:cNvSpPr>
            <a:spLocks xmlns:a="http://schemas.openxmlformats.org/drawingml/2006/main" noGrp="1"/>
          </p:cNvSpPr>
          <p:nvPr/>
        </p:nvSpPr>
        <p:spPr>
          <a:xfrm xmlns:a="http://schemas.openxmlformats.org/drawingml/2006/main">
            <a:off x="685800" y="5705475"/>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500" b="0">
                <a:solidFill>
                  <a:srgbClr val="475569"/>
                </a:solidFill>
                <a:latin typeface="Calibri"/>
                <a:ea typeface="Calibri"/>
                <a:cs typeface="Calibri"/>
              </a:defRPr>
            </a:pPr>
            <a:r>
              <a:rPr sz="1500" b="0">
                <a:solidFill>
                  <a:srgbClr val="475569"/>
                </a:solidFill>
                <a:latin typeface="Calibri"/>
                <a:ea typeface="Calibri"/>
                <a:cs typeface="Calibri"/>
              </a:rPr>
              <a:t>docker inspect membaca mount: RW=false berarti container hanya membaca site/; Docker Desktop menunjukkan 8088:80.</a:t>
            </a:r>
          </a:p>
        </p:txBody>
      </p:sp>
    </p:spTree>
    <p:extLst>
      <p:ext uri="{BB962C8B-B14F-4D97-AF65-F5344CB8AC3E}">
        <p14:creationId xmlns:p14="http://schemas.microsoft.com/office/powerpoint/2010/main" val="545168446"/>
      </p:ext>
    </p:extLst>
  </p:cSld>
</p:sld>
</file>

<file path=ppt/slides/slide19.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9" name="section">
            <a:extLst xmlns:a="http://schemas.openxmlformats.org/drawingml/2006/main">
              <a:ext uri="{FF2B5EF4-FFF2-40B4-BE49-F238E27FC236}">
                <a16:creationId xmlns:a16="http://schemas.microsoft.com/office/drawing/2014/main" id="{855F6576-CC5C-4794-B96D-9E510D100858}"/>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92ACF3E8-F774-4ABB-8380-37860CE42F80}"/>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Challenge C — diagnosis dan pemulihan</a:t>
            </a:r>
          </a:p>
        </p:txBody>
      </p:sp>
      <p:sp>
        <p:nvSpPr>
          <p:cNvPr id="3" name="subtitle">
            <a:extLst xmlns:a="http://schemas.openxmlformats.org/drawingml/2006/main">
              <a:ext uri="{FF2B5EF4-FFF2-40B4-BE49-F238E27FC236}">
                <a16:creationId xmlns:a16="http://schemas.microsoft.com/office/drawing/2014/main" id="{DB806AAF-E528-47DC-8F9E-69A272638394}"/>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Kunci: buat gangguan terkendali, lihat state/log, kemudian start dan cek HTTP.</a:t>
            </a:r>
          </a:p>
        </p:txBody>
      </p:sp>
      <p:sp>
        <p:nvSpPr>
          <p:cNvPr id="4" name="page">
            <a:extLst xmlns:a="http://schemas.openxmlformats.org/drawingml/2006/main">
              <a:ext uri="{FF2B5EF4-FFF2-40B4-BE49-F238E27FC236}">
                <a16:creationId xmlns:a16="http://schemas.microsoft.com/office/drawing/2014/main" id="{BE9AC4FA-A228-417C-A1E4-FA04A74BBE03}"/>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19</a:t>
            </a:r>
          </a:p>
        </p:txBody>
      </p:sp>
      <p:sp>
        <p:nvSpPr>
          <p:cNvPr id="5" name="solution-c-background">
            <a:extLst xmlns:a="http://schemas.openxmlformats.org/drawingml/2006/main">
              <a:ext uri="{FF2B5EF4-FFF2-40B4-BE49-F238E27FC236}">
                <a16:creationId xmlns:a16="http://schemas.microsoft.com/office/drawing/2014/main" id="{80385B5D-2EEA-4B67-A8A7-491F2B2FD113}"/>
              </a:ext>
            </a:extLst>
          </p:cNvPr>
          <p:cNvSpPr>
            <a:spLocks xmlns:a="http://schemas.openxmlformats.org/drawingml/2006/main" noGrp="1"/>
          </p:cNvSpPr>
          <p:nvPr/>
        </p:nvSpPr>
        <p:spPr>
          <a:xfrm xmlns:a="http://schemas.openxmlformats.org/drawingml/2006/main">
            <a:off x="685800" y="2028825"/>
            <a:ext cx="10820400" cy="3305175"/>
          </a:xfrm>
          <a:prstGeom xmlns:a="http://schemas.openxmlformats.org/drawingml/2006/main" prst="rect">
            <a:avLst/>
          </a:prstGeom>
          <a:solidFill xmlns:a="http://schemas.openxmlformats.org/drawingml/2006/main">
            <a:srgbClr val="101722"/>
          </a:solidFill>
          <a:ln xmlns:a="http://schemas.openxmlformats.org/drawingml/2006/main" w="0">
            <a:noFill/>
          </a:ln>
        </p:spPr>
      </p:sp>
      <p:sp>
        <p:nvSpPr>
          <p:cNvPr id="6" name="solution-c">
            <a:extLst xmlns:a="http://schemas.openxmlformats.org/drawingml/2006/main">
              <a:ext uri="{FF2B5EF4-FFF2-40B4-BE49-F238E27FC236}">
                <a16:creationId xmlns:a16="http://schemas.microsoft.com/office/drawing/2014/main" id="{96D8F3CC-1D52-4939-A698-1058BCD496E3}"/>
              </a:ext>
            </a:extLst>
          </p:cNvPr>
          <p:cNvSpPr>
            <a:spLocks xmlns:a="http://schemas.openxmlformats.org/drawingml/2006/main" noGrp="1"/>
          </p:cNvSpPr>
          <p:nvPr/>
        </p:nvSpPr>
        <p:spPr>
          <a:xfrm xmlns:a="http://schemas.openxmlformats.org/drawingml/2006/main">
            <a:off x="914400" y="2247900"/>
            <a:ext cx="10363200" cy="2905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575" b="0">
                <a:solidFill>
                  <a:srgbClr val="E6F3FF"/>
                </a:solidFill>
                <a:latin typeface="Consolas"/>
                <a:ea typeface="Consolas"/>
                <a:cs typeface="Consolas"/>
              </a:defRPr>
            </a:pPr>
            <a:r>
              <a:rPr sz="1575" b="0">
                <a:solidFill>
                  <a:srgbClr val="E6F3FF"/>
                </a:solidFill>
                <a:latin typeface="Consolas"/>
                <a:ea typeface="Consolas"/>
                <a:cs typeface="Consolas"/>
              </a:rPr>
              <a:t>docker stop cloudlab-site</a:t>
            </a:r>
          </a:p>
          <a:p xmlns:a="http://schemas.openxmlformats.org/drawingml/2006/main">
            <a:pPr>
              <a:buNone/>
              <a:defRPr sz="1575" b="0">
                <a:solidFill>
                  <a:srgbClr val="E6F3FF"/>
                </a:solidFill>
                <a:latin typeface="Consolas"/>
                <a:ea typeface="Consolas"/>
                <a:cs typeface="Consolas"/>
              </a:defRPr>
            </a:pPr>
            <a:r>
              <a:rPr sz="1575" b="0">
                <a:solidFill>
                  <a:srgbClr val="E6F3FF"/>
                </a:solidFill>
                <a:latin typeface="Consolas"/>
                <a:ea typeface="Consolas"/>
                <a:cs typeface="Consolas"/>
              </a:rPr>
              <a:t>curl.exe -I http://127.0.0.1:8088/</a:t>
            </a:r>
          </a:p>
          <a:p xmlns:a="http://schemas.openxmlformats.org/drawingml/2006/main">
            <a:pPr>
              <a:buNone/>
              <a:defRPr sz="1575" b="0">
                <a:solidFill>
                  <a:srgbClr val="E6F3FF"/>
                </a:solidFill>
                <a:latin typeface="Consolas"/>
                <a:ea typeface="Consolas"/>
                <a:cs typeface="Consolas"/>
              </a:defRPr>
            </a:pPr>
            <a:r>
              <a:rPr sz="1575" b="0">
                <a:solidFill>
                  <a:srgbClr val="E6F3FF"/>
                </a:solidFill>
                <a:latin typeface="Consolas"/>
                <a:ea typeface="Consolas"/>
                <a:cs typeface="Consolas"/>
              </a:rPr>
              <a:t>docker ps --filter name=cloudlab-site</a:t>
            </a:r>
          </a:p>
          <a:p xmlns:a="http://schemas.openxmlformats.org/drawingml/2006/main">
            <a:pPr>
              <a:buNone/>
              <a:defRPr sz="1575" b="0">
                <a:solidFill>
                  <a:srgbClr val="E6F3FF"/>
                </a:solidFill>
                <a:latin typeface="Consolas"/>
                <a:ea typeface="Consolas"/>
                <a:cs typeface="Consolas"/>
              </a:defRPr>
            </a:pPr>
            <a:r>
              <a:rPr sz="1575" b="0">
                <a:solidFill>
                  <a:srgbClr val="E6F3FF"/>
                </a:solidFill>
                <a:latin typeface="Consolas"/>
                <a:ea typeface="Consolas"/>
                <a:cs typeface="Consolas"/>
              </a:rPr>
              <a:t>docker ps -a --filter name=cloudlab-site</a:t>
            </a:r>
          </a:p>
          <a:p xmlns:a="http://schemas.openxmlformats.org/drawingml/2006/main">
            <a:pPr>
              <a:buNone/>
              <a:defRPr sz="1575" b="0">
                <a:solidFill>
                  <a:srgbClr val="E6F3FF"/>
                </a:solidFill>
                <a:latin typeface="Consolas"/>
                <a:ea typeface="Consolas"/>
                <a:cs typeface="Consolas"/>
              </a:defRPr>
            </a:pPr>
            <a:r>
              <a:rPr sz="1575" b="0">
                <a:solidFill>
                  <a:srgbClr val="E6F3FF"/>
                </a:solidFill>
                <a:latin typeface="Consolas"/>
                <a:ea typeface="Consolas"/>
                <a:cs typeface="Consolas"/>
              </a:rPr>
              <a:t>docker logs --tail 10 cloudlab-site</a:t>
            </a:r>
          </a:p>
          <a:p xmlns:a="http://schemas.openxmlformats.org/drawingml/2006/main">
            <a:pPr>
              <a:buNone/>
              <a:defRPr sz="1575" b="0">
                <a:solidFill>
                  <a:srgbClr val="E6F3FF"/>
                </a:solidFill>
                <a:latin typeface="Consolas"/>
                <a:ea typeface="Consolas"/>
                <a:cs typeface="Consolas"/>
              </a:defRPr>
            </a:pPr>
            <a:r>
              <a:rPr sz="1575" b="0">
                <a:solidFill>
                  <a:srgbClr val="E6F3FF"/>
                </a:solidFill>
                <a:latin typeface="Consolas"/>
                <a:ea typeface="Consolas"/>
                <a:cs typeface="Consolas"/>
              </a:rPr>
              <a:t>docker start cloudlab-site</a:t>
            </a:r>
          </a:p>
          <a:p xmlns:a="http://schemas.openxmlformats.org/drawingml/2006/main">
            <a:pPr>
              <a:buNone/>
              <a:defRPr sz="1575" b="0">
                <a:solidFill>
                  <a:srgbClr val="E6F3FF"/>
                </a:solidFill>
                <a:latin typeface="Consolas"/>
                <a:ea typeface="Consolas"/>
                <a:cs typeface="Consolas"/>
              </a:defRPr>
            </a:pPr>
            <a:r>
              <a:rPr sz="1575" b="0">
                <a:solidFill>
                  <a:srgbClr val="E6F3FF"/>
                </a:solidFill>
                <a:latin typeface="Consolas"/>
                <a:ea typeface="Consolas"/>
                <a:cs typeface="Consolas"/>
              </a:rPr>
              <a:t>curl.exe -I http://127.0.0.1:8088/</a:t>
            </a:r>
          </a:p>
        </p:txBody>
      </p:sp>
      <p:sp>
        <p:nvSpPr>
          <p:cNvPr id="7" name="explanation-label">
            <a:extLst xmlns:a="http://schemas.openxmlformats.org/drawingml/2006/main">
              <a:ext uri="{FF2B5EF4-FFF2-40B4-BE49-F238E27FC236}">
                <a16:creationId xmlns:a16="http://schemas.microsoft.com/office/drawing/2014/main" id="{DD203740-B51D-4E37-8377-94193523A160}"/>
              </a:ext>
            </a:extLst>
          </p:cNvPr>
          <p:cNvSpPr>
            <a:spLocks xmlns:a="http://schemas.openxmlformats.org/drawingml/2006/main" noGrp="1"/>
          </p:cNvSpPr>
          <p:nvPr/>
        </p:nvSpPr>
        <p:spPr>
          <a:xfrm xmlns:a="http://schemas.openxmlformats.org/drawingml/2006/main">
            <a:off x="685800" y="5486400"/>
            <a:ext cx="200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425" b="1">
                <a:solidFill>
                  <a:srgbClr val="F37021"/>
                </a:solidFill>
                <a:latin typeface="Calibri"/>
                <a:ea typeface="Calibri"/>
                <a:cs typeface="Calibri"/>
              </a:defRPr>
            </a:pPr>
            <a:r>
              <a:rPr sz="1425" b="1">
                <a:solidFill>
                  <a:srgbClr val="F37021"/>
                </a:solidFill>
                <a:latin typeface="Calibri"/>
                <a:ea typeface="Calibri"/>
                <a:cs typeface="Calibri"/>
              </a:rPr>
              <a:t>Mengapa</a:t>
            </a:r>
          </a:p>
        </p:txBody>
      </p:sp>
      <p:sp>
        <p:nvSpPr>
          <p:cNvPr id="8" name="explanation-text">
            <a:extLst xmlns:a="http://schemas.openxmlformats.org/drawingml/2006/main">
              <a:ext uri="{FF2B5EF4-FFF2-40B4-BE49-F238E27FC236}">
                <a16:creationId xmlns:a16="http://schemas.microsoft.com/office/drawing/2014/main" id="{8AA31F78-5C41-48CB-B242-1709FD481903}"/>
              </a:ext>
            </a:extLst>
          </p:cNvPr>
          <p:cNvSpPr>
            <a:spLocks xmlns:a="http://schemas.openxmlformats.org/drawingml/2006/main" noGrp="1"/>
          </p:cNvSpPr>
          <p:nvPr/>
        </p:nvSpPr>
        <p:spPr>
          <a:xfrm xmlns:a="http://schemas.openxmlformats.org/drawingml/2006/main">
            <a:off x="685800" y="5810250"/>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3150"/>
          </a:bodyPr>
          <a:lstStyle xmlns:a="http://schemas.openxmlformats.org/drawingml/2006/main"/>
          <a:p xmlns:a="http://schemas.openxmlformats.org/drawingml/2006/main">
            <a:pPr>
              <a:buNone/>
              <a:defRPr sz="1725" b="0">
                <a:solidFill>
                  <a:srgbClr val="0F172A"/>
                </a:solidFill>
                <a:latin typeface="Calibri"/>
                <a:ea typeface="Calibri"/>
                <a:cs typeface="Calibri"/>
              </a:defRPr>
            </a:pPr>
            <a:r>
              <a:rPr sz="1725" b="0">
                <a:solidFill>
                  <a:srgbClr val="0F172A"/>
                </a:solidFill>
                <a:latin typeface="Calibri"/>
                <a:ea typeface="Calibri"/>
                <a:cs typeface="Calibri"/>
              </a:rPr>
              <a:t>curl pertama gagal sesuai skenario. ps -a menunjukkan Exited. start menyalakan objek yang sama; curl terakhir memberi HTTP 200.</a:t>
            </a:r>
          </a:p>
        </p:txBody>
      </p:sp>
    </p:spTree>
    <p:extLst>
      <p:ext uri="{BB962C8B-B14F-4D97-AF65-F5344CB8AC3E}">
        <p14:creationId xmlns:p14="http://schemas.microsoft.com/office/powerpoint/2010/main" val="164577027"/>
      </p:ext>
    </p:extLst>
  </p:cSld>
</p:sld>
</file>

<file path=ppt/slides/slide20.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7" name="section">
            <a:extLst xmlns:a="http://schemas.openxmlformats.org/drawingml/2006/main">
              <a:ext uri="{FF2B5EF4-FFF2-40B4-BE49-F238E27FC236}">
                <a16:creationId xmlns:a16="http://schemas.microsoft.com/office/drawing/2014/main" id="{8C803C5E-3F41-47F7-9326-4177C2987E3C}"/>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2F53C313-4BB9-4614-82D5-B129A799BD27}"/>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Saat situs berhenti, browser gagal memuatnya</a:t>
            </a:r>
          </a:p>
        </p:txBody>
      </p:sp>
      <p:sp>
        <p:nvSpPr>
          <p:cNvPr id="3" name="subtitle">
            <a:extLst xmlns:a="http://schemas.openxmlformats.org/drawingml/2006/main">
              <a:ext uri="{FF2B5EF4-FFF2-40B4-BE49-F238E27FC236}">
                <a16:creationId xmlns:a16="http://schemas.microsoft.com/office/drawing/2014/main" id="{029570BF-55A9-4535-8170-12E530E3658D}"/>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Ini gejala yang sengaja dibuat dengan docker stop cloudlab-site.</a:t>
            </a:r>
          </a:p>
        </p:txBody>
      </p:sp>
      <p:sp>
        <p:nvSpPr>
          <p:cNvPr id="4" name="page">
            <a:extLst xmlns:a="http://schemas.openxmlformats.org/drawingml/2006/main">
              <a:ext uri="{FF2B5EF4-FFF2-40B4-BE49-F238E27FC236}">
                <a16:creationId xmlns:a16="http://schemas.microsoft.com/office/drawing/2014/main" id="{1ED3251E-C246-4131-A135-75B452B7922C}"/>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20</a:t>
            </a:r>
          </a:p>
        </p:txBody>
      </p:sp>
      <p:pic>
        <p:nvPicPr>
          <p:cNvPr id="13" name="">
            <a:extLst xmlns:a="http://schemas.openxmlformats.org/drawingml/2006/main">
              <a:ext uri="{FF2B5EF4-FFF2-40B4-BE49-F238E27FC236}">
                <a16:creationId xmlns:a16="http://schemas.microsoft.com/office/drawing/2014/main" id="{F34A0ED9-6174-4991-B8BA-F387C6F58DE8}"/>
              </a:ext>
            </a:extLst>
          </p:cNvPr>
          <p:cNvPicPr>
            <a:picLocks xmlns:a="http://schemas.openxmlformats.org/drawingml/2006/main" noChangeAspect="1"/>
          </p:cNvPicPr>
          <p:nvPr/>
        </p:nvPicPr>
        <p:blipFill>
          <a:blip xmlns:r="http://schemas.openxmlformats.org/officeDocument/2006/relationships" xmlns:a="http://schemas.openxmlformats.org/drawingml/2006/main" r:embed="Rd1a18242fa764e85"/>
          <a:srcRect xmlns:a="http://schemas.openxmlformats.org/drawingml/2006/main" l="0" t="19234" r="0" b="19234"/>
          <a:stretch xmlns:a="http://schemas.openxmlformats.org/drawingml/2006/main">
            <a:fillRect l="0" t="0" r="0" b="0"/>
          </a:stretch>
        </p:blipFill>
        <p:spPr>
          <a:xfrm xmlns:a="http://schemas.openxmlformats.org/drawingml/2006/main">
            <a:off x="685800" y="1857375"/>
            <a:ext cx="10820400" cy="3743325"/>
          </a:xfrm>
          <a:prstGeom xmlns:a="http://schemas.openxmlformats.org/drawingml/2006/main" prst="rect">
            <a:avLst/>
          </a:prstGeom>
        </p:spPr>
      </p:pic>
      <p:sp>
        <p:nvSpPr>
          <p:cNvPr id="6" name="evidence-c-browser-caption">
            <a:extLst xmlns:a="http://schemas.openxmlformats.org/drawingml/2006/main">
              <a:ext uri="{FF2B5EF4-FFF2-40B4-BE49-F238E27FC236}">
                <a16:creationId xmlns:a16="http://schemas.microsoft.com/office/drawing/2014/main" id="{40CF34BB-AF5B-49AF-9394-EF0F7893B847}"/>
              </a:ext>
            </a:extLst>
          </p:cNvPr>
          <p:cNvSpPr>
            <a:spLocks xmlns:a="http://schemas.openxmlformats.org/drawingml/2006/main" noGrp="1"/>
          </p:cNvSpPr>
          <p:nvPr/>
        </p:nvSpPr>
        <p:spPr>
          <a:xfrm xmlns:a="http://schemas.openxmlformats.org/drawingml/2006/main">
            <a:off x="685800" y="5705475"/>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500" b="0">
                <a:solidFill>
                  <a:srgbClr val="475569"/>
                </a:solidFill>
                <a:latin typeface="Calibri"/>
                <a:ea typeface="Calibri"/>
                <a:cs typeface="Calibri"/>
              </a:defRPr>
            </a:pPr>
            <a:r>
              <a:rPr sz="1500" b="0">
                <a:solidFill>
                  <a:srgbClr val="475569"/>
                </a:solidFill>
                <a:latin typeface="Calibri"/>
                <a:ea typeface="Calibri"/>
                <a:cs typeface="Calibri"/>
              </a:rPr>
              <a:t>Tampilan web: ERR_CONNECTION_REFUSED di 127.0.0.1:8088. Lanjutkan diagnosis dengan docker ps -a.</a:t>
            </a:r>
          </a:p>
        </p:txBody>
      </p:sp>
    </p:spTree>
    <p:extLst>
      <p:ext uri="{BB962C8B-B14F-4D97-AF65-F5344CB8AC3E}">
        <p14:creationId xmlns:p14="http://schemas.microsoft.com/office/powerpoint/2010/main" val="300640112"/>
      </p:ext>
    </p:extLst>
  </p:cSld>
</p:sld>
</file>

<file path=ppt/slides/slide21.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7" name="section">
            <a:extLst xmlns:a="http://schemas.openxmlformats.org/drawingml/2006/main">
              <a:ext uri="{FF2B5EF4-FFF2-40B4-BE49-F238E27FC236}">
                <a16:creationId xmlns:a16="http://schemas.microsoft.com/office/drawing/2014/main" id="{C8F77964-EBD2-4E6A-B365-DACAFCBAE3F6}"/>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A6D551D0-BE8C-4556-B389-E8D1D7CE76ED}"/>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Saat situs berhenti, Docker menampilkan stopped</a:t>
            </a:r>
          </a:p>
        </p:txBody>
      </p:sp>
      <p:sp>
        <p:nvSpPr>
          <p:cNvPr id="3" name="subtitle">
            <a:extLst xmlns:a="http://schemas.openxmlformats.org/drawingml/2006/main">
              <a:ext uri="{FF2B5EF4-FFF2-40B4-BE49-F238E27FC236}">
                <a16:creationId xmlns:a16="http://schemas.microsoft.com/office/drawing/2014/main" id="{10684A3B-FBE5-48FA-827D-3698381C47A2}"/>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Nama dan ID cloudlab-site tetap ada walau proses tidak berjalan.</a:t>
            </a:r>
          </a:p>
        </p:txBody>
      </p:sp>
      <p:sp>
        <p:nvSpPr>
          <p:cNvPr id="4" name="page">
            <a:extLst xmlns:a="http://schemas.openxmlformats.org/drawingml/2006/main">
              <a:ext uri="{FF2B5EF4-FFF2-40B4-BE49-F238E27FC236}">
                <a16:creationId xmlns:a16="http://schemas.microsoft.com/office/drawing/2014/main" id="{256002EA-008E-4A56-8B58-7A617024F8ED}"/>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21</a:t>
            </a:r>
          </a:p>
        </p:txBody>
      </p:sp>
      <p:pic>
        <p:nvPicPr>
          <p:cNvPr id="13" name="">
            <a:extLst xmlns:a="http://schemas.openxmlformats.org/drawingml/2006/main">
              <a:ext uri="{FF2B5EF4-FFF2-40B4-BE49-F238E27FC236}">
                <a16:creationId xmlns:a16="http://schemas.microsoft.com/office/drawing/2014/main" id="{E8B8AC26-D433-4224-BD68-E1D1C7DF0E9E}"/>
              </a:ext>
            </a:extLst>
          </p:cNvPr>
          <p:cNvPicPr>
            <a:picLocks xmlns:a="http://schemas.openxmlformats.org/drawingml/2006/main" noChangeAspect="1"/>
          </p:cNvPicPr>
          <p:nvPr/>
        </p:nvPicPr>
        <p:blipFill>
          <a:blip xmlns:r="http://schemas.openxmlformats.org/officeDocument/2006/relationships" xmlns:a="http://schemas.openxmlformats.org/drawingml/2006/main" r:embed="Rb05b6645916541a9"/>
          <a:srcRect xmlns:a="http://schemas.openxmlformats.org/drawingml/2006/main" l="0" t="18218" r="0" b="18218"/>
          <a:stretch xmlns:a="http://schemas.openxmlformats.org/drawingml/2006/main">
            <a:fillRect l="0" t="0" r="0" b="0"/>
          </a:stretch>
        </p:blipFill>
        <p:spPr>
          <a:xfrm xmlns:a="http://schemas.openxmlformats.org/drawingml/2006/main">
            <a:off x="685800" y="1857375"/>
            <a:ext cx="10820400" cy="3743325"/>
          </a:xfrm>
          <a:prstGeom xmlns:a="http://schemas.openxmlformats.org/drawingml/2006/main" prst="rect">
            <a:avLst/>
          </a:prstGeom>
        </p:spPr>
      </p:pic>
      <p:sp>
        <p:nvSpPr>
          <p:cNvPr id="6" name="evidence-c-docker-caption">
            <a:extLst xmlns:a="http://schemas.openxmlformats.org/drawingml/2006/main">
              <a:ext uri="{FF2B5EF4-FFF2-40B4-BE49-F238E27FC236}">
                <a16:creationId xmlns:a16="http://schemas.microsoft.com/office/drawing/2014/main" id="{14DFD6BA-D6B8-4C6A-976E-C52BE90DF6A1}"/>
              </a:ext>
            </a:extLst>
          </p:cNvPr>
          <p:cNvSpPr>
            <a:spLocks xmlns:a="http://schemas.openxmlformats.org/drawingml/2006/main" noGrp="1"/>
          </p:cNvSpPr>
          <p:nvPr/>
        </p:nvSpPr>
        <p:spPr>
          <a:xfrm xmlns:a="http://schemas.openxmlformats.org/drawingml/2006/main">
            <a:off x="685800" y="5705475"/>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500" b="0">
                <a:solidFill>
                  <a:srgbClr val="475569"/>
                </a:solidFill>
                <a:latin typeface="Calibri"/>
                <a:ea typeface="Calibri"/>
                <a:cs typeface="Calibri"/>
              </a:defRPr>
            </a:pPr>
            <a:r>
              <a:rPr sz="1500" b="0">
                <a:solidFill>
                  <a:srgbClr val="475569"/>
                </a:solidFill>
                <a:latin typeface="Calibri"/>
                <a:ea typeface="Calibri"/>
                <a:cs typeface="Calibri"/>
              </a:rPr>
              <a:t>Tampilan Containers: cloudlab-site berhenti. Jalankan docker ps -a dan docker logs sebelum start.</a:t>
            </a:r>
          </a:p>
        </p:txBody>
      </p:sp>
    </p:spTree>
    <p:extLst>
      <p:ext uri="{BB962C8B-B14F-4D97-AF65-F5344CB8AC3E}">
        <p14:creationId xmlns:p14="http://schemas.microsoft.com/office/powerpoint/2010/main" val="910165596"/>
      </p:ext>
    </p:extLst>
  </p:cSld>
</p:sld>
</file>

<file path=ppt/slides/slide2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7" name="section">
            <a:extLst xmlns:a="http://schemas.openxmlformats.org/drawingml/2006/main">
              <a:ext uri="{FF2B5EF4-FFF2-40B4-BE49-F238E27FC236}">
                <a16:creationId xmlns:a16="http://schemas.microsoft.com/office/drawing/2014/main" id="{D2AD6355-30BF-4FCB-B5FA-C2DD0D3695CF}"/>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55C0815D-6238-4C63-A10D-0C598856A30F}"/>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Bukti C — status berubah</a:t>
            </a:r>
          </a:p>
        </p:txBody>
      </p:sp>
      <p:sp>
        <p:nvSpPr>
          <p:cNvPr id="3" name="subtitle">
            <a:extLst xmlns:a="http://schemas.openxmlformats.org/drawingml/2006/main">
              <a:ext uri="{FF2B5EF4-FFF2-40B4-BE49-F238E27FC236}">
                <a16:creationId xmlns:a16="http://schemas.microsoft.com/office/drawing/2014/main" id="{8EB7B2DD-4CFA-410A-9417-9AFD473C0D2D}"/>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Sesudah stop: Exited. Sesudah start: Up dengan port yang sama.</a:t>
            </a:r>
          </a:p>
        </p:txBody>
      </p:sp>
      <p:sp>
        <p:nvSpPr>
          <p:cNvPr id="4" name="page">
            <a:extLst xmlns:a="http://schemas.openxmlformats.org/drawingml/2006/main">
              <a:ext uri="{FF2B5EF4-FFF2-40B4-BE49-F238E27FC236}">
                <a16:creationId xmlns:a16="http://schemas.microsoft.com/office/drawing/2014/main" id="{DF6C3D52-1F9A-4726-AA78-63F6CA22FE73}"/>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22</a:t>
            </a:r>
          </a:p>
        </p:txBody>
      </p:sp>
      <p:pic>
        <p:nvPicPr>
          <p:cNvPr id="13" name="">
            <a:extLst xmlns:a="http://schemas.openxmlformats.org/drawingml/2006/main">
              <a:ext uri="{FF2B5EF4-FFF2-40B4-BE49-F238E27FC236}">
                <a16:creationId xmlns:a16="http://schemas.microsoft.com/office/drawing/2014/main" id="{C558B346-F982-4C3F-8923-9E24B51B8066}"/>
              </a:ext>
            </a:extLst>
          </p:cNvPr>
          <p:cNvPicPr>
            <a:picLocks xmlns:a="http://schemas.openxmlformats.org/drawingml/2006/main" noChangeAspect="1"/>
          </p:cNvPicPr>
          <p:nvPr/>
        </p:nvPicPr>
        <p:blipFill>
          <a:blip xmlns:r="http://schemas.openxmlformats.org/officeDocument/2006/relationships" xmlns:a="http://schemas.openxmlformats.org/drawingml/2006/main" r:embed="R786a5cf42f4148bc"/>
          <a:stretch xmlns:a="http://schemas.openxmlformats.org/drawingml/2006/main"/>
        </p:blipFill>
        <p:spPr>
          <a:xfrm xmlns:a="http://schemas.openxmlformats.org/drawingml/2006/main">
            <a:off x="855345" y="1857375"/>
            <a:ext cx="10481310" cy="3743325"/>
          </a:xfrm>
          <a:prstGeom xmlns:a="http://schemas.openxmlformats.org/drawingml/2006/main" prst="rect">
            <a:avLst/>
          </a:prstGeom>
        </p:spPr>
      </p:pic>
      <p:sp>
        <p:nvSpPr>
          <p:cNvPr id="6" name="evidence-c-caption">
            <a:extLst xmlns:a="http://schemas.openxmlformats.org/drawingml/2006/main">
              <a:ext uri="{FF2B5EF4-FFF2-40B4-BE49-F238E27FC236}">
                <a16:creationId xmlns:a16="http://schemas.microsoft.com/office/drawing/2014/main" id="{FB2B2B77-58B0-4A4A-818F-BF7B68A223EE}"/>
              </a:ext>
            </a:extLst>
          </p:cNvPr>
          <p:cNvSpPr>
            <a:spLocks xmlns:a="http://schemas.openxmlformats.org/drawingml/2006/main" noGrp="1"/>
          </p:cNvSpPr>
          <p:nvPr/>
        </p:nvSpPr>
        <p:spPr>
          <a:xfrm xmlns:a="http://schemas.openxmlformats.org/drawingml/2006/main">
            <a:off x="685800" y="5705475"/>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500" b="0">
                <a:solidFill>
                  <a:srgbClr val="475569"/>
                </a:solidFill>
                <a:latin typeface="Calibri"/>
                <a:ea typeface="Calibri"/>
                <a:cs typeface="Calibri"/>
              </a:defRPr>
            </a:pPr>
            <a:r>
              <a:rPr sz="1500" b="0">
                <a:solidFill>
                  <a:srgbClr val="475569"/>
                </a:solidFill>
                <a:latin typeface="Calibri"/>
                <a:ea typeface="Calibri"/>
                <a:cs typeface="Calibri"/>
              </a:rPr>
              <a:t>Perintah: docker stop, curl gagal, docker ps -a, docker start, curl HTTP 200.</a:t>
            </a:r>
          </a:p>
        </p:txBody>
      </p:sp>
    </p:spTree>
    <p:extLst>
      <p:ext uri="{BB962C8B-B14F-4D97-AF65-F5344CB8AC3E}">
        <p14:creationId xmlns:p14="http://schemas.microsoft.com/office/powerpoint/2010/main" val="1699614085"/>
      </p:ext>
    </p:extLst>
  </p:cSld>
</p:sld>
</file>

<file path=ppt/slides/slide2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9" name="section">
            <a:extLst xmlns:a="http://schemas.openxmlformats.org/drawingml/2006/main">
              <a:ext uri="{FF2B5EF4-FFF2-40B4-BE49-F238E27FC236}">
                <a16:creationId xmlns:a16="http://schemas.microsoft.com/office/drawing/2014/main" id="{03F83B7D-1121-445D-9CE9-8641DC085E11}"/>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5EEA0DE3-A4C9-4E79-B312-AF70A076C549}"/>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Challenge D — ubah pesan tanpa rebuild</a:t>
            </a:r>
          </a:p>
        </p:txBody>
      </p:sp>
      <p:sp>
        <p:nvSpPr>
          <p:cNvPr id="3" name="subtitle">
            <a:extLst xmlns:a="http://schemas.openxmlformats.org/drawingml/2006/main">
              <a:ext uri="{FF2B5EF4-FFF2-40B4-BE49-F238E27FC236}">
                <a16:creationId xmlns:a16="http://schemas.microsoft.com/office/drawing/2014/main" id="{007BAD93-6695-4BDF-9DA4-DB4533E80B18}"/>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PowerShell yang sama: gunakan $repoRoot dari setup untuk memilih file host.</a:t>
            </a:r>
          </a:p>
        </p:txBody>
      </p:sp>
      <p:sp>
        <p:nvSpPr>
          <p:cNvPr id="4" name="page">
            <a:extLst xmlns:a="http://schemas.openxmlformats.org/drawingml/2006/main">
              <a:ext uri="{FF2B5EF4-FFF2-40B4-BE49-F238E27FC236}">
                <a16:creationId xmlns:a16="http://schemas.microsoft.com/office/drawing/2014/main" id="{2E2D39DB-2FBE-499C-8506-706342A407F1}"/>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23</a:t>
            </a:r>
          </a:p>
        </p:txBody>
      </p:sp>
      <p:sp>
        <p:nvSpPr>
          <p:cNvPr id="5" name="solution-d-background">
            <a:extLst xmlns:a="http://schemas.openxmlformats.org/drawingml/2006/main">
              <a:ext uri="{FF2B5EF4-FFF2-40B4-BE49-F238E27FC236}">
                <a16:creationId xmlns:a16="http://schemas.microsoft.com/office/drawing/2014/main" id="{A87ACEAF-41D1-4AEA-BAF1-3849EF3A5044}"/>
              </a:ext>
            </a:extLst>
          </p:cNvPr>
          <p:cNvSpPr>
            <a:spLocks xmlns:a="http://schemas.openxmlformats.org/drawingml/2006/main" noGrp="1"/>
          </p:cNvSpPr>
          <p:nvPr/>
        </p:nvSpPr>
        <p:spPr>
          <a:xfrm xmlns:a="http://schemas.openxmlformats.org/drawingml/2006/main">
            <a:off x="685800" y="1952625"/>
            <a:ext cx="10820400" cy="3514725"/>
          </a:xfrm>
          <a:prstGeom xmlns:a="http://schemas.openxmlformats.org/drawingml/2006/main" prst="rect">
            <a:avLst/>
          </a:prstGeom>
          <a:solidFill xmlns:a="http://schemas.openxmlformats.org/drawingml/2006/main">
            <a:srgbClr val="101722"/>
          </a:solidFill>
          <a:ln xmlns:a="http://schemas.openxmlformats.org/drawingml/2006/main" w="0">
            <a:noFill/>
          </a:ln>
        </p:spPr>
      </p:sp>
      <p:sp>
        <p:nvSpPr>
          <p:cNvPr id="6" name="solution-d">
            <a:extLst xmlns:a="http://schemas.openxmlformats.org/drawingml/2006/main">
              <a:ext uri="{FF2B5EF4-FFF2-40B4-BE49-F238E27FC236}">
                <a16:creationId xmlns:a16="http://schemas.microsoft.com/office/drawing/2014/main" id="{0817FFEA-D366-44AF-A9A1-8CE75AE2700D}"/>
              </a:ext>
            </a:extLst>
          </p:cNvPr>
          <p:cNvSpPr>
            <a:spLocks xmlns:a="http://schemas.openxmlformats.org/drawingml/2006/main" noGrp="1"/>
          </p:cNvSpPr>
          <p:nvPr/>
        </p:nvSpPr>
        <p:spPr>
          <a:xfrm xmlns:a="http://schemas.openxmlformats.org/drawingml/2006/main">
            <a:off x="914400" y="2171700"/>
            <a:ext cx="10363200" cy="3114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a:solidFill>
                  <a:srgbClr val="E6F3FF"/>
                </a:solidFill>
                <a:latin typeface="Consolas"/>
                <a:ea typeface="Consolas"/>
                <a:cs typeface="Consolas"/>
              </a:defRPr>
            </a:defPPr>
          </a:lstStyle>
          <a:p xmlns:a="http://schemas.openxmlformats.org/drawingml/2006/main">
            <a:pPr algn="l">
              <a:buNone/>
              <a:defRPr sz="1275" b="0">
                <a:solidFill>
                  <a:srgbClr val="E6F3FF"/>
                </a:solidFill>
                <a:latin typeface="Consolas"/>
                <a:ea typeface="Consolas"/>
                <a:cs typeface="Consolas"/>
              </a:defRPr>
            </a:pPr>
            <a:r>
              <a:rPr sz="1275" b="0">
                <a:solidFill>
                  <a:srgbClr val="E6F3FF"/>
                </a:solidFill>
                <a:latin typeface="Consolas"/>
                <a:ea typeface="Consolas"/>
                <a:cs typeface="Consolas"/>
              </a:rPr>
              <a:t>$before = docker image inspect nginx:alpine --format '{{.Id}}'</a:t>
            </a:r>
          </a:p>
          <a:p xmlns:a="http://schemas.openxmlformats.org/drawingml/2006/main">
            <a:pPr algn="l">
              <a:buNone/>
              <a:defRPr sz="1275" b="0">
                <a:solidFill>
                  <a:srgbClr val="E6F3FF"/>
                </a:solidFill>
                <a:latin typeface="Consolas"/>
                <a:ea typeface="Consolas"/>
                <a:cs typeface="Consolas"/>
              </a:defRPr>
            </a:pPr>
            <a:r>
              <a:rPr sz="1275" b="0">
                <a:solidFill>
                  <a:srgbClr val="E6F3FF"/>
                </a:solidFill>
                <a:latin typeface="Consolas"/>
                <a:ea typeface="Consolas"/>
                <a:cs typeface="Consolas"/>
              </a:rPr>
              <a:t>$file = (Resolve-Path -LiteralPath (Join-Path $repoRoot 'site\index.html') -ErrorAction Stop).Path</a:t>
            </a:r>
          </a:p>
          <a:p xmlns:a="http://schemas.openxmlformats.org/drawingml/2006/main">
            <a:pPr algn="l">
              <a:buNone/>
              <a:defRPr sz="1275" b="0">
                <a:solidFill>
                  <a:srgbClr val="E6F3FF"/>
                </a:solidFill>
                <a:latin typeface="Consolas"/>
                <a:ea typeface="Consolas"/>
                <a:cs typeface="Consolas"/>
              </a:defRPr>
            </a:pPr>
            <a:r>
              <a:rPr sz="1275" b="0">
                <a:solidFill>
                  <a:srgbClr val="E6F3FF"/>
                </a:solidFill>
                <a:latin typeface="Consolas"/>
                <a:ea typeface="Consolas"/>
                <a:cs typeface="Consolas"/>
              </a:rPr>
              <a:t>$html = [IO.File]::ReadAllText($file)</a:t>
            </a:r>
          </a:p>
          <a:p xmlns:a="http://schemas.openxmlformats.org/drawingml/2006/main">
            <a:pPr algn="l">
              <a:buNone/>
              <a:defRPr sz="1275" b="0">
                <a:solidFill>
                  <a:srgbClr val="E6F3FF"/>
                </a:solidFill>
                <a:latin typeface="Consolas"/>
                <a:ea typeface="Consolas"/>
                <a:cs typeface="Consolas"/>
              </a:defRPr>
            </a:pPr>
            <a:r>
              <a:rPr sz="1275" b="0">
                <a:solidFill>
                  <a:srgbClr val="E6F3FF"/>
                </a:solidFill>
                <a:latin typeface="Consolas"/>
                <a:ea typeface="Consolas"/>
                <a:cs typeface="Consolas"/>
              </a:rPr>
              <a:t>$html = $html.Replace('STATUS_OK: Layanan normal', 'INCIDENT-042: Pemeliharaan selesai')</a:t>
            </a:r>
          </a:p>
          <a:p xmlns:a="http://schemas.openxmlformats.org/drawingml/2006/main">
            <a:pPr algn="l">
              <a:buNone/>
              <a:defRPr sz="1275" b="0">
                <a:solidFill>
                  <a:srgbClr val="E6F3FF"/>
                </a:solidFill>
                <a:latin typeface="Consolas"/>
                <a:ea typeface="Consolas"/>
                <a:cs typeface="Consolas"/>
              </a:defRPr>
            </a:pPr>
            <a:r>
              <a:rPr sz="1275" b="0">
                <a:solidFill>
                  <a:srgbClr val="E6F3FF"/>
                </a:solidFill>
                <a:latin typeface="Consolas"/>
                <a:ea typeface="Consolas"/>
                <a:cs typeface="Consolas"/>
              </a:rPr>
              <a:t>$utf8 = New-Object System.Text.UTF8Encoding($false)</a:t>
            </a:r>
          </a:p>
          <a:p xmlns:a="http://schemas.openxmlformats.org/drawingml/2006/main">
            <a:pPr algn="l">
              <a:buNone/>
              <a:defRPr sz="1275" b="0">
                <a:solidFill>
                  <a:srgbClr val="E6F3FF"/>
                </a:solidFill>
                <a:latin typeface="Consolas"/>
                <a:ea typeface="Consolas"/>
                <a:cs typeface="Consolas"/>
              </a:defRPr>
            </a:pPr>
            <a:r>
              <a:rPr sz="1275" b="0">
                <a:solidFill>
                  <a:srgbClr val="E6F3FF"/>
                </a:solidFill>
                <a:latin typeface="Consolas"/>
                <a:ea typeface="Consolas"/>
                <a:cs typeface="Consolas"/>
              </a:rPr>
              <a:t>[IO.File]::WriteAllText($file, $html, $utf8)</a:t>
            </a:r>
          </a:p>
          <a:p xmlns:a="http://schemas.openxmlformats.org/drawingml/2006/main">
            <a:pPr algn="l">
              <a:buNone/>
              <a:defRPr sz="1275" b="0">
                <a:solidFill>
                  <a:srgbClr val="E6F3FF"/>
                </a:solidFill>
                <a:latin typeface="Consolas"/>
                <a:ea typeface="Consolas"/>
                <a:cs typeface="Consolas"/>
              </a:defRPr>
            </a:pPr>
            <a:r>
              <a:rPr sz="1275" b="0">
                <a:solidFill>
                  <a:srgbClr val="E6F3FF"/>
                </a:solidFill>
                <a:latin typeface="Consolas"/>
                <a:ea typeface="Consolas"/>
                <a:cs typeface="Consolas"/>
              </a:rPr>
              <a:t>$after = docker image inspect nginx:alpine --format '{{.Id}}'</a:t>
            </a:r>
          </a:p>
          <a:p xmlns:a="http://schemas.openxmlformats.org/drawingml/2006/main">
            <a:pPr algn="l">
              <a:buNone/>
              <a:defRPr sz="1275" b="0">
                <a:solidFill>
                  <a:srgbClr val="E6F3FF"/>
                </a:solidFill>
                <a:latin typeface="Consolas"/>
                <a:ea typeface="Consolas"/>
                <a:cs typeface="Consolas"/>
              </a:defRPr>
            </a:pPr>
            <a:r>
              <a:rPr sz="1275" b="0">
                <a:solidFill>
                  <a:srgbClr val="E6F3FF"/>
                </a:solidFill>
                <a:latin typeface="Consolas"/>
                <a:ea typeface="Consolas"/>
                <a:cs typeface="Consolas"/>
              </a:rPr>
              <a:t>$before -eq $after; curl.exe -fsS http://127.0.0.1:8088/</a:t>
            </a:r>
          </a:p>
          <a:p xmlns:a="http://schemas.openxmlformats.org/drawingml/2006/main">
            <a:pPr algn="l">
              <a:buNone/>
              <a:defRPr sz="1275" b="0">
                <a:solidFill>
                  <a:srgbClr val="E6F3FF"/>
                </a:solidFill>
                <a:latin typeface="Consolas"/>
                <a:ea typeface="Consolas"/>
                <a:cs typeface="Consolas"/>
              </a:defRPr>
            </a:pPr>
            <a:r>
              <a:rPr sz="1275" b="0">
                <a:solidFill>
                  <a:srgbClr val="E6F3FF"/>
                </a:solidFill>
                <a:latin typeface="Consolas"/>
                <a:ea typeface="Consolas"/>
                <a:cs typeface="Consolas"/>
              </a:rPr>
              <a:t>docker inspect cloudlab-site --format '{{range .Mounts}}RW={{.RW}}{{end}}'</a:t>
            </a:r>
          </a:p>
        </p:txBody>
      </p:sp>
      <p:sp>
        <p:nvSpPr>
          <p:cNvPr id="7" name="explanation-label">
            <a:extLst xmlns:a="http://schemas.openxmlformats.org/drawingml/2006/main">
              <a:ext uri="{FF2B5EF4-FFF2-40B4-BE49-F238E27FC236}">
                <a16:creationId xmlns:a16="http://schemas.microsoft.com/office/drawing/2014/main" id="{1937AA24-6DE2-438F-87E5-B0F32C726C0F}"/>
              </a:ext>
            </a:extLst>
          </p:cNvPr>
          <p:cNvSpPr>
            <a:spLocks xmlns:a="http://schemas.openxmlformats.org/drawingml/2006/main" noGrp="1"/>
          </p:cNvSpPr>
          <p:nvPr/>
        </p:nvSpPr>
        <p:spPr>
          <a:xfrm xmlns:a="http://schemas.openxmlformats.org/drawingml/2006/main">
            <a:off x="685800" y="5619750"/>
            <a:ext cx="200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425" b="1">
                <a:solidFill>
                  <a:srgbClr val="F37021"/>
                </a:solidFill>
                <a:latin typeface="Calibri"/>
                <a:ea typeface="Calibri"/>
                <a:cs typeface="Calibri"/>
              </a:defRPr>
            </a:pPr>
            <a:r>
              <a:rPr sz="1425" b="1">
                <a:solidFill>
                  <a:srgbClr val="F37021"/>
                </a:solidFill>
                <a:latin typeface="Calibri"/>
                <a:ea typeface="Calibri"/>
                <a:cs typeface="Calibri"/>
              </a:rPr>
              <a:t>Baca hasil</a:t>
            </a:r>
          </a:p>
        </p:txBody>
      </p:sp>
      <p:sp>
        <p:nvSpPr>
          <p:cNvPr id="8" name="explanation-text">
            <a:extLst xmlns:a="http://schemas.openxmlformats.org/drawingml/2006/main">
              <a:ext uri="{FF2B5EF4-FFF2-40B4-BE49-F238E27FC236}">
                <a16:creationId xmlns:a16="http://schemas.microsoft.com/office/drawing/2014/main" id="{FE8F7045-E845-479C-A2F1-898983D5D46E}"/>
              </a:ext>
            </a:extLst>
          </p:cNvPr>
          <p:cNvSpPr>
            <a:spLocks xmlns:a="http://schemas.openxmlformats.org/drawingml/2006/main" noGrp="1"/>
          </p:cNvSpPr>
          <p:nvPr/>
        </p:nvSpPr>
        <p:spPr>
          <a:xfrm xmlns:a="http://schemas.openxmlformats.org/drawingml/2006/main">
            <a:off x="685800" y="5943600"/>
            <a:ext cx="1082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8415"/>
          </a:bodyPr>
          <a:lstStyle xmlns:a="http://schemas.openxmlformats.org/drawingml/2006/main"/>
          <a:p xmlns:a="http://schemas.openxmlformats.org/drawingml/2006/main">
            <a:pPr>
              <a:buNone/>
              <a:defRPr sz="1725" b="0">
                <a:solidFill>
                  <a:srgbClr val="0F172A"/>
                </a:solidFill>
                <a:latin typeface="Calibri"/>
                <a:ea typeface="Calibri"/>
                <a:cs typeface="Calibri"/>
              </a:defRPr>
            </a:pPr>
            <a:r>
              <a:rPr sz="1725" b="0">
                <a:solidFill>
                  <a:srgbClr val="0F172A"/>
                </a:solidFill>
                <a:latin typeface="Calibri"/>
                <a:ea typeface="Calibri"/>
                <a:cs typeface="Calibri"/>
              </a:rPr>
              <a:t>Browser menampilkan INCIDENT-042: Pemeliharaan selesai. Image ID sebelum/sesudah sama (True); RW=false pada mount.</a:t>
            </a:r>
          </a:p>
        </p:txBody>
      </p:sp>
    </p:spTree>
    <p:extLst>
      <p:ext uri="{BB962C8B-B14F-4D97-AF65-F5344CB8AC3E}">
        <p14:creationId xmlns:p14="http://schemas.microsoft.com/office/powerpoint/2010/main" val="1692262254"/>
      </p:ext>
    </p:extLst>
  </p:cSld>
</p:sld>
</file>

<file path=ppt/slides/slide2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7" name="section">
            <a:extLst xmlns:a="http://schemas.openxmlformats.org/drawingml/2006/main">
              <a:ext uri="{FF2B5EF4-FFF2-40B4-BE49-F238E27FC236}">
                <a16:creationId xmlns:a16="http://schemas.microsoft.com/office/drawing/2014/main" id="{9E11086F-740F-4117-B28B-343003850FC0}"/>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4E3F725D-C395-4C1B-B4DF-18D91231BD52}"/>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Bukti D — konten berubah di web</a:t>
            </a:r>
          </a:p>
        </p:txBody>
      </p:sp>
      <p:sp>
        <p:nvSpPr>
          <p:cNvPr id="3" name="subtitle">
            <a:extLst xmlns:a="http://schemas.openxmlformats.org/drawingml/2006/main">
              <a:ext uri="{FF2B5EF4-FFF2-40B4-BE49-F238E27FC236}">
                <a16:creationId xmlns:a16="http://schemas.microsoft.com/office/drawing/2014/main" id="{86FF7AF9-C888-4BE2-ACE2-CA117913C63F}"/>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Pesan Pemeliharaan selesai dan INCIDENT-042 muncul setelah refresh.</a:t>
            </a:r>
          </a:p>
        </p:txBody>
      </p:sp>
      <p:sp>
        <p:nvSpPr>
          <p:cNvPr id="4" name="page">
            <a:extLst xmlns:a="http://schemas.openxmlformats.org/drawingml/2006/main">
              <a:ext uri="{FF2B5EF4-FFF2-40B4-BE49-F238E27FC236}">
                <a16:creationId xmlns:a16="http://schemas.microsoft.com/office/drawing/2014/main" id="{C6752D51-E478-4749-AE72-24A4FA9E2EC9}"/>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24</a:t>
            </a:r>
          </a:p>
        </p:txBody>
      </p:sp>
      <p:pic>
        <p:nvPicPr>
          <p:cNvPr id="13" name="">
            <a:extLst xmlns:a="http://schemas.openxmlformats.org/drawingml/2006/main">
              <a:ext uri="{FF2B5EF4-FFF2-40B4-BE49-F238E27FC236}">
                <a16:creationId xmlns:a16="http://schemas.microsoft.com/office/drawing/2014/main" id="{9526A98D-89F2-44A2-9C41-0978B4D5A6D6}"/>
              </a:ext>
            </a:extLst>
          </p:cNvPr>
          <p:cNvPicPr>
            <a:picLocks xmlns:a="http://schemas.openxmlformats.org/drawingml/2006/main" noChangeAspect="1"/>
          </p:cNvPicPr>
          <p:nvPr/>
        </p:nvPicPr>
        <p:blipFill>
          <a:blip xmlns:r="http://schemas.openxmlformats.org/officeDocument/2006/relationships" xmlns:a="http://schemas.openxmlformats.org/drawingml/2006/main" r:embed="Rfd8359a211754054"/>
          <a:srcRect xmlns:a="http://schemas.openxmlformats.org/drawingml/2006/main" l="0" t="19234" r="0" b="19234"/>
          <a:stretch xmlns:a="http://schemas.openxmlformats.org/drawingml/2006/main">
            <a:fillRect l="0" t="0" r="0" b="0"/>
          </a:stretch>
        </p:blipFill>
        <p:spPr>
          <a:xfrm xmlns:a="http://schemas.openxmlformats.org/drawingml/2006/main">
            <a:off x="685800" y="1857375"/>
            <a:ext cx="10820400" cy="3743325"/>
          </a:xfrm>
          <a:prstGeom xmlns:a="http://schemas.openxmlformats.org/drawingml/2006/main" prst="rect">
            <a:avLst/>
          </a:prstGeom>
        </p:spPr>
      </p:pic>
      <p:sp>
        <p:nvSpPr>
          <p:cNvPr id="6" name="evidence-d-caption">
            <a:extLst xmlns:a="http://schemas.openxmlformats.org/drawingml/2006/main">
              <a:ext uri="{FF2B5EF4-FFF2-40B4-BE49-F238E27FC236}">
                <a16:creationId xmlns:a16="http://schemas.microsoft.com/office/drawing/2014/main" id="{22994E5C-C729-4E75-9046-4C4347BB2615}"/>
              </a:ext>
            </a:extLst>
          </p:cNvPr>
          <p:cNvSpPr>
            <a:spLocks xmlns:a="http://schemas.openxmlformats.org/drawingml/2006/main" noGrp="1"/>
          </p:cNvSpPr>
          <p:nvPr/>
        </p:nvSpPr>
        <p:spPr>
          <a:xfrm xmlns:a="http://schemas.openxmlformats.org/drawingml/2006/main">
            <a:off x="685800" y="5705475"/>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500" b="0">
                <a:solidFill>
                  <a:srgbClr val="475569"/>
                </a:solidFill>
                <a:latin typeface="Calibri"/>
                <a:ea typeface="Calibri"/>
                <a:cs typeface="Calibri"/>
              </a:defRPr>
            </a:pPr>
            <a:r>
              <a:rPr sz="1500" b="0">
                <a:solidFill>
                  <a:srgbClr val="475569"/>
                </a:solidFill>
                <a:latin typeface="Calibri"/>
                <a:ea typeface="Calibri"/>
                <a:cs typeface="Calibri"/>
              </a:rPr>
              <a:t>Edit site/index.html lalu refresh: bind mount memasok file baru tanpa build image; inspect tetap RW=false.</a:t>
            </a:r>
          </a:p>
        </p:txBody>
      </p:sp>
    </p:spTree>
    <p:extLst>
      <p:ext uri="{BB962C8B-B14F-4D97-AF65-F5344CB8AC3E}">
        <p14:creationId xmlns:p14="http://schemas.microsoft.com/office/powerpoint/2010/main" val="283182370"/>
      </p:ext>
    </p:extLst>
  </p:cSld>
</p:sld>
</file>

<file path=ppt/slides/slide2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9" name="section">
            <a:extLst xmlns:a="http://schemas.openxmlformats.org/drawingml/2006/main">
              <a:ext uri="{FF2B5EF4-FFF2-40B4-BE49-F238E27FC236}">
                <a16:creationId xmlns:a16="http://schemas.microsoft.com/office/drawing/2014/main" id="{956E91B3-4B5F-43DC-B11D-7DC78684C684}"/>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4A917271-689C-4AD3-8D13-19D89B2AA56F}"/>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Challenge E — benturan port dan canary</a:t>
            </a:r>
          </a:p>
        </p:txBody>
      </p:sp>
      <p:sp>
        <p:nvSpPr>
          <p:cNvPr id="3" name="subtitle">
            <a:extLst xmlns:a="http://schemas.openxmlformats.org/drawingml/2006/main">
              <a:ext uri="{FF2B5EF4-FFF2-40B4-BE49-F238E27FC236}">
                <a16:creationId xmlns:a16="http://schemas.microsoft.com/office/drawing/2014/main" id="{7BF9D7AB-E5F8-4654-9BFC-74A0A34D1802}"/>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Kunci: lihat kegagalan terduga pada 8088, bersihkan, lalu jalankan canary 8089.</a:t>
            </a:r>
          </a:p>
        </p:txBody>
      </p:sp>
      <p:sp>
        <p:nvSpPr>
          <p:cNvPr id="4" name="page">
            <a:extLst xmlns:a="http://schemas.openxmlformats.org/drawingml/2006/main">
              <a:ext uri="{FF2B5EF4-FFF2-40B4-BE49-F238E27FC236}">
                <a16:creationId xmlns:a16="http://schemas.microsoft.com/office/drawing/2014/main" id="{FC4B7000-AB48-4683-922A-E919B941DCE2}"/>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25</a:t>
            </a:r>
          </a:p>
        </p:txBody>
      </p:sp>
      <p:sp>
        <p:nvSpPr>
          <p:cNvPr id="5" name="solution-e-background">
            <a:extLst xmlns:a="http://schemas.openxmlformats.org/drawingml/2006/main">
              <a:ext uri="{FF2B5EF4-FFF2-40B4-BE49-F238E27FC236}">
                <a16:creationId xmlns:a16="http://schemas.microsoft.com/office/drawing/2014/main" id="{2E566244-F5DC-45CA-BB93-85A761C48956}"/>
              </a:ext>
            </a:extLst>
          </p:cNvPr>
          <p:cNvSpPr>
            <a:spLocks xmlns:a="http://schemas.openxmlformats.org/drawingml/2006/main" noGrp="1"/>
          </p:cNvSpPr>
          <p:nvPr/>
        </p:nvSpPr>
        <p:spPr>
          <a:xfrm xmlns:a="http://schemas.openxmlformats.org/drawingml/2006/main">
            <a:off x="685800" y="1952625"/>
            <a:ext cx="10820400" cy="3390900"/>
          </a:xfrm>
          <a:prstGeom xmlns:a="http://schemas.openxmlformats.org/drawingml/2006/main" prst="rect">
            <a:avLst/>
          </a:prstGeom>
          <a:solidFill xmlns:a="http://schemas.openxmlformats.org/drawingml/2006/main">
            <a:srgbClr val="101722"/>
          </a:solidFill>
          <a:ln xmlns:a="http://schemas.openxmlformats.org/drawingml/2006/main" w="0">
            <a:noFill/>
          </a:ln>
        </p:spPr>
      </p:sp>
      <p:sp>
        <p:nvSpPr>
          <p:cNvPr id="6" name="solution-e">
            <a:extLst xmlns:a="http://schemas.openxmlformats.org/drawingml/2006/main">
              <a:ext uri="{FF2B5EF4-FFF2-40B4-BE49-F238E27FC236}">
                <a16:creationId xmlns:a16="http://schemas.microsoft.com/office/drawing/2014/main" id="{076AC057-3786-47EF-B1B7-4D8BF22F3C1F}"/>
              </a:ext>
            </a:extLst>
          </p:cNvPr>
          <p:cNvSpPr>
            <a:spLocks xmlns:a="http://schemas.openxmlformats.org/drawingml/2006/main" noGrp="1"/>
          </p:cNvSpPr>
          <p:nvPr/>
        </p:nvSpPr>
        <p:spPr>
          <a:xfrm xmlns:a="http://schemas.openxmlformats.org/drawingml/2006/main">
            <a:off x="914400" y="2171700"/>
            <a:ext cx="10363200" cy="2990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425" b="0">
                <a:solidFill>
                  <a:srgbClr val="E6F3FF"/>
                </a:solidFill>
                <a:latin typeface="Consolas"/>
                <a:ea typeface="Consolas"/>
                <a:cs typeface="Consolas"/>
              </a:defRPr>
            </a:pPr>
            <a:r>
              <a:rPr sz="1425" b="0">
                <a:solidFill>
                  <a:srgbClr val="E6F3FF"/>
                </a:solidFill>
                <a:latin typeface="Consolas"/>
                <a:ea typeface="Consolas"/>
                <a:cs typeface="Consolas"/>
              </a:rPr>
              <a:t>docker run --name cloudlab-canary -d -p 127.0.0.1:8088:80 nginx:alpine</a:t>
            </a:r>
          </a:p>
          <a:p xmlns:a="http://schemas.openxmlformats.org/drawingml/2006/main">
            <a:pPr>
              <a:buNone/>
              <a:defRPr sz="1425" b="0">
                <a:solidFill>
                  <a:srgbClr val="E6F3FF"/>
                </a:solidFill>
                <a:latin typeface="Consolas"/>
                <a:ea typeface="Consolas"/>
                <a:cs typeface="Consolas"/>
              </a:defRPr>
            </a:pPr>
            <a:r>
              <a:rPr sz="1425" b="0">
                <a:solidFill>
                  <a:srgbClr val="E6F3FF"/>
                </a:solidFill>
                <a:latin typeface="Consolas"/>
                <a:ea typeface="Consolas"/>
                <a:cs typeface="Consolas"/>
              </a:rPr>
              <a:t>docker ps -a --filter name=cloudlab-canary</a:t>
            </a:r>
          </a:p>
          <a:p xmlns:a="http://schemas.openxmlformats.org/drawingml/2006/main">
            <a:pPr>
              <a:buNone/>
              <a:defRPr sz="1425" b="0">
                <a:solidFill>
                  <a:srgbClr val="E6F3FF"/>
                </a:solidFill>
                <a:latin typeface="Consolas"/>
                <a:ea typeface="Consolas"/>
                <a:cs typeface="Consolas"/>
              </a:defRPr>
            </a:pPr>
            <a:r>
              <a:rPr sz="1425" b="0">
                <a:solidFill>
                  <a:srgbClr val="E6F3FF"/>
                </a:solidFill>
                <a:latin typeface="Consolas"/>
                <a:ea typeface="Consolas"/>
                <a:cs typeface="Consolas"/>
              </a:rPr>
              <a:t>docker rm -f cloudlab-canary</a:t>
            </a:r>
          </a:p>
          <a:p xmlns:a="http://schemas.openxmlformats.org/drawingml/2006/main">
            <a:pPr>
              <a:buNone/>
              <a:defRPr sz="1425" b="0">
                <a:solidFill>
                  <a:srgbClr val="E6F3FF"/>
                </a:solidFill>
                <a:latin typeface="Consolas"/>
                <a:ea typeface="Consolas"/>
                <a:cs typeface="Consolas"/>
              </a:defRPr>
            </a:pPr>
            <a:r>
              <a:rPr sz="1425" b="0">
                <a:solidFill>
                  <a:srgbClr val="E6F3FF"/>
                </a:solidFill>
                <a:latin typeface="Consolas"/>
                <a:ea typeface="Consolas"/>
                <a:cs typeface="Consolas"/>
              </a:rPr>
              <a:t>docker run --name cloudlab-canary -d -p 127.0.0.1:8089:80 nginx:alpine</a:t>
            </a:r>
          </a:p>
          <a:p xmlns:a="http://schemas.openxmlformats.org/drawingml/2006/main">
            <a:pPr>
              <a:buNone/>
              <a:defRPr sz="1425" b="0">
                <a:solidFill>
                  <a:srgbClr val="E6F3FF"/>
                </a:solidFill>
                <a:latin typeface="Consolas"/>
                <a:ea typeface="Consolas"/>
                <a:cs typeface="Consolas"/>
              </a:defRPr>
            </a:pPr>
            <a:r>
              <a:rPr sz="1425" b="0">
                <a:solidFill>
                  <a:srgbClr val="E6F3FF"/>
                </a:solidFill>
                <a:latin typeface="Consolas"/>
                <a:ea typeface="Consolas"/>
                <a:cs typeface="Consolas"/>
              </a:rPr>
              <a:t>docker ps --filter name=cloudlab-canary</a:t>
            </a:r>
          </a:p>
          <a:p xmlns:a="http://schemas.openxmlformats.org/drawingml/2006/main">
            <a:pPr>
              <a:buNone/>
              <a:defRPr sz="1425" b="0">
                <a:solidFill>
                  <a:srgbClr val="E6F3FF"/>
                </a:solidFill>
                <a:latin typeface="Consolas"/>
                <a:ea typeface="Consolas"/>
                <a:cs typeface="Consolas"/>
              </a:defRPr>
            </a:pPr>
            <a:r>
              <a:rPr sz="1425" b="0">
                <a:solidFill>
                  <a:srgbClr val="E6F3FF"/>
                </a:solidFill>
                <a:latin typeface="Consolas"/>
                <a:ea typeface="Consolas"/>
                <a:cs typeface="Consolas"/>
              </a:rPr>
              <a:t>curl.exe -I http://127.0.0.1:8088/</a:t>
            </a:r>
          </a:p>
          <a:p xmlns:a="http://schemas.openxmlformats.org/drawingml/2006/main">
            <a:pPr>
              <a:buNone/>
              <a:defRPr sz="1425" b="0">
                <a:solidFill>
                  <a:srgbClr val="E6F3FF"/>
                </a:solidFill>
                <a:latin typeface="Consolas"/>
                <a:ea typeface="Consolas"/>
                <a:cs typeface="Consolas"/>
              </a:defRPr>
            </a:pPr>
            <a:r>
              <a:rPr sz="1425" b="0">
                <a:solidFill>
                  <a:srgbClr val="E6F3FF"/>
                </a:solidFill>
                <a:latin typeface="Consolas"/>
                <a:ea typeface="Consolas"/>
                <a:cs typeface="Consolas"/>
              </a:rPr>
              <a:t>curl.exe -I http://127.0.0.1:8089/</a:t>
            </a:r>
          </a:p>
        </p:txBody>
      </p:sp>
      <p:sp>
        <p:nvSpPr>
          <p:cNvPr id="7" name="explanation-label">
            <a:extLst xmlns:a="http://schemas.openxmlformats.org/drawingml/2006/main">
              <a:ext uri="{FF2B5EF4-FFF2-40B4-BE49-F238E27FC236}">
                <a16:creationId xmlns:a16="http://schemas.microsoft.com/office/drawing/2014/main" id="{17DC9F21-19C8-4BDD-90E3-CCCAFC4320F4}"/>
              </a:ext>
            </a:extLst>
          </p:cNvPr>
          <p:cNvSpPr>
            <a:spLocks xmlns:a="http://schemas.openxmlformats.org/drawingml/2006/main" noGrp="1"/>
          </p:cNvSpPr>
          <p:nvPr/>
        </p:nvSpPr>
        <p:spPr>
          <a:xfrm xmlns:a="http://schemas.openxmlformats.org/drawingml/2006/main">
            <a:off x="685800" y="5524500"/>
            <a:ext cx="200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425" b="1">
                <a:solidFill>
                  <a:srgbClr val="F37021"/>
                </a:solidFill>
                <a:latin typeface="Calibri"/>
                <a:ea typeface="Calibri"/>
                <a:cs typeface="Calibri"/>
              </a:defRPr>
            </a:pPr>
            <a:r>
              <a:rPr sz="1425" b="1">
                <a:solidFill>
                  <a:srgbClr val="F37021"/>
                </a:solidFill>
                <a:latin typeface="Calibri"/>
                <a:ea typeface="Calibri"/>
                <a:cs typeface="Calibri"/>
              </a:rPr>
              <a:t>Baca hasil</a:t>
            </a:r>
          </a:p>
        </p:txBody>
      </p:sp>
      <p:sp>
        <p:nvSpPr>
          <p:cNvPr id="8" name="explanation-text">
            <a:extLst xmlns:a="http://schemas.openxmlformats.org/drawingml/2006/main">
              <a:ext uri="{FF2B5EF4-FFF2-40B4-BE49-F238E27FC236}">
                <a16:creationId xmlns:a16="http://schemas.microsoft.com/office/drawing/2014/main" id="{822726FD-723A-4DF2-BD09-A55776139DF4}"/>
              </a:ext>
            </a:extLst>
          </p:cNvPr>
          <p:cNvSpPr>
            <a:spLocks xmlns:a="http://schemas.openxmlformats.org/drawingml/2006/main" noGrp="1"/>
          </p:cNvSpPr>
          <p:nvPr/>
        </p:nvSpPr>
        <p:spPr>
          <a:xfrm xmlns:a="http://schemas.openxmlformats.org/drawingml/2006/main">
            <a:off x="685800" y="5848350"/>
            <a:ext cx="10820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5728"/>
          </a:bodyPr>
          <a:lstStyle xmlns:a="http://schemas.openxmlformats.org/drawingml/2006/main"/>
          <a:p xmlns:a="http://schemas.openxmlformats.org/drawingml/2006/main">
            <a:pPr>
              <a:buNone/>
              <a:defRPr sz="1725" b="0">
                <a:solidFill>
                  <a:srgbClr val="0F172A"/>
                </a:solidFill>
                <a:latin typeface="Calibri"/>
                <a:ea typeface="Calibri"/>
                <a:cs typeface="Calibri"/>
              </a:defRPr>
            </a:pPr>
            <a:r>
              <a:rPr sz="1725" b="0">
                <a:solidFill>
                  <a:srgbClr val="0F172A"/>
                </a:solidFill>
                <a:latin typeface="Calibri"/>
                <a:ea typeface="Calibri"/>
                <a:cs typeface="Calibri"/>
              </a:rPr>
              <a:t>Perintah pertama gagal karena 8088 dipakai cloudlab-site. Kedua URL mengembalikan HTTP 200 setelah canary pindah ke 8089.</a:t>
            </a:r>
          </a:p>
        </p:txBody>
      </p:sp>
    </p:spTree>
    <p:extLst>
      <p:ext uri="{BB962C8B-B14F-4D97-AF65-F5344CB8AC3E}">
        <p14:creationId xmlns:p14="http://schemas.microsoft.com/office/powerpoint/2010/main" val="1955110656"/>
      </p:ext>
    </p:extLst>
  </p:cSld>
</p:sld>
</file>

<file path=ppt/slides/slide26.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7" name="section">
            <a:extLst xmlns:a="http://schemas.openxmlformats.org/drawingml/2006/main">
              <a:ext uri="{FF2B5EF4-FFF2-40B4-BE49-F238E27FC236}">
                <a16:creationId xmlns:a16="http://schemas.microsoft.com/office/drawing/2014/main" id="{3C8917A4-04D4-4864-81CA-AECFEE251C96}"/>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59312EA6-EE70-4F9F-8989-68A3DB869711}"/>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Bukti E — port 8088 bentrok</a:t>
            </a:r>
          </a:p>
        </p:txBody>
      </p:sp>
      <p:sp>
        <p:nvSpPr>
          <p:cNvPr id="3" name="subtitle">
            <a:extLst xmlns:a="http://schemas.openxmlformats.org/drawingml/2006/main">
              <a:ext uri="{FF2B5EF4-FFF2-40B4-BE49-F238E27FC236}">
                <a16:creationId xmlns:a16="http://schemas.microsoft.com/office/drawing/2014/main" id="{A8407DC2-6746-4BA6-AB97-646A4C6C777B}"/>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Host tidak dapat memakai 8088 untuk dua container sekaligus.</a:t>
            </a:r>
          </a:p>
        </p:txBody>
      </p:sp>
      <p:sp>
        <p:nvSpPr>
          <p:cNvPr id="4" name="page">
            <a:extLst xmlns:a="http://schemas.openxmlformats.org/drawingml/2006/main">
              <a:ext uri="{FF2B5EF4-FFF2-40B4-BE49-F238E27FC236}">
                <a16:creationId xmlns:a16="http://schemas.microsoft.com/office/drawing/2014/main" id="{7ACA5148-076B-4FC9-850B-486EAE0B37F7}"/>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26</a:t>
            </a:r>
          </a:p>
        </p:txBody>
      </p:sp>
      <p:pic>
        <p:nvPicPr>
          <p:cNvPr id="13" name="">
            <a:extLst xmlns:a="http://schemas.openxmlformats.org/drawingml/2006/main">
              <a:ext uri="{FF2B5EF4-FFF2-40B4-BE49-F238E27FC236}">
                <a16:creationId xmlns:a16="http://schemas.microsoft.com/office/drawing/2014/main" id="{55F52315-9C39-4244-BE1F-38D8F9F0B22F}"/>
              </a:ext>
            </a:extLst>
          </p:cNvPr>
          <p:cNvPicPr>
            <a:picLocks xmlns:a="http://schemas.openxmlformats.org/drawingml/2006/main" noChangeAspect="1"/>
          </p:cNvPicPr>
          <p:nvPr/>
        </p:nvPicPr>
        <p:blipFill>
          <a:blip xmlns:r="http://schemas.openxmlformats.org/officeDocument/2006/relationships" xmlns:a="http://schemas.openxmlformats.org/drawingml/2006/main" r:embed="Rdee043246e5e4d6f"/>
          <a:stretch xmlns:a="http://schemas.openxmlformats.org/drawingml/2006/main"/>
        </p:blipFill>
        <p:spPr>
          <a:xfrm xmlns:a="http://schemas.openxmlformats.org/drawingml/2006/main">
            <a:off x="685800" y="2274492"/>
            <a:ext cx="10820400" cy="2909091"/>
          </a:xfrm>
          <a:prstGeom xmlns:a="http://schemas.openxmlformats.org/drawingml/2006/main" prst="rect">
            <a:avLst/>
          </a:prstGeom>
        </p:spPr>
      </p:pic>
      <p:sp>
        <p:nvSpPr>
          <p:cNvPr id="6" name="evidence-e-error-caption">
            <a:extLst xmlns:a="http://schemas.openxmlformats.org/drawingml/2006/main">
              <a:ext uri="{FF2B5EF4-FFF2-40B4-BE49-F238E27FC236}">
                <a16:creationId xmlns:a16="http://schemas.microsoft.com/office/drawing/2014/main" id="{4D5D5AE9-6426-40EB-ADB9-973D967945BA}"/>
              </a:ext>
            </a:extLst>
          </p:cNvPr>
          <p:cNvSpPr>
            <a:spLocks xmlns:a="http://schemas.openxmlformats.org/drawingml/2006/main" noGrp="1"/>
          </p:cNvSpPr>
          <p:nvPr/>
        </p:nvSpPr>
        <p:spPr>
          <a:xfrm xmlns:a="http://schemas.openxmlformats.org/drawingml/2006/main">
            <a:off x="685800" y="5705475"/>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500" b="0">
                <a:solidFill>
                  <a:srgbClr val="475569"/>
                </a:solidFill>
                <a:latin typeface="Calibri"/>
                <a:ea typeface="Calibri"/>
                <a:cs typeface="Calibri"/>
              </a:defRPr>
            </a:pPr>
            <a:r>
              <a:rPr sz="1500" b="0">
                <a:solidFill>
                  <a:srgbClr val="475569"/>
                </a:solidFill>
                <a:latin typeface="Calibri"/>
                <a:ea typeface="Calibri"/>
                <a:cs typeface="Calibri"/>
              </a:rPr>
              <a:t>Perintah: coba cloudlab-canary pada 8088. Docker melaporkan port is already allocated.</a:t>
            </a:r>
          </a:p>
        </p:txBody>
      </p:sp>
    </p:spTree>
    <p:extLst>
      <p:ext uri="{BB962C8B-B14F-4D97-AF65-F5344CB8AC3E}">
        <p14:creationId xmlns:p14="http://schemas.microsoft.com/office/powerpoint/2010/main" val="2033635641"/>
      </p:ext>
    </p:extLst>
  </p:cSld>
</p:sld>
</file>

<file path=ppt/slides/slide2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7" name="section">
            <a:extLst xmlns:a="http://schemas.openxmlformats.org/drawingml/2006/main">
              <a:ext uri="{FF2B5EF4-FFF2-40B4-BE49-F238E27FC236}">
                <a16:creationId xmlns:a16="http://schemas.microsoft.com/office/drawing/2014/main" id="{11CD0C17-B45C-4E08-B57E-5175BFA03678}"/>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83E791DF-8F61-4843-BDD7-A4ECC1153626}"/>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Bukti E — canary pulih di 8089</a:t>
            </a:r>
          </a:p>
        </p:txBody>
      </p:sp>
      <p:sp>
        <p:nvSpPr>
          <p:cNvPr id="3" name="subtitle">
            <a:extLst xmlns:a="http://schemas.openxmlformats.org/drawingml/2006/main">
              <a:ext uri="{FF2B5EF4-FFF2-40B4-BE49-F238E27FC236}">
                <a16:creationId xmlns:a16="http://schemas.microsoft.com/office/drawing/2014/main" id="{0F960BC9-3AAF-4DF2-9044-FF87F5CAA30A}"/>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Situs utama tetap 8088; kedua URL memberi HTTP 200.</a:t>
            </a:r>
          </a:p>
        </p:txBody>
      </p:sp>
      <p:sp>
        <p:nvSpPr>
          <p:cNvPr id="4" name="page">
            <a:extLst xmlns:a="http://schemas.openxmlformats.org/drawingml/2006/main">
              <a:ext uri="{FF2B5EF4-FFF2-40B4-BE49-F238E27FC236}">
                <a16:creationId xmlns:a16="http://schemas.microsoft.com/office/drawing/2014/main" id="{A98B8964-D490-4322-A4C4-1610335929B0}"/>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27</a:t>
            </a:r>
          </a:p>
        </p:txBody>
      </p:sp>
      <p:pic>
        <p:nvPicPr>
          <p:cNvPr id="13" name="">
            <a:extLst xmlns:a="http://schemas.openxmlformats.org/drawingml/2006/main">
              <a:ext uri="{FF2B5EF4-FFF2-40B4-BE49-F238E27FC236}">
                <a16:creationId xmlns:a16="http://schemas.microsoft.com/office/drawing/2014/main" id="{3FB59D73-6D2E-4430-988B-B89600AADFB6}"/>
              </a:ext>
            </a:extLst>
          </p:cNvPr>
          <p:cNvPicPr>
            <a:picLocks xmlns:a="http://schemas.openxmlformats.org/drawingml/2006/main" noChangeAspect="1"/>
          </p:cNvPicPr>
          <p:nvPr/>
        </p:nvPicPr>
        <p:blipFill>
          <a:blip xmlns:r="http://schemas.openxmlformats.org/officeDocument/2006/relationships" xmlns:a="http://schemas.openxmlformats.org/drawingml/2006/main" r:embed="R450277223c25403c"/>
          <a:stretch xmlns:a="http://schemas.openxmlformats.org/drawingml/2006/main"/>
        </p:blipFill>
        <p:spPr>
          <a:xfrm xmlns:a="http://schemas.openxmlformats.org/drawingml/2006/main">
            <a:off x="685800" y="2286318"/>
            <a:ext cx="10820400" cy="2885440"/>
          </a:xfrm>
          <a:prstGeom xmlns:a="http://schemas.openxmlformats.org/drawingml/2006/main" prst="rect">
            <a:avLst/>
          </a:prstGeom>
        </p:spPr>
      </p:pic>
      <p:sp>
        <p:nvSpPr>
          <p:cNvPr id="6" name="evidence-e-recovery-caption">
            <a:extLst xmlns:a="http://schemas.openxmlformats.org/drawingml/2006/main">
              <a:ext uri="{FF2B5EF4-FFF2-40B4-BE49-F238E27FC236}">
                <a16:creationId xmlns:a16="http://schemas.microsoft.com/office/drawing/2014/main" id="{5A63035C-E571-4837-9ED4-24C03438280C}"/>
              </a:ext>
            </a:extLst>
          </p:cNvPr>
          <p:cNvSpPr>
            <a:spLocks xmlns:a="http://schemas.openxmlformats.org/drawingml/2006/main" noGrp="1"/>
          </p:cNvSpPr>
          <p:nvPr/>
        </p:nvSpPr>
        <p:spPr>
          <a:xfrm xmlns:a="http://schemas.openxmlformats.org/drawingml/2006/main">
            <a:off x="685800" y="5705475"/>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500" b="0">
                <a:solidFill>
                  <a:srgbClr val="475569"/>
                </a:solidFill>
                <a:latin typeface="Calibri"/>
                <a:ea typeface="Calibri"/>
                <a:cs typeface="Calibri"/>
              </a:defRPr>
            </a:pPr>
            <a:r>
              <a:rPr sz="1500" b="0">
                <a:solidFill>
                  <a:srgbClr val="475569"/>
                </a:solidFill>
                <a:latin typeface="Calibri"/>
                <a:ea typeface="Calibri"/>
                <a:cs typeface="Calibri"/>
              </a:rPr>
              <a:t>docker rm -f membersihkan canary gagal; -p 8089:80 membuka port host baru. curl -I menguji kedua URL.</a:t>
            </a:r>
          </a:p>
        </p:txBody>
      </p:sp>
    </p:spTree>
    <p:extLst>
      <p:ext uri="{BB962C8B-B14F-4D97-AF65-F5344CB8AC3E}">
        <p14:creationId xmlns:p14="http://schemas.microsoft.com/office/powerpoint/2010/main" val="132205076"/>
      </p:ext>
    </p:extLst>
  </p:cSld>
</p:sld>
</file>

<file path=ppt/slides/slide28.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7" name="section">
            <a:extLst xmlns:a="http://schemas.openxmlformats.org/drawingml/2006/main">
              <a:ext uri="{FF2B5EF4-FFF2-40B4-BE49-F238E27FC236}">
                <a16:creationId xmlns:a16="http://schemas.microsoft.com/office/drawing/2014/main" id="{93731D2E-2C69-4AC3-AB9F-3F8B519D93CB}"/>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6480EE1D-10D1-4B5B-893F-1AB2438EB627}"/>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Bukti E — dua container di Docker Desktop</a:t>
            </a:r>
          </a:p>
        </p:txBody>
      </p:sp>
      <p:sp>
        <p:nvSpPr>
          <p:cNvPr id="3" name="subtitle">
            <a:extLst xmlns:a="http://schemas.openxmlformats.org/drawingml/2006/main">
              <a:ext uri="{FF2B5EF4-FFF2-40B4-BE49-F238E27FC236}">
                <a16:creationId xmlns:a16="http://schemas.microsoft.com/office/drawing/2014/main" id="{FDE90F3D-5D5F-432B-8FCB-8E16164CA113}"/>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cloudlab-site memakai 8088:80 dan cloudlab-canary memakai 8089:80.</a:t>
            </a:r>
          </a:p>
        </p:txBody>
      </p:sp>
      <p:sp>
        <p:nvSpPr>
          <p:cNvPr id="4" name="page">
            <a:extLst xmlns:a="http://schemas.openxmlformats.org/drawingml/2006/main">
              <a:ext uri="{FF2B5EF4-FFF2-40B4-BE49-F238E27FC236}">
                <a16:creationId xmlns:a16="http://schemas.microsoft.com/office/drawing/2014/main" id="{F73D4723-869C-403F-919E-A1A37EB9A200}"/>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28</a:t>
            </a:r>
          </a:p>
        </p:txBody>
      </p:sp>
      <p:pic>
        <p:nvPicPr>
          <p:cNvPr id="13" name="">
            <a:extLst xmlns:a="http://schemas.openxmlformats.org/drawingml/2006/main">
              <a:ext uri="{FF2B5EF4-FFF2-40B4-BE49-F238E27FC236}">
                <a16:creationId xmlns:a16="http://schemas.microsoft.com/office/drawing/2014/main" id="{7E297CC6-5E63-45AA-AA1E-CC0CFFFF500F}"/>
              </a:ext>
            </a:extLst>
          </p:cNvPr>
          <p:cNvPicPr>
            <a:picLocks xmlns:a="http://schemas.openxmlformats.org/drawingml/2006/main" noChangeAspect="1"/>
          </p:cNvPicPr>
          <p:nvPr/>
        </p:nvPicPr>
        <p:blipFill>
          <a:blip xmlns:r="http://schemas.openxmlformats.org/officeDocument/2006/relationships" xmlns:a="http://schemas.openxmlformats.org/drawingml/2006/main" r:embed="R38949238c4c346b1"/>
          <a:srcRect xmlns:a="http://schemas.openxmlformats.org/drawingml/2006/main" l="0" t="18218" r="0" b="18218"/>
          <a:stretch xmlns:a="http://schemas.openxmlformats.org/drawingml/2006/main">
            <a:fillRect l="0" t="0" r="0" b="0"/>
          </a:stretch>
        </p:blipFill>
        <p:spPr>
          <a:xfrm xmlns:a="http://schemas.openxmlformats.org/drawingml/2006/main">
            <a:off x="685800" y="1857375"/>
            <a:ext cx="10820400" cy="3743325"/>
          </a:xfrm>
          <a:prstGeom xmlns:a="http://schemas.openxmlformats.org/drawingml/2006/main" prst="rect">
            <a:avLst/>
          </a:prstGeom>
        </p:spPr>
      </p:pic>
      <p:sp>
        <p:nvSpPr>
          <p:cNvPr id="6" name="evidence-e-docker-caption">
            <a:extLst xmlns:a="http://schemas.openxmlformats.org/drawingml/2006/main">
              <a:ext uri="{FF2B5EF4-FFF2-40B4-BE49-F238E27FC236}">
                <a16:creationId xmlns:a16="http://schemas.microsoft.com/office/drawing/2014/main" id="{B63B644F-FFA7-487C-B41F-DC038D5BFB64}"/>
              </a:ext>
            </a:extLst>
          </p:cNvPr>
          <p:cNvSpPr>
            <a:spLocks xmlns:a="http://schemas.openxmlformats.org/drawingml/2006/main" noGrp="1"/>
          </p:cNvSpPr>
          <p:nvPr/>
        </p:nvSpPr>
        <p:spPr>
          <a:xfrm xmlns:a="http://schemas.openxmlformats.org/drawingml/2006/main">
            <a:off x="685800" y="5705475"/>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500" b="0">
                <a:solidFill>
                  <a:srgbClr val="475569"/>
                </a:solidFill>
                <a:latin typeface="Calibri"/>
                <a:ea typeface="Calibri"/>
                <a:cs typeface="Calibri"/>
              </a:defRPr>
            </a:pPr>
            <a:r>
              <a:rPr sz="1500" b="0">
                <a:solidFill>
                  <a:srgbClr val="475569"/>
                </a:solidFill>
                <a:latin typeface="Calibri"/>
                <a:ea typeface="Calibri"/>
                <a:cs typeface="Calibri"/>
              </a:rPr>
              <a:t>Tampilan Containers: kedua container Up. Port host berbeda, port internal sama-sama 80.</a:t>
            </a:r>
          </a:p>
        </p:txBody>
      </p:sp>
    </p:spTree>
    <p:extLst>
      <p:ext uri="{BB962C8B-B14F-4D97-AF65-F5344CB8AC3E}">
        <p14:creationId xmlns:p14="http://schemas.microsoft.com/office/powerpoint/2010/main" val="398182354"/>
      </p:ext>
    </p:extLst>
  </p:cSld>
</p:sld>
</file>

<file path=ppt/slides/slide29.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5" name="section">
            <a:extLst xmlns:a="http://schemas.openxmlformats.org/drawingml/2006/main">
              <a:ext uri="{FF2B5EF4-FFF2-40B4-BE49-F238E27FC236}">
                <a16:creationId xmlns:a16="http://schemas.microsoft.com/office/drawing/2014/main" id="{76942C31-FD20-4735-B750-BB1C8E544B71}"/>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2EF646E3-CBC6-4E18-8393-9A90DFC590CF}"/>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Kunci challenge A–E</a:t>
            </a:r>
          </a:p>
        </p:txBody>
      </p:sp>
      <p:sp>
        <p:nvSpPr>
          <p:cNvPr id="3" name="subtitle">
            <a:extLst xmlns:a="http://schemas.openxmlformats.org/drawingml/2006/main">
              <a:ext uri="{FF2B5EF4-FFF2-40B4-BE49-F238E27FC236}">
                <a16:creationId xmlns:a16="http://schemas.microsoft.com/office/drawing/2014/main" id="{3B660657-1E7A-46C8-98BC-6608A6D0302C}"/>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Lima cek yang harus dapat dijelaskan mahasiswa.</a:t>
            </a:r>
          </a:p>
        </p:txBody>
      </p:sp>
      <p:sp>
        <p:nvSpPr>
          <p:cNvPr id="4" name="page">
            <a:extLst xmlns:a="http://schemas.openxmlformats.org/drawingml/2006/main">
              <a:ext uri="{FF2B5EF4-FFF2-40B4-BE49-F238E27FC236}">
                <a16:creationId xmlns:a16="http://schemas.microsoft.com/office/drawing/2014/main" id="{4DC5EC11-9A1D-4ABE-BFB0-78569759E3B9}"/>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29</a:t>
            </a:r>
          </a:p>
        </p:txBody>
      </p:sp>
      <p:sp>
        <p:nvSpPr>
          <p:cNvPr id="5" name="key-0">
            <a:extLst xmlns:a="http://schemas.openxmlformats.org/drawingml/2006/main">
              <a:ext uri="{FF2B5EF4-FFF2-40B4-BE49-F238E27FC236}">
                <a16:creationId xmlns:a16="http://schemas.microsoft.com/office/drawing/2014/main" id="{AFD98167-1DF3-4CB4-B1A5-36D7BA53271A}"/>
              </a:ext>
            </a:extLst>
          </p:cNvPr>
          <p:cNvSpPr>
            <a:spLocks xmlns:a="http://schemas.openxmlformats.org/drawingml/2006/main" noGrp="1"/>
          </p:cNvSpPr>
          <p:nvPr/>
        </p:nvSpPr>
        <p:spPr>
          <a:xfrm xmlns:a="http://schemas.openxmlformats.org/drawingml/2006/main">
            <a:off x="685800" y="2114550"/>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2400" b="1">
                <a:solidFill>
                  <a:srgbClr val="F37021"/>
                </a:solidFill>
                <a:latin typeface="Calibri"/>
                <a:ea typeface="Calibri"/>
                <a:cs typeface="Calibri"/>
              </a:defRPr>
            </a:pPr>
            <a:r>
              <a:rPr sz="2400" b="1">
                <a:solidFill>
                  <a:srgbClr val="F37021"/>
                </a:solidFill>
                <a:latin typeface="Calibri"/>
                <a:ea typeface="Calibri"/>
                <a:cs typeface="Calibri"/>
              </a:rPr>
              <a:t>A</a:t>
            </a:r>
          </a:p>
        </p:txBody>
      </p:sp>
      <p:sp>
        <p:nvSpPr>
          <p:cNvPr id="6" name="key-desc-0">
            <a:extLst xmlns:a="http://schemas.openxmlformats.org/drawingml/2006/main">
              <a:ext uri="{FF2B5EF4-FFF2-40B4-BE49-F238E27FC236}">
                <a16:creationId xmlns:a16="http://schemas.microsoft.com/office/drawing/2014/main" id="{3A05B615-F2F8-4D28-97FA-1F4A90B1C2D5}"/>
              </a:ext>
            </a:extLst>
          </p:cNvPr>
          <p:cNvSpPr>
            <a:spLocks xmlns:a="http://schemas.openxmlformats.org/drawingml/2006/main" noGrp="1"/>
          </p:cNvSpPr>
          <p:nvPr/>
        </p:nvSpPr>
        <p:spPr>
          <a:xfrm xmlns:a="http://schemas.openxmlformats.org/drawingml/2006/main">
            <a:off x="1314450" y="2114550"/>
            <a:ext cx="9906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2025" b="0">
                <a:solidFill>
                  <a:srgbClr val="0F172A"/>
                </a:solidFill>
                <a:latin typeface="Calibri"/>
                <a:ea typeface="Calibri"/>
                <a:cs typeface="Calibri"/>
              </a:defRPr>
            </a:pPr>
            <a:r>
              <a:rPr sz="2025" b="0">
                <a:solidFill>
                  <a:srgbClr val="0F172A"/>
                </a:solidFill>
                <a:latin typeface="Calibri"/>
                <a:ea typeface="Calibri"/>
                <a:cs typeface="Calibri"/>
              </a:rPr>
              <a:t>Image nginx/python/node ada; tugas Python mencetak cloud.</a:t>
            </a:r>
          </a:p>
        </p:txBody>
      </p:sp>
      <p:sp>
        <p:nvSpPr>
          <p:cNvPr id="7" name="key-1">
            <a:extLst xmlns:a="http://schemas.openxmlformats.org/drawingml/2006/main">
              <a:ext uri="{FF2B5EF4-FFF2-40B4-BE49-F238E27FC236}">
                <a16:creationId xmlns:a16="http://schemas.microsoft.com/office/drawing/2014/main" id="{CC79B16E-4BF9-45AE-AA2F-9D45746E443C}"/>
              </a:ext>
            </a:extLst>
          </p:cNvPr>
          <p:cNvSpPr>
            <a:spLocks xmlns:a="http://schemas.openxmlformats.org/drawingml/2006/main" noGrp="1"/>
          </p:cNvSpPr>
          <p:nvPr/>
        </p:nvSpPr>
        <p:spPr>
          <a:xfrm xmlns:a="http://schemas.openxmlformats.org/drawingml/2006/main">
            <a:off x="685800" y="2867025"/>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2400" b="1">
                <a:solidFill>
                  <a:srgbClr val="F37021"/>
                </a:solidFill>
                <a:latin typeface="Calibri"/>
                <a:ea typeface="Calibri"/>
                <a:cs typeface="Calibri"/>
              </a:defRPr>
            </a:pPr>
            <a:r>
              <a:rPr sz="2400" b="1">
                <a:solidFill>
                  <a:srgbClr val="F37021"/>
                </a:solidFill>
                <a:latin typeface="Calibri"/>
                <a:ea typeface="Calibri"/>
                <a:cs typeface="Calibri"/>
              </a:rPr>
              <a:t>B</a:t>
            </a:r>
          </a:p>
        </p:txBody>
      </p:sp>
      <p:sp>
        <p:nvSpPr>
          <p:cNvPr id="8" name="key-desc-1">
            <a:extLst xmlns:a="http://schemas.openxmlformats.org/drawingml/2006/main">
              <a:ext uri="{FF2B5EF4-FFF2-40B4-BE49-F238E27FC236}">
                <a16:creationId xmlns:a16="http://schemas.microsoft.com/office/drawing/2014/main" id="{0935BCEC-A1B3-4B4D-A28A-71DB27AC677B}"/>
              </a:ext>
            </a:extLst>
          </p:cNvPr>
          <p:cNvSpPr>
            <a:spLocks xmlns:a="http://schemas.openxmlformats.org/drawingml/2006/main" noGrp="1"/>
          </p:cNvSpPr>
          <p:nvPr/>
        </p:nvSpPr>
        <p:spPr>
          <a:xfrm xmlns:a="http://schemas.openxmlformats.org/drawingml/2006/main">
            <a:off x="1314450" y="2867025"/>
            <a:ext cx="9906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2025" b="0">
                <a:solidFill>
                  <a:srgbClr val="0F172A"/>
                </a:solidFill>
                <a:latin typeface="Calibri"/>
                <a:ea typeface="Calibri"/>
                <a:cs typeface="Calibri"/>
              </a:defRPr>
            </a:pPr>
            <a:r>
              <a:rPr sz="2025" b="0">
                <a:solidFill>
                  <a:srgbClr val="0F172A"/>
                </a:solidFill>
                <a:latin typeface="Calibri"/>
                <a:ea typeface="Calibri"/>
                <a:cs typeface="Calibri"/>
              </a:rPr>
              <a:t>cloudlab-site Up; 127.0.0.1:8088→80/tcp; halaman terbuka.</a:t>
            </a:r>
          </a:p>
        </p:txBody>
      </p:sp>
      <p:sp>
        <p:nvSpPr>
          <p:cNvPr id="9" name="key-2">
            <a:extLst xmlns:a="http://schemas.openxmlformats.org/drawingml/2006/main">
              <a:ext uri="{FF2B5EF4-FFF2-40B4-BE49-F238E27FC236}">
                <a16:creationId xmlns:a16="http://schemas.microsoft.com/office/drawing/2014/main" id="{BAB0C71F-11E7-47C9-ADD2-1E5CA5B5FFF3}"/>
              </a:ext>
            </a:extLst>
          </p:cNvPr>
          <p:cNvSpPr>
            <a:spLocks xmlns:a="http://schemas.openxmlformats.org/drawingml/2006/main" noGrp="1"/>
          </p:cNvSpPr>
          <p:nvPr/>
        </p:nvSpPr>
        <p:spPr>
          <a:xfrm xmlns:a="http://schemas.openxmlformats.org/drawingml/2006/main">
            <a:off x="685800" y="3619500"/>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2400" b="1">
                <a:solidFill>
                  <a:srgbClr val="F37021"/>
                </a:solidFill>
                <a:latin typeface="Calibri"/>
                <a:ea typeface="Calibri"/>
                <a:cs typeface="Calibri"/>
              </a:defRPr>
            </a:pPr>
            <a:r>
              <a:rPr sz="2400" b="1">
                <a:solidFill>
                  <a:srgbClr val="F37021"/>
                </a:solidFill>
                <a:latin typeface="Calibri"/>
                <a:ea typeface="Calibri"/>
                <a:cs typeface="Calibri"/>
              </a:rPr>
              <a:t>C</a:t>
            </a:r>
          </a:p>
        </p:txBody>
      </p:sp>
      <p:sp>
        <p:nvSpPr>
          <p:cNvPr id="10" name="key-desc-2">
            <a:extLst xmlns:a="http://schemas.openxmlformats.org/drawingml/2006/main">
              <a:ext uri="{FF2B5EF4-FFF2-40B4-BE49-F238E27FC236}">
                <a16:creationId xmlns:a16="http://schemas.microsoft.com/office/drawing/2014/main" id="{0D3F4862-7FD0-40AC-B6DA-04CB868A2DDF}"/>
              </a:ext>
            </a:extLst>
          </p:cNvPr>
          <p:cNvSpPr>
            <a:spLocks xmlns:a="http://schemas.openxmlformats.org/drawingml/2006/main" noGrp="1"/>
          </p:cNvSpPr>
          <p:nvPr/>
        </p:nvSpPr>
        <p:spPr>
          <a:xfrm xmlns:a="http://schemas.openxmlformats.org/drawingml/2006/main">
            <a:off x="1314450" y="3619500"/>
            <a:ext cx="9906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2025" b="0">
                <a:solidFill>
                  <a:srgbClr val="0F172A"/>
                </a:solidFill>
                <a:latin typeface="Calibri"/>
                <a:ea typeface="Calibri"/>
                <a:cs typeface="Calibri"/>
              </a:defRPr>
            </a:pPr>
            <a:r>
              <a:rPr sz="2025" b="0">
                <a:solidFill>
                  <a:srgbClr val="0F172A"/>
                </a:solidFill>
                <a:latin typeface="Calibri"/>
                <a:ea typeface="Calibri"/>
                <a:cs typeface="Calibri"/>
              </a:rPr>
              <a:t>stop → Exited, start → Up, HTTP kembali 200.</a:t>
            </a:r>
          </a:p>
        </p:txBody>
      </p:sp>
      <p:sp>
        <p:nvSpPr>
          <p:cNvPr id="11" name="key-3">
            <a:extLst xmlns:a="http://schemas.openxmlformats.org/drawingml/2006/main">
              <a:ext uri="{FF2B5EF4-FFF2-40B4-BE49-F238E27FC236}">
                <a16:creationId xmlns:a16="http://schemas.microsoft.com/office/drawing/2014/main" id="{27D45644-EB59-4CE7-A80B-DEB2B7663BFB}"/>
              </a:ext>
            </a:extLst>
          </p:cNvPr>
          <p:cNvSpPr>
            <a:spLocks xmlns:a="http://schemas.openxmlformats.org/drawingml/2006/main" noGrp="1"/>
          </p:cNvSpPr>
          <p:nvPr/>
        </p:nvSpPr>
        <p:spPr>
          <a:xfrm xmlns:a="http://schemas.openxmlformats.org/drawingml/2006/main">
            <a:off x="685800" y="4371975"/>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2400" b="1">
                <a:solidFill>
                  <a:srgbClr val="F37021"/>
                </a:solidFill>
                <a:latin typeface="Calibri"/>
                <a:ea typeface="Calibri"/>
                <a:cs typeface="Calibri"/>
              </a:defRPr>
            </a:pPr>
            <a:r>
              <a:rPr sz="2400" b="1">
                <a:solidFill>
                  <a:srgbClr val="F37021"/>
                </a:solidFill>
                <a:latin typeface="Calibri"/>
                <a:ea typeface="Calibri"/>
                <a:cs typeface="Calibri"/>
              </a:rPr>
              <a:t>D</a:t>
            </a:r>
          </a:p>
        </p:txBody>
      </p:sp>
      <p:sp>
        <p:nvSpPr>
          <p:cNvPr id="12" name="key-desc-3">
            <a:extLst xmlns:a="http://schemas.openxmlformats.org/drawingml/2006/main">
              <a:ext uri="{FF2B5EF4-FFF2-40B4-BE49-F238E27FC236}">
                <a16:creationId xmlns:a16="http://schemas.microsoft.com/office/drawing/2014/main" id="{EB000E36-4757-4A31-A332-7837FB1F5CC8}"/>
              </a:ext>
            </a:extLst>
          </p:cNvPr>
          <p:cNvSpPr>
            <a:spLocks xmlns:a="http://schemas.openxmlformats.org/drawingml/2006/main" noGrp="1"/>
          </p:cNvSpPr>
          <p:nvPr/>
        </p:nvSpPr>
        <p:spPr>
          <a:xfrm xmlns:a="http://schemas.openxmlformats.org/drawingml/2006/main">
            <a:off x="1314450" y="4371975"/>
            <a:ext cx="9906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2025" b="0">
                <a:solidFill>
                  <a:srgbClr val="0F172A"/>
                </a:solidFill>
                <a:latin typeface="Calibri"/>
                <a:ea typeface="Calibri"/>
                <a:cs typeface="Calibri"/>
              </a:defRPr>
            </a:pPr>
            <a:r>
              <a:rPr sz="2025" b="0">
                <a:solidFill>
                  <a:srgbClr val="0F172A"/>
                </a:solidFill>
                <a:latin typeface="Calibri"/>
                <a:ea typeface="Calibri"/>
                <a:cs typeface="Calibri"/>
              </a:rPr>
              <a:t>INCIDENT-042: Pemeliharaan selesai tampil; RW=false; image ID tetap.</a:t>
            </a:r>
          </a:p>
        </p:txBody>
      </p:sp>
      <p:sp>
        <p:nvSpPr>
          <p:cNvPr id="13" name="key-4">
            <a:extLst xmlns:a="http://schemas.openxmlformats.org/drawingml/2006/main">
              <a:ext uri="{FF2B5EF4-FFF2-40B4-BE49-F238E27FC236}">
                <a16:creationId xmlns:a16="http://schemas.microsoft.com/office/drawing/2014/main" id="{CFB3B75E-C50E-4645-8A27-D5C996A091E3}"/>
              </a:ext>
            </a:extLst>
          </p:cNvPr>
          <p:cNvSpPr>
            <a:spLocks xmlns:a="http://schemas.openxmlformats.org/drawingml/2006/main" noGrp="1"/>
          </p:cNvSpPr>
          <p:nvPr/>
        </p:nvSpPr>
        <p:spPr>
          <a:xfrm xmlns:a="http://schemas.openxmlformats.org/drawingml/2006/main">
            <a:off x="685800" y="5124450"/>
            <a:ext cx="457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2400" b="1">
                <a:solidFill>
                  <a:srgbClr val="F37021"/>
                </a:solidFill>
                <a:latin typeface="Calibri"/>
                <a:ea typeface="Calibri"/>
                <a:cs typeface="Calibri"/>
              </a:defRPr>
            </a:pPr>
            <a:r>
              <a:rPr sz="2400" b="1">
                <a:solidFill>
                  <a:srgbClr val="F37021"/>
                </a:solidFill>
                <a:latin typeface="Calibri"/>
                <a:ea typeface="Calibri"/>
                <a:cs typeface="Calibri"/>
              </a:rPr>
              <a:t>E</a:t>
            </a:r>
          </a:p>
        </p:txBody>
      </p:sp>
      <p:sp>
        <p:nvSpPr>
          <p:cNvPr id="14" name="key-desc-4">
            <a:extLst xmlns:a="http://schemas.openxmlformats.org/drawingml/2006/main">
              <a:ext uri="{FF2B5EF4-FFF2-40B4-BE49-F238E27FC236}">
                <a16:creationId xmlns:a16="http://schemas.microsoft.com/office/drawing/2014/main" id="{1C952E78-A7E0-4AA8-89F3-F23DEA2233B6}"/>
              </a:ext>
            </a:extLst>
          </p:cNvPr>
          <p:cNvSpPr>
            <a:spLocks xmlns:a="http://schemas.openxmlformats.org/drawingml/2006/main" noGrp="1"/>
          </p:cNvSpPr>
          <p:nvPr/>
        </p:nvSpPr>
        <p:spPr>
          <a:xfrm xmlns:a="http://schemas.openxmlformats.org/drawingml/2006/main">
            <a:off x="1314450" y="5124450"/>
            <a:ext cx="9906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2025" b="0">
                <a:solidFill>
                  <a:srgbClr val="0F172A"/>
                </a:solidFill>
                <a:latin typeface="Calibri"/>
                <a:ea typeface="Calibri"/>
                <a:cs typeface="Calibri"/>
              </a:defRPr>
            </a:pPr>
            <a:r>
              <a:rPr sz="2025" b="0">
                <a:solidFill>
                  <a:srgbClr val="0F172A"/>
                </a:solidFill>
                <a:latin typeface="Calibri"/>
                <a:ea typeface="Calibri"/>
                <a:cs typeface="Calibri"/>
              </a:rPr>
              <a:t>Benturan 8088 terdiagnosis; canary 8089 memberi HTTP 200.</a:t>
            </a:r>
          </a:p>
        </p:txBody>
      </p:sp>
    </p:spTree>
    <p:extLst>
      <p:ext uri="{BB962C8B-B14F-4D97-AF65-F5344CB8AC3E}">
        <p14:creationId xmlns:p14="http://schemas.microsoft.com/office/powerpoint/2010/main" val="2134058973"/>
      </p:ext>
    </p:extLst>
  </p:cSld>
</p:sld>
</file>

<file path=ppt/slides/slide30.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9" name="section">
            <a:extLst xmlns:a="http://schemas.openxmlformats.org/drawingml/2006/main">
              <a:ext uri="{FF2B5EF4-FFF2-40B4-BE49-F238E27FC236}">
                <a16:creationId xmlns:a16="http://schemas.microsoft.com/office/drawing/2014/main" id="{86C47621-4B84-4FCD-8342-960E86C5B4C3}"/>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F2E4F74C-17AC-494D-B43C-97F6529A1E9F}"/>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Verifikasi otomatis challenge A–E</a:t>
            </a:r>
          </a:p>
        </p:txBody>
      </p:sp>
      <p:sp>
        <p:nvSpPr>
          <p:cNvPr id="3" name="subtitle">
            <a:extLst xmlns:a="http://schemas.openxmlformats.org/drawingml/2006/main">
              <a:ext uri="{FF2B5EF4-FFF2-40B4-BE49-F238E27FC236}">
                <a16:creationId xmlns:a16="http://schemas.microsoft.com/office/drawing/2014/main" id="{CD2925E2-4AA2-4206-A533-0BAA7C01A6A8}"/>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Checker membaca hasil A–E. Pilih baris sesuai shell dan lokasi pemanggil.</a:t>
            </a:r>
          </a:p>
        </p:txBody>
      </p:sp>
      <p:sp>
        <p:nvSpPr>
          <p:cNvPr id="4" name="page">
            <a:extLst xmlns:a="http://schemas.openxmlformats.org/drawingml/2006/main">
              <a:ext uri="{FF2B5EF4-FFF2-40B4-BE49-F238E27FC236}">
                <a16:creationId xmlns:a16="http://schemas.microsoft.com/office/drawing/2014/main" id="{F049450E-147F-4C65-8065-8A8B428B583A}"/>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30</a:t>
            </a:r>
          </a:p>
        </p:txBody>
      </p:sp>
      <p:sp>
        <p:nvSpPr>
          <p:cNvPr id="5" name="challenge-test-background">
            <a:extLst xmlns:a="http://schemas.openxmlformats.org/drawingml/2006/main">
              <a:ext uri="{FF2B5EF4-FFF2-40B4-BE49-F238E27FC236}">
                <a16:creationId xmlns:a16="http://schemas.microsoft.com/office/drawing/2014/main" id="{9C960D48-0101-4FF8-B334-693E826AA7C4}"/>
              </a:ext>
            </a:extLst>
          </p:cNvPr>
          <p:cNvSpPr>
            <a:spLocks xmlns:a="http://schemas.openxmlformats.org/drawingml/2006/main" noGrp="1"/>
          </p:cNvSpPr>
          <p:nvPr/>
        </p:nvSpPr>
        <p:spPr>
          <a:xfrm xmlns:a="http://schemas.openxmlformats.org/drawingml/2006/main">
            <a:off x="685800" y="2076450"/>
            <a:ext cx="10820400" cy="2743200"/>
          </a:xfrm>
          <a:prstGeom xmlns:a="http://schemas.openxmlformats.org/drawingml/2006/main" prst="rect">
            <a:avLst/>
          </a:prstGeom>
          <a:solidFill xmlns:a="http://schemas.openxmlformats.org/drawingml/2006/main">
            <a:srgbClr val="101722"/>
          </a:solidFill>
          <a:ln xmlns:a="http://schemas.openxmlformats.org/drawingml/2006/main" w="0">
            <a:noFill/>
          </a:ln>
        </p:spPr>
      </p:sp>
      <p:sp>
        <p:nvSpPr>
          <p:cNvPr id="6" name="challenge-test">
            <a:extLst xmlns:a="http://schemas.openxmlformats.org/drawingml/2006/main">
              <a:ext uri="{FF2B5EF4-FFF2-40B4-BE49-F238E27FC236}">
                <a16:creationId xmlns:a16="http://schemas.microsoft.com/office/drawing/2014/main" id="{8D47D78D-2016-476F-AE81-02CE92D48D57}"/>
              </a:ext>
            </a:extLst>
          </p:cNvPr>
          <p:cNvSpPr>
            <a:spLocks xmlns:a="http://schemas.openxmlformats.org/drawingml/2006/main" noGrp="1"/>
          </p:cNvSpPr>
          <p:nvPr/>
        </p:nvSpPr>
        <p:spPr>
          <a:xfrm xmlns:a="http://schemas.openxmlformats.org/drawingml/2006/main">
            <a:off x="914400" y="2295525"/>
            <a:ext cx="1036320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a:solidFill>
                  <a:srgbClr val="E6F3FF"/>
                </a:solidFill>
                <a:latin typeface="Consolas"/>
                <a:ea typeface="Consolas"/>
                <a:cs typeface="Consolas"/>
              </a:defRPr>
            </a:defPPr>
          </a:lstStyle>
          <a:p xmlns:a="http://schemas.openxmlformats.org/drawingml/2006/main">
            <a:pPr algn="l">
              <a:buNone/>
              <a:defRPr sz="1725" b="0">
                <a:solidFill>
                  <a:srgbClr val="E6F3FF"/>
                </a:solidFill>
                <a:latin typeface="Consolas"/>
                <a:ea typeface="Consolas"/>
                <a:cs typeface="Consolas"/>
              </a:defRPr>
            </a:pPr>
            <a:r>
              <a:rPr sz="1725" b="0">
                <a:solidFill>
                  <a:srgbClr val="E6F3FF"/>
                </a:solidFill>
                <a:latin typeface="Consolas"/>
                <a:ea typeface="Consolas"/>
                <a:cs typeface="Consolas"/>
              </a:rPr>
              <a:t># PowerShell: $repoRoot dari setup</a:t>
            </a:r>
          </a:p>
          <a:p xmlns:a="http://schemas.openxmlformats.org/drawingml/2006/main">
            <a:pPr algn="l">
              <a:buNone/>
              <a:defRPr sz="1725" b="0">
                <a:solidFill>
                  <a:srgbClr val="E6F3FF"/>
                </a:solidFill>
                <a:latin typeface="Consolas"/>
                <a:ea typeface="Consolas"/>
                <a:cs typeface="Consolas"/>
              </a:defRPr>
            </a:pPr>
            <a:r>
              <a:rPr sz="1725" b="0">
                <a:solidFill>
                  <a:srgbClr val="E6F3FF"/>
                </a:solidFill>
                <a:latin typeface="Consolas"/>
                <a:ea typeface="Consolas"/>
                <a:cs typeface="Consolas"/>
              </a:rPr>
              <a:t>&amp; (Join-Path $repoRoot 'tests\challenge.ps1')</a:t>
            </a:r>
          </a:p>
          <a:p xmlns:a="http://schemas.openxmlformats.org/drawingml/2006/main">
            <a:pPr>
              <a:buNone/>
              <a:defRPr sz="1875" b="0">
                <a:solidFill>
                  <a:srgbClr val="E6F3FF"/>
                </a:solidFill>
                <a:latin typeface="Consolas"/>
                <a:ea typeface="Consolas"/>
                <a:cs typeface="Consolas"/>
              </a:defRPr>
            </a:pPr>
          </a:p>
          <a:p xmlns:a="http://schemas.openxmlformats.org/drawingml/2006/main">
            <a:pPr algn="l">
              <a:buNone/>
              <a:defRPr sz="1725" b="0">
                <a:solidFill>
                  <a:srgbClr val="E6F3FF"/>
                </a:solidFill>
                <a:latin typeface="Consolas"/>
                <a:ea typeface="Consolas"/>
                <a:cs typeface="Consolas"/>
              </a:defRPr>
            </a:pPr>
            <a:r>
              <a:rPr sz="1725" b="0">
                <a:solidFill>
                  <a:srgbClr val="E6F3FF"/>
                </a:solidFill>
                <a:latin typeface="Consolas"/>
                <a:ea typeface="Consolas"/>
                <a:cs typeface="Consolas"/>
              </a:rPr>
              <a:t># Bash dari root repo</a:t>
            </a:r>
          </a:p>
          <a:p xmlns:a="http://schemas.openxmlformats.org/drawingml/2006/main">
            <a:pPr algn="l">
              <a:buNone/>
              <a:defRPr sz="1725" b="0">
                <a:solidFill>
                  <a:srgbClr val="E6F3FF"/>
                </a:solidFill>
                <a:latin typeface="Consolas"/>
                <a:ea typeface="Consolas"/>
                <a:cs typeface="Consolas"/>
              </a:defRPr>
            </a:pPr>
            <a:r>
              <a:rPr sz="1725" b="0">
                <a:solidFill>
                  <a:srgbClr val="E6F3FF"/>
                </a:solidFill>
                <a:latin typeface="Consolas"/>
                <a:ea typeface="Consolas"/>
                <a:cs typeface="Consolas"/>
              </a:rPr>
              <a:t>bash './tests/challenge.sh'</a:t>
            </a:r>
          </a:p>
          <a:p xmlns:a="http://schemas.openxmlformats.org/drawingml/2006/main">
            <a:pPr algn="l">
              <a:buNone/>
              <a:defRPr sz="1725" b="0">
                <a:solidFill>
                  <a:srgbClr val="E6F3FF"/>
                </a:solidFill>
                <a:latin typeface="Consolas"/>
                <a:ea typeface="Consolas"/>
                <a:cs typeface="Consolas"/>
              </a:defRPr>
            </a:pPr>
            <a:r>
              <a:rPr sz="1725" b="0">
                <a:solidFill>
                  <a:srgbClr val="E6F3FF"/>
                </a:solidFill>
                <a:latin typeface="Consolas"/>
                <a:ea typeface="Consolas"/>
                <a:cs typeface="Consolas"/>
              </a:rPr>
              <a:t># Bash dari folder induk repo bernama meet4CloudService</a:t>
            </a:r>
          </a:p>
          <a:p xmlns:a="http://schemas.openxmlformats.org/drawingml/2006/main">
            <a:pPr algn="l">
              <a:buNone/>
              <a:defRPr sz="1725" b="0">
                <a:solidFill>
                  <a:srgbClr val="E6F3FF"/>
                </a:solidFill>
                <a:latin typeface="Consolas"/>
                <a:ea typeface="Consolas"/>
                <a:cs typeface="Consolas"/>
              </a:defRPr>
            </a:pPr>
            <a:r>
              <a:rPr sz="1725" b="0">
                <a:solidFill>
                  <a:srgbClr val="E6F3FF"/>
                </a:solidFill>
                <a:latin typeface="Consolas"/>
                <a:ea typeface="Consolas"/>
                <a:cs typeface="Consolas"/>
              </a:rPr>
              <a:t>bash './meet4CloudService/tests/challenge.sh'</a:t>
            </a:r>
          </a:p>
        </p:txBody>
      </p:sp>
      <p:sp>
        <p:nvSpPr>
          <p:cNvPr id="7" name="explanation-label">
            <a:extLst xmlns:a="http://schemas.openxmlformats.org/drawingml/2006/main">
              <a:ext uri="{FF2B5EF4-FFF2-40B4-BE49-F238E27FC236}">
                <a16:creationId xmlns:a16="http://schemas.microsoft.com/office/drawing/2014/main" id="{7A98D46F-13F5-433F-B594-6B775A840BC1}"/>
              </a:ext>
            </a:extLst>
          </p:cNvPr>
          <p:cNvSpPr>
            <a:spLocks xmlns:a="http://schemas.openxmlformats.org/drawingml/2006/main" noGrp="1"/>
          </p:cNvSpPr>
          <p:nvPr/>
        </p:nvSpPr>
        <p:spPr>
          <a:xfrm xmlns:a="http://schemas.openxmlformats.org/drawingml/2006/main">
            <a:off x="685800" y="5162550"/>
            <a:ext cx="200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425" b="1">
                <a:solidFill>
                  <a:srgbClr val="F37021"/>
                </a:solidFill>
                <a:latin typeface="Calibri"/>
                <a:ea typeface="Calibri"/>
                <a:cs typeface="Calibri"/>
              </a:defRPr>
            </a:pPr>
            <a:r>
              <a:rPr sz="1425" b="1">
                <a:solidFill>
                  <a:srgbClr val="F37021"/>
                </a:solidFill>
                <a:latin typeface="Calibri"/>
                <a:ea typeface="Calibri"/>
                <a:cs typeface="Calibri"/>
              </a:rPr>
              <a:t>Baca hasil</a:t>
            </a:r>
          </a:p>
        </p:txBody>
      </p:sp>
      <p:sp>
        <p:nvSpPr>
          <p:cNvPr id="8" name="explanation-text">
            <a:extLst xmlns:a="http://schemas.openxmlformats.org/drawingml/2006/main">
              <a:ext uri="{FF2B5EF4-FFF2-40B4-BE49-F238E27FC236}">
                <a16:creationId xmlns:a16="http://schemas.microsoft.com/office/drawing/2014/main" id="{B55017FE-0912-469D-BDC5-D0D755B173BA}"/>
              </a:ext>
            </a:extLst>
          </p:cNvPr>
          <p:cNvSpPr>
            <a:spLocks xmlns:a="http://schemas.openxmlformats.org/drawingml/2006/main" noGrp="1"/>
          </p:cNvSpPr>
          <p:nvPr/>
        </p:nvSpPr>
        <p:spPr>
          <a:xfrm xmlns:a="http://schemas.openxmlformats.org/drawingml/2006/main">
            <a:off x="685800" y="5486400"/>
            <a:ext cx="108204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0F172A"/>
                </a:solidFill>
                <a:latin typeface="Calibri"/>
                <a:ea typeface="Calibri"/>
                <a:cs typeface="Calibri"/>
              </a:defRPr>
            </a:pPr>
            <a:r>
              <a:rPr sz="1725" b="0">
                <a:solidFill>
                  <a:srgbClr val="0F172A"/>
                </a:solidFill>
                <a:latin typeface="Calibri"/>
                <a:ea typeface="Calibri"/>
                <a:cs typeface="Calibri"/>
              </a:rPr>
              <a:t>Checker harus menemukan file script yang nyata. Contoh nama folder induk mengikuti clone meet4CloudService. PASS adalah umpan balik latihan formatif.</a:t>
            </a:r>
          </a:p>
        </p:txBody>
      </p:sp>
    </p:spTree>
    <p:extLst>
      <p:ext uri="{BB962C8B-B14F-4D97-AF65-F5344CB8AC3E}">
        <p14:creationId xmlns:p14="http://schemas.microsoft.com/office/powerpoint/2010/main" val="409634017"/>
      </p:ext>
    </p:extLst>
  </p:cSld>
</p:sld>
</file>

<file path=ppt/slides/slide31.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7" name="section">
            <a:extLst xmlns:a="http://schemas.openxmlformats.org/drawingml/2006/main">
              <a:ext uri="{FF2B5EF4-FFF2-40B4-BE49-F238E27FC236}">
                <a16:creationId xmlns:a16="http://schemas.microsoft.com/office/drawing/2014/main" id="{4B33D071-D8A9-426D-99E7-3D85A2FD90D4}"/>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5F4B6F24-9FE4-46FC-8244-CC565E11B8D4}"/>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Bukti tes — A sampai C PASS</a:t>
            </a:r>
          </a:p>
        </p:txBody>
      </p:sp>
      <p:sp>
        <p:nvSpPr>
          <p:cNvPr id="3" name="subtitle">
            <a:extLst xmlns:a="http://schemas.openxmlformats.org/drawingml/2006/main">
              <a:ext uri="{FF2B5EF4-FFF2-40B4-BE49-F238E27FC236}">
                <a16:creationId xmlns:a16="http://schemas.microsoft.com/office/drawing/2014/main" id="{AE9EEEB9-A41A-49A3-A2CF-474ED764A98C}"/>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Bagian awal output memeriksa image, port situs, dan HTTP.</a:t>
            </a:r>
          </a:p>
        </p:txBody>
      </p:sp>
      <p:sp>
        <p:nvSpPr>
          <p:cNvPr id="4" name="page">
            <a:extLst xmlns:a="http://schemas.openxmlformats.org/drawingml/2006/main">
              <a:ext uri="{FF2B5EF4-FFF2-40B4-BE49-F238E27FC236}">
                <a16:creationId xmlns:a16="http://schemas.microsoft.com/office/drawing/2014/main" id="{3419A14E-F2F4-4E27-84BF-938D518D801B}"/>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31</a:t>
            </a:r>
          </a:p>
        </p:txBody>
      </p:sp>
      <p:pic>
        <p:nvPicPr>
          <p:cNvPr id="13" name="">
            <a:extLst xmlns:a="http://schemas.openxmlformats.org/drawingml/2006/main">
              <a:ext uri="{FF2B5EF4-FFF2-40B4-BE49-F238E27FC236}">
                <a16:creationId xmlns:a16="http://schemas.microsoft.com/office/drawing/2014/main" id="{14022C9C-62DC-4B1E-8580-919816C56F44}"/>
              </a:ext>
            </a:extLst>
          </p:cNvPr>
          <p:cNvPicPr>
            <a:picLocks xmlns:a="http://schemas.openxmlformats.org/drawingml/2006/main" noChangeAspect="1"/>
          </p:cNvPicPr>
          <p:nvPr/>
        </p:nvPicPr>
        <p:blipFill>
          <a:blip xmlns:r="http://schemas.openxmlformats.org/officeDocument/2006/relationships" xmlns:a="http://schemas.openxmlformats.org/drawingml/2006/main" r:embed="R2fa16a7702b548ae"/>
          <a:stretch xmlns:a="http://schemas.openxmlformats.org/drawingml/2006/main"/>
        </p:blipFill>
        <p:spPr>
          <a:xfrm xmlns:a="http://schemas.openxmlformats.org/drawingml/2006/main">
            <a:off x="685800" y="1889570"/>
            <a:ext cx="10820400" cy="3678936"/>
          </a:xfrm>
          <a:prstGeom xmlns:a="http://schemas.openxmlformats.org/drawingml/2006/main" prst="rect">
            <a:avLst/>
          </a:prstGeom>
        </p:spPr>
      </p:pic>
      <p:sp>
        <p:nvSpPr>
          <p:cNvPr id="6" name="evidence-final-test-top-caption">
            <a:extLst xmlns:a="http://schemas.openxmlformats.org/drawingml/2006/main">
              <a:ext uri="{FF2B5EF4-FFF2-40B4-BE49-F238E27FC236}">
                <a16:creationId xmlns:a16="http://schemas.microsoft.com/office/drawing/2014/main" id="{C26555A8-35C5-491B-81F0-BEDEFC42FDA9}"/>
              </a:ext>
            </a:extLst>
          </p:cNvPr>
          <p:cNvSpPr>
            <a:spLocks xmlns:a="http://schemas.openxmlformats.org/drawingml/2006/main" noGrp="1"/>
          </p:cNvSpPr>
          <p:nvPr/>
        </p:nvSpPr>
        <p:spPr>
          <a:xfrm xmlns:a="http://schemas.openxmlformats.org/drawingml/2006/main">
            <a:off x="685800" y="5705475"/>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500" b="0">
                <a:solidFill>
                  <a:srgbClr val="475569"/>
                </a:solidFill>
                <a:latin typeface="Calibri"/>
                <a:ea typeface="Calibri"/>
                <a:cs typeface="Calibri"/>
              </a:defRPr>
            </a:pPr>
            <a:r>
              <a:rPr sz="1500" b="0">
                <a:solidFill>
                  <a:srgbClr val="475569"/>
                </a:solidFill>
                <a:latin typeface="Calibri"/>
                <a:ea typeface="Calibri"/>
                <a:cs typeface="Calibri"/>
              </a:rPr>
              <a:t>Perintah PowerShell: &amp; .\tests\challenge.ps1. Cek PASS bagian A, B, dan C.</a:t>
            </a:r>
          </a:p>
        </p:txBody>
      </p:sp>
    </p:spTree>
    <p:extLst>
      <p:ext uri="{BB962C8B-B14F-4D97-AF65-F5344CB8AC3E}">
        <p14:creationId xmlns:p14="http://schemas.microsoft.com/office/powerpoint/2010/main" val="406763518"/>
      </p:ext>
    </p:extLst>
  </p:cSld>
</p:sld>
</file>

<file path=ppt/slides/slide3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7" name="section">
            <a:extLst xmlns:a="http://schemas.openxmlformats.org/drawingml/2006/main">
              <a:ext uri="{FF2B5EF4-FFF2-40B4-BE49-F238E27FC236}">
                <a16:creationId xmlns:a16="http://schemas.microsoft.com/office/drawing/2014/main" id="{8AB038A4-485E-4E1A-8EA7-A13497461296}"/>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91FF576F-51DB-4D3D-BA37-0B58A7B6CC93}"/>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Bukti tes — D dan E PASS</a:t>
            </a:r>
          </a:p>
        </p:txBody>
      </p:sp>
      <p:sp>
        <p:nvSpPr>
          <p:cNvPr id="3" name="subtitle">
            <a:extLst xmlns:a="http://schemas.openxmlformats.org/drawingml/2006/main">
              <a:ext uri="{FF2B5EF4-FFF2-40B4-BE49-F238E27FC236}">
                <a16:creationId xmlns:a16="http://schemas.microsoft.com/office/drawing/2014/main" id="{EFA20D18-3AFC-49C5-BDA1-9BC7214D00B4}"/>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Bagian bawah output menegaskan 14 PASS, 0 FAIL.</a:t>
            </a:r>
          </a:p>
        </p:txBody>
      </p:sp>
      <p:sp>
        <p:nvSpPr>
          <p:cNvPr id="4" name="page">
            <a:extLst xmlns:a="http://schemas.openxmlformats.org/drawingml/2006/main">
              <a:ext uri="{FF2B5EF4-FFF2-40B4-BE49-F238E27FC236}">
                <a16:creationId xmlns:a16="http://schemas.microsoft.com/office/drawing/2014/main" id="{46C0AC1E-CE3B-48DA-BD1F-EB4120B24A2C}"/>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32</a:t>
            </a:r>
          </a:p>
        </p:txBody>
      </p:sp>
      <p:pic>
        <p:nvPicPr>
          <p:cNvPr id="13" name="">
            <a:extLst xmlns:a="http://schemas.openxmlformats.org/drawingml/2006/main">
              <a:ext uri="{FF2B5EF4-FFF2-40B4-BE49-F238E27FC236}">
                <a16:creationId xmlns:a16="http://schemas.microsoft.com/office/drawing/2014/main" id="{AD7A1C03-80B3-4079-AAC5-4F01B9CB71F2}"/>
              </a:ext>
            </a:extLst>
          </p:cNvPr>
          <p:cNvPicPr>
            <a:picLocks xmlns:a="http://schemas.openxmlformats.org/drawingml/2006/main" noChangeAspect="1"/>
          </p:cNvPicPr>
          <p:nvPr/>
        </p:nvPicPr>
        <p:blipFill>
          <a:blip xmlns:r="http://schemas.openxmlformats.org/officeDocument/2006/relationships" xmlns:a="http://schemas.openxmlformats.org/drawingml/2006/main" r:embed="Rf69a2ada12014b34"/>
          <a:stretch xmlns:a="http://schemas.openxmlformats.org/drawingml/2006/main"/>
        </p:blipFill>
        <p:spPr>
          <a:xfrm xmlns:a="http://schemas.openxmlformats.org/drawingml/2006/main">
            <a:off x="685800" y="2019414"/>
            <a:ext cx="10820400" cy="3419246"/>
          </a:xfrm>
          <a:prstGeom xmlns:a="http://schemas.openxmlformats.org/drawingml/2006/main" prst="rect">
            <a:avLst/>
          </a:prstGeom>
        </p:spPr>
      </p:pic>
      <p:sp>
        <p:nvSpPr>
          <p:cNvPr id="6" name="evidence-final-test-bottom-caption">
            <a:extLst xmlns:a="http://schemas.openxmlformats.org/drawingml/2006/main">
              <a:ext uri="{FF2B5EF4-FFF2-40B4-BE49-F238E27FC236}">
                <a16:creationId xmlns:a16="http://schemas.microsoft.com/office/drawing/2014/main" id="{D4371BEE-53D1-466B-AF5C-123D697F8CAB}"/>
              </a:ext>
            </a:extLst>
          </p:cNvPr>
          <p:cNvSpPr>
            <a:spLocks xmlns:a="http://schemas.openxmlformats.org/drawingml/2006/main" noGrp="1"/>
          </p:cNvSpPr>
          <p:nvPr/>
        </p:nvSpPr>
        <p:spPr>
          <a:xfrm xmlns:a="http://schemas.openxmlformats.org/drawingml/2006/main">
            <a:off x="685800" y="5705475"/>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500" b="0">
                <a:solidFill>
                  <a:srgbClr val="475569"/>
                </a:solidFill>
                <a:latin typeface="Calibri"/>
                <a:ea typeface="Calibri"/>
                <a:cs typeface="Calibri"/>
              </a:defRPr>
            </a:pPr>
            <a:r>
              <a:rPr sz="1500" b="0">
                <a:solidFill>
                  <a:srgbClr val="475569"/>
                </a:solidFill>
                <a:latin typeface="Calibri"/>
                <a:ea typeface="Calibri"/>
                <a:cs typeface="Calibri"/>
              </a:rPr>
              <a:t>&amp; .\tests\challenge.ps1 membaca web dan port; PASS D/E membuktikan hotfix dan canary, total 14 PASS.</a:t>
            </a:r>
          </a:p>
        </p:txBody>
      </p:sp>
    </p:spTree>
    <p:extLst>
      <p:ext uri="{BB962C8B-B14F-4D97-AF65-F5344CB8AC3E}">
        <p14:creationId xmlns:p14="http://schemas.microsoft.com/office/powerpoint/2010/main" val="1797037781"/>
      </p:ext>
    </p:extLst>
  </p:cSld>
</p:sld>
</file>

<file path=ppt/slides/slide3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9" name="section">
            <a:extLst xmlns:a="http://schemas.openxmlformats.org/drawingml/2006/main">
              <a:ext uri="{FF2B5EF4-FFF2-40B4-BE49-F238E27FC236}">
                <a16:creationId xmlns:a16="http://schemas.microsoft.com/office/drawing/2014/main" id="{65E1EA4F-A692-4B6B-BBF6-7199C490033D}"/>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ABB07285-736A-4493-AD08-AFE548D30C32}"/>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Bash: helper dan hotfix dari root repo</a:t>
            </a:r>
          </a:p>
        </p:txBody>
      </p:sp>
      <p:sp>
        <p:nvSpPr>
          <p:cNvPr id="3" name="subtitle">
            <a:extLst xmlns:a="http://schemas.openxmlformats.org/drawingml/2006/main">
              <a:ext uri="{FF2B5EF4-FFF2-40B4-BE49-F238E27FC236}">
                <a16:creationId xmlns:a16="http://schemas.microsoft.com/office/drawing/2014/main" id="{5B5EBBC8-AC14-4821-9806-BC915CEA0773}"/>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Pilih Bash dan buka root repo aktual sebelum mengedit site/index.html.</a:t>
            </a:r>
          </a:p>
        </p:txBody>
      </p:sp>
      <p:sp>
        <p:nvSpPr>
          <p:cNvPr id="4" name="page">
            <a:extLst xmlns:a="http://schemas.openxmlformats.org/drawingml/2006/main">
              <a:ext uri="{FF2B5EF4-FFF2-40B4-BE49-F238E27FC236}">
                <a16:creationId xmlns:a16="http://schemas.microsoft.com/office/drawing/2014/main" id="{CE984AC5-EB48-4E8E-8F56-E50CD09011CA}"/>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33</a:t>
            </a:r>
          </a:p>
        </p:txBody>
      </p:sp>
      <p:sp>
        <p:nvSpPr>
          <p:cNvPr id="5" name="bash-alternative-background">
            <a:extLst xmlns:a="http://schemas.openxmlformats.org/drawingml/2006/main">
              <a:ext uri="{FF2B5EF4-FFF2-40B4-BE49-F238E27FC236}">
                <a16:creationId xmlns:a16="http://schemas.microsoft.com/office/drawing/2014/main" id="{63C3598B-8714-4B09-9732-FBB43B7480C4}"/>
              </a:ext>
            </a:extLst>
          </p:cNvPr>
          <p:cNvSpPr>
            <a:spLocks xmlns:a="http://schemas.openxmlformats.org/drawingml/2006/main" noGrp="1"/>
          </p:cNvSpPr>
          <p:nvPr/>
        </p:nvSpPr>
        <p:spPr>
          <a:xfrm xmlns:a="http://schemas.openxmlformats.org/drawingml/2006/main">
            <a:off x="685800" y="2038350"/>
            <a:ext cx="10820400" cy="2952750"/>
          </a:xfrm>
          <a:prstGeom xmlns:a="http://schemas.openxmlformats.org/drawingml/2006/main" prst="rect">
            <a:avLst/>
          </a:prstGeom>
          <a:solidFill xmlns:a="http://schemas.openxmlformats.org/drawingml/2006/main">
            <a:srgbClr val="101722"/>
          </a:solidFill>
          <a:ln xmlns:a="http://schemas.openxmlformats.org/drawingml/2006/main" w="0">
            <a:noFill/>
          </a:ln>
        </p:spPr>
      </p:sp>
      <p:sp>
        <p:nvSpPr>
          <p:cNvPr id="6" name="bash-alternative">
            <a:extLst xmlns:a="http://schemas.openxmlformats.org/drawingml/2006/main">
              <a:ext uri="{FF2B5EF4-FFF2-40B4-BE49-F238E27FC236}">
                <a16:creationId xmlns:a16="http://schemas.microsoft.com/office/drawing/2014/main" id="{E65CD182-2EE6-4EE3-96DC-2465A28C069F}"/>
              </a:ext>
            </a:extLst>
          </p:cNvPr>
          <p:cNvSpPr>
            <a:spLocks xmlns:a="http://schemas.openxmlformats.org/drawingml/2006/main" noGrp="1"/>
          </p:cNvSpPr>
          <p:nvPr/>
        </p:nvSpPr>
        <p:spPr>
          <a:xfrm xmlns:a="http://schemas.openxmlformats.org/drawingml/2006/main">
            <a:off x="914400" y="2257425"/>
            <a:ext cx="10363200" cy="2552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a:solidFill>
                  <a:srgbClr val="E6F3FF"/>
                </a:solidFill>
                <a:latin typeface="Consolas"/>
                <a:ea typeface="Consolas"/>
                <a:cs typeface="Consolas"/>
              </a:defRPr>
            </a:defPPr>
          </a:lstStyle>
          <a:p xmlns:a="http://schemas.openxmlformats.org/drawingml/2006/main">
            <a:pPr algn="l">
              <a:buNone/>
              <a:defRPr sz="1425" b="0">
                <a:solidFill>
                  <a:srgbClr val="E6F3FF"/>
                </a:solidFill>
                <a:latin typeface="Consolas"/>
                <a:ea typeface="Consolas"/>
                <a:cs typeface="Consolas"/>
              </a:defRPr>
            </a:pPr>
            <a:r>
              <a:rPr sz="1425" b="0">
                <a:solidFill>
                  <a:srgbClr val="E6F3FF"/>
                </a:solidFill>
                <a:latin typeface="Consolas"/>
                <a:ea typeface="Consolas"/>
                <a:cs typeface="Consolas"/>
              </a:rPr>
              <a:t>(</a:t>
            </a:r>
          </a:p>
          <a:p xmlns:a="http://schemas.openxmlformats.org/drawingml/2006/main">
            <a:pPr algn="l">
              <a:buNone/>
              <a:defRPr sz="1425" b="0">
                <a:solidFill>
                  <a:srgbClr val="E6F3FF"/>
                </a:solidFill>
                <a:latin typeface="Consolas"/>
                <a:ea typeface="Consolas"/>
                <a:cs typeface="Consolas"/>
              </a:defRPr>
            </a:pPr>
            <a:r>
              <a:rPr sz="1425" b="0">
                <a:solidFill>
                  <a:srgbClr val="E6F3FF"/>
                </a:solidFill>
                <a:latin typeface="Consolas"/>
                <a:ea typeface="Consolas"/>
                <a:cs typeface="Consolas"/>
              </a:rPr>
              <a:t>  test -f './site/index.html' || { echo 'Buka root repo'; exit 1; }</a:t>
            </a:r>
          </a:p>
          <a:p xmlns:a="http://schemas.openxmlformats.org/drawingml/2006/main">
            <a:pPr algn="l">
              <a:buNone/>
              <a:defRPr sz="1425" b="0">
                <a:solidFill>
                  <a:srgbClr val="E6F3FF"/>
                </a:solidFill>
                <a:latin typeface="Consolas"/>
                <a:ea typeface="Consolas"/>
                <a:cs typeface="Consolas"/>
              </a:defRPr>
            </a:pPr>
            <a:r>
              <a:rPr sz="1425" b="0">
                <a:solidFill>
                  <a:srgbClr val="E6F3FF"/>
                </a:solidFill>
                <a:latin typeface="Consolas"/>
                <a:ea typeface="Consolas"/>
                <a:cs typeface="Consolas"/>
              </a:rPr>
              <a:t>  bash './scripts/start-lab04.sh' --repair || exit 1</a:t>
            </a:r>
          </a:p>
          <a:p xmlns:a="http://schemas.openxmlformats.org/drawingml/2006/main">
            <a:pPr algn="l">
              <a:buNone/>
              <a:defRPr sz="1425" b="0">
                <a:solidFill>
                  <a:srgbClr val="E6F3FF"/>
                </a:solidFill>
                <a:latin typeface="Consolas"/>
                <a:ea typeface="Consolas"/>
                <a:cs typeface="Consolas"/>
              </a:defRPr>
            </a:pPr>
            <a:r>
              <a:rPr sz="1425" b="0">
                <a:solidFill>
                  <a:srgbClr val="E6F3FF"/>
                </a:solidFill>
                <a:latin typeface="Consolas"/>
                <a:ea typeface="Consolas"/>
                <a:cs typeface="Consolas"/>
              </a:rPr>
              <a:t>  sed -i 's/STATUS_OK: Layanan normal/INCIDENT-042: Pemeliharaan selesai/' './site/index.html'</a:t>
            </a:r>
          </a:p>
          <a:p xmlns:a="http://schemas.openxmlformats.org/drawingml/2006/main">
            <a:pPr algn="l">
              <a:buNone/>
              <a:defRPr sz="1425" b="0">
                <a:solidFill>
                  <a:srgbClr val="E6F3FF"/>
                </a:solidFill>
                <a:latin typeface="Consolas"/>
                <a:ea typeface="Consolas"/>
                <a:cs typeface="Consolas"/>
              </a:defRPr>
            </a:pPr>
            <a:r>
              <a:rPr sz="1425" b="0">
                <a:solidFill>
                  <a:srgbClr val="E6F3FF"/>
                </a:solidFill>
                <a:latin typeface="Consolas"/>
                <a:ea typeface="Consolas"/>
                <a:cs typeface="Consolas"/>
              </a:rPr>
              <a:t>  curl -I http://127.0.0.1:8088/</a:t>
            </a:r>
          </a:p>
          <a:p xmlns:a="http://schemas.openxmlformats.org/drawingml/2006/main">
            <a:pPr algn="l">
              <a:buNone/>
              <a:defRPr sz="1425" b="0">
                <a:solidFill>
                  <a:srgbClr val="E6F3FF"/>
                </a:solidFill>
                <a:latin typeface="Consolas"/>
                <a:ea typeface="Consolas"/>
                <a:cs typeface="Consolas"/>
              </a:defRPr>
            </a:pPr>
            <a:r>
              <a:rPr sz="1425" b="0">
                <a:solidFill>
                  <a:srgbClr val="E6F3FF"/>
                </a:solidFill>
                <a:latin typeface="Consolas"/>
                <a:ea typeface="Consolas"/>
                <a:cs typeface="Consolas"/>
              </a:rPr>
              <a:t>)</a:t>
            </a:r>
          </a:p>
          <a:p xmlns:a="http://schemas.openxmlformats.org/drawingml/2006/main">
            <a:pPr algn="l">
              <a:buNone/>
              <a:defRPr sz="1425" b="0">
                <a:solidFill>
                  <a:srgbClr val="E6F3FF"/>
                </a:solidFill>
                <a:latin typeface="Consolas"/>
                <a:ea typeface="Consolas"/>
                <a:cs typeface="Consolas"/>
              </a:defRPr>
            </a:pPr>
            <a:r>
              <a:rPr sz="1425" b="0">
                <a:solidFill>
                  <a:srgbClr val="E6F3FF"/>
                </a:solidFill>
                <a:latin typeface="Consolas"/>
                <a:ea typeface="Consolas"/>
                <a:cs typeface="Consolas"/>
              </a:rPr>
              <a:t># Checker A-E, setelah semua challenge:</a:t>
            </a:r>
          </a:p>
          <a:p xmlns:a="http://schemas.openxmlformats.org/drawingml/2006/main">
            <a:pPr algn="l">
              <a:buNone/>
              <a:defRPr sz="1425" b="0">
                <a:solidFill>
                  <a:srgbClr val="E6F3FF"/>
                </a:solidFill>
                <a:latin typeface="Consolas"/>
                <a:ea typeface="Consolas"/>
                <a:cs typeface="Consolas"/>
              </a:defRPr>
            </a:pPr>
            <a:r>
              <a:rPr sz="1425" b="0">
                <a:solidFill>
                  <a:srgbClr val="E6F3FF"/>
                </a:solidFill>
                <a:latin typeface="Consolas"/>
                <a:ea typeface="Consolas"/>
                <a:cs typeface="Consolas"/>
              </a:rPr>
              <a:t>bash './tests/challenge.sh'</a:t>
            </a:r>
          </a:p>
        </p:txBody>
      </p:sp>
      <p:sp>
        <p:nvSpPr>
          <p:cNvPr id="7" name="explanation-label">
            <a:extLst xmlns:a="http://schemas.openxmlformats.org/drawingml/2006/main">
              <a:ext uri="{FF2B5EF4-FFF2-40B4-BE49-F238E27FC236}">
                <a16:creationId xmlns:a16="http://schemas.microsoft.com/office/drawing/2014/main" id="{E4C261E2-33BA-4F29-80C1-FBE943E1FB5F}"/>
              </a:ext>
            </a:extLst>
          </p:cNvPr>
          <p:cNvSpPr>
            <a:spLocks xmlns:a="http://schemas.openxmlformats.org/drawingml/2006/main" noGrp="1"/>
          </p:cNvSpPr>
          <p:nvPr/>
        </p:nvSpPr>
        <p:spPr>
          <a:xfrm xmlns:a="http://schemas.openxmlformats.org/drawingml/2006/main">
            <a:off x="685800" y="5219700"/>
            <a:ext cx="200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425" b="1">
                <a:solidFill>
                  <a:srgbClr val="F37021"/>
                </a:solidFill>
                <a:latin typeface="Calibri"/>
                <a:ea typeface="Calibri"/>
                <a:cs typeface="Calibri"/>
              </a:defRPr>
            </a:pPr>
            <a:r>
              <a:rPr sz="1425" b="1">
                <a:solidFill>
                  <a:srgbClr val="F37021"/>
                </a:solidFill>
                <a:latin typeface="Calibri"/>
                <a:ea typeface="Calibri"/>
                <a:cs typeface="Calibri"/>
              </a:rPr>
              <a:t>Catatan</a:t>
            </a:r>
          </a:p>
        </p:txBody>
      </p:sp>
      <p:sp>
        <p:nvSpPr>
          <p:cNvPr id="8" name="explanation-text">
            <a:extLst xmlns:a="http://schemas.openxmlformats.org/drawingml/2006/main">
              <a:ext uri="{FF2B5EF4-FFF2-40B4-BE49-F238E27FC236}">
                <a16:creationId xmlns:a16="http://schemas.microsoft.com/office/drawing/2014/main" id="{52069FBA-6BED-463D-AFF2-D35DCBE59BF7}"/>
              </a:ext>
            </a:extLst>
          </p:cNvPr>
          <p:cNvSpPr>
            <a:spLocks xmlns:a="http://schemas.openxmlformats.org/drawingml/2006/main" noGrp="1"/>
          </p:cNvSpPr>
          <p:nvPr/>
        </p:nvSpPr>
        <p:spPr>
          <a:xfrm xmlns:a="http://schemas.openxmlformats.org/drawingml/2006/main">
            <a:off x="685800" y="5543550"/>
            <a:ext cx="108204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0F172A"/>
                </a:solidFill>
                <a:latin typeface="Calibri"/>
                <a:ea typeface="Calibri"/>
                <a:cs typeface="Calibri"/>
              </a:defRPr>
            </a:pPr>
            <a:r>
              <a:rPr sz="1725" b="0">
                <a:solidFill>
                  <a:srgbClr val="0F172A"/>
                </a:solidFill>
                <a:latin typeface="Calibri"/>
                <a:ea typeface="Calibri"/>
                <a:cs typeface="Calibri"/>
              </a:rPr>
              <a:t>Helper menentukan source dari folder script dan menangani path Bash/Windows. Hotfix tetap membaca file relatif dari root repo. Di Codespaces, buka Ports 8088.</a:t>
            </a:r>
          </a:p>
        </p:txBody>
      </p:sp>
    </p:spTree>
    <p:extLst>
      <p:ext uri="{BB962C8B-B14F-4D97-AF65-F5344CB8AC3E}">
        <p14:creationId xmlns:p14="http://schemas.microsoft.com/office/powerpoint/2010/main" val="2060198162"/>
      </p:ext>
    </p:extLst>
  </p:cSld>
</p:sld>
</file>

<file path=ppt/slides/slide3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E09260BD-AB8F-4734-B4EA-EE5383EB6029}"/>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682056AB-BE6C-4A2A-855E-135E4A8AEFDA}"/>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Diagnosis cepat saat demo macet</a:t>
            </a:r>
          </a:p>
        </p:txBody>
      </p:sp>
      <p:sp>
        <p:nvSpPr>
          <p:cNvPr id="3" name="subtitle">
            <a:extLst xmlns:a="http://schemas.openxmlformats.org/drawingml/2006/main">
              <a:ext uri="{FF2B5EF4-FFF2-40B4-BE49-F238E27FC236}">
                <a16:creationId xmlns:a16="http://schemas.microsoft.com/office/drawing/2014/main" id="{97EB962C-9135-47E7-BC0E-E21386E26A68}"/>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Periksa state dan pemetaan port sebelum mengubah kode.</a:t>
            </a:r>
          </a:p>
        </p:txBody>
      </p:sp>
      <p:sp>
        <p:nvSpPr>
          <p:cNvPr id="4" name="page">
            <a:extLst xmlns:a="http://schemas.openxmlformats.org/drawingml/2006/main">
              <a:ext uri="{FF2B5EF4-FFF2-40B4-BE49-F238E27FC236}">
                <a16:creationId xmlns:a16="http://schemas.microsoft.com/office/drawing/2014/main" id="{DAA1B1C3-22E3-4D28-970B-72E2A3C3DA17}"/>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34</a:t>
            </a:r>
          </a:p>
        </p:txBody>
      </p:sp>
      <p:sp>
        <p:nvSpPr>
          <p:cNvPr id="5" name="diag-1">
            <a:extLst xmlns:a="http://schemas.openxmlformats.org/drawingml/2006/main">
              <a:ext uri="{FF2B5EF4-FFF2-40B4-BE49-F238E27FC236}">
                <a16:creationId xmlns:a16="http://schemas.microsoft.com/office/drawing/2014/main" id="{866E179F-3FC5-44E7-97ED-623CBD2488A8}"/>
              </a:ext>
            </a:extLst>
          </p:cNvPr>
          <p:cNvSpPr>
            <a:spLocks xmlns:a="http://schemas.openxmlformats.org/drawingml/2006/main" noGrp="1"/>
          </p:cNvSpPr>
          <p:nvPr/>
        </p:nvSpPr>
        <p:spPr>
          <a:xfrm xmlns:a="http://schemas.openxmlformats.org/drawingml/2006/main">
            <a:off x="685800" y="2133600"/>
            <a:ext cx="5143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2025" b="1">
                <a:solidFill>
                  <a:srgbClr val="F37021"/>
                </a:solidFill>
                <a:latin typeface="Calibri"/>
                <a:ea typeface="Calibri"/>
                <a:cs typeface="Calibri"/>
              </a:defRPr>
            </a:pPr>
            <a:r>
              <a:rPr sz="2025" b="1">
                <a:solidFill>
                  <a:srgbClr val="F37021"/>
                </a:solidFill>
                <a:latin typeface="Calibri"/>
                <a:ea typeface="Calibri"/>
                <a:cs typeface="Calibri"/>
              </a:rPr>
              <a:t>Docker daemon belum terhubung</a:t>
            </a:r>
          </a:p>
        </p:txBody>
      </p:sp>
      <p:sp>
        <p:nvSpPr>
          <p:cNvPr id="6" name="diag-1b">
            <a:extLst xmlns:a="http://schemas.openxmlformats.org/drawingml/2006/main">
              <a:ext uri="{FF2B5EF4-FFF2-40B4-BE49-F238E27FC236}">
                <a16:creationId xmlns:a16="http://schemas.microsoft.com/office/drawing/2014/main" id="{C7B52E86-C0FA-42CA-B81C-CE7C62CBF9A0}"/>
              </a:ext>
            </a:extLst>
          </p:cNvPr>
          <p:cNvSpPr>
            <a:spLocks xmlns:a="http://schemas.openxmlformats.org/drawingml/2006/main" noGrp="1"/>
          </p:cNvSpPr>
          <p:nvPr/>
        </p:nvSpPr>
        <p:spPr>
          <a:xfrm xmlns:a="http://schemas.openxmlformats.org/drawingml/2006/main">
            <a:off x="685800" y="2571750"/>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875" b="0">
                <a:solidFill>
                  <a:srgbClr val="0F172A"/>
                </a:solidFill>
                <a:latin typeface="Calibri"/>
                <a:ea typeface="Calibri"/>
                <a:cs typeface="Calibri"/>
              </a:defRPr>
            </a:pPr>
            <a:r>
              <a:rPr sz="1875" b="0">
                <a:solidFill>
                  <a:srgbClr val="0F172A"/>
                </a:solidFill>
                <a:latin typeface="Calibri"/>
                <a:ea typeface="Calibri"/>
                <a:cs typeface="Calibri"/>
              </a:rPr>
              <a:t>Buka Docker Desktop/Engine; ulangi docker version.</a:t>
            </a:r>
          </a:p>
        </p:txBody>
      </p:sp>
      <p:sp>
        <p:nvSpPr>
          <p:cNvPr id="7" name="diag-2">
            <a:extLst xmlns:a="http://schemas.openxmlformats.org/drawingml/2006/main">
              <a:ext uri="{FF2B5EF4-FFF2-40B4-BE49-F238E27FC236}">
                <a16:creationId xmlns:a16="http://schemas.microsoft.com/office/drawing/2014/main" id="{98A97757-5BE8-4002-A18E-F4BC51FF4D23}"/>
              </a:ext>
            </a:extLst>
          </p:cNvPr>
          <p:cNvSpPr>
            <a:spLocks xmlns:a="http://schemas.openxmlformats.org/drawingml/2006/main" noGrp="1"/>
          </p:cNvSpPr>
          <p:nvPr/>
        </p:nvSpPr>
        <p:spPr>
          <a:xfrm xmlns:a="http://schemas.openxmlformats.org/drawingml/2006/main">
            <a:off x="685800" y="3333750"/>
            <a:ext cx="5143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2025" b="1">
                <a:solidFill>
                  <a:srgbClr val="F37021"/>
                </a:solidFill>
                <a:latin typeface="Calibri"/>
                <a:ea typeface="Calibri"/>
                <a:cs typeface="Calibri"/>
              </a:defRPr>
            </a:pPr>
            <a:r>
              <a:rPr sz="2025" b="1">
                <a:solidFill>
                  <a:srgbClr val="F37021"/>
                </a:solidFill>
                <a:latin typeface="Calibri"/>
                <a:ea typeface="Calibri"/>
                <a:cs typeface="Calibri"/>
              </a:rPr>
              <a:t>8088 sudah dipakai</a:t>
            </a:r>
          </a:p>
        </p:txBody>
      </p:sp>
      <p:sp>
        <p:nvSpPr>
          <p:cNvPr id="8" name="diag-2b">
            <a:extLst xmlns:a="http://schemas.openxmlformats.org/drawingml/2006/main">
              <a:ext uri="{FF2B5EF4-FFF2-40B4-BE49-F238E27FC236}">
                <a16:creationId xmlns:a16="http://schemas.microsoft.com/office/drawing/2014/main" id="{8CFF0FD0-9DFF-474B-98FB-B42A688F3F0D}"/>
              </a:ext>
            </a:extLst>
          </p:cNvPr>
          <p:cNvSpPr>
            <a:spLocks xmlns:a="http://schemas.openxmlformats.org/drawingml/2006/main" noGrp="1"/>
          </p:cNvSpPr>
          <p:nvPr/>
        </p:nvSpPr>
        <p:spPr>
          <a:xfrm xmlns:a="http://schemas.openxmlformats.org/drawingml/2006/main">
            <a:off x="685800" y="3762375"/>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875" b="0">
                <a:solidFill>
                  <a:srgbClr val="0F172A"/>
                </a:solidFill>
                <a:latin typeface="Calibri"/>
                <a:ea typeface="Calibri"/>
                <a:cs typeface="Calibri"/>
              </a:defRPr>
            </a:pPr>
            <a:r>
              <a:rPr sz="1875" b="0">
                <a:solidFill>
                  <a:srgbClr val="0F172A"/>
                </a:solidFill>
                <a:latin typeface="Calibri"/>
                <a:ea typeface="Calibri"/>
                <a:cs typeface="Calibri"/>
              </a:rPr>
              <a:t>docker ps --format "table {{.Names}}\t{{.Ports}}"; hentikan hanya container latihan.</a:t>
            </a:r>
          </a:p>
        </p:txBody>
      </p:sp>
      <p:sp>
        <p:nvSpPr>
          <p:cNvPr id="9" name="diag-3">
            <a:extLst xmlns:a="http://schemas.openxmlformats.org/drawingml/2006/main">
              <a:ext uri="{FF2B5EF4-FFF2-40B4-BE49-F238E27FC236}">
                <a16:creationId xmlns:a16="http://schemas.microsoft.com/office/drawing/2014/main" id="{0578FF98-FB54-48CA-92A0-D673DA547B96}"/>
              </a:ext>
            </a:extLst>
          </p:cNvPr>
          <p:cNvSpPr>
            <a:spLocks xmlns:a="http://schemas.openxmlformats.org/drawingml/2006/main" noGrp="1"/>
          </p:cNvSpPr>
          <p:nvPr/>
        </p:nvSpPr>
        <p:spPr>
          <a:xfrm xmlns:a="http://schemas.openxmlformats.org/drawingml/2006/main">
            <a:off x="685800" y="4810125"/>
            <a:ext cx="5143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2025" b="1">
                <a:solidFill>
                  <a:srgbClr val="F37021"/>
                </a:solidFill>
                <a:latin typeface="Calibri"/>
                <a:ea typeface="Calibri"/>
                <a:cs typeface="Calibri"/>
              </a:defRPr>
            </a:pPr>
            <a:r>
              <a:rPr sz="2025" b="1">
                <a:solidFill>
                  <a:srgbClr val="F37021"/>
                </a:solidFill>
                <a:latin typeface="Calibri"/>
                <a:ea typeface="Calibri"/>
                <a:cs typeface="Calibri"/>
              </a:rPr>
              <a:t>HTTP 403/404 atau halaman keliru</a:t>
            </a:r>
          </a:p>
        </p:txBody>
      </p:sp>
      <p:sp>
        <p:nvSpPr>
          <p:cNvPr id="10" name="diag-3b">
            <a:extLst xmlns:a="http://schemas.openxmlformats.org/drawingml/2006/main">
              <a:ext uri="{FF2B5EF4-FFF2-40B4-BE49-F238E27FC236}">
                <a16:creationId xmlns:a16="http://schemas.microsoft.com/office/drawing/2014/main" id="{3DD8B612-FE5C-4DC2-8EF3-B85B95CA3A9B}"/>
              </a:ext>
            </a:extLst>
          </p:cNvPr>
          <p:cNvSpPr>
            <a:spLocks xmlns:a="http://schemas.openxmlformats.org/drawingml/2006/main" noGrp="1"/>
          </p:cNvSpPr>
          <p:nvPr/>
        </p:nvSpPr>
        <p:spPr>
          <a:xfrm xmlns:a="http://schemas.openxmlformats.org/drawingml/2006/main">
            <a:off x="685800" y="5257800"/>
            <a:ext cx="10191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a:solidFill>
                  <a:srgbClr val="0F172A"/>
                </a:solidFill>
                <a:latin typeface="Calibri"/>
                <a:ea typeface="Calibri"/>
                <a:cs typeface="Calibri"/>
              </a:defRPr>
            </a:defPPr>
          </a:lstStyle>
          <a:p xmlns:a="http://schemas.openxmlformats.org/drawingml/2006/main">
            <a:pPr algn="l">
              <a:buNone/>
              <a:defRPr sz="1725" b="0">
                <a:solidFill>
                  <a:srgbClr val="0F172A"/>
                </a:solidFill>
                <a:latin typeface="Calibri"/>
                <a:ea typeface="Calibri"/>
                <a:cs typeface="Calibri"/>
              </a:defRPr>
            </a:pPr>
            <a:r>
              <a:rPr sz="1725" b="0">
                <a:solidFill>
                  <a:srgbClr val="0F172A"/>
                </a:solidFill>
                <a:latin typeface="Calibri"/>
                <a:ea typeface="Calibri"/>
                <a:cs typeface="Calibri"/>
              </a:rPr>
              <a:t>Bandingkan Source mount dengan site/ repo aktual. Periksa index.html, docker logs, dan exec ls. Gunakan helper repair untuk source yang keliru.</a:t>
            </a:r>
          </a:p>
        </p:txBody>
      </p:sp>
    </p:spTree>
    <p:extLst>
      <p:ext uri="{BB962C8B-B14F-4D97-AF65-F5344CB8AC3E}">
        <p14:creationId xmlns:p14="http://schemas.microsoft.com/office/powerpoint/2010/main" val="1198146476"/>
      </p:ext>
    </p:extLst>
  </p:cSld>
</p:sld>
</file>

<file path=ppt/slides/slide3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9" name="section">
            <a:extLst xmlns:a="http://schemas.openxmlformats.org/drawingml/2006/main">
              <a:ext uri="{FF2B5EF4-FFF2-40B4-BE49-F238E27FC236}">
                <a16:creationId xmlns:a16="http://schemas.microsoft.com/office/drawing/2014/main" id="{19CB7919-5467-4A1D-8A6F-DE207F42AF14}"/>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F3814455-C365-4DA9-AE91-67B79B8F6482}"/>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Bukti, cleanup, dan Git</a:t>
            </a:r>
          </a:p>
        </p:txBody>
      </p:sp>
      <p:sp>
        <p:nvSpPr>
          <p:cNvPr id="3" name="subtitle">
            <a:extLst xmlns:a="http://schemas.openxmlformats.org/drawingml/2006/main">
              <a:ext uri="{FF2B5EF4-FFF2-40B4-BE49-F238E27FC236}">
                <a16:creationId xmlns:a16="http://schemas.microsoft.com/office/drawing/2014/main" id="{CAF6A2F7-21A4-4049-9CAB-5313C045EB6E}"/>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Dari root repo aktual. Penyimpanan bukti ke repo milik sendiri bersifat opsional.</a:t>
            </a:r>
          </a:p>
        </p:txBody>
      </p:sp>
      <p:sp>
        <p:nvSpPr>
          <p:cNvPr id="4" name="page">
            <a:extLst xmlns:a="http://schemas.openxmlformats.org/drawingml/2006/main">
              <a:ext uri="{FF2B5EF4-FFF2-40B4-BE49-F238E27FC236}">
                <a16:creationId xmlns:a16="http://schemas.microsoft.com/office/drawing/2014/main" id="{727026AE-9840-4D0B-8F05-8F8D4D38231B}"/>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35</a:t>
            </a:r>
          </a:p>
        </p:txBody>
      </p:sp>
      <p:sp>
        <p:nvSpPr>
          <p:cNvPr id="5" name="finish-background">
            <a:extLst xmlns:a="http://schemas.openxmlformats.org/drawingml/2006/main">
              <a:ext uri="{FF2B5EF4-FFF2-40B4-BE49-F238E27FC236}">
                <a16:creationId xmlns:a16="http://schemas.microsoft.com/office/drawing/2014/main" id="{852FB561-222F-4784-A521-2603FD474146}"/>
              </a:ext>
            </a:extLst>
          </p:cNvPr>
          <p:cNvSpPr>
            <a:spLocks xmlns:a="http://schemas.openxmlformats.org/drawingml/2006/main" noGrp="1"/>
          </p:cNvSpPr>
          <p:nvPr/>
        </p:nvSpPr>
        <p:spPr>
          <a:xfrm xmlns:a="http://schemas.openxmlformats.org/drawingml/2006/main">
            <a:off x="685800" y="1990725"/>
            <a:ext cx="10820400" cy="3333750"/>
          </a:xfrm>
          <a:prstGeom xmlns:a="http://schemas.openxmlformats.org/drawingml/2006/main" prst="rect">
            <a:avLst/>
          </a:prstGeom>
          <a:solidFill xmlns:a="http://schemas.openxmlformats.org/drawingml/2006/main">
            <a:srgbClr val="101722"/>
          </a:solidFill>
          <a:ln xmlns:a="http://schemas.openxmlformats.org/drawingml/2006/main" w="0">
            <a:noFill/>
          </a:ln>
        </p:spPr>
      </p:sp>
      <p:sp>
        <p:nvSpPr>
          <p:cNvPr id="6" name="finish">
            <a:extLst xmlns:a="http://schemas.openxmlformats.org/drawingml/2006/main">
              <a:ext uri="{FF2B5EF4-FFF2-40B4-BE49-F238E27FC236}">
                <a16:creationId xmlns:a16="http://schemas.microsoft.com/office/drawing/2014/main" id="{293DBA52-0C34-47D3-9E92-209B72E50184}"/>
              </a:ext>
            </a:extLst>
          </p:cNvPr>
          <p:cNvSpPr>
            <a:spLocks xmlns:a="http://schemas.openxmlformats.org/drawingml/2006/main" noGrp="1"/>
          </p:cNvSpPr>
          <p:nvPr/>
        </p:nvSpPr>
        <p:spPr>
          <a:xfrm xmlns:a="http://schemas.openxmlformats.org/drawingml/2006/main">
            <a:off x="914400" y="2209800"/>
            <a:ext cx="1036320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a:solidFill>
                  <a:srgbClr val="E6F3FF"/>
                </a:solidFill>
                <a:latin typeface="Consolas"/>
                <a:ea typeface="Consolas"/>
                <a:cs typeface="Consolas"/>
              </a:defRPr>
            </a:defPPr>
          </a:lstStyle>
          <a:p xmlns:a="http://schemas.openxmlformats.org/drawingml/2006/main">
            <a:pPr algn="l">
              <a:buNone/>
              <a:defRPr sz="1425" b="0">
                <a:solidFill>
                  <a:srgbClr val="E6F3FF"/>
                </a:solidFill>
                <a:latin typeface="Consolas"/>
                <a:ea typeface="Consolas"/>
                <a:cs typeface="Consolas"/>
              </a:defRPr>
            </a:pPr>
            <a:r>
              <a:rPr sz="1425" b="0">
                <a:solidFill>
                  <a:srgbClr val="E6F3FF"/>
                </a:solidFill>
                <a:latin typeface="Consolas"/>
                <a:ea typeface="Consolas"/>
                <a:cs typeface="Consolas"/>
              </a:rPr>
              <a:t>Set-Location -LiteralPath $repoRoot</a:t>
            </a:r>
          </a:p>
          <a:p xmlns:a="http://schemas.openxmlformats.org/drawingml/2006/main">
            <a:pPr algn="l">
              <a:buNone/>
              <a:defRPr sz="1425" b="0">
                <a:solidFill>
                  <a:srgbClr val="E6F3FF"/>
                </a:solidFill>
                <a:latin typeface="Consolas"/>
                <a:ea typeface="Consolas"/>
                <a:cs typeface="Consolas"/>
              </a:defRPr>
            </a:pPr>
            <a:r>
              <a:rPr sz="1425" b="0">
                <a:solidFill>
                  <a:srgbClr val="E6F3FF"/>
                </a:solidFill>
                <a:latin typeface="Consolas"/>
                <a:ea typeface="Consolas"/>
                <a:cs typeface="Consolas"/>
              </a:rPr>
              <a:t>git remote -v</a:t>
            </a:r>
          </a:p>
          <a:p xmlns:a="http://schemas.openxmlformats.org/drawingml/2006/main">
            <a:pPr algn="l">
              <a:buNone/>
              <a:defRPr sz="1425" b="0">
                <a:solidFill>
                  <a:srgbClr val="E6F3FF"/>
                </a:solidFill>
                <a:latin typeface="Consolas"/>
                <a:ea typeface="Consolas"/>
                <a:cs typeface="Consolas"/>
              </a:defRPr>
            </a:pPr>
            <a:r>
              <a:rPr sz="1425" b="0">
                <a:solidFill>
                  <a:srgbClr val="E6F3FF"/>
                </a:solidFill>
                <a:latin typeface="Consolas"/>
                <a:ea typeface="Consolas"/>
                <a:cs typeface="Consolas"/>
              </a:rPr>
              <a:t>git status --short</a:t>
            </a:r>
          </a:p>
          <a:p xmlns:a="http://schemas.openxmlformats.org/drawingml/2006/main">
            <a:pPr algn="l">
              <a:buNone/>
              <a:defRPr sz="1425" b="0">
                <a:solidFill>
                  <a:srgbClr val="E6F3FF"/>
                </a:solidFill>
                <a:latin typeface="Consolas"/>
                <a:ea typeface="Consolas"/>
                <a:cs typeface="Consolas"/>
              </a:defRPr>
            </a:pPr>
            <a:r>
              <a:rPr sz="1425" b="0">
                <a:solidFill>
                  <a:srgbClr val="E6F3FF"/>
                </a:solidFill>
                <a:latin typeface="Consolas"/>
                <a:ea typeface="Consolas"/>
                <a:cs typeface="Consolas"/>
              </a:rPr>
              <a:t>git add site/index.html hasil/lab04.md hasil/bukti/lab04</a:t>
            </a:r>
          </a:p>
          <a:p xmlns:a="http://schemas.openxmlformats.org/drawingml/2006/main">
            <a:pPr algn="l">
              <a:buNone/>
              <a:defRPr sz="1425" b="0">
                <a:solidFill>
                  <a:srgbClr val="E6F3FF"/>
                </a:solidFill>
                <a:latin typeface="Consolas"/>
                <a:ea typeface="Consolas"/>
                <a:cs typeface="Consolas"/>
              </a:defRPr>
            </a:pPr>
            <a:r>
              <a:rPr sz="1425" b="0">
                <a:solidFill>
                  <a:srgbClr val="E6F3FF"/>
                </a:solidFill>
                <a:latin typeface="Consolas"/>
                <a:ea typeface="Consolas"/>
                <a:cs typeface="Consolas"/>
              </a:rPr>
              <a:t>git diff --cached --check</a:t>
            </a:r>
          </a:p>
          <a:p xmlns:a="http://schemas.openxmlformats.org/drawingml/2006/main">
            <a:pPr algn="l">
              <a:buNone/>
              <a:defRPr sz="1425" b="0">
                <a:solidFill>
                  <a:srgbClr val="E6F3FF"/>
                </a:solidFill>
                <a:latin typeface="Consolas"/>
                <a:ea typeface="Consolas"/>
                <a:cs typeface="Consolas"/>
              </a:defRPr>
            </a:pPr>
            <a:r>
              <a:rPr sz="1425" b="0">
                <a:solidFill>
                  <a:srgbClr val="E6F3FF"/>
                </a:solidFill>
                <a:latin typeface="Consolas"/>
                <a:ea typeface="Consolas"/>
                <a:cs typeface="Consolas"/>
              </a:rPr>
              <a:t>git diff --cached --name-only</a:t>
            </a:r>
          </a:p>
          <a:p xmlns:a="http://schemas.openxmlformats.org/drawingml/2006/main">
            <a:pPr algn="l">
              <a:buNone/>
              <a:defRPr sz="1425" b="0">
                <a:solidFill>
                  <a:srgbClr val="E6F3FF"/>
                </a:solidFill>
                <a:latin typeface="Consolas"/>
                <a:ea typeface="Consolas"/>
                <a:cs typeface="Consolas"/>
              </a:defRPr>
            </a:pPr>
            <a:r>
              <a:rPr sz="1425" b="0">
                <a:solidFill>
                  <a:srgbClr val="E6F3FF"/>
                </a:solidFill>
                <a:latin typeface="Consolas"/>
                <a:ea typeface="Consolas"/>
                <a:cs typeface="Consolas"/>
              </a:rPr>
              <a:t>git commit -m "lab04: pulihkan situs dan dokumentasikan insiden"</a:t>
            </a:r>
          </a:p>
          <a:p xmlns:a="http://schemas.openxmlformats.org/drawingml/2006/main">
            <a:pPr algn="l">
              <a:buNone/>
              <a:defRPr sz="1425" b="0">
                <a:solidFill>
                  <a:srgbClr val="E6F3FF"/>
                </a:solidFill>
                <a:latin typeface="Consolas"/>
                <a:ea typeface="Consolas"/>
                <a:cs typeface="Consolas"/>
              </a:defRPr>
            </a:pPr>
            <a:r>
              <a:rPr sz="1425" b="0">
                <a:solidFill>
                  <a:srgbClr val="E6F3FF"/>
                </a:solidFill>
                <a:latin typeface="Consolas"/>
                <a:ea typeface="Consolas"/>
                <a:cs typeface="Consolas"/>
              </a:rPr>
              <a:t>git push</a:t>
            </a:r>
          </a:p>
          <a:p xmlns:a="http://schemas.openxmlformats.org/drawingml/2006/main">
            <a:pPr algn="l">
              <a:buNone/>
              <a:defRPr sz="1425" b="0">
                <a:solidFill>
                  <a:srgbClr val="E6F3FF"/>
                </a:solidFill>
                <a:latin typeface="Consolas"/>
                <a:ea typeface="Consolas"/>
                <a:cs typeface="Consolas"/>
              </a:defRPr>
            </a:pPr>
            <a:r>
              <a:rPr sz="1425" b="0">
                <a:solidFill>
                  <a:srgbClr val="E6F3FF"/>
                </a:solidFill>
                <a:latin typeface="Consolas"/>
                <a:ea typeface="Consolas"/>
                <a:cs typeface="Consolas"/>
              </a:rPr>
              <a:t>docker rm -f cloudlab-canary cloudlab-site</a:t>
            </a:r>
          </a:p>
        </p:txBody>
      </p:sp>
      <p:sp>
        <p:nvSpPr>
          <p:cNvPr id="7" name="explanation-label">
            <a:extLst xmlns:a="http://schemas.openxmlformats.org/drawingml/2006/main">
              <a:ext uri="{FF2B5EF4-FFF2-40B4-BE49-F238E27FC236}">
                <a16:creationId xmlns:a16="http://schemas.microsoft.com/office/drawing/2014/main" id="{74BEB97A-A155-4F61-9BF6-77321217F316}"/>
              </a:ext>
            </a:extLst>
          </p:cNvPr>
          <p:cNvSpPr>
            <a:spLocks xmlns:a="http://schemas.openxmlformats.org/drawingml/2006/main" noGrp="1"/>
          </p:cNvSpPr>
          <p:nvPr/>
        </p:nvSpPr>
        <p:spPr>
          <a:xfrm xmlns:a="http://schemas.openxmlformats.org/drawingml/2006/main">
            <a:off x="685800" y="5514975"/>
            <a:ext cx="200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425" b="1">
                <a:solidFill>
                  <a:srgbClr val="F37021"/>
                </a:solidFill>
                <a:latin typeface="Calibri"/>
                <a:ea typeface="Calibri"/>
                <a:cs typeface="Calibri"/>
              </a:defRPr>
            </a:pPr>
            <a:r>
              <a:rPr sz="1425" b="1">
                <a:solidFill>
                  <a:srgbClr val="F37021"/>
                </a:solidFill>
                <a:latin typeface="Calibri"/>
                <a:ea typeface="Calibri"/>
                <a:cs typeface="Calibri"/>
              </a:rPr>
              <a:t>Catatan opsional</a:t>
            </a:r>
          </a:p>
        </p:txBody>
      </p:sp>
      <p:sp>
        <p:nvSpPr>
          <p:cNvPr id="8" name="explanation-text">
            <a:extLst xmlns:a="http://schemas.openxmlformats.org/drawingml/2006/main">
              <a:ext uri="{FF2B5EF4-FFF2-40B4-BE49-F238E27FC236}">
                <a16:creationId xmlns:a16="http://schemas.microsoft.com/office/drawing/2014/main" id="{7F429B55-D3D5-486C-B611-7DDE67CE9D33}"/>
              </a:ext>
            </a:extLst>
          </p:cNvPr>
          <p:cNvSpPr>
            <a:spLocks xmlns:a="http://schemas.openxmlformats.org/drawingml/2006/main" noGrp="1"/>
          </p:cNvSpPr>
          <p:nvPr/>
        </p:nvSpPr>
        <p:spPr>
          <a:xfrm xmlns:a="http://schemas.openxmlformats.org/drawingml/2006/main">
            <a:off x="685800" y="583882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a:solidFill>
                  <a:srgbClr val="0F172A"/>
                </a:solidFill>
                <a:latin typeface="Calibri"/>
                <a:ea typeface="Calibri"/>
                <a:cs typeface="Calibri"/>
              </a:defRPr>
            </a:defPPr>
          </a:lstStyle>
          <a:p xmlns:a="http://schemas.openxmlformats.org/drawingml/2006/main">
            <a:pPr algn="l">
              <a:buNone/>
              <a:defRPr sz="1650" b="0">
                <a:solidFill>
                  <a:srgbClr val="0F172A"/>
                </a:solidFill>
                <a:latin typeface="Calibri"/>
                <a:ea typeface="Calibri"/>
                <a:cs typeface="Calibri"/>
              </a:defRPr>
            </a:pPr>
            <a:r>
              <a:rPr sz="1650" b="0">
                <a:solidFill>
                  <a:srgbClr val="0F172A"/>
                </a:solidFill>
                <a:latin typeface="Calibri"/>
                <a:ea typeface="Calibri"/>
                <a:cs typeface="Calibri"/>
              </a:rPr>
              <a:t>Lab ini formatif, tanpa tugas terpisah. Proyek kelompok 3 orang dipresentasikan minggu 7 (UTS) dan 14 (UAS).</a:t>
            </a:r>
          </a:p>
        </p:txBody>
      </p:sp>
    </p:spTree>
    <p:extLst>
      <p:ext uri="{BB962C8B-B14F-4D97-AF65-F5344CB8AC3E}">
        <p14:creationId xmlns:p14="http://schemas.microsoft.com/office/powerpoint/2010/main" val="666701363"/>
      </p:ext>
    </p:extLst>
  </p:cSld>
</p:sld>
</file>

<file path=ppt/slides/slide36.xml><?xml version="1.0" encoding="utf-8"?>
<p:sld xmlns:p="http://schemas.openxmlformats.org/presentationml/2006/main">
  <p:cSld>
    <p:spTree>
      <p:nvGrpSpPr>
        <p:cNvPr id="1" name=""/>
        <p:cNvGrpSpPr/>
        <p:nvPr/>
      </p:nvGrpSpPr>
      <p:grpSpPr>
        <a:xfrm xmlns:a="http://schemas.openxmlformats.org/drawingml/2006/main"/>
      </p:grpSpPr>
      <p:sp>
        <p:nvSpPr>
          <p:cNvPr id="7" name="section">
            <a:extLst xmlns:a="http://schemas.openxmlformats.org/drawingml/2006/main">
              <a:ext uri="{FF2B5EF4-FFF2-40B4-BE49-F238E27FC236}">
                <a16:creationId xmlns:a16="http://schemas.microsoft.com/office/drawing/2014/main" id="{8AB038A4-485E-4E1A-8EA7-A13497461296}"/>
              </a:ext>
            </a:extLst>
          </p:cNvPr>
          <p:cNvSpPr>
            <a:spLocks xmlns:a="http://schemas.openxmlformats.org/drawingml/2006/main" noGrp="1"/>
          </p:cNvSpPr>
          <p:nvPr/>
        </p:nvSpPr>
        <p:spPr>
          <a:xfrm xmlns:a="http://schemas.openxmlformats.org/drawingml/2006/main">
            <a:off x="685800" y="2952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350" b="1">
                <a:solidFill>
                  <a:srgbClr val="F37021"/>
                </a:solidFill>
                <a:latin typeface="Calibri"/>
                <a:ea typeface="Calibri"/>
                <a:cs typeface="Calibri"/>
              </a:defRPr>
            </a:pPr>
            <a:r>
              <a:rPr sz="1350" b="1">
                <a:solidFill>
                  <a:srgbClr val="F37021"/>
                </a:solidFill>
                <a:latin typeface="Calibri"/>
                <a:ea typeface="Calibri"/>
                <a:cs typeface="Calibri"/>
              </a:rPr>
              <a:t>PRAKTIKUM 04</a:t>
            </a:r>
          </a:p>
        </p:txBody>
      </p:sp>
      <p:sp>
        <p:nvSpPr>
          <p:cNvPr id="2" name="title">
            <a:extLst xmlns:a="http://schemas.openxmlformats.org/drawingml/2006/main">
              <a:ext uri="{FF2B5EF4-FFF2-40B4-BE49-F238E27FC236}">
                <a16:creationId xmlns:a16="http://schemas.microsoft.com/office/drawing/2014/main" id="{91FF576F-51DB-4D3D-BA37-0B58A7B6CC93}"/>
              </a:ext>
            </a:extLst>
          </p:cNvPr>
          <p:cNvSpPr>
            <a:spLocks xmlns:a="http://schemas.openxmlformats.org/drawingml/2006/main" noGrp="1"/>
          </p:cNvSpPr>
          <p:nvPr/>
        </p:nvSpPr>
        <p:spPr>
          <a:xfrm xmlns:a="http://schemas.openxmlformats.org/drawingml/2006/main">
            <a:off x="685800" y="6191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3150" b="1">
                <a:solidFill>
                  <a:srgbClr val="002677"/>
                </a:solidFill>
                <a:latin typeface="Calibri"/>
                <a:ea typeface="Calibri"/>
                <a:cs typeface="Calibri"/>
              </a:defRPr>
            </a:pPr>
            <a:r>
              <a:rPr sz="3150" b="1">
                <a:solidFill>
                  <a:srgbClr val="002677"/>
                </a:solidFill>
                <a:latin typeface="Calibri"/>
                <a:ea typeface="Calibri"/>
                <a:cs typeface="Calibri"/>
              </a:rPr>
              <a:t>Bukti Git: commit dan modul tersedia</a:t>
            </a:r>
          </a:p>
        </p:txBody>
      </p:sp>
      <p:sp>
        <p:nvSpPr>
          <p:cNvPr id="3" name="subtitle">
            <a:extLst xmlns:a="http://schemas.openxmlformats.org/drawingml/2006/main">
              <a:ext uri="{FF2B5EF4-FFF2-40B4-BE49-F238E27FC236}">
                <a16:creationId xmlns:a16="http://schemas.microsoft.com/office/drawing/2014/main" id="{EFA20D18-3AFC-49C5-BDA1-9BC7214D00B4}"/>
              </a:ext>
            </a:extLst>
          </p:cNvPr>
          <p:cNvSpPr>
            <a:spLocks xmlns:a="http://schemas.openxmlformats.org/drawingml/2006/main" noGrp="1"/>
          </p:cNvSpPr>
          <p:nvPr/>
        </p:nvSpPr>
        <p:spPr>
          <a:xfrm xmlns:a="http://schemas.openxmlformats.org/drawingml/2006/main">
            <a:off x="685800" y="1362075"/>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725" b="0">
                <a:solidFill>
                  <a:srgbClr val="475569"/>
                </a:solidFill>
                <a:latin typeface="Calibri"/>
                <a:ea typeface="Calibri"/>
                <a:cs typeface="Calibri"/>
              </a:defRPr>
            </a:pPr>
            <a:r>
              <a:rPr sz="1725" b="0">
                <a:solidFill>
                  <a:srgbClr val="475569"/>
                </a:solidFill>
                <a:latin typeface="Calibri"/>
                <a:ea typeface="Calibri"/>
                <a:cs typeface="Calibri"/>
              </a:rPr>
              <a:t>Setelah git push, buka repo pribadi dan periksa commit pada branch main.</a:t>
            </a:r>
          </a:p>
        </p:txBody>
      </p:sp>
      <p:sp>
        <p:nvSpPr>
          <p:cNvPr id="4" name="page">
            <a:extLst xmlns:a="http://schemas.openxmlformats.org/drawingml/2006/main">
              <a:ext uri="{FF2B5EF4-FFF2-40B4-BE49-F238E27FC236}">
                <a16:creationId xmlns:a16="http://schemas.microsoft.com/office/drawing/2014/main" id="{46C0AC1E-CE3B-48DA-BD1F-EB4120B24A2C}"/>
              </a:ext>
            </a:extLst>
          </p:cNvPr>
          <p:cNvSpPr>
            <a:spLocks xmlns:a="http://schemas.openxmlformats.org/drawingml/2006/main" noGrp="1"/>
          </p:cNvSpPr>
          <p:nvPr/>
        </p:nvSpPr>
        <p:spPr>
          <a:xfrm xmlns:a="http://schemas.openxmlformats.org/drawingml/2006/main">
            <a:off x="11153775" y="63531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125" b="0">
                <a:solidFill>
                  <a:srgbClr val="475569"/>
                </a:solidFill>
                <a:latin typeface="Consolas"/>
                <a:ea typeface="Consolas"/>
                <a:cs typeface="Consolas"/>
              </a:defRPr>
            </a:pPr>
            <a:r>
              <a:rPr sz="1125" b="0">
                <a:solidFill>
                  <a:srgbClr val="475569"/>
                </a:solidFill>
                <a:latin typeface="Consolas"/>
                <a:ea typeface="Consolas"/>
                <a:cs typeface="Consolas"/>
              </a:rPr>
              <a:t>36</a:t>
            </a:r>
          </a:p>
        </p:txBody>
      </p:sp>
      <p:sp>
        <p:nvSpPr>
          <p:cNvPr id="6" name="evidence-final-test-bottom-caption">
            <a:extLst xmlns:a="http://schemas.openxmlformats.org/drawingml/2006/main">
              <a:ext uri="{FF2B5EF4-FFF2-40B4-BE49-F238E27FC236}">
                <a16:creationId xmlns:a16="http://schemas.microsoft.com/office/drawing/2014/main" id="{D4371BEE-53D1-466B-AF5C-123D697F8CAB}"/>
              </a:ext>
            </a:extLst>
          </p:cNvPr>
          <p:cNvSpPr>
            <a:spLocks xmlns:a="http://schemas.openxmlformats.org/drawingml/2006/main" noGrp="1"/>
          </p:cNvSpPr>
          <p:nvPr/>
        </p:nvSpPr>
        <p:spPr>
          <a:xfrm xmlns:a="http://schemas.openxmlformats.org/drawingml/2006/main">
            <a:off x="685800" y="5705475"/>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buNone/>
              <a:defRPr sz="1500" b="0">
                <a:solidFill>
                  <a:srgbClr val="475569"/>
                </a:solidFill>
                <a:latin typeface="Calibri"/>
                <a:ea typeface="Calibri"/>
                <a:cs typeface="Calibri"/>
              </a:defRPr>
            </a:pPr>
            <a:r>
              <a:rPr sz="1500" b="0">
                <a:solidFill>
                  <a:srgbClr val="475569"/>
                </a:solidFill>
                <a:latin typeface="Calibri"/>
                <a:ea typeface="Calibri"/>
                <a:cs typeface="Calibri"/>
              </a:rPr>
              <a:t>Buka halaman repo, lihat branch main dan commit terbaru. Template dosen hanya contoh lokasi pemeriksaan.</a:t>
            </a:r>
          </a:p>
        </p:txBody>
      </p:sp>
      <p:pic>
        <p:nvPicPr>
          <p:cNvPr id="16" name="Picture 7">
            <a:extLst xmlns:a="http://schemas.openxmlformats.org/drawingml/2006/main">
              <a:ext uri="{FF2B5EF4-FFF2-40B4-BE49-F238E27FC236}">
                <a16:creationId xmlns:a16="http://schemas.microsoft.com/office/drawing/2014/main" id="{04626C53-0B8A-422C-BA22-0A7472789C43}"/>
              </a:ext>
            </a:extLst>
          </p:cNvPr>
          <p:cNvPicPr>
            <a:picLocks xmlns:a="http://schemas.openxmlformats.org/drawingml/2006/main" noChangeAspect="1"/>
          </p:cNvPicPr>
          <p:nvPr/>
        </p:nvPicPr>
        <p:blipFill>
          <a:blip xmlns:r="http://schemas.openxmlformats.org/officeDocument/2006/relationships" xmlns:a="http://schemas.openxmlformats.org/drawingml/2006/main" r:embed="R4bb26366c8074b0a"/>
          <a:stretch xmlns:a="http://schemas.openxmlformats.org/drawingml/2006/main">
            <a:fillRect l="0" t="0" r="0" b="0"/>
          </a:stretch>
        </p:blipFill>
        <p:spPr>
          <a:xfrm xmlns:a="http://schemas.openxmlformats.org/drawingml/2006/main">
            <a:off x="731520" y="2011680"/>
            <a:ext cx="7498079" cy="3624958"/>
          </a:xfrm>
          <a:prstGeom xmlns:a="http://schemas.openxmlformats.org/drawingml/2006/main" prst="rect">
            <a:avLst/>
          </a:prstGeom>
        </p:spPr>
      </p:pic>
      <p:sp>
        <p:nvSpPr>
          <p:cNvPr id="9" name="TextBox 8">
            <a:extLst xmlns:a="http://schemas.openxmlformats.org/drawingml/2006/main">
              <a:ext uri="{FF2B5EF4-FFF2-40B4-BE49-F238E27FC236}">
                <a16:creationId xmlns:a16="http://schemas.microsoft.com/office/drawing/2014/main" id="{CB20D216-EEA0-477F-9B79-2422F55C513D}"/>
              </a:ext>
            </a:extLst>
          </p:cNvPr>
          <p:cNvSpPr>
            <a:spLocks xmlns:a="http://schemas.openxmlformats.org/drawingml/2006/main" noGrp="1"/>
          </p:cNvSpPr>
          <p:nvPr/>
        </p:nvSpPr>
        <p:spPr>
          <a:xfrm xmlns:a="http://schemas.openxmlformats.org/drawingml/2006/main">
            <a:off x="8412480" y="2057400"/>
            <a:ext cx="3063240" cy="33832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000"/>
              </a:spcAft>
              <a:buNone/>
              <a:defRPr sz="1700" b="1">
                <a:solidFill>
                  <a:srgbClr val="002677"/>
                </a:solidFill>
                <a:latin typeface="Calibri"/>
                <a:ea typeface="Calibri"/>
                <a:cs typeface="Calibri"/>
              </a:defRPr>
            </a:pPr>
            <a:r>
              <a:t>Perintah: git push</a:t>
            </a:r>
          </a:p>
          <a:p xmlns:a="http://schemas.openxmlformats.org/drawingml/2006/main">
            <a:pPr>
              <a:spcAft>
                <a:spcPts val="1000"/>
              </a:spcAft>
              <a:buNone/>
              <a:defRPr sz="1500" b="0">
                <a:solidFill>
                  <a:srgbClr val="475569"/>
                </a:solidFill>
                <a:latin typeface="Calibri"/>
                <a:ea typeface="Calibri"/>
                <a:cs typeface="Calibri"/>
              </a:defRPr>
            </a:pPr>
            <a:r>
              <a:t>Fungsi: mengirim commit dan laporan ke origin.</a:t>
            </a:r>
          </a:p>
          <a:p xmlns:a="http://schemas.openxmlformats.org/drawingml/2006/main">
            <a:pPr>
              <a:spcAft>
                <a:spcPts val="1000"/>
              </a:spcAft>
              <a:buNone/>
              <a:defRPr sz="1500" b="0">
                <a:solidFill>
                  <a:srgbClr val="475569"/>
                </a:solidFill>
                <a:latin typeface="Calibri"/>
                <a:ea typeface="Calibri"/>
                <a:cs typeface="Calibri"/>
              </a:defRPr>
            </a:pPr>
            <a:r>
              <a:t>Cara kerja: Git memperbarui branch main di GitHub.</a:t>
            </a:r>
          </a:p>
          <a:p xmlns:a="http://schemas.openxmlformats.org/drawingml/2006/main">
            <a:pPr>
              <a:spcAft>
                <a:spcPts val="1000"/>
              </a:spcAft>
              <a:buNone/>
              <a:defRPr sz="1500" b="0">
                <a:solidFill>
                  <a:srgbClr val="475569"/>
                </a:solidFill>
                <a:latin typeface="Calibri"/>
                <a:ea typeface="Calibri"/>
                <a:cs typeface="Calibri"/>
              </a:defRPr>
            </a:pPr>
            <a:r>
              <a:t>Baca hasil: pesan commit, modul, dan file hasil muncul.</a:t>
            </a:r>
          </a:p>
        </p:txBody>
      </p:sp>
    </p:spTree>
    <p:extLst>
      <p:ext uri="{BB962C8B-B14F-4D97-AF65-F5344CB8AC3E}">
        <p14:creationId xmlns:p14="http://schemas.microsoft.com/office/powerpoint/2010/main" val="126240218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2026-10-08T07:58:19.7400000Z</dcterms:created>
  <dcterms:modified xsi:type="dcterms:W3CDTF">2026-10-08T07:58:19.7400000Z</dcterms:modified>
</coreProperties>
</file>