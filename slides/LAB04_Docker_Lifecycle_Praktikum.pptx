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f3e3a4df9c047aa" Type="http://schemas.openxmlformats.org/officeDocument/2006/relationships/extended-properties" Target="docProps/app.xml"/><Relationship Id="R37b8bbb6675e40d8" Type="http://schemas.openxmlformats.org/officeDocument/2006/relationships/officeDocument" Target="ppt/presentation.xml"/><Relationship Id="R7971749202934f0c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6a71d53e0c498e"/>
  </p:sldMasterIdLst>
  <p:notesMasterIdLst>
    <p:notesMasterId xmlns:r="http://schemas.openxmlformats.org/officeDocument/2006/relationships" r:id="R4b3abdc2cc744109"/>
  </p:notesMasterIdLst>
  <p:sldIdLst>
    <p:sldId xmlns:r="http://schemas.openxmlformats.org/officeDocument/2006/relationships" id="256" r:id="R3d23349ee364451e"/>
    <p:sldId xmlns:r="http://schemas.openxmlformats.org/officeDocument/2006/relationships" id="257" r:id="Rd6ad3d1b4580457c"/>
    <p:sldId xmlns:r="http://schemas.openxmlformats.org/officeDocument/2006/relationships" id="258" r:id="R8b6b66f412a24d63"/>
    <p:sldId xmlns:r="http://schemas.openxmlformats.org/officeDocument/2006/relationships" id="259" r:id="R4ef1ff7f1238413b"/>
    <p:sldId xmlns:r="http://schemas.openxmlformats.org/officeDocument/2006/relationships" id="260" r:id="Rc54e4fd267da4fcd"/>
    <p:sldId xmlns:r="http://schemas.openxmlformats.org/officeDocument/2006/relationships" id="261" r:id="R9f6d6c8e80e9431c"/>
    <p:sldId xmlns:r="http://schemas.openxmlformats.org/officeDocument/2006/relationships" id="262" r:id="R35e13cb1e6e7460a"/>
    <p:sldId xmlns:r="http://schemas.openxmlformats.org/officeDocument/2006/relationships" id="263" r:id="R6c436b8b0e544aae"/>
    <p:sldId xmlns:r="http://schemas.openxmlformats.org/officeDocument/2006/relationships" id="264" r:id="R51a432350fe1470c"/>
    <p:sldId xmlns:r="http://schemas.openxmlformats.org/officeDocument/2006/relationships" id="265" r:id="Rc20bcc304a864c4b"/>
    <p:sldId xmlns:r="http://schemas.openxmlformats.org/officeDocument/2006/relationships" id="266" r:id="Rd2052dbc17954704"/>
    <p:sldId xmlns:r="http://schemas.openxmlformats.org/officeDocument/2006/relationships" id="267" r:id="R6be549598fec45ad"/>
    <p:sldId xmlns:r="http://schemas.openxmlformats.org/officeDocument/2006/relationships" id="268" r:id="Ra99ba30a29a247a4"/>
    <p:sldId xmlns:r="http://schemas.openxmlformats.org/officeDocument/2006/relationships" id="269" r:id="R8a819b570d7a42ef"/>
    <p:sldId xmlns:r="http://schemas.openxmlformats.org/officeDocument/2006/relationships" id="270" r:id="R9ce6710a233a4b1a"/>
    <p:sldId xmlns:r="http://schemas.openxmlformats.org/officeDocument/2006/relationships" id="271" r:id="R07520ce5879e4a6c"/>
    <p:sldId xmlns:r="http://schemas.openxmlformats.org/officeDocument/2006/relationships" id="272" r:id="R2d4f3bd391784582"/>
    <p:sldId xmlns:r="http://schemas.openxmlformats.org/officeDocument/2006/relationships" id="273" r:id="R72741698c591407c"/>
    <p:sldId xmlns:r="http://schemas.openxmlformats.org/officeDocument/2006/relationships" id="274" r:id="R1815b04bc07a4c3b"/>
    <p:sldId xmlns:r="http://schemas.openxmlformats.org/officeDocument/2006/relationships" id="275" r:id="Rf55b39f8652d486e"/>
    <p:sldId xmlns:r="http://schemas.openxmlformats.org/officeDocument/2006/relationships" id="276" r:id="R5e157b6145d14d77"/>
    <p:sldId xmlns:r="http://schemas.openxmlformats.org/officeDocument/2006/relationships" id="277" r:id="Rf87ea02882b64146"/>
    <p:sldId xmlns:r="http://schemas.openxmlformats.org/officeDocument/2006/relationships" id="278" r:id="R62cd0e1f329a4029"/>
    <p:sldId xmlns:r="http://schemas.openxmlformats.org/officeDocument/2006/relationships" id="279" r:id="R476d944d9c2346f1"/>
    <p:sldId xmlns:r="http://schemas.openxmlformats.org/officeDocument/2006/relationships" id="280" r:id="Rf65d532e8b444741"/>
    <p:sldId xmlns:r="http://schemas.openxmlformats.org/officeDocument/2006/relationships" id="281" r:id="R8af055ff4f404f02"/>
    <p:sldId xmlns:r="http://schemas.openxmlformats.org/officeDocument/2006/relationships" id="282" r:id="R10d6183de4c24700"/>
    <p:sldId xmlns:r="http://schemas.openxmlformats.org/officeDocument/2006/relationships" id="283" r:id="Ra90c80d0d8cb4ec3"/>
    <p:sldId xmlns:r="http://schemas.openxmlformats.org/officeDocument/2006/relationships" id="284" r:id="Rfc0fa667ef0e4b88"/>
    <p:sldId xmlns:r="http://schemas.openxmlformats.org/officeDocument/2006/relationships" id="285" r:id="Re932dd0891434378"/>
    <p:sldId xmlns:r="http://schemas.openxmlformats.org/officeDocument/2006/relationships" id="286" r:id="R8ae602b867de42e4"/>
    <p:sldId xmlns:r="http://schemas.openxmlformats.org/officeDocument/2006/relationships" id="287" r:id="R7c6814009c124fc2"/>
    <p:sldId xmlns:r="http://schemas.openxmlformats.org/officeDocument/2006/relationships" id="288" r:id="R1ab69cdde7bc4592"/>
    <p:sldId xmlns:ns0="http://schemas.openxmlformats.org/officeDocument/2006/relationships" id="289" ns0:id="rId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520ce5879e4a6c" Type="http://schemas.openxmlformats.org/officeDocument/2006/relationships/slide" Target="slides/slide16.xml"/><Relationship Id="R10d6183de4c24700" Type="http://schemas.openxmlformats.org/officeDocument/2006/relationships/slide" Target="slides/slide27.xml"/><Relationship Id="R1815b04bc07a4c3b" Type="http://schemas.openxmlformats.org/officeDocument/2006/relationships/slide" Target="slides/slide19.xml"/><Relationship Id="R1ab69cdde7bc4592" Type="http://schemas.openxmlformats.org/officeDocument/2006/relationships/slide" Target="slides/slide33.xml"/><Relationship Id="R2d4f3bd391784582" Type="http://schemas.openxmlformats.org/officeDocument/2006/relationships/slide" Target="slides/slide17.xml"/><Relationship Id="R35e13cb1e6e7460a" Type="http://schemas.openxmlformats.org/officeDocument/2006/relationships/slide" Target="slides/slide7.xml"/><Relationship Id="R3d23349ee364451e" Type="http://schemas.openxmlformats.org/officeDocument/2006/relationships/slide" Target="slides/slide1.xml"/><Relationship Id="R476d944d9c2346f1" Type="http://schemas.openxmlformats.org/officeDocument/2006/relationships/slide" Target="slides/slide24.xml"/><Relationship Id="R4b3abdc2cc744109" Type="http://schemas.openxmlformats.org/officeDocument/2006/relationships/notesMaster" Target="notesMasters/notesMaster1.xml"/><Relationship Id="R4ef1ff7f1238413b" Type="http://schemas.openxmlformats.org/officeDocument/2006/relationships/slide" Target="slides/slide4.xml"/><Relationship Id="R51a432350fe1470c" Type="http://schemas.openxmlformats.org/officeDocument/2006/relationships/slide" Target="slides/slide9.xml"/><Relationship Id="R5e157b6145d14d77" Type="http://schemas.openxmlformats.org/officeDocument/2006/relationships/slide" Target="slides/slide21.xml"/><Relationship Id="R62cd0e1f329a4029" Type="http://schemas.openxmlformats.org/officeDocument/2006/relationships/slide" Target="slides/slide23.xml"/><Relationship Id="R6be549598fec45ad" Type="http://schemas.openxmlformats.org/officeDocument/2006/relationships/slide" Target="slides/slide12.xml"/><Relationship Id="R6c436b8b0e544aae" Type="http://schemas.openxmlformats.org/officeDocument/2006/relationships/slide" Target="slides/slide8.xml"/><Relationship Id="R72741698c591407c" Type="http://schemas.openxmlformats.org/officeDocument/2006/relationships/slide" Target="slides/slide18.xml"/><Relationship Id="R7c6814009c124fc2" Type="http://schemas.openxmlformats.org/officeDocument/2006/relationships/slide" Target="slides/slide32.xml"/><Relationship Id="R7d93337e084c467a" Type="http://schemas.openxmlformats.org/officeDocument/2006/relationships/tableStyles" Target="tableStyles.xml"/><Relationship Id="R8a819b570d7a42ef" Type="http://schemas.openxmlformats.org/officeDocument/2006/relationships/slide" Target="slides/slide14.xml"/><Relationship Id="R8ae602b867de42e4" Type="http://schemas.openxmlformats.org/officeDocument/2006/relationships/slide" Target="slides/slide31.xml"/><Relationship Id="R8af055ff4f404f02" Type="http://schemas.openxmlformats.org/officeDocument/2006/relationships/slide" Target="slides/slide26.xml"/><Relationship Id="R8b6b66f412a24d63" Type="http://schemas.openxmlformats.org/officeDocument/2006/relationships/slide" Target="slides/slide3.xml"/><Relationship Id="R8f6a71d53e0c498e" Type="http://schemas.openxmlformats.org/officeDocument/2006/relationships/slideMaster" Target="slideMasters/slideMaster1.xml"/><Relationship Id="R9ce6710a233a4b1a" Type="http://schemas.openxmlformats.org/officeDocument/2006/relationships/slide" Target="slides/slide15.xml"/><Relationship Id="R9f6d6c8e80e9431c" Type="http://schemas.openxmlformats.org/officeDocument/2006/relationships/slide" Target="slides/slide6.xml"/><Relationship Id="Ra90c80d0d8cb4ec3" Type="http://schemas.openxmlformats.org/officeDocument/2006/relationships/slide" Target="slides/slide28.xml"/><Relationship Id="Ra99ba30a29a247a4" Type="http://schemas.openxmlformats.org/officeDocument/2006/relationships/slide" Target="slides/slide13.xml"/><Relationship Id="Rc20bcc304a864c4b" Type="http://schemas.openxmlformats.org/officeDocument/2006/relationships/slide" Target="slides/slide10.xml"/><Relationship Id="Rc54e4fd267da4fcd" Type="http://schemas.openxmlformats.org/officeDocument/2006/relationships/slide" Target="slides/slide5.xml"/><Relationship Id="Rc977618bc8374fcf" Type="http://schemas.openxmlformats.org/officeDocument/2006/relationships/theme" Target="theme/theme1.xml"/><Relationship Id="Rd2052dbc17954704" Type="http://schemas.openxmlformats.org/officeDocument/2006/relationships/slide" Target="slides/slide11.xml"/><Relationship Id="Rd6ad3d1b4580457c" Type="http://schemas.openxmlformats.org/officeDocument/2006/relationships/slide" Target="slides/slide2.xml"/><Relationship Id="Re932dd0891434378" Type="http://schemas.openxmlformats.org/officeDocument/2006/relationships/slide" Target="slides/slide30.xml"/><Relationship Id="Re98129be8e774d15" Type="http://schemas.openxmlformats.org/officeDocument/2006/relationships/presProps" Target="presProps.xml"/><Relationship Id="Rf55b39f8652d486e" Type="http://schemas.openxmlformats.org/officeDocument/2006/relationships/slide" Target="slides/slide20.xml"/><Relationship Id="Rf65d532e8b444741" Type="http://schemas.openxmlformats.org/officeDocument/2006/relationships/slide" Target="slides/slide25.xml"/><Relationship Id="Rf87ea02882b64146" Type="http://schemas.openxmlformats.org/officeDocument/2006/relationships/slide" Target="slides/slide22.xml"/><Relationship Id="Rfc0fa667ef0e4b88" Type="http://schemas.openxmlformats.org/officeDocument/2006/relationships/slide" Target="slides/slide29.xml"/><Relationship Id="rId39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6c27e2adc8494d7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c9570e3e765b4c69" Type="http://schemas.openxmlformats.org/officeDocument/2006/relationships/slide" Target="../slides/slide1.xml"/><Relationship Id="Re5ab0007817d4bee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27a65cad0c548d6" Type="http://schemas.openxmlformats.org/officeDocument/2006/relationships/notesMaster" Target="../notesMasters/notesMaster1.xml"/><Relationship Id="Rb925c275f1a1420e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fe676be6e7448ce" Type="http://schemas.openxmlformats.org/officeDocument/2006/relationships/slide" Target="../slides/slide3.xml"/><Relationship Id="Rcd0d4531b9c44836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ddd659a3292456a" Type="http://schemas.openxmlformats.org/officeDocument/2006/relationships/slide" Target="../slides/slide4.xml"/><Relationship Id="R94a1fc1f4d2f471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5331f9f433e4be8" Type="http://schemas.openxmlformats.org/officeDocument/2006/relationships/notesMaster" Target="../notesMasters/notesMaster1.xml"/><Relationship Id="Re4a288c3c98044b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88eb5dc36a1b440b" Type="http://schemas.openxmlformats.org/officeDocument/2006/relationships/notesMaster" Target="../notesMasters/notesMaster1.xml"/><Relationship Id="R8caf071af1ce452f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25638f1016242fc" Type="http://schemas.openxmlformats.org/officeDocument/2006/relationships/notesMaster" Target="../notesMasters/notesMaster1.xml"/><Relationship Id="Rd8e29dd643404766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b55b895015a41d6" Type="http://schemas.openxmlformats.org/officeDocument/2006/relationships/notesMaster" Target="../notesMasters/notesMaster1.xml"/><Relationship Id="R41f4a02cfd134e2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86637964467c4e0b" Type="http://schemas.openxmlformats.org/officeDocument/2006/relationships/slide" Target="../slides/slide9.xml"/><Relationship Id="Rabbe329db70c4c88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bd3c288ae1f40d7" Type="http://schemas.openxmlformats.org/officeDocument/2006/relationships/notesMaster" Target="../notesMasters/notesMaster1.xml"/><Relationship Id="Ra8d6e48820a7472b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79715d0dfaea486c" Type="http://schemas.openxmlformats.org/officeDocument/2006/relationships/notesMaster" Target="../notesMasters/notesMaster1.xml"/><Relationship Id="R7b9543e31e904b05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389e2f022cca4d82" Type="http://schemas.openxmlformats.org/officeDocument/2006/relationships/notesMaster" Target="../notesMasters/notesMaster1.xml"/><Relationship Id="Rcc613a15373d492d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b1f31a5b48d4ee9" Type="http://schemas.openxmlformats.org/officeDocument/2006/relationships/slide" Target="../slides/slide13.xml"/><Relationship Id="R72c22a47440644a5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6856dc6796d34bf6" Type="http://schemas.openxmlformats.org/officeDocument/2006/relationships/notesMaster" Target="../notesMasters/notesMaster1.xml"/><Relationship Id="R7e9e3721aeb34b2c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cd46acad3564a2d" Type="http://schemas.openxmlformats.org/officeDocument/2006/relationships/slide" Target="../slides/slide15.xml"/><Relationship Id="Rdc19eb5097794d58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d371c47bf9464c89" Type="http://schemas.openxmlformats.org/officeDocument/2006/relationships/notesMaster" Target="../notesMasters/notesMaster1.xml"/><Relationship Id="Rf86baf421208479c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69a1d0f8b0e844af" Type="http://schemas.openxmlformats.org/officeDocument/2006/relationships/notesMaster" Target="../notesMasters/notesMaster1.xml"/><Relationship Id="R7aa826e077254aa3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706770b86dc64ebe" Type="http://schemas.openxmlformats.org/officeDocument/2006/relationships/notesMaster" Target="../notesMasters/notesMaster1.xml"/><Relationship Id="Rfa0608a81e8d446d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3f86ff939e5e4bac" Type="http://schemas.openxmlformats.org/officeDocument/2006/relationships/notesMaster" Target="../notesMasters/notesMaster1.xml"/><Relationship Id="R786108acaf1544c1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89096942364c4839" Type="http://schemas.openxmlformats.org/officeDocument/2006/relationships/slide" Target="../slides/slide20.xml"/><Relationship Id="Rc4ac43f42db348df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022e47dce46444e0" Type="http://schemas.openxmlformats.org/officeDocument/2006/relationships/notesMaster" Target="../notesMasters/notesMaster1.xml"/><Relationship Id="Re3413888a19f420a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bfa2da06e964b53" Type="http://schemas.openxmlformats.org/officeDocument/2006/relationships/slide" Target="../slides/slide22.xml"/><Relationship Id="R483e74479a7745c4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12059f37e9ba4cf4" Type="http://schemas.openxmlformats.org/officeDocument/2006/relationships/notesMaster" Target="../notesMasters/notesMaster1.xml"/><Relationship Id="R9ebbb90551b244d9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2bd899cdae714660" Type="http://schemas.openxmlformats.org/officeDocument/2006/relationships/slide" Target="../slides/slide24.xml"/><Relationship Id="R31564476bff94bd3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34aed1aa61a74df1" Type="http://schemas.openxmlformats.org/officeDocument/2006/relationships/slide" Target="../slides/slide25.xml"/><Relationship Id="R3d9645426d17415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277123af0f194b4d" Type="http://schemas.openxmlformats.org/officeDocument/2006/relationships/notesMaster" Target="../notesMasters/notesMaster1.xml"/><Relationship Id="Re970edeab5c74345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ab6d3fa228f14ad3" Type="http://schemas.openxmlformats.org/officeDocument/2006/relationships/notesMaster" Target="../notesMasters/notesMaster1.xml"/><Relationship Id="Ref18558c9039411b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1e52e8f4624b45f3" Type="http://schemas.openxmlformats.org/officeDocument/2006/relationships/notesMaster" Target="../notesMasters/notesMaster1.xml"/><Relationship Id="R8052fad3aa6c44bd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386605d0dd0e4a0c" Type="http://schemas.openxmlformats.org/officeDocument/2006/relationships/notesMaster" Target="../notesMasters/notesMaster1.xml"/><Relationship Id="Rc6d394a65f23407b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1019ebc4507a4add" Type="http://schemas.openxmlformats.org/officeDocument/2006/relationships/notesMaster" Target="../notesMasters/notesMaster1.xml"/><Relationship Id="R14674c99fd74440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32ac196e475b4aae" Type="http://schemas.openxmlformats.org/officeDocument/2006/relationships/slide" Target="../slides/slide31.xml"/><Relationship Id="Rc9b972e248da4dba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440a3f736656477b" Type="http://schemas.openxmlformats.org/officeDocument/2006/relationships/notesMaster" Target="../notesMasters/notesMaster1.xml"/><Relationship Id="R76e2c8371fc144aa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4c7f962dcc7f4caa" Type="http://schemas.openxmlformats.org/officeDocument/2006/relationships/slide" Target="../slides/slide33.xml"/><Relationship Id="R5176bfd21f62481b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Sesi 04 RPS COMP6991031: VM/hypervisor, container vs VM, namespaces/cgroups, arsitektur Docker, lifecycle image dan container. Kasus operasional dirancang untuk latihan harian; bukan insiden produksi nyata.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Semua perintah dijalankan pada mesin lokal dengan Docker Desktop/Engine. Perbandingan VM bersifat konseptual. Jangan menyebut layanan ini sebagai production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RPS Lab 04: membandingkan VM dan container, namespaces/cgroups, serta siklus image ke container. Hindari klaim ukuran/boot time universal karena bergantung konfigurasi.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Ini adalah pemetaan langsung materi arsitektur Docker pada sesi 04 RPS ke perintah yang akan digunakan. Docker Desktop menggunakan daemon Linux dalam lingkungan yang disiapkan untuk host Windows.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Jika Server tidak muncul, jalankan Docker Desktop/Engine. Jika Test-Path False, pindah ke root repo Lab 04. Perintah docker ps memperlihatkan container yang sudah berjalan dan port yang terpakai.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screenshots/01_docker_engine.jpg. Tampilan Docker Desktop: indikator Engine running. Cek versi client/server melalui docker version di terminal..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Jalankan perintah dari PowerShell atau Bash. Untuk perbedaan image dan container, tunjukkan docker image ls dan docker ps -a. Jangan pakai ukuran image sebagai angka tetap karena tag dapat berubah.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screenshots/02_images_env.png. Perintah: docker image ls nginx/python/node. Perhatikan tag dan ukuran pada mesin saat uji..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screenshots/02_images_env.png. Perintah: docker run --rm -e CLASS_SECTION=cloud ... . Output akhir: cloud..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 8088 harus kosong. Jika curl alias bermasalah di Windows PowerShell, gunakan curl.exe seperti modul. Buka juga URL yang sama di Chrome untuk melihat halaman Nginx bawaan.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screenshots/03_nginx_running.jpg. Tampilan Containers: cloudlab-nginx Up dan 8088:80. Konfirmasi HTTP dengan curl.exe -I..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Urutan terakhir stop lalu rm sengaja membebaskan 8088 sebelum memulai cloudlab-site.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screenshots/04_lifecycle.png. Perintah: docker stop, docker ps -a, docker start, docker ps. Status berubah; image sama..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Jalankan dari root repo Lab 04 yang berisi site/index.html. --mount readonly melarang Nginx menulis ke host, tetapi pemilik host tetap dapat mengedit berkas. Output HTTP yang diharapkan: 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screenshots/05_site_awal.jpg. Perintah: docker run cloudlab-site dengan --mount readonly. Browser menampilkan STATUS_OK: Layanan normal..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screenshots/06_docker_site.jpg. Tampilan Containers: cloudlab-site Up dan 8088:80. Jalankan docker inspect untuk memastikan RW=false..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Latihan insiden: minta mahasiswa mencatat waktu, gejala, status, tindakan, dan bukti hasil. docker logs dapat tidak menampilkan error pada penghentian manual; status Exited tetap bukti utama.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screenshots/07_outage_browser.jpg. Tampilan web: ERR_CONNECTION_REFUSED di 127.0.0.1:8088. Lanjutkan diagnosis dengan docker ps -a..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screenshots/07_outage_docker.jpg. Tampilan Containers: cloudlab-site berhenti. Jalankan docker ps -a dan docker logs sebelum start..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screenshots/07_outage_recovery.png. Perintah: docker stop, curl gagal, docker ps -a, docker start, curl HTTP 200..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Kode mengikuti modul mahasiswa dan mempertahankan isi HTML lain. UTF-8 tanpa BOM dipilih agar respons HTTP bersih. readonly membatasi akses tulis dari container, bukan dari host.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screenshots/08_site_hotfix.jpg. Perintah: edit site/index.html, lalu refresh 127.0.0.1:8088. Image ID tetap; RW=false..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Bila percobaan pertama tidak menyisakan container, docker rm -f boleh menampilkan No such container. Port internal 80 dapat sama karena setiap container memiliki namespace jaringan sendiri.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screenshots/09_port_canary.png. Perintah: coba cloudlab-canary pada 8088. Docker melaporkan port is already allocated..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screenshots/09_port_canary.png. Perintah: docker rm -f cloudlab-canary, lalu run pada 8089. Uji curl 8088 dan 8089..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screenshots/09_docker_two.jpg. Tampilan Containers: kedua container Up. Port host berbeda, port internal sama-sama 80..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ini sebagai kunci cepat presentasi. Detail perintah dan alasan terdapat pada slide tantangan masing-masing dan pada modul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 tidak memperbaiki konfigurasi. Perintah bash tests/challenge.sh harus dijalankan di Git Bash/WSL/Codespaces, bukan dari PowerShell: di laptop ini bash yang dipanggil PowerShell diarahkan ke WSL yang bermasalah. PowerShell memakai &amp; .\tests\challenge.ps1.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screenshots/10_challenge_pass.png. Perintah PowerShell: &amp; .\tests\challenge.ps1. Cek PASS bagian A, B, dan C..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gambar: screenshots/10_challenge_pass.png. Lihat PASS D/E dan ringkasan Challenge: 14 PASS, 0 FAIL.. Gambar diambil saat uji lokal; jika berupa output terminal, formatnya dapat ditata agar terbaca. Potongan gambar di slide tidak mengubah data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 Bash/WSL yang terintegrasi Docker Desktop, path host harus dapat diakses oleh daemon. Semua langkah challenge lain menggunakan Docker CLI yang sama.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Jika port masih gagal, cek proses host di luar Docker dengan netstat/Get-NetTCPConnection. Jangan jalankan docker system prune atau hapus volume secara massal untuk tugas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Sebelum git add, salin hasil/TEMPLATE_LAPORAN.md menjadi hasil/lab04.md dan buat hasil/bukti/lab04 berisi screenshot pribadi. Jangan stage token, .env, atau output docker info lengkap. Push image Docker tidak diperlukan untuk Lab 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cd28894a875447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d06649cd2e64056" Type="http://schemas.openxmlformats.org/officeDocument/2006/relationships/theme" Target="theme/theme2.xml"/><Relationship Id="R44ea1c4c45894b26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ea1c4c45894b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de17e235ad6414b" Type="http://schemas.openxmlformats.org/officeDocument/2006/relationships/slideLayout" Target="../slideLayouts/slideLayout1.xml"/><Relationship Id="Rf59c5c1a8b714c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cffca5494eb94f60" Type="http://schemas.openxmlformats.org/officeDocument/2006/relationships/slideLayout" Target="../slideLayouts/slideLayout1.xml"/><Relationship Id="Re30a01dddc734e7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afae1dada4264750" Type="http://schemas.openxmlformats.org/officeDocument/2006/relationships/notesSlide" Target="../notesSlides/notesSlide3.xml"/><Relationship Id="Rc8578bdf00204177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9ba1bd6d957c4b9a" Type="http://schemas.openxmlformats.org/officeDocument/2006/relationships/slideLayout" Target="../slideLayouts/slideLayout1.xml"/><Relationship Id="Rbc19713a493a459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b22934fb94e24a9b" Type="http://schemas.openxmlformats.org/officeDocument/2006/relationships/slideLayout" Target="../slideLayouts/slideLayout1.xml"/><Relationship Id="Re045ac92bb4d4d4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17f6a815c8e8428e" Type="http://schemas.openxmlformats.org/officeDocument/2006/relationships/image" Target="../media/image.jpeg"/><Relationship Id="R3775a9a3005b443a" Type="http://schemas.openxmlformats.org/officeDocument/2006/relationships/notesSlide" Target="../notesSlides/notesSlide6.xml"/><Relationship Id="R68f6c5778d834137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99064b2c3e214159" Type="http://schemas.openxmlformats.org/officeDocument/2006/relationships/slideLayout" Target="../slideLayouts/slideLayout1.xml"/><Relationship Id="Ra1d68f6b9ce34a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95c1476461824d66" Type="http://schemas.openxmlformats.org/officeDocument/2006/relationships/notesSlide" Target="../notesSlides/notesSlide8.xml"/><Relationship Id="R9e0ce1e8f52c4d7f" Type="http://schemas.openxmlformats.org/officeDocument/2006/relationships/image" Target="../media/image.png"/><Relationship Id="Rda50d5d6edbb4b6a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5314ae6ffa2e4526" Type="http://schemas.openxmlformats.org/officeDocument/2006/relationships/notesSlide" Target="../notesSlides/notesSlide9.xml"/><Relationship Id="R619a400ab3324fad" Type="http://schemas.openxmlformats.org/officeDocument/2006/relationships/slideLayout" Target="../slideLayouts/slideLayout1.xml"/><Relationship Id="R880d86c2c4a14d49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322ad03d61f34146" Type="http://schemas.openxmlformats.org/officeDocument/2006/relationships/slideLayout" Target="../slideLayouts/slideLayout1.xml"/><Relationship Id="Rc7f78f89f8284c8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3d9c37f5b6f34ee8" Type="http://schemas.openxmlformats.org/officeDocument/2006/relationships/slideLayout" Target="../slideLayouts/slideLayout1.xml"/><Relationship Id="R755d06cf188b4a72" Type="http://schemas.openxmlformats.org/officeDocument/2006/relationships/image" Target="../media/image2.jpeg"/><Relationship Id="Rb7f11c74b7fd469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b061d0bdce5e425d" Type="http://schemas.openxmlformats.org/officeDocument/2006/relationships/slideLayout" Target="../slideLayouts/slideLayout1.xml"/><Relationship Id="Rcb57413e7f9e4f5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89a316b3c96549fa" Type="http://schemas.openxmlformats.org/officeDocument/2006/relationships/slideLayout" Target="../slideLayouts/slideLayout1.xml"/><Relationship Id="Re7dc8054437b4b41" Type="http://schemas.openxmlformats.org/officeDocument/2006/relationships/notesSlide" Target="../notesSlides/notesSlide13.xml"/><Relationship Id="Ref4f01b5d17a4a98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6b9a0ffad3864e22" Type="http://schemas.openxmlformats.org/officeDocument/2006/relationships/notesSlide" Target="../notesSlides/notesSlide14.xml"/><Relationship Id="R6bcecdda05f845a9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3fe2bcbf4f3422b" Type="http://schemas.openxmlformats.org/officeDocument/2006/relationships/image" Target="../media/image3.jpeg"/><Relationship Id="R5ed25d8156e743fb" Type="http://schemas.openxmlformats.org/officeDocument/2006/relationships/notesSlide" Target="../notesSlides/notesSlide15.xml"/><Relationship Id="R820a8c507418400d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1032d39ec95444b2" Type="http://schemas.openxmlformats.org/officeDocument/2006/relationships/slideLayout" Target="../slideLayouts/slideLayout1.xml"/><Relationship Id="R16677d68d3d741f7" Type="http://schemas.openxmlformats.org/officeDocument/2006/relationships/notesSlide" Target="../notesSlides/notesSlide16.xml"/><Relationship Id="Rf4cc3c82cd24462b" Type="http://schemas.openxmlformats.org/officeDocument/2006/relationships/image" Target="../media/image4.jpeg"/></Relationships>
</file>

<file path=ppt/slides/_rels/slide17.xml.rels><?xml version='1.0' encoding='UTF-8' standalone='yes'?>
<Relationships xmlns="http://schemas.openxmlformats.org/package/2006/relationships"><Relationship Id="Rd32e795727db46e9" Type="http://schemas.openxmlformats.org/officeDocument/2006/relationships/slideLayout" Target="../slideLayouts/slideLayout1.xml"/><Relationship Id="Rf2900c112d314eea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2f65fdda022b4ad3" Type="http://schemas.openxmlformats.org/officeDocument/2006/relationships/image" Target="../media/image5.jpeg"/><Relationship Id="Rddcd3d62472448a7" Type="http://schemas.openxmlformats.org/officeDocument/2006/relationships/slideLayout" Target="../slideLayouts/slideLayout1.xml"/><Relationship Id="Rf3fab5dd707849c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3678144cbf9c44b1" Type="http://schemas.openxmlformats.org/officeDocument/2006/relationships/image" Target="../media/image6.jpeg"/><Relationship Id="Re6713dab8e864868" Type="http://schemas.openxmlformats.org/officeDocument/2006/relationships/slideLayout" Target="../slideLayouts/slideLayout1.xml"/><Relationship Id="Ree20e04491ee4cd1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2f4a051aebf24477" Type="http://schemas.openxmlformats.org/officeDocument/2006/relationships/image" Target="../media/image4.png"/><Relationship Id="Rd0d10ffdced842ac" Type="http://schemas.openxmlformats.org/officeDocument/2006/relationships/notesSlide" Target="../notesSlides/notesSlide20.xml"/><Relationship Id="Reaadadce12f14d5e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745aeb9e47fd4634" Type="http://schemas.openxmlformats.org/officeDocument/2006/relationships/slideLayout" Target="../slideLayouts/slideLayout1.xml"/><Relationship Id="R7a727380af174b39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0641fc7193f44069" Type="http://schemas.openxmlformats.org/officeDocument/2006/relationships/image" Target="../media/image7.jpeg"/><Relationship Id="Rc8978931c7d54ca8" Type="http://schemas.openxmlformats.org/officeDocument/2006/relationships/slideLayout" Target="../slideLayouts/slideLayout1.xml"/><Relationship Id="Re6e6c1a7354a40e1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3135ae11667f4fe8" Type="http://schemas.openxmlformats.org/officeDocument/2006/relationships/slideLayout" Target="../slideLayouts/slideLayout1.xml"/><Relationship Id="R81871f7bc0434497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31f364fb396548b8" Type="http://schemas.openxmlformats.org/officeDocument/2006/relationships/notesSlide" Target="../notesSlides/notesSlide24.xml"/><Relationship Id="R438919cd6fda4c46" Type="http://schemas.openxmlformats.org/officeDocument/2006/relationships/image" Target="../media/image5.png"/><Relationship Id="Rc632fb2eecb54164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05da0a6921d84457" Type="http://schemas.openxmlformats.org/officeDocument/2006/relationships/image" Target="../media/image6.png"/><Relationship Id="R6e80069da1694407" Type="http://schemas.openxmlformats.org/officeDocument/2006/relationships/notesSlide" Target="../notesSlides/notesSlide25.xml"/><Relationship Id="Rb2abcc7fbb7244c4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1deca296a71548f4" Type="http://schemas.openxmlformats.org/officeDocument/2006/relationships/image" Target="../media/image8.jpeg"/><Relationship Id="R528dfe3210854f15" Type="http://schemas.openxmlformats.org/officeDocument/2006/relationships/notesSlide" Target="../notesSlides/notesSlide26.xml"/><Relationship Id="Ra98d0ddbded64607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2dcf4ebc71544334" Type="http://schemas.openxmlformats.org/officeDocument/2006/relationships/slideLayout" Target="../slideLayouts/slideLayout1.xml"/><Relationship Id="R8d082978b4df448f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017ad1602a9c42fb" Type="http://schemas.openxmlformats.org/officeDocument/2006/relationships/slideLayout" Target="../slideLayouts/slideLayout1.xml"/><Relationship Id="R3497a9e4557840f7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3a87d9c36b3f4be4" Type="http://schemas.openxmlformats.org/officeDocument/2006/relationships/image" Target="../media/image7.png"/><Relationship Id="R58503101068c4ee8" Type="http://schemas.openxmlformats.org/officeDocument/2006/relationships/slideLayout" Target="../slideLayouts/slideLayout1.xml"/><Relationship Id="Rbf78535694f644a7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cc5528d2489b41e3" Type="http://schemas.openxmlformats.org/officeDocument/2006/relationships/notesSlide" Target="../notesSlides/notesSlide30.xml"/><Relationship Id="Rcd21f5eee0484241" Type="http://schemas.openxmlformats.org/officeDocument/2006/relationships/slideLayout" Target="../slideLayouts/slideLayout1.xml"/><Relationship Id="Red9330ec9abf426b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663ecec8d85144dc" Type="http://schemas.openxmlformats.org/officeDocument/2006/relationships/slideLayout" Target="../slideLayouts/slideLayout1.xml"/><Relationship Id="Rb5360eef72fd4faa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0a405222d6f44eb2" Type="http://schemas.openxmlformats.org/officeDocument/2006/relationships/slideLayout" Target="../slideLayouts/slideLayout1.xml"/><Relationship Id="Rd3412b46958e4f8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2d0676da2ca74fb2" Type="http://schemas.openxmlformats.org/officeDocument/2006/relationships/notesSlide" Target="../notesSlides/notesSlide33.xml"/><Relationship Id="Ref5b1c7cea774874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6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">
            <a:extLst xmlns:a="http://schemas.openxmlformats.org/drawingml/2006/main">
              <a:ext uri="{FF2B5EF4-FFF2-40B4-BE49-F238E27FC236}">
                <a16:creationId xmlns:a16="http://schemas.microsoft.com/office/drawing/2014/main" id="{DC70F4A5-D5FC-4A23-9FEF-D48AB5C5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715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LAB 04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2B5F012-1522-4FF3-B8EF-4FB2C33C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66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 untuk operasi layanan harian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4E286DB7-FA61-4C61-A974-33E2BCBF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Kasus: halaman status internal berhenti, lalu dipulihkan dan diperbarui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3B4458D2-4C91-41AA-953C-545C4EE4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Virtualisasi dan container  ·  Praktikum lokal  ·  Challenge A–E dengan kunci</a:t>
            </a:r>
          </a:p>
        </p:txBody>
      </p:sp>
    </p:spTree>
    <p:extLst>
      <p:ext uri="{BB962C8B-B14F-4D97-AF65-F5344CB8AC3E}">
        <p14:creationId xmlns:p14="http://schemas.microsoft.com/office/powerpoint/2010/main" val="671821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6094666F-EA27-4512-997E-2C66A3E3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0934E1-03D0-42BC-A09F-5500FD66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Kasus kerja: halaman status internal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92657D9-FE19-435A-BC86-15E81205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Tim operasi harus membuktikan akar gangguan dan pemulihannya.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E8BBF50-3190-4DC7-926E-1BD97E3D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5" name="scenario">
            <a:extLst xmlns:a="http://schemas.openxmlformats.org/drawingml/2006/main">
              <a:ext uri="{FF2B5EF4-FFF2-40B4-BE49-F238E27FC236}">
                <a16:creationId xmlns:a16="http://schemas.microsoft.com/office/drawing/2014/main" id="{272920B2-2C1F-4356-B8A9-FA5F22C7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7442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Layanan cloudlab-site menyajikan status pemeliharaan. Operator melihat halaman tidak dapat diakses. Ia memeriksa container, memulihkan HTTP 200, memperbarui pesan insiden, lalu menjalankan canary pada port lain.</a:t>
            </a:r>
          </a:p>
        </p:txBody>
      </p:sp>
      <p:sp>
        <p:nvSpPr>
          <p:cNvPr id="6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D961CE51-1DC0-4632-94B4-655C6FDA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Hasil yang diperiksa</a:t>
            </a:r>
          </a:p>
        </p:txBody>
      </p:sp>
      <p:sp>
        <p:nvSpPr>
          <p:cNvPr id="7" name="outcome">
            <a:extLst xmlns:a="http://schemas.openxmlformats.org/drawingml/2006/main">
              <a:ext uri="{FF2B5EF4-FFF2-40B4-BE49-F238E27FC236}">
                <a16:creationId xmlns:a16="http://schemas.microsoft.com/office/drawing/2014/main" id="{E49C3423-EAAE-4F34-9C6F-7C94D01B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7061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Image dan container  ·  port host dan container  ·  log  ·  stop/start  ·  bind mount hanya-baca  ·  benturan port</a:t>
            </a:r>
          </a:p>
        </p:txBody>
      </p:sp>
    </p:spTree>
    <p:extLst>
      <p:ext uri="{BB962C8B-B14F-4D97-AF65-F5344CB8AC3E}">
        <p14:creationId xmlns:p14="http://schemas.microsoft.com/office/powerpoint/2010/main" val="453403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B59E8B64-6F91-4588-8386-2B2E637F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BE686F-B907-4E08-8416-872C2D12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VM, image, dan container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D12A20E-BD75-4D2F-AD9F-5CC5AE4C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Kerangka konsep sebelum menyentuh terminal.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27FFE50-FFFC-4EC2-ABBC-1A8AA012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5" name="vm-label">
            <a:extLst xmlns:a="http://schemas.openxmlformats.org/drawingml/2006/main">
              <a:ext uri="{FF2B5EF4-FFF2-40B4-BE49-F238E27FC236}">
                <a16:creationId xmlns:a16="http://schemas.microsoft.com/office/drawing/2014/main" id="{C7C6520B-A28B-43B7-9296-E253CC6F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VM</a:t>
            </a:r>
          </a:p>
        </p:txBody>
      </p:sp>
      <p:sp>
        <p:nvSpPr>
          <p:cNvPr id="6" name="vm-body">
            <a:extLst xmlns:a="http://schemas.openxmlformats.org/drawingml/2006/main">
              <a:ext uri="{FF2B5EF4-FFF2-40B4-BE49-F238E27FC236}">
                <a16:creationId xmlns:a16="http://schemas.microsoft.com/office/drawing/2014/main" id="{FF4730B6-2871-4FCC-9E06-E88FDF29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4819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Guest OS memiliki kernel sendiri di atas hypervisor. Cocok saat perlu sistem operasi terpisah.</a:t>
            </a:r>
          </a:p>
        </p:txBody>
      </p:sp>
      <p:sp>
        <p:nvSpPr>
          <p:cNvPr id="7" name="container-label">
            <a:extLst xmlns:a="http://schemas.openxmlformats.org/drawingml/2006/main">
              <a:ext uri="{FF2B5EF4-FFF2-40B4-BE49-F238E27FC236}">
                <a16:creationId xmlns:a16="http://schemas.microsoft.com/office/drawing/2014/main" id="{60DC82A3-1D64-45FB-9CBB-AEFDCCB7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52650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Container</a:t>
            </a:r>
          </a:p>
        </p:txBody>
      </p:sp>
      <p:sp>
        <p:nvSpPr>
          <p:cNvPr id="8" name="container-body">
            <a:extLst xmlns:a="http://schemas.openxmlformats.org/drawingml/2006/main">
              <a:ext uri="{FF2B5EF4-FFF2-40B4-BE49-F238E27FC236}">
                <a16:creationId xmlns:a16="http://schemas.microsoft.com/office/drawing/2014/main" id="{59E831EB-B0B9-4285-AA58-12A90EAE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81275"/>
            <a:ext cx="48863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Proses terisolasi memakai kernel host. Namespace mengatur pandangan; cgroup mengatur jatah sumber daya.</a:t>
            </a:r>
          </a:p>
        </p:txBody>
      </p:sp>
      <p:sp>
        <p:nvSpPr>
          <p:cNvPr id="9" name="image-label">
            <a:extLst xmlns:a="http://schemas.openxmlformats.org/drawingml/2006/main">
              <a:ext uri="{FF2B5EF4-FFF2-40B4-BE49-F238E27FC236}">
                <a16:creationId xmlns:a16="http://schemas.microsoft.com/office/drawing/2014/main" id="{0F29BE61-2E50-447B-9AF5-14487D97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Image → container</a:t>
            </a:r>
          </a:p>
        </p:txBody>
      </p:sp>
      <p:sp>
        <p:nvSpPr>
          <p:cNvPr id="10" name="image-body">
            <a:extLst xmlns:a="http://schemas.openxmlformats.org/drawingml/2006/main">
              <a:ext uri="{FF2B5EF4-FFF2-40B4-BE49-F238E27FC236}">
                <a16:creationId xmlns:a16="http://schemas.microsoft.com/office/drawing/2014/main" id="{FB4FB7ED-F713-4800-80A5-7B746CCB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591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Image adalah template. docker run membuat instance baru; docker start menyalakan instance yang sama.</a:t>
            </a:r>
          </a:p>
        </p:txBody>
      </p:sp>
    </p:spTree>
    <p:extLst>
      <p:ext uri="{BB962C8B-B14F-4D97-AF65-F5344CB8AC3E}">
        <p14:creationId xmlns:p14="http://schemas.microsoft.com/office/powerpoint/2010/main" val="307305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2F0E9BE3-0FDC-4DCC-B1AD-DEC4922B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3DC834-4B05-415F-9282-94C31717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Alur Docker saat run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823E3F3-6EB5-44AB-8D55-02DC9583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CLI mengirim perintah; daemon menyiapkan image lalu menjalankan container.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F01890B-2C87-403E-85C7-49DA081B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5" name="flow1">
            <a:extLst xmlns:a="http://schemas.openxmlformats.org/drawingml/2006/main">
              <a:ext uri="{FF2B5EF4-FFF2-40B4-BE49-F238E27FC236}">
                <a16:creationId xmlns:a16="http://schemas.microsoft.com/office/drawing/2014/main" id="{2C8901CC-3D56-4067-A5F5-265FEEB2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19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1  Docker CLI</a:t>
            </a:r>
          </a:p>
        </p:txBody>
      </p:sp>
      <p:sp>
        <p:nvSpPr>
          <p:cNvPr id="6" name="flow1b">
            <a:extLst xmlns:a="http://schemas.openxmlformats.org/drawingml/2006/main">
              <a:ext uri="{FF2B5EF4-FFF2-40B4-BE49-F238E27FC236}">
                <a16:creationId xmlns:a16="http://schemas.microsoft.com/office/drawing/2014/main" id="{72AFE20F-FFA8-4E07-8266-F5A779FB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57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Perintah docker pull, run, ps, logs, exec berasal dari terminal operator.</a:t>
            </a:r>
          </a:p>
        </p:txBody>
      </p:sp>
      <p:sp>
        <p:nvSpPr>
          <p:cNvPr id="7" name="flow2">
            <a:extLst xmlns:a="http://schemas.openxmlformats.org/drawingml/2006/main">
              <a:ext uri="{FF2B5EF4-FFF2-40B4-BE49-F238E27FC236}">
                <a16:creationId xmlns:a16="http://schemas.microsoft.com/office/drawing/2014/main" id="{26D9628F-28BC-4B30-A73C-BB09C26F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19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2  Docker daemon dan registry</a:t>
            </a:r>
          </a:p>
        </p:txBody>
      </p:sp>
      <p:sp>
        <p:nvSpPr>
          <p:cNvPr id="8" name="flow2b">
            <a:extLst xmlns:a="http://schemas.openxmlformats.org/drawingml/2006/main">
              <a:ext uri="{FF2B5EF4-FFF2-40B4-BE49-F238E27FC236}">
                <a16:creationId xmlns:a16="http://schemas.microsoft.com/office/drawing/2014/main" id="{C70FA976-25F3-4939-B9C3-7D9BEDFD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Daemon menarik image dari registry jika belum tersimpan di komputer.</a:t>
            </a:r>
          </a:p>
        </p:txBody>
      </p:sp>
      <p:sp>
        <p:nvSpPr>
          <p:cNvPr id="9" name="flow3">
            <a:extLst xmlns:a="http://schemas.openxmlformats.org/drawingml/2006/main">
              <a:ext uri="{FF2B5EF4-FFF2-40B4-BE49-F238E27FC236}">
                <a16:creationId xmlns:a16="http://schemas.microsoft.com/office/drawing/2014/main" id="{14867205-7BEF-4510-ABD1-A2EEE5B2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19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3  Image menjadi container</a:t>
            </a:r>
          </a:p>
        </p:txBody>
      </p:sp>
      <p:sp>
        <p:nvSpPr>
          <p:cNvPr id="10" name="flow3b">
            <a:extLst xmlns:a="http://schemas.openxmlformats.org/drawingml/2006/main">
              <a:ext uri="{FF2B5EF4-FFF2-40B4-BE49-F238E27FC236}">
                <a16:creationId xmlns:a16="http://schemas.microsoft.com/office/drawing/2014/main" id="{87A5D73F-4FCE-4E38-A4CB-30C41347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run membuat instance; start menghidupkan instance lama; rm menghapus instance.</a:t>
            </a:r>
          </a:p>
        </p:txBody>
      </p:sp>
    </p:spTree>
    <p:extLst>
      <p:ext uri="{BB962C8B-B14F-4D97-AF65-F5344CB8AC3E}">
        <p14:creationId xmlns:p14="http://schemas.microsoft.com/office/powerpoint/2010/main" val="1515181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65F10720-458A-4531-A0E6-A901A5F7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6DCECC-E6FE-4157-8D7E-78C00C24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Preflight Docker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C01E144-5613-4098-952B-84237D1F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Jalankan dari root repo Lab 04 di PowerShell.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AA1A9E4-D4CF-42D6-9F54-190D85A7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5" name="preflight-background">
            <a:extLst xmlns:a="http://schemas.openxmlformats.org/drawingml/2006/main">
              <a:ext uri="{FF2B5EF4-FFF2-40B4-BE49-F238E27FC236}">
                <a16:creationId xmlns:a16="http://schemas.microsoft.com/office/drawing/2014/main" id="{FA4CEA1C-D779-4346-9C15-FCDD88B0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6" name="preflight">
            <a:extLst xmlns:a="http://schemas.openxmlformats.org/drawingml/2006/main">
              <a:ext uri="{FF2B5EF4-FFF2-40B4-BE49-F238E27FC236}">
                <a16:creationId xmlns:a16="http://schemas.microsoft.com/office/drawing/2014/main" id="{653B348C-8F68-4D4D-9370-F33A9528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03632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version</a:t>
            </a:r>
          </a:p>
          <a:p xmlns:a="http://schemas.openxmlformats.org/drawingml/2006/main">
            <a:pPr>
              <a:defRPr sz="20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info --format '{{.ServerVersion}}'</a:t>
            </a:r>
          </a:p>
          <a:p xmlns:a="http://schemas.openxmlformats.org/drawingml/2006/main">
            <a:pPr>
              <a:defRPr sz="20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ps</a:t>
            </a:r>
          </a:p>
          <a:p xmlns:a="http://schemas.openxmlformats.org/drawingml/2006/main">
            <a:pPr>
              <a:defRPr sz="20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Test-Path site/index.html</a:t>
            </a:r>
          </a:p>
        </p:txBody>
      </p:sp>
      <p:sp>
        <p:nvSpPr>
          <p:cNvPr id="7" name="explanation-label">
            <a:extLst xmlns:a="http://schemas.openxmlformats.org/drawingml/2006/main">
              <a:ext uri="{FF2B5EF4-FFF2-40B4-BE49-F238E27FC236}">
                <a16:creationId xmlns:a16="http://schemas.microsoft.com/office/drawing/2014/main" id="{28B838EC-5E9D-4413-B2ED-10E87A15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Baca hasil</a:t>
            </a:r>
          </a:p>
        </p:txBody>
      </p:sp>
      <p:sp>
        <p:nvSpPr>
          <p:cNvPr id="8" name="explanation-text">
            <a:extLst xmlns:a="http://schemas.openxmlformats.org/drawingml/2006/main">
              <a:ext uri="{FF2B5EF4-FFF2-40B4-BE49-F238E27FC236}">
                <a16:creationId xmlns:a16="http://schemas.microsoft.com/office/drawing/2014/main" id="{8D04073A-D72E-4F1B-BE9E-E1875955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Client dan Server pada docker version harus ada. Test-Path bernilai True; port 8088 belum dipakai container latihan.</a:t>
            </a:r>
          </a:p>
        </p:txBody>
      </p:sp>
    </p:spTree>
    <p:extLst>
      <p:ext uri="{BB962C8B-B14F-4D97-AF65-F5344CB8AC3E}">
        <p14:creationId xmlns:p14="http://schemas.microsoft.com/office/powerpoint/2010/main" val="492688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0FD240F4-141A-4F5E-BA73-D063F040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23E6A64-82FD-4775-8068-04B8DAB1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preflight — Engine aktif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12C40AE-B94E-4894-95C3-EA81C670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Tampilan Docker Desktop dan hasil docker version harus saling sesuai.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4328DDD-6533-4902-B7B0-4DDD5D11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6a815c8e8428e"/>
          <a:stretch xmlns:a="http://schemas.openxmlformats.org/drawingml/2006/main"/>
        </p:blipFill>
        <p:spPr>
          <a:xfrm xmlns:a="http://schemas.openxmlformats.org/drawingml/2006/main">
            <a:off x="2657072" y="1857375"/>
            <a:ext cx="6877857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evidence-engine-caption">
            <a:extLst xmlns:a="http://schemas.openxmlformats.org/drawingml/2006/main">
              <a:ext uri="{FF2B5EF4-FFF2-40B4-BE49-F238E27FC236}">
                <a16:creationId xmlns:a16="http://schemas.microsoft.com/office/drawing/2014/main" id="{EF65C016-ECA1-4412-9B7B-E572F989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Tampilan Docker Desktop: indikator Engine running. Cek versi client/server melalui docker version di terminal.</a:t>
            </a:r>
          </a:p>
        </p:txBody>
      </p:sp>
    </p:spTree>
    <p:extLst>
      <p:ext uri="{BB962C8B-B14F-4D97-AF65-F5344CB8AC3E}">
        <p14:creationId xmlns:p14="http://schemas.microsoft.com/office/powerpoint/2010/main" val="342154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A5A28A04-9B0D-4014-934F-9A066270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88C658-73BC-4236-B2A7-0CFE77CA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Challenge A — image dan tugas sekali pakai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1C0516B-9AB9-40A5-8023-6C21C55F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Kunci: unduh tiga image, baca metadata, lalu kirim environment ke proses Python.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5867ECD-0CF9-43CB-8686-A2A30B0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5" name="solution-a-background">
            <a:extLst xmlns:a="http://schemas.openxmlformats.org/drawingml/2006/main">
              <a:ext uri="{FF2B5EF4-FFF2-40B4-BE49-F238E27FC236}">
                <a16:creationId xmlns:a16="http://schemas.microsoft.com/office/drawing/2014/main" id="{844C2D97-0DC1-486B-A0A7-BB4DD8CC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6" name="solution-a">
            <a:extLst xmlns:a="http://schemas.openxmlformats.org/drawingml/2006/main">
              <a:ext uri="{FF2B5EF4-FFF2-40B4-BE49-F238E27FC236}">
                <a16:creationId xmlns:a16="http://schemas.microsoft.com/office/drawing/2014/main" id="{D5064364-B1C9-4A20-8A35-ABAA3060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3632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pull nginx:alpine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pull python:3.12-alpine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pull node:22-alpine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image ls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image inspect nginx:alpine --format '{{.Os}}/{{.Architecture}} {{.Id}}'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run --rm python:3.12-alpine python --version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run --rm node:22-alpine node --version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run --rm -e CLASS_SECTION=cloud python:3.12-alpine sh -c 'echo "$CLASS_SECTION"'</a:t>
            </a:r>
          </a:p>
        </p:txBody>
      </p:sp>
      <p:sp>
        <p:nvSpPr>
          <p:cNvPr id="7" name="explanation-label">
            <a:extLst xmlns:a="http://schemas.openxmlformats.org/drawingml/2006/main">
              <a:ext uri="{FF2B5EF4-FFF2-40B4-BE49-F238E27FC236}">
                <a16:creationId xmlns:a16="http://schemas.microsoft.com/office/drawing/2014/main" id="{D06D081C-11AD-4320-945C-F2C4897C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Mengapa</a:t>
            </a:r>
          </a:p>
        </p:txBody>
      </p:sp>
      <p:sp>
        <p:nvSpPr>
          <p:cNvPr id="8" name="explanation-text">
            <a:extLst xmlns:a="http://schemas.openxmlformats.org/drawingml/2006/main">
              <a:ext uri="{FF2B5EF4-FFF2-40B4-BE49-F238E27FC236}">
                <a16:creationId xmlns:a16="http://schemas.microsoft.com/office/drawing/2014/main" id="{10ECF493-4B21-4071-83D5-FB54DA8C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391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pull menyiapkan template lokal; inspect membaca metadata; --rm menghapus container tugas sesudah keluar. Output environment: cloud.</a:t>
            </a:r>
          </a:p>
        </p:txBody>
      </p:sp>
    </p:spTree>
    <p:extLst>
      <p:ext uri="{BB962C8B-B14F-4D97-AF65-F5344CB8AC3E}">
        <p14:creationId xmlns:p14="http://schemas.microsoft.com/office/powerpoint/2010/main" val="265722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EC810297-26BF-49DB-A05F-F3480E5C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F28956-00FE-4A09-BF82-ADD5A529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A — tiga image tersedia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F98B8FC-4BE1-4954-8211-7B9A560D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Ketiga tag ada pada daftar image lokal.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F4F4DEE-CE4A-46E0-A51E-2D6016ED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ce1e8f52c4d7f"/>
          <a:stretch xmlns:a="http://schemas.openxmlformats.org/drawingml/2006/main"/>
        </p:blipFill>
        <p:spPr>
          <a:xfrm xmlns:a="http://schemas.openxmlformats.org/drawingml/2006/main">
            <a:off x="685800" y="1903095"/>
            <a:ext cx="10820400" cy="3651885"/>
          </a:xfrm>
          <a:prstGeom xmlns:a="http://schemas.openxmlformats.org/drawingml/2006/main" prst="rect">
            <a:avLst/>
          </a:prstGeom>
        </p:spPr>
      </p:pic>
      <p:sp>
        <p:nvSpPr>
          <p:cNvPr id="6" name="evidence-a-images-caption">
            <a:extLst xmlns:a="http://schemas.openxmlformats.org/drawingml/2006/main">
              <a:ext uri="{FF2B5EF4-FFF2-40B4-BE49-F238E27FC236}">
                <a16:creationId xmlns:a16="http://schemas.microsoft.com/office/drawing/2014/main" id="{90456114-49B8-45A9-A4DE-2C5521DB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Perintah: docker image ls nginx/python/node. Perhatikan tag dan ukuran pada mesin saat uji.</a:t>
            </a:r>
          </a:p>
        </p:txBody>
      </p:sp>
    </p:spTree>
    <p:extLst>
      <p:ext uri="{BB962C8B-B14F-4D97-AF65-F5344CB8AC3E}">
        <p14:creationId xmlns:p14="http://schemas.microsoft.com/office/powerpoint/2010/main" val="13169245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97660DB8-1A6E-4820-9EA6-C705848D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85E7C5-DA05-438A-8C82-FEEF189B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A — environment terbaca proses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6C4E337-3E29-47FA-AE26-6284AC4E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Container Python sekali pakai mencetak cloud, lalu dihapus oleh --rm.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10E0177-523C-4656-83DA-BCD1DE2F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d86c2c4a14d49"/>
          <a:stretch xmlns:a="http://schemas.openxmlformats.org/drawingml/2006/main"/>
        </p:blipFill>
        <p:spPr>
          <a:xfrm xmlns:a="http://schemas.openxmlformats.org/drawingml/2006/main">
            <a:off x="685800" y="1886771"/>
            <a:ext cx="10820400" cy="3684533"/>
          </a:xfrm>
          <a:prstGeom xmlns:a="http://schemas.openxmlformats.org/drawingml/2006/main" prst="rect">
            <a:avLst/>
          </a:prstGeom>
        </p:spPr>
      </p:pic>
      <p:sp>
        <p:nvSpPr>
          <p:cNvPr id="6" name="evidence-a-env-caption">
            <a:extLst xmlns:a="http://schemas.openxmlformats.org/drawingml/2006/main">
              <a:ext uri="{FF2B5EF4-FFF2-40B4-BE49-F238E27FC236}">
                <a16:creationId xmlns:a16="http://schemas.microsoft.com/office/drawing/2014/main" id="{088408CA-FE3D-427E-AFEF-77F022F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Perintah: docker run --rm -e CLASS_SECTION=cloud ... . Output akhir: cloud.</a:t>
            </a:r>
          </a:p>
        </p:txBody>
      </p:sp>
    </p:spTree>
    <p:extLst>
      <p:ext uri="{BB962C8B-B14F-4D97-AF65-F5344CB8AC3E}">
        <p14:creationId xmlns:p14="http://schemas.microsoft.com/office/powerpoint/2010/main" val="5481486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85BE6C5A-9F07-4EE5-BF1B-2A1CF8EB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EBA7F4-2F3C-4E27-A2E9-50864D37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Nginx pertama — run, HTTP, log, exec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646B1B5-0536-482E-AECE-A352D75C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Sebelum situs kasus, jalankan image bawaan pada port 8088.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FF07782-AA96-4771-81D7-BAC717C1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5" name="first-nginx-background">
            <a:extLst xmlns:a="http://schemas.openxmlformats.org/drawingml/2006/main">
              <a:ext uri="{FF2B5EF4-FFF2-40B4-BE49-F238E27FC236}">
                <a16:creationId xmlns:a16="http://schemas.microsoft.com/office/drawing/2014/main" id="{C980FAF9-870F-453C-834D-BAC6E90A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6" name="first-nginx">
            <a:extLst xmlns:a="http://schemas.openxmlformats.org/drawingml/2006/main">
              <a:ext uri="{FF2B5EF4-FFF2-40B4-BE49-F238E27FC236}">
                <a16:creationId xmlns:a16="http://schemas.microsoft.com/office/drawing/2014/main" id="{D003FE73-E9F7-403C-8C77-7A43C72B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7425"/>
            <a:ext cx="103632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run --name cloudlab-nginx -d -p 127.0.0.1:8088:80 nginx:alpine</a:t>
            </a:r>
          </a:p>
          <a:p xmlns:a="http://schemas.openxmlformats.org/drawingml/2006/main">
            <a:pPr>
              <a:defRPr sz="150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ps --filter name=cloudlab-nginx</a:t>
            </a:r>
          </a:p>
          <a:p xmlns:a="http://schemas.openxmlformats.org/drawingml/2006/main">
            <a:pPr>
              <a:defRPr sz="150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curl.exe -I http://127.0.0.1:8088/</a:t>
            </a:r>
          </a:p>
          <a:p xmlns:a="http://schemas.openxmlformats.org/drawingml/2006/main">
            <a:pPr>
              <a:defRPr sz="150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logs --tail 10 cloudlab-nginx</a:t>
            </a:r>
          </a:p>
          <a:p xmlns:a="http://schemas.openxmlformats.org/drawingml/2006/main">
            <a:pPr>
              <a:defRPr sz="150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exec cloudlab-nginx sh -c 'hostname; ls /usr/share/nginx/html'</a:t>
            </a:r>
          </a:p>
        </p:txBody>
      </p:sp>
      <p:sp>
        <p:nvSpPr>
          <p:cNvPr id="7" name="explanation-label">
            <a:extLst xmlns:a="http://schemas.openxmlformats.org/drawingml/2006/main">
              <a:ext uri="{FF2B5EF4-FFF2-40B4-BE49-F238E27FC236}">
                <a16:creationId xmlns:a16="http://schemas.microsoft.com/office/drawing/2014/main" id="{7FE37097-12BC-4825-B31D-FA843941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Baca hasil</a:t>
            </a:r>
          </a:p>
        </p:txBody>
      </p:sp>
      <p:sp>
        <p:nvSpPr>
          <p:cNvPr id="8" name="explanation-text">
            <a:extLst xmlns:a="http://schemas.openxmlformats.org/drawingml/2006/main">
              <a:ext uri="{FF2B5EF4-FFF2-40B4-BE49-F238E27FC236}">
                <a16:creationId xmlns:a16="http://schemas.microsoft.com/office/drawing/2014/main" id="{FCF93A34-A88F-4C58-B0E2-E5D85856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Up dan HTTP 200 membuktikan layanan. logs memberi jejak request; exec membaca isi container tanpa mengubah image.</a:t>
            </a:r>
          </a:p>
        </p:txBody>
      </p:sp>
    </p:spTree>
    <p:extLst>
      <p:ext uri="{BB962C8B-B14F-4D97-AF65-F5344CB8AC3E}">
        <p14:creationId xmlns:p14="http://schemas.microsoft.com/office/powerpoint/2010/main" val="1735006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F5BAB2BA-2AFE-4DAB-8D9F-8BA7CE58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7ABB01-CA62-429B-968F-1073FB99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Nginx pertama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09C5821-4C7D-4D7A-8AB4-654C17F3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Docker Desktop menunjukkan cloudlab-nginx aktif di port 8088.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4D6C930-394B-43B7-8ABF-F2A0A85E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d06cf188b4a72"/>
          <a:srcRect xmlns:a="http://schemas.openxmlformats.org/drawingml/2006/main" l="0" t="18218" r="0" b="182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10820400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evidence-nginx-caption">
            <a:extLst xmlns:a="http://schemas.openxmlformats.org/drawingml/2006/main">
              <a:ext uri="{FF2B5EF4-FFF2-40B4-BE49-F238E27FC236}">
                <a16:creationId xmlns:a16="http://schemas.microsoft.com/office/drawing/2014/main" id="{798AF8AE-EA56-43E3-AD3B-A3E69B9F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Tampilan Containers: cloudlab-nginx Up dan 8088:80. Konfirmasi HTTP dengan curl.exe -I.</a:t>
            </a:r>
          </a:p>
        </p:txBody>
      </p:sp>
    </p:spTree>
    <p:extLst>
      <p:ext uri="{BB962C8B-B14F-4D97-AF65-F5344CB8AC3E}">
        <p14:creationId xmlns:p14="http://schemas.microsoft.com/office/powerpoint/2010/main" val="9161764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35D182A3-EFC8-4C4B-B29D-038069FC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073811-E199-42C5-9F6E-A94FA9E4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Siklus container yang sama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4046377-B6B6-4F84-88BE-E2218110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stop mempertahankan container; rm menghapusnya dan membebaskan port 8088.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6021AD0-77D0-4520-8156-8B174F71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5" name="first-lifecycle-background">
            <a:extLst xmlns:a="http://schemas.openxmlformats.org/drawingml/2006/main">
              <a:ext uri="{FF2B5EF4-FFF2-40B4-BE49-F238E27FC236}">
                <a16:creationId xmlns:a16="http://schemas.microsoft.com/office/drawing/2014/main" id="{73D5310C-E832-481D-A6B3-CD3BA167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6" name="first-lifecycle">
            <a:extLst xmlns:a="http://schemas.openxmlformats.org/drawingml/2006/main">
              <a:ext uri="{FF2B5EF4-FFF2-40B4-BE49-F238E27FC236}">
                <a16:creationId xmlns:a16="http://schemas.microsoft.com/office/drawing/2014/main" id="{8BE1CC39-3421-4D2F-ACC1-EA72DB7A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03632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stop cloudlab-nginx</a:t>
            </a:r>
          </a:p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ps --filter name=cloudlab-nginx</a:t>
            </a:r>
          </a:p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ps -a --filter name=cloudlab-nginx</a:t>
            </a:r>
          </a:p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start cloudlab-nginx</a:t>
            </a:r>
          </a:p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ps --filter name=cloudlab-nginx</a:t>
            </a:r>
          </a:p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stop cloudlab-nginx</a:t>
            </a:r>
          </a:p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rm cloudlab-nginx</a:t>
            </a:r>
          </a:p>
        </p:txBody>
      </p:sp>
      <p:sp>
        <p:nvSpPr>
          <p:cNvPr id="7" name="explanation-label">
            <a:extLst xmlns:a="http://schemas.openxmlformats.org/drawingml/2006/main">
              <a:ext uri="{FF2B5EF4-FFF2-40B4-BE49-F238E27FC236}">
                <a16:creationId xmlns:a16="http://schemas.microsoft.com/office/drawing/2014/main" id="{F1598BCA-2088-4EF1-9F2B-73EEC3CA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Baca hasil</a:t>
            </a:r>
          </a:p>
        </p:txBody>
      </p:sp>
      <p:sp>
        <p:nvSpPr>
          <p:cNvPr id="8" name="explanation-text">
            <a:extLst xmlns:a="http://schemas.openxmlformats.org/drawingml/2006/main">
              <a:ext uri="{FF2B5EF4-FFF2-40B4-BE49-F238E27FC236}">
                <a16:creationId xmlns:a16="http://schemas.microsoft.com/office/drawing/2014/main" id="{F1C7B5BE-938F-4B08-9199-6B052596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3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ps hanya menampilkan yang hidup; ps -a juga menampilkan Exited. start mempertahankan identitas. Setelah rm, image tetap tersimpan.</a:t>
            </a:r>
          </a:p>
        </p:txBody>
      </p:sp>
    </p:spTree>
    <p:extLst>
      <p:ext uri="{BB962C8B-B14F-4D97-AF65-F5344CB8AC3E}">
        <p14:creationId xmlns:p14="http://schemas.microsoft.com/office/powerpoint/2010/main" val="3663486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D90FC9D-E142-403E-A45A-A6BAE641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E65DF6F-DAF0-4ADB-9DA8-7F4C5403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lifecycle — Exited lalu Up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09AEAB2-4843-49DA-9CAD-FF8EAD05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ID/nama container tetap selama stop dan start.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8EA49EC-BC29-474A-A501-C0C26B0D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f01b5d17a4a98"/>
          <a:stretch xmlns:a="http://schemas.openxmlformats.org/drawingml/2006/main"/>
        </p:blipFill>
        <p:spPr>
          <a:xfrm xmlns:a="http://schemas.openxmlformats.org/drawingml/2006/main">
            <a:off x="1018847" y="1857375"/>
            <a:ext cx="10154307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evidence-lifecycle-caption">
            <a:extLst xmlns:a="http://schemas.openxmlformats.org/drawingml/2006/main">
              <a:ext uri="{FF2B5EF4-FFF2-40B4-BE49-F238E27FC236}">
                <a16:creationId xmlns:a16="http://schemas.microsoft.com/office/drawing/2014/main" id="{41A074AD-D333-47E6-97EC-0979380E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Perintah: docker stop, docker ps -a, docker start, docker ps. Status berubah; image sama.</a:t>
            </a:r>
          </a:p>
        </p:txBody>
      </p:sp>
    </p:spTree>
    <p:extLst>
      <p:ext uri="{BB962C8B-B14F-4D97-AF65-F5344CB8AC3E}">
        <p14:creationId xmlns:p14="http://schemas.microsoft.com/office/powerpoint/2010/main" val="9889224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5F3CD918-09CF-4D39-BC66-80EFEDB3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1CF996-22A5-4EDE-B39C-70075DF4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Challenge B — situs di localhost:8088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DAF3FA4-9EAC-4544-A6AF-BDF28C5F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Kunci PowerShell: mount direktori site sebagai berkas hanya-baca di Nginx.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0C78D83-C602-4D88-B573-705FBF25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5" name="solution-b-background">
            <a:extLst xmlns:a="http://schemas.openxmlformats.org/drawingml/2006/main">
              <a:ext uri="{FF2B5EF4-FFF2-40B4-BE49-F238E27FC236}">
                <a16:creationId xmlns:a16="http://schemas.microsoft.com/office/drawing/2014/main" id="{E911158A-6A53-46EF-891B-154A671A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6" name="solution-b">
            <a:extLst xmlns:a="http://schemas.openxmlformats.org/drawingml/2006/main">
              <a:ext uri="{FF2B5EF4-FFF2-40B4-BE49-F238E27FC236}">
                <a16:creationId xmlns:a16="http://schemas.microsoft.com/office/drawing/2014/main" id="{71566FE2-80AB-49B2-AB96-C92E47B1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$siteDir = Join-Path (Get-Location).Path 'site'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$mount = "type=bind,source=$siteDir,target=/usr/share/nginx/html,readonly"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run --name cloudlab-site -d -p 127.0.0.1:8088:80 --mount $mount nginx:alpine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ps --filter name=cloudlab-site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port cloudlab-site 80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inspect cloudlab-site --format '{{range .Mounts}}RW={{.RW}}{{end}}'</a:t>
            </a:r>
          </a:p>
          <a:p xmlns:a="http://schemas.openxmlformats.org/drawingml/2006/main">
            <a:pPr>
              <a:defRPr sz="1350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curl.exe -I http://127.0.0.1:8088/</a:t>
            </a:r>
          </a:p>
        </p:txBody>
      </p:sp>
      <p:sp>
        <p:nvSpPr>
          <p:cNvPr id="7" name="explanation-label">
            <a:extLst xmlns:a="http://schemas.openxmlformats.org/drawingml/2006/main">
              <a:ext uri="{FF2B5EF4-FFF2-40B4-BE49-F238E27FC236}">
                <a16:creationId xmlns:a16="http://schemas.microsoft.com/office/drawing/2014/main" id="{31EBD2BA-AFBC-4FDF-9261-0EC82AFB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Mengapa</a:t>
            </a:r>
          </a:p>
        </p:txBody>
      </p:sp>
      <p:sp>
        <p:nvSpPr>
          <p:cNvPr id="8" name="explanation-text">
            <a:extLst xmlns:a="http://schemas.openxmlformats.org/drawingml/2006/main">
              <a:ext uri="{FF2B5EF4-FFF2-40B4-BE49-F238E27FC236}">
                <a16:creationId xmlns:a16="http://schemas.microsoft.com/office/drawing/2014/main" id="{88FC9289-42E6-4414-90F2-653D4F9D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8088 adalah port host, 80 port Nginx. 127.0.0.1 membatasi akses ke laptop. Bind mount membuat Nginx membaca file site langsung dari host.</a:t>
            </a:r>
          </a:p>
        </p:txBody>
      </p:sp>
    </p:spTree>
    <p:extLst>
      <p:ext uri="{BB962C8B-B14F-4D97-AF65-F5344CB8AC3E}">
        <p14:creationId xmlns:p14="http://schemas.microsoft.com/office/powerpoint/2010/main" val="17614025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FB2E2928-45CF-4E07-9AE4-2560CB5C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783BB8-0A22-40A5-ADD4-03DA755C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B — halaman web tampil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DE71CCC-9D14-4AF5-9F47-56C7E80A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Akses http://127.0.0.1:8088 setelah container berjalan.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4C09CE9-CCE0-461C-A68E-13D1DF7B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e2bcbf4f3422b"/>
          <a:srcRect xmlns:a="http://schemas.openxmlformats.org/drawingml/2006/main" l="0" t="19234" r="0" b="192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10820400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evidence-b-web-caption">
            <a:extLst xmlns:a="http://schemas.openxmlformats.org/drawingml/2006/main">
              <a:ext uri="{FF2B5EF4-FFF2-40B4-BE49-F238E27FC236}">
                <a16:creationId xmlns:a16="http://schemas.microsoft.com/office/drawing/2014/main" id="{96DEBC81-BE07-42FE-AF73-A192B2E2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Perintah: docker run cloudlab-site dengan --mount readonly. Browser menampilkan STATUS_OK: Layanan normal.</a:t>
            </a:r>
          </a:p>
        </p:txBody>
      </p:sp>
    </p:spTree>
    <p:extLst>
      <p:ext uri="{BB962C8B-B14F-4D97-AF65-F5344CB8AC3E}">
        <p14:creationId xmlns:p14="http://schemas.microsoft.com/office/powerpoint/2010/main" val="5939611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4DD6B59-73D3-4993-87BD-EF97391A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05FB86-F106-4C16-96ED-2330ACE3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B — Docker memperlihatkan port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4F77A23-B3C1-48DA-AFF4-385B9D6C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GUI menunjukkan cloudlab-site Up dan 8088:80; terminal memeriksa RW=false.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1A4C4DC-9F95-494E-9A00-97D2C066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c3c82cd24462b"/>
          <a:srcRect xmlns:a="http://schemas.openxmlformats.org/drawingml/2006/main" l="0" t="18218" r="0" b="182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10820400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evidence-b-ps-caption">
            <a:extLst xmlns:a="http://schemas.openxmlformats.org/drawingml/2006/main">
              <a:ext uri="{FF2B5EF4-FFF2-40B4-BE49-F238E27FC236}">
                <a16:creationId xmlns:a16="http://schemas.microsoft.com/office/drawing/2014/main" id="{55E48A2A-6808-4430-B6DB-8D77965F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Tampilan Containers: cloudlab-site Up dan 8088:80. Jalankan docker inspect untuk memastikan RW=false.</a:t>
            </a:r>
          </a:p>
        </p:txBody>
      </p:sp>
    </p:spTree>
    <p:extLst>
      <p:ext uri="{BB962C8B-B14F-4D97-AF65-F5344CB8AC3E}">
        <p14:creationId xmlns:p14="http://schemas.microsoft.com/office/powerpoint/2010/main" val="5451684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855F6576-CC5C-4794-B96D-9E510D10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ACF3E8-F774-4ABB-8380-37860CE4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Challenge C — diagnosis dan pemulihan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B806AAF-E528-47DC-8F9E-69A27263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Kunci: buat gangguan terkendali, lihat state/log, kemudian start dan cek HTTP.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E9AC4FA-A228-417C-A1E4-FA04A74B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5" name="solution-c-background">
            <a:extLst xmlns:a="http://schemas.openxmlformats.org/drawingml/2006/main">
              <a:ext uri="{FF2B5EF4-FFF2-40B4-BE49-F238E27FC236}">
                <a16:creationId xmlns:a16="http://schemas.microsoft.com/office/drawing/2014/main" id="{80385B5D-2EEA-4B67-A8A7-491F2B2F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6" name="solution-c">
            <a:extLst xmlns:a="http://schemas.openxmlformats.org/drawingml/2006/main">
              <a:ext uri="{FF2B5EF4-FFF2-40B4-BE49-F238E27FC236}">
                <a16:creationId xmlns:a16="http://schemas.microsoft.com/office/drawing/2014/main" id="{96D8F3CC-1D52-4939-A698-1058BCD4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stop cloudlab-site</a:t>
            </a:r>
          </a:p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curl.exe -I http://127.0.0.1:8088/</a:t>
            </a:r>
          </a:p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ps --filter name=cloudlab-site</a:t>
            </a:r>
          </a:p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ps -a --filter name=cloudlab-site</a:t>
            </a:r>
          </a:p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logs --tail 10 cloudlab-site</a:t>
            </a:r>
          </a:p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start cloudlab-site</a:t>
            </a:r>
          </a:p>
          <a:p xmlns:a="http://schemas.openxmlformats.org/drawingml/2006/main">
            <a:pPr>
              <a:defRPr sz="15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curl.exe -I http://127.0.0.1:8088/</a:t>
            </a:r>
          </a:p>
        </p:txBody>
      </p:sp>
      <p:sp>
        <p:nvSpPr>
          <p:cNvPr id="7" name="explanation-label">
            <a:extLst xmlns:a="http://schemas.openxmlformats.org/drawingml/2006/main">
              <a:ext uri="{FF2B5EF4-FFF2-40B4-BE49-F238E27FC236}">
                <a16:creationId xmlns:a16="http://schemas.microsoft.com/office/drawing/2014/main" id="{DD203740-B51D-4E37-8377-94193523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Mengapa</a:t>
            </a:r>
          </a:p>
        </p:txBody>
      </p:sp>
      <p:sp>
        <p:nvSpPr>
          <p:cNvPr id="8" name="explanation-text">
            <a:extLst xmlns:a="http://schemas.openxmlformats.org/drawingml/2006/main">
              <a:ext uri="{FF2B5EF4-FFF2-40B4-BE49-F238E27FC236}">
                <a16:creationId xmlns:a16="http://schemas.microsoft.com/office/drawing/2014/main" id="{8AA31F78-5C41-48CB-B242-1709FD48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15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curl pertama gagal sesuai skenario. ps -a menunjukkan Exited. start menyalakan objek yang sama; curl terakhir memberi HTTP 200.</a:t>
            </a:r>
          </a:p>
        </p:txBody>
      </p:sp>
    </p:spTree>
    <p:extLst>
      <p:ext uri="{BB962C8B-B14F-4D97-AF65-F5344CB8AC3E}">
        <p14:creationId xmlns:p14="http://schemas.microsoft.com/office/powerpoint/2010/main" val="1645770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8C803C5E-3F41-47F7-9326-4177C298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53C313-4BB9-4614-82D5-B129A799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Saat situs berhenti, browser gagal memuatnya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29570BF-55A9-4535-8170-12E530E3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Ini gejala yang sengaja dibuat dengan docker stop cloudlab-site.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ED3251E-C246-4131-A135-75B452B7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5fdda022b4ad3"/>
          <a:srcRect xmlns:a="http://schemas.openxmlformats.org/drawingml/2006/main" l="0" t="19234" r="0" b="192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10820400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evidence-c-browser-caption">
            <a:extLst xmlns:a="http://schemas.openxmlformats.org/drawingml/2006/main">
              <a:ext uri="{FF2B5EF4-FFF2-40B4-BE49-F238E27FC236}">
                <a16:creationId xmlns:a16="http://schemas.microsoft.com/office/drawing/2014/main" id="{40CF34BB-AF5B-49AF-9394-EF0F7893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Tampilan web: ERR_CONNECTION_REFUSED di 127.0.0.1:8088. Lanjutkan diagnosis dengan docker ps -a.</a:t>
            </a:r>
          </a:p>
        </p:txBody>
      </p:sp>
    </p:spTree>
    <p:extLst>
      <p:ext uri="{BB962C8B-B14F-4D97-AF65-F5344CB8AC3E}">
        <p14:creationId xmlns:p14="http://schemas.microsoft.com/office/powerpoint/2010/main" val="3006401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C8F77964-EBD2-4E6A-B365-DACAFCBA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D551D0-BE8C-4556-B389-E8D1D7CE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Saat situs berhenti, Docker menampilkan stopped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0684A3B-FBE5-48FA-827D-3698381C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Nama dan ID cloudlab-site tetap ada walau proses tidak berjalan.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56002EA-008E-4A56-8B58-7A617024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8144cbf9c44b1"/>
          <a:srcRect xmlns:a="http://schemas.openxmlformats.org/drawingml/2006/main" l="0" t="18218" r="0" b="182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10820400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evidence-c-docker-caption">
            <a:extLst xmlns:a="http://schemas.openxmlformats.org/drawingml/2006/main">
              <a:ext uri="{FF2B5EF4-FFF2-40B4-BE49-F238E27FC236}">
                <a16:creationId xmlns:a16="http://schemas.microsoft.com/office/drawing/2014/main" id="{14DFD6BA-D6B8-4C6A-976E-C52BE90D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Tampilan Containers: cloudlab-site berhenti. Jalankan docker ps -a dan docker logs sebelum start.</a:t>
            </a:r>
          </a:p>
        </p:txBody>
      </p:sp>
    </p:spTree>
    <p:extLst>
      <p:ext uri="{BB962C8B-B14F-4D97-AF65-F5344CB8AC3E}">
        <p14:creationId xmlns:p14="http://schemas.microsoft.com/office/powerpoint/2010/main" val="9101655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D2AD6355-30BF-4FCB-B5FA-C2DD0D36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C0815D-6238-4C63-A10D-0C598856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C — status berubah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EB7B2DD-4CFA-410A-9417-9AFD473C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Sesudah stop: Exited. Sesudah start: Up dengan port yang sama.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F6C3D52-1F9A-4726-AA78-63F6CA22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a051aebf24477"/>
          <a:stretch xmlns:a="http://schemas.openxmlformats.org/drawingml/2006/main"/>
        </p:blipFill>
        <p:spPr>
          <a:xfrm xmlns:a="http://schemas.openxmlformats.org/drawingml/2006/main">
            <a:off x="855345" y="1857375"/>
            <a:ext cx="10481310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evidence-c-caption">
            <a:extLst xmlns:a="http://schemas.openxmlformats.org/drawingml/2006/main">
              <a:ext uri="{FF2B5EF4-FFF2-40B4-BE49-F238E27FC236}">
                <a16:creationId xmlns:a16="http://schemas.microsoft.com/office/drawing/2014/main" id="{FB2B2B77-58B0-4A4A-818F-BF7B68A2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Perintah: docker stop, curl gagal, docker ps -a, docker start, curl HTTP 200.</a:t>
            </a:r>
          </a:p>
        </p:txBody>
      </p:sp>
    </p:spTree>
    <p:extLst>
      <p:ext uri="{BB962C8B-B14F-4D97-AF65-F5344CB8AC3E}">
        <p14:creationId xmlns:p14="http://schemas.microsoft.com/office/powerpoint/2010/main" val="16996140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03F83B7D-1121-445D-9CE9-8641DC08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EA0DE3-A4C9-4E79-B312-AF70A076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Challenge D — ubah pesan tanpa rebuild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07BAD93-6695-4BDF-9DA4-DB4533E8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Kunci: edit file host; Nginx membaca perubahan lewat bind mount.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E2D39DB-2FBE-499C-8506-706342A4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5" name="solution-d-background">
            <a:extLst xmlns:a="http://schemas.openxmlformats.org/drawingml/2006/main">
              <a:ext uri="{FF2B5EF4-FFF2-40B4-BE49-F238E27FC236}">
                <a16:creationId xmlns:a16="http://schemas.microsoft.com/office/drawing/2014/main" id="{A87ACEAF-41D1-4AEA-BAF1-3849EF3A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514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6" name="solution-d">
            <a:extLst xmlns:a="http://schemas.openxmlformats.org/drawingml/2006/main">
              <a:ext uri="{FF2B5EF4-FFF2-40B4-BE49-F238E27FC236}">
                <a16:creationId xmlns:a16="http://schemas.microsoft.com/office/drawing/2014/main" id="{0817FFEA-D366-44AF-A9A1-8CE75AE2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363200" cy="3114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$before = docker image inspect nginx:alpine --format '{{.Id}}'</a:t>
            </a:r>
          </a:p>
          <a:p xmlns:a="http://schemas.openxmlformats.org/drawingml/2006/main">
            <a:pPr>
              <a:defRPr sz="12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$file = (Resolve-Path .\site\index.html).Path</a:t>
            </a:r>
          </a:p>
          <a:p xmlns:a="http://schemas.openxmlformats.org/drawingml/2006/main">
            <a:pPr>
              <a:defRPr sz="12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$html = [IO.File]::ReadAllText($file)</a:t>
            </a:r>
          </a:p>
          <a:p xmlns:a="http://schemas.openxmlformats.org/drawingml/2006/main">
            <a:pPr>
              <a:defRPr sz="12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$html = $html.Replace('STATUS_OK: Layanan normal', 'INCIDENT-042: Pemeliharaan selesai')</a:t>
            </a:r>
          </a:p>
          <a:p xmlns:a="http://schemas.openxmlformats.org/drawingml/2006/main">
            <a:pPr>
              <a:defRPr sz="12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$utf8 = New-Object System.Text.UTF8Encoding($false)</a:t>
            </a:r>
          </a:p>
          <a:p xmlns:a="http://schemas.openxmlformats.org/drawingml/2006/main">
            <a:pPr>
              <a:defRPr sz="12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[IO.File]::WriteAllText($file, $html, $utf8)</a:t>
            </a:r>
          </a:p>
          <a:p xmlns:a="http://schemas.openxmlformats.org/drawingml/2006/main">
            <a:pPr>
              <a:defRPr sz="12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$after = docker image inspect nginx:alpine --format '{{.Id}}'</a:t>
            </a:r>
          </a:p>
          <a:p xmlns:a="http://schemas.openxmlformats.org/drawingml/2006/main">
            <a:pPr>
              <a:defRPr sz="12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$before -eq $after; curl.exe -fsS http://127.0.0.1:8088/</a:t>
            </a:r>
          </a:p>
          <a:p xmlns:a="http://schemas.openxmlformats.org/drawingml/2006/main">
            <a:pPr>
              <a:defRPr sz="12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inspect cloudlab-site --format '{{range .Mounts}}RW={{.RW}}{{end}}'</a:t>
            </a:r>
          </a:p>
        </p:txBody>
      </p:sp>
      <p:sp>
        <p:nvSpPr>
          <p:cNvPr id="7" name="explanation-label">
            <a:extLst xmlns:a="http://schemas.openxmlformats.org/drawingml/2006/main">
              <a:ext uri="{FF2B5EF4-FFF2-40B4-BE49-F238E27FC236}">
                <a16:creationId xmlns:a16="http://schemas.microsoft.com/office/drawing/2014/main" id="{1937AA24-6DE2-438F-87E5-B0F32C72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Baca hasil</a:t>
            </a:r>
          </a:p>
        </p:txBody>
      </p:sp>
      <p:sp>
        <p:nvSpPr>
          <p:cNvPr id="8" name="explanation-text">
            <a:extLst xmlns:a="http://schemas.openxmlformats.org/drawingml/2006/main">
              <a:ext uri="{FF2B5EF4-FFF2-40B4-BE49-F238E27FC236}">
                <a16:creationId xmlns:a16="http://schemas.microsoft.com/office/drawing/2014/main" id="{FE8F7045-E845-479C-A2F1-898983D5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15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Browser menampilkan INCIDENT-042: Pemeliharaan selesai. Image ID sebelum/sesudah sama (True); RW=false pada mount.</a:t>
            </a:r>
          </a:p>
        </p:txBody>
      </p:sp>
    </p:spTree>
    <p:extLst>
      <p:ext uri="{BB962C8B-B14F-4D97-AF65-F5344CB8AC3E}">
        <p14:creationId xmlns:p14="http://schemas.microsoft.com/office/powerpoint/2010/main" val="16922622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9E11086F-740F-4117-B28B-34300385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3F725D-C395-4C1B-B4DF-18D91231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D — konten berubah di web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6FF7AF9-C888-4BE2-ACE2-CA117913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Pesan Pemeliharaan selesai dan INCIDENT-042 muncul setelah refresh.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6752D51-E478-4749-AE72-24A4FA9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1fc7193f44069"/>
          <a:srcRect xmlns:a="http://schemas.openxmlformats.org/drawingml/2006/main" l="0" t="19234" r="0" b="192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10820400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evidence-d-caption">
            <a:extLst xmlns:a="http://schemas.openxmlformats.org/drawingml/2006/main">
              <a:ext uri="{FF2B5EF4-FFF2-40B4-BE49-F238E27FC236}">
                <a16:creationId xmlns:a16="http://schemas.microsoft.com/office/drawing/2014/main" id="{22994E5C-C729-4E75-9046-4C4347BB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Perintah: edit site/index.html, lalu refresh 127.0.0.1:8088. Image ID tetap; RW=false.</a:t>
            </a:r>
          </a:p>
        </p:txBody>
      </p:sp>
    </p:spTree>
    <p:extLst>
      <p:ext uri="{BB962C8B-B14F-4D97-AF65-F5344CB8AC3E}">
        <p14:creationId xmlns:p14="http://schemas.microsoft.com/office/powerpoint/2010/main" val="28318237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956E91B3-4B5F-43DC-B11D-7DC78684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917271-689C-4AD3-8D13-19D89B2A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Challenge E — benturan port dan canary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BF9D7AB-E5F8-4654-9BFC-74A0A34D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Kunci: lihat kegagalan terduga pada 8088, bersihkan, lalu jalankan canary 8089.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C4B7000-AB48-4683-922A-E919B941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  <p:sp>
        <p:nvSpPr>
          <p:cNvPr id="5" name="solution-e-background">
            <a:extLst xmlns:a="http://schemas.openxmlformats.org/drawingml/2006/main">
              <a:ext uri="{FF2B5EF4-FFF2-40B4-BE49-F238E27FC236}">
                <a16:creationId xmlns:a16="http://schemas.microsoft.com/office/drawing/2014/main" id="{2E566244-F5DC-45CA-BB93-85A761C4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6" name="solution-e">
            <a:extLst xmlns:a="http://schemas.openxmlformats.org/drawingml/2006/main">
              <a:ext uri="{FF2B5EF4-FFF2-40B4-BE49-F238E27FC236}">
                <a16:creationId xmlns:a16="http://schemas.microsoft.com/office/drawing/2014/main" id="{076AC057-3786-47EF-B1B7-4D8BF22F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3632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run --name cloudlab-canary -d -p 127.0.0.1:8088:80 nginx:alpine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ps -a --filter name=cloudlab-canary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rm -f cloudlab-canary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run --name cloudlab-canary -d -p 127.0.0.1:8089:80 nginx:alpine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ps --filter name=cloudlab-canary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curl.exe -I http://127.0.0.1:8088/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curl.exe -I http://127.0.0.1:8089/</a:t>
            </a:r>
          </a:p>
        </p:txBody>
      </p:sp>
      <p:sp>
        <p:nvSpPr>
          <p:cNvPr id="7" name="explanation-label">
            <a:extLst xmlns:a="http://schemas.openxmlformats.org/drawingml/2006/main">
              <a:ext uri="{FF2B5EF4-FFF2-40B4-BE49-F238E27FC236}">
                <a16:creationId xmlns:a16="http://schemas.microsoft.com/office/drawing/2014/main" id="{17DC9F21-19C8-4BDD-90E3-CCCAFC43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Baca hasil</a:t>
            </a:r>
          </a:p>
        </p:txBody>
      </p:sp>
      <p:sp>
        <p:nvSpPr>
          <p:cNvPr id="8" name="explanation-text">
            <a:extLst xmlns:a="http://schemas.openxmlformats.org/drawingml/2006/main">
              <a:ext uri="{FF2B5EF4-FFF2-40B4-BE49-F238E27FC236}">
                <a16:creationId xmlns:a16="http://schemas.microsoft.com/office/drawing/2014/main" id="{822726FD-723A-4DF2-BD09-A5577613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72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Perintah pertama gagal karena 8088 dipakai cloudlab-site. Kedua URL mengembalikan HTTP 200 setelah canary pindah ke 8089.</a:t>
            </a:r>
          </a:p>
        </p:txBody>
      </p:sp>
    </p:spTree>
    <p:extLst>
      <p:ext uri="{BB962C8B-B14F-4D97-AF65-F5344CB8AC3E}">
        <p14:creationId xmlns:p14="http://schemas.microsoft.com/office/powerpoint/2010/main" val="19551106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3C8917A4-04D4-4864-81CA-AECFEE25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312EA6-EE70-4F9F-8989-68A3DB86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E — port 8088 bentrok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8407DC2-6746-4BA6-AB97-646A4C6C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Host tidak dapat memakai 8088 untuk dua container sekaligus.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ACA5148-076B-4FC9-850B-486EAE0B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919cd6fda4c46"/>
          <a:stretch xmlns:a="http://schemas.openxmlformats.org/drawingml/2006/main"/>
        </p:blipFill>
        <p:spPr>
          <a:xfrm xmlns:a="http://schemas.openxmlformats.org/drawingml/2006/main">
            <a:off x="685800" y="2274492"/>
            <a:ext cx="10820400" cy="2909091"/>
          </a:xfrm>
          <a:prstGeom xmlns:a="http://schemas.openxmlformats.org/drawingml/2006/main" prst="rect">
            <a:avLst/>
          </a:prstGeom>
        </p:spPr>
      </p:pic>
      <p:sp>
        <p:nvSpPr>
          <p:cNvPr id="6" name="evidence-e-error-caption">
            <a:extLst xmlns:a="http://schemas.openxmlformats.org/drawingml/2006/main">
              <a:ext uri="{FF2B5EF4-FFF2-40B4-BE49-F238E27FC236}">
                <a16:creationId xmlns:a16="http://schemas.microsoft.com/office/drawing/2014/main" id="{4D5D5AE9-6426-40EB-ADB9-973D9679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Perintah: coba cloudlab-canary pada 8088. Docker melaporkan port is already allocated.</a:t>
            </a:r>
          </a:p>
        </p:txBody>
      </p:sp>
    </p:spTree>
    <p:extLst>
      <p:ext uri="{BB962C8B-B14F-4D97-AF65-F5344CB8AC3E}">
        <p14:creationId xmlns:p14="http://schemas.microsoft.com/office/powerpoint/2010/main" val="20336356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11CD0C17-B45C-4E08-B57E-5175BFA0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E791DF-8F61-4843-BDD7-A4ECC115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E — canary pulih di 8089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F960BC9-3AAF-4DF2-9044-FF87F5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Situs utama tetap 8088; kedua URL memberi HTTP 200.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98B8964-D490-4322-A4C4-1610335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a0a6921d84457"/>
          <a:stretch xmlns:a="http://schemas.openxmlformats.org/drawingml/2006/main"/>
        </p:blipFill>
        <p:spPr>
          <a:xfrm xmlns:a="http://schemas.openxmlformats.org/drawingml/2006/main">
            <a:off x="685800" y="2286318"/>
            <a:ext cx="10820400" cy="2885440"/>
          </a:xfrm>
          <a:prstGeom xmlns:a="http://schemas.openxmlformats.org/drawingml/2006/main" prst="rect">
            <a:avLst/>
          </a:prstGeom>
        </p:spPr>
      </p:pic>
      <p:sp>
        <p:nvSpPr>
          <p:cNvPr id="6" name="evidence-e-recovery-caption">
            <a:extLst xmlns:a="http://schemas.openxmlformats.org/drawingml/2006/main">
              <a:ext uri="{FF2B5EF4-FFF2-40B4-BE49-F238E27FC236}">
                <a16:creationId xmlns:a16="http://schemas.microsoft.com/office/drawing/2014/main" id="{5A63035C-E571-4837-9ED4-24C03438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Perintah: docker rm -f cloudlab-canary, lalu run pada 8089. Uji curl 8088 dan 8089.</a:t>
            </a:r>
          </a:p>
        </p:txBody>
      </p:sp>
    </p:spTree>
    <p:extLst>
      <p:ext uri="{BB962C8B-B14F-4D97-AF65-F5344CB8AC3E}">
        <p14:creationId xmlns:p14="http://schemas.microsoft.com/office/powerpoint/2010/main" val="1322050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93731D2E-2C69-4AC3-AB9F-3F8B519D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80EE1D-10D1-4B5B-893F-1AB2438E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E — dua container di Docker Desktop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DE90F3D-5D5F-432B-8FCB-8E16164C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cloudlab-site memakai 8088:80 dan cloudlab-canary memakai 8089:80.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73D4723-869C-403F-919E-A1A37EB9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ca296a71548f4"/>
          <a:srcRect xmlns:a="http://schemas.openxmlformats.org/drawingml/2006/main" l="0" t="18218" r="0" b="182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10820400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evidence-e-docker-caption">
            <a:extLst xmlns:a="http://schemas.openxmlformats.org/drawingml/2006/main">
              <a:ext uri="{FF2B5EF4-FFF2-40B4-BE49-F238E27FC236}">
                <a16:creationId xmlns:a16="http://schemas.microsoft.com/office/drawing/2014/main" id="{B63B644F-FFA7-487C-B41F-DC038D5B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Tampilan Containers: kedua container Up. Port host berbeda, port internal sama-sama 80.</a:t>
            </a:r>
          </a:p>
        </p:txBody>
      </p:sp>
    </p:spTree>
    <p:extLst>
      <p:ext uri="{BB962C8B-B14F-4D97-AF65-F5344CB8AC3E}">
        <p14:creationId xmlns:p14="http://schemas.microsoft.com/office/powerpoint/2010/main" val="3981823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76942C31-FD20-4735-B750-BB1C8E5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F646E3-CBC6-4E18-8393-9A90DFC5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Kunci challenge A–E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B660657-1E7A-46C8-98BC-6608A6D0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Lima cek yang harus dapat dijelaskan mahasiswa.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DC5EC11-9A1D-4ABE-BFB0-78569759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  <p:sp>
        <p:nvSpPr>
          <p:cNvPr id="5" name="key-0">
            <a:extLst xmlns:a="http://schemas.openxmlformats.org/drawingml/2006/main">
              <a:ext uri="{FF2B5EF4-FFF2-40B4-BE49-F238E27FC236}">
                <a16:creationId xmlns:a16="http://schemas.microsoft.com/office/drawing/2014/main" id="{AFD98167-1DF3-4CB4-B1A5-36D7BA53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6" name="key-desc-0">
            <a:extLst xmlns:a="http://schemas.openxmlformats.org/drawingml/2006/main">
              <a:ext uri="{FF2B5EF4-FFF2-40B4-BE49-F238E27FC236}">
                <a16:creationId xmlns:a16="http://schemas.microsoft.com/office/drawing/2014/main" id="{3A05B615-F2F8-4D28-97FA-1F4A90B1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145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Image nginx/python/node ada; tugas Python mencetak cloud.</a:t>
            </a:r>
          </a:p>
        </p:txBody>
      </p:sp>
      <p:sp>
        <p:nvSpPr>
          <p:cNvPr id="7" name="key-1">
            <a:extLst xmlns:a="http://schemas.openxmlformats.org/drawingml/2006/main">
              <a:ext uri="{FF2B5EF4-FFF2-40B4-BE49-F238E27FC236}">
                <a16:creationId xmlns:a16="http://schemas.microsoft.com/office/drawing/2014/main" id="{CC79B16E-4BF9-45AE-AA2F-9D45746E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8" name="key-desc-1">
            <a:extLst xmlns:a="http://schemas.openxmlformats.org/drawingml/2006/main">
              <a:ext uri="{FF2B5EF4-FFF2-40B4-BE49-F238E27FC236}">
                <a16:creationId xmlns:a16="http://schemas.microsoft.com/office/drawing/2014/main" id="{0935BCEC-A1B3-4B4D-A28A-71DB27AC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670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cloudlab-site Up; 127.0.0.1:8088→80/tcp; halaman terbuka.</a:t>
            </a:r>
          </a:p>
        </p:txBody>
      </p:sp>
      <p:sp>
        <p:nvSpPr>
          <p:cNvPr id="9" name="key-2">
            <a:extLst xmlns:a="http://schemas.openxmlformats.org/drawingml/2006/main">
              <a:ext uri="{FF2B5EF4-FFF2-40B4-BE49-F238E27FC236}">
                <a16:creationId xmlns:a16="http://schemas.microsoft.com/office/drawing/2014/main" id="{BAB0C71F-11E7-47C9-ADD2-1E5CA5B5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10" name="key-desc-2">
            <a:extLst xmlns:a="http://schemas.openxmlformats.org/drawingml/2006/main">
              <a:ext uri="{FF2B5EF4-FFF2-40B4-BE49-F238E27FC236}">
                <a16:creationId xmlns:a16="http://schemas.microsoft.com/office/drawing/2014/main" id="{0D3F4862-7FD0-40AC-B6DA-04CB868A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stop → Exited, start → Up, HTTP kembali 200.</a:t>
            </a:r>
          </a:p>
        </p:txBody>
      </p:sp>
      <p:sp>
        <p:nvSpPr>
          <p:cNvPr id="11" name="key-3">
            <a:extLst xmlns:a="http://schemas.openxmlformats.org/drawingml/2006/main">
              <a:ext uri="{FF2B5EF4-FFF2-40B4-BE49-F238E27FC236}">
                <a16:creationId xmlns:a16="http://schemas.microsoft.com/office/drawing/2014/main" id="{27D45644-EB59-4CE7-A80B-DEB2B766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</a:t>
            </a:r>
          </a:p>
        </p:txBody>
      </p:sp>
      <p:sp>
        <p:nvSpPr>
          <p:cNvPr id="12" name="key-desc-3">
            <a:extLst xmlns:a="http://schemas.openxmlformats.org/drawingml/2006/main">
              <a:ext uri="{FF2B5EF4-FFF2-40B4-BE49-F238E27FC236}">
                <a16:creationId xmlns:a16="http://schemas.microsoft.com/office/drawing/2014/main" id="{EB000E36-4757-4A31-A332-7837FB1F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719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INCIDENT-042: Pemeliharaan selesai tampil; RW=false; image ID tetap.</a:t>
            </a:r>
          </a:p>
        </p:txBody>
      </p:sp>
      <p:sp>
        <p:nvSpPr>
          <p:cNvPr id="13" name="key-4">
            <a:extLst xmlns:a="http://schemas.openxmlformats.org/drawingml/2006/main">
              <a:ext uri="{FF2B5EF4-FFF2-40B4-BE49-F238E27FC236}">
                <a16:creationId xmlns:a16="http://schemas.microsoft.com/office/drawing/2014/main" id="{CFB3B75E-C50E-4645-8A27-D5C996A0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14" name="key-desc-4">
            <a:extLst xmlns:a="http://schemas.openxmlformats.org/drawingml/2006/main">
              <a:ext uri="{FF2B5EF4-FFF2-40B4-BE49-F238E27FC236}">
                <a16:creationId xmlns:a16="http://schemas.microsoft.com/office/drawing/2014/main" id="{1C952E78-A7E0-4AA8-89F3-F23DEA22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Benturan 8088 terdiagnosis; canary 8089 memberi HTTP 200.</a:t>
            </a:r>
          </a:p>
        </p:txBody>
      </p:sp>
    </p:spTree>
    <p:extLst>
      <p:ext uri="{BB962C8B-B14F-4D97-AF65-F5344CB8AC3E}">
        <p14:creationId xmlns:p14="http://schemas.microsoft.com/office/powerpoint/2010/main" val="213405897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86C47621-4B84-4FCD-8342-960E86C5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E4F74C-17AC-494D-B43C-97F6529A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Verifikasi otomatis challenge A–E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D2925E2-4AA2-4206-A533-0BAA7C01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Jalankan setelah hotfix tampil dan kedua container hidup.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049450E-147F-4C65-8065-8A8B428B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  <p:sp>
        <p:nvSpPr>
          <p:cNvPr id="5" name="challenge-test-background">
            <a:extLst xmlns:a="http://schemas.openxmlformats.org/drawingml/2006/main">
              <a:ext uri="{FF2B5EF4-FFF2-40B4-BE49-F238E27FC236}">
                <a16:creationId xmlns:a16="http://schemas.microsoft.com/office/drawing/2014/main" id="{9C960D48-0101-4FF8-B334-693E826A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6" name="challenge-test">
            <a:extLst xmlns:a="http://schemas.openxmlformats.org/drawingml/2006/main">
              <a:ext uri="{FF2B5EF4-FFF2-40B4-BE49-F238E27FC236}">
                <a16:creationId xmlns:a16="http://schemas.microsoft.com/office/drawing/2014/main" id="{8D47D78D-2016-476F-AE81-02CE92D4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03632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# Di terminal PowerShell</a:t>
            </a:r>
          </a:p>
          <a:p xmlns:a="http://schemas.openxmlformats.org/drawingml/2006/main">
            <a:pPr>
              <a:defRPr sz="18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&amp; .\tests\challenge.ps1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# Di terminal Git Bash / WSL / Codespaces</a:t>
            </a:r>
          </a:p>
          <a:p xmlns:a="http://schemas.openxmlformats.org/drawingml/2006/main">
            <a:pPr>
              <a:defRPr sz="187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bash tests/challenge.sh</a:t>
            </a:r>
          </a:p>
        </p:txBody>
      </p:sp>
      <p:sp>
        <p:nvSpPr>
          <p:cNvPr id="7" name="explanation-label">
            <a:extLst xmlns:a="http://schemas.openxmlformats.org/drawingml/2006/main">
              <a:ext uri="{FF2B5EF4-FFF2-40B4-BE49-F238E27FC236}">
                <a16:creationId xmlns:a16="http://schemas.microsoft.com/office/drawing/2014/main" id="{7A98D46F-13F5-433F-B594-6B775A8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Baca hasil</a:t>
            </a:r>
          </a:p>
        </p:txBody>
      </p:sp>
      <p:sp>
        <p:nvSpPr>
          <p:cNvPr id="8" name="explanation-text">
            <a:extLst xmlns:a="http://schemas.openxmlformats.org/drawingml/2006/main">
              <a:ext uri="{FF2B5EF4-FFF2-40B4-BE49-F238E27FC236}">
                <a16:creationId xmlns:a16="http://schemas.microsoft.com/office/drawing/2014/main" id="{B55017FE-0912-469D-BDC5-D0D755B1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Semua bagian A–E harus PASS. Jalankan baris Bash di terminal Bash, bukan PowerShell; simpan bukti stop/start dan benturan port.</a:t>
            </a:r>
          </a:p>
        </p:txBody>
      </p:sp>
    </p:spTree>
    <p:extLst>
      <p:ext uri="{BB962C8B-B14F-4D97-AF65-F5344CB8AC3E}">
        <p14:creationId xmlns:p14="http://schemas.microsoft.com/office/powerpoint/2010/main" val="40963401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4B33D071-D8A9-426D-99E7-3D85A2FD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4B6F24-9FE4-46FC-8244-CC565E11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tes — A sampai C PASS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E9EEEB9-A41A-49A3-A2CF-474ED764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Bagian awal output memeriksa image, port situs, dan HTTP.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419A14E-F2F4-4E27-84BF-938D518D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7d9c36b3f4be4"/>
          <a:stretch xmlns:a="http://schemas.openxmlformats.org/drawingml/2006/main"/>
        </p:blipFill>
        <p:spPr>
          <a:xfrm xmlns:a="http://schemas.openxmlformats.org/drawingml/2006/main">
            <a:off x="685800" y="1889570"/>
            <a:ext cx="10820400" cy="3678936"/>
          </a:xfrm>
          <a:prstGeom xmlns:a="http://schemas.openxmlformats.org/drawingml/2006/main" prst="rect">
            <a:avLst/>
          </a:prstGeom>
        </p:spPr>
      </p:pic>
      <p:sp>
        <p:nvSpPr>
          <p:cNvPr id="6" name="evidence-final-test-top-caption">
            <a:extLst xmlns:a="http://schemas.openxmlformats.org/drawingml/2006/main">
              <a:ext uri="{FF2B5EF4-FFF2-40B4-BE49-F238E27FC236}">
                <a16:creationId xmlns:a16="http://schemas.microsoft.com/office/drawing/2014/main" id="{C26555A8-35C5-491B-81F0-BEDEFC42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Perintah PowerShell: &amp; .\tests\challenge.ps1. Cek PASS bagian A, B, dan C.</a:t>
            </a:r>
          </a:p>
        </p:txBody>
      </p:sp>
    </p:spTree>
    <p:extLst>
      <p:ext uri="{BB962C8B-B14F-4D97-AF65-F5344CB8AC3E}">
        <p14:creationId xmlns:p14="http://schemas.microsoft.com/office/powerpoint/2010/main" val="40676351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8AB038A4-485E-4E1A-8EA7-A1349746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FF576F-51DB-4D3D-BA37-0B58A7B6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tes — D dan E PASS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FA20D18-3AFC-49C5-BDA1-9BC7214D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Bagian bawah output menegaskan 14 PASS, 0 FAIL.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6C0AC1E-CE3B-48DA-BD1F-EB4120B2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330ec9abf426b"/>
          <a:stretch xmlns:a="http://schemas.openxmlformats.org/drawingml/2006/main"/>
        </p:blipFill>
        <p:spPr>
          <a:xfrm xmlns:a="http://schemas.openxmlformats.org/drawingml/2006/main">
            <a:off x="685800" y="2019414"/>
            <a:ext cx="10820400" cy="3419246"/>
          </a:xfrm>
          <a:prstGeom xmlns:a="http://schemas.openxmlformats.org/drawingml/2006/main" prst="rect">
            <a:avLst/>
          </a:prstGeom>
        </p:spPr>
      </p:pic>
      <p:sp>
        <p:nvSpPr>
          <p:cNvPr id="6" name="evidence-final-test-bottom-caption">
            <a:extLst xmlns:a="http://schemas.openxmlformats.org/drawingml/2006/main">
              <a:ext uri="{FF2B5EF4-FFF2-40B4-BE49-F238E27FC236}">
                <a16:creationId xmlns:a16="http://schemas.microsoft.com/office/drawing/2014/main" id="{D4371BEE-53D1-466B-AF5C-123D697F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Lihat PASS D/E dan ringkasan Challenge: 14 PASS, 0 FAIL.</a:t>
            </a:r>
          </a:p>
        </p:txBody>
      </p:sp>
    </p:spTree>
    <p:extLst>
      <p:ext uri="{BB962C8B-B14F-4D97-AF65-F5344CB8AC3E}">
        <p14:creationId xmlns:p14="http://schemas.microsoft.com/office/powerpoint/2010/main" val="179703778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65E1EA4F-A692-4B6B-BBF6-7199C490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B07285-736A-4493-AD08-AFE548D3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Git Bash/WSL/Codespaces: perintah terminal Bash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B5EBBC8-AC14-4821-9806-BC915CEA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Buka terminal Bash dulu; jangan jalankan baris ini dari PowerShell.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E984AC5-EB48-4E8E-8F56-E50CD090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  <p:sp>
        <p:nvSpPr>
          <p:cNvPr id="5" name="bash-alternative-background">
            <a:extLst xmlns:a="http://schemas.openxmlformats.org/drawingml/2006/main">
              <a:ext uri="{FF2B5EF4-FFF2-40B4-BE49-F238E27FC236}">
                <a16:creationId xmlns:a16="http://schemas.microsoft.com/office/drawing/2014/main" id="{63C3598B-8714-4B09-9732-FBB43B74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6" name="bash-alternative">
            <a:extLst xmlns:a="http://schemas.openxmlformats.org/drawingml/2006/main">
              <a:ext uri="{FF2B5EF4-FFF2-40B4-BE49-F238E27FC236}">
                <a16:creationId xmlns:a16="http://schemas.microsoft.com/office/drawing/2014/main" id="{E65CD182-2EE6-4EE3-96DC-2465A28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7425"/>
            <a:ext cx="103632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site_dir="$(pwd)/site"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mount="type=bind,source=$site_dir,target=/usr/share/nginx/html,readonly"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run --name cloudlab-site -d -p 127.0.0.1:8088:80 --mount "$mount" nginx:alpine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curl -I http://127.0.0.1:8088/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sed -i 's/STATUS_OK: Layanan normal/INCIDENT-042: Pemeliharaan selesai/' site/index.html</a:t>
            </a:r>
          </a:p>
        </p:txBody>
      </p:sp>
      <p:sp>
        <p:nvSpPr>
          <p:cNvPr id="7" name="explanation-label">
            <a:extLst xmlns:a="http://schemas.openxmlformats.org/drawingml/2006/main">
              <a:ext uri="{FF2B5EF4-FFF2-40B4-BE49-F238E27FC236}">
                <a16:creationId xmlns:a16="http://schemas.microsoft.com/office/drawing/2014/main" id="{E4C261E2-33BA-4F29-80C1-FBE943E1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Catatan</a:t>
            </a:r>
          </a:p>
        </p:txBody>
      </p:sp>
      <p:sp>
        <p:nvSpPr>
          <p:cNvPr id="8" name="explanation-text">
            <a:extLst xmlns:a="http://schemas.openxmlformats.org/drawingml/2006/main">
              <a:ext uri="{FF2B5EF4-FFF2-40B4-BE49-F238E27FC236}">
                <a16:creationId xmlns:a16="http://schemas.microsoft.com/office/drawing/2014/main" id="{52069FBA-6BED-463D-AFF2-D35DCBE5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Bash memakai $(pwd); PowerShell memakai Join-Path untuk bind mount. Pilih satu terminal dan gunakan blok yang sesuai.</a:t>
            </a:r>
          </a:p>
        </p:txBody>
      </p:sp>
    </p:spTree>
    <p:extLst>
      <p:ext uri="{BB962C8B-B14F-4D97-AF65-F5344CB8AC3E}">
        <p14:creationId xmlns:p14="http://schemas.microsoft.com/office/powerpoint/2010/main" val="20601981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E09260BD-AB8F-4734-B4EA-EE5383EB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2056AB-BE6C-4A2A-855E-135E4A8A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Diagnosis cepat saat demo macet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7EB962C-9135-47E7-BC0E-E21386E2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Periksa state dan pemetaan port sebelum mengubah kode.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AA1B1C3-22E3-4D28-970B-72E2A3C3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  <p:sp>
        <p:nvSpPr>
          <p:cNvPr id="5" name="diag-1">
            <a:extLst xmlns:a="http://schemas.openxmlformats.org/drawingml/2006/main">
              <a:ext uri="{FF2B5EF4-FFF2-40B4-BE49-F238E27FC236}">
                <a16:creationId xmlns:a16="http://schemas.microsoft.com/office/drawing/2014/main" id="{866E179F-3FC5-44E7-97ED-623CBD24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Docker daemon belum terhubung</a:t>
            </a:r>
          </a:p>
        </p:txBody>
      </p:sp>
      <p:sp>
        <p:nvSpPr>
          <p:cNvPr id="6" name="diag-1b">
            <a:extLst xmlns:a="http://schemas.openxmlformats.org/drawingml/2006/main">
              <a:ext uri="{FF2B5EF4-FFF2-40B4-BE49-F238E27FC236}">
                <a16:creationId xmlns:a16="http://schemas.microsoft.com/office/drawing/2014/main" id="{C7B52E86-C0FA-42CA-B81C-CE7C62CB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Buka Docker Desktop/Engine; ulangi docker version.</a:t>
            </a:r>
          </a:p>
        </p:txBody>
      </p:sp>
      <p:sp>
        <p:nvSpPr>
          <p:cNvPr id="7" name="diag-2">
            <a:extLst xmlns:a="http://schemas.openxmlformats.org/drawingml/2006/main">
              <a:ext uri="{FF2B5EF4-FFF2-40B4-BE49-F238E27FC236}">
                <a16:creationId xmlns:a16="http://schemas.microsoft.com/office/drawing/2014/main" id="{98A97757-5BE8-4002-A18E-F4BC51FF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8088 sudah dipakai</a:t>
            </a:r>
          </a:p>
        </p:txBody>
      </p:sp>
      <p:sp>
        <p:nvSpPr>
          <p:cNvPr id="8" name="diag-2b">
            <a:extLst xmlns:a="http://schemas.openxmlformats.org/drawingml/2006/main">
              <a:ext uri="{FF2B5EF4-FFF2-40B4-BE49-F238E27FC236}">
                <a16:creationId xmlns:a16="http://schemas.microsoft.com/office/drawing/2014/main" id="{8CFF0FD0-9DFF-474B-98FB-B42A688F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0191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docker ps --format "table {{.Names}}\t{{.Ports}}"; hentikan hanya container latihan.</a:t>
            </a:r>
          </a:p>
        </p:txBody>
      </p:sp>
      <p:sp>
        <p:nvSpPr>
          <p:cNvPr id="9" name="diag-3">
            <a:extLst xmlns:a="http://schemas.openxmlformats.org/drawingml/2006/main">
              <a:ext uri="{FF2B5EF4-FFF2-40B4-BE49-F238E27FC236}">
                <a16:creationId xmlns:a16="http://schemas.microsoft.com/office/drawing/2014/main" id="{0578FF98-FB54-48CA-92A0-D673DA54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Halaman belum berubah</a:t>
            </a:r>
          </a:p>
        </p:txBody>
      </p:sp>
      <p:sp>
        <p:nvSpPr>
          <p:cNvPr id="10" name="diag-3b">
            <a:extLst xmlns:a="http://schemas.openxmlformats.org/drawingml/2006/main">
              <a:ext uri="{FF2B5EF4-FFF2-40B4-BE49-F238E27FC236}">
                <a16:creationId xmlns:a16="http://schemas.microsoft.com/office/drawing/2014/main" id="{3DD8B612-FE5C-4DC2-8EF3-B85B95C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Periksa site/index.html, mount Source, lalu refresh browser.</a:t>
            </a:r>
          </a:p>
        </p:txBody>
      </p:sp>
    </p:spTree>
    <p:extLst>
      <p:ext uri="{BB962C8B-B14F-4D97-AF65-F5344CB8AC3E}">
        <p14:creationId xmlns:p14="http://schemas.microsoft.com/office/powerpoint/2010/main" val="11981464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19CB7919-5467-4A1D-8A6F-DE207F42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814455-C365-4DA9-AE91-67B79B8F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Bukti, cleanup, dan Git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AF6A2F7-21A4-4049-9CAB-5313C045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Simpan hasil sendiri di repo mahasiswa; hapus hanya dua container latihan.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27026AE-9840-4D0B-8F05-8F8D4D38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531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  <p:sp>
        <p:nvSpPr>
          <p:cNvPr id="5" name="finish-background">
            <a:extLst xmlns:a="http://schemas.openxmlformats.org/drawingml/2006/main">
              <a:ext uri="{FF2B5EF4-FFF2-40B4-BE49-F238E27FC236}">
                <a16:creationId xmlns:a16="http://schemas.microsoft.com/office/drawing/2014/main" id="{852FB561-222F-4784-A521-2603FD47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10820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6" name="finish">
            <a:extLst xmlns:a="http://schemas.openxmlformats.org/drawingml/2006/main">
              <a:ext uri="{FF2B5EF4-FFF2-40B4-BE49-F238E27FC236}">
                <a16:creationId xmlns:a16="http://schemas.microsoft.com/office/drawing/2014/main" id="{293DBA52-0C34-47D3-9E92-209B72E5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0363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git status --short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git add site/index.html hasil/lab04.md hasil/bukti/lab04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git diff --cached --check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git diff --cached --name-only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git commit -m "lab04: pulihkan situs dan dokumentasikan insiden"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git push</a:t>
            </a:r>
          </a:p>
          <a:p xmlns:a="http://schemas.openxmlformats.org/drawingml/2006/main">
            <a:pPr>
              <a:defRPr sz="1425" b="0">
                <a:solidFill>
                  <a:srgbClr val="E6F3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F3FF"/>
                </a:solidFill>
                <a:latin typeface="Consolas"/>
                <a:ea typeface="Consolas"/>
                <a:cs typeface="Consolas"/>
              </a:rPr>
              <a:t>docker rm -f cloudlab-canary cloudlab-site</a:t>
            </a:r>
          </a:p>
        </p:txBody>
      </p:sp>
      <p:sp>
        <p:nvSpPr>
          <p:cNvPr id="7" name="explanation-label">
            <a:extLst xmlns:a="http://schemas.openxmlformats.org/drawingml/2006/main">
              <a:ext uri="{FF2B5EF4-FFF2-40B4-BE49-F238E27FC236}">
                <a16:creationId xmlns:a16="http://schemas.microsoft.com/office/drawing/2014/main" id="{74BEB97A-A155-4F61-9BF6-77321217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Kumpulkan</a:t>
            </a:r>
          </a:p>
        </p:txBody>
      </p:sp>
      <p:sp>
        <p:nvSpPr>
          <p:cNvPr id="8" name="explanation-text">
            <a:extLst xmlns:a="http://schemas.openxmlformats.org/drawingml/2006/main">
              <a:ext uri="{FF2B5EF4-FFF2-40B4-BE49-F238E27FC236}">
                <a16:creationId xmlns:a16="http://schemas.microsoft.com/office/drawing/2014/main" id="{7F429B55-D3D5-486C-B611-7DDE67CE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376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Catat gejala, diagnosis, perintah pemulihan, HTTP 200, pesan INCIDENT-042, serta hasil A–E. Screenshot modul adalah contoh; bukti mahasiswa berasal dari run mereka sendiri.</a:t>
            </a:r>
          </a:p>
        </p:txBody>
      </p:sp>
    </p:spTree>
    <p:extLst>
      <p:ext uri="{BB962C8B-B14F-4D97-AF65-F5344CB8AC3E}">
        <p14:creationId xmlns:p14="http://schemas.microsoft.com/office/powerpoint/2010/main" val="666701363"/>
      </p:ext>
    </p:extLst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section">
            <a:extLst>
              <a:ext uri="{FF2B5EF4-FFF2-40B4-BE49-F238E27FC236}">
                <a16:creationId xmlns:a16="http://schemas.microsoft.com/office/drawing/2014/main" id="{8AB038A4-485E-4E1A-8EA7-A13497461296}"/>
              </a:ext>
            </a:extLst>
          </p:cNvPr>
          <p:cNvSpPr>
            <a:spLocks noGrp="1"/>
          </p:cNvSpPr>
          <p:nvPr/>
        </p:nvSpPr>
        <p:spPr>
          <a:xfrm>
            <a:off x="685800" y="295275"/>
            <a:ext cx="762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>
              <a:defRPr sz="1350" b="1">
                <a:solidFill>
                  <a:srgbClr val="F3702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04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1FF576F-51DB-4D3D-BA37-0B58A7B6CC93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>
              <a:defRPr sz="3150" b="1">
                <a:solidFill>
                  <a:srgbClr val="002677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Git: commit dan modul tersedia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FA20D18-3AFC-49C5-BDA1-9BC7214D00B4}"/>
              </a:ext>
            </a:extLst>
          </p:cNvPr>
          <p:cNvSpPr>
            <a:spLocks noGrp="1"/>
          </p:cNvSpPr>
          <p:nvPr/>
        </p:nvSpPr>
        <p:spPr>
          <a:xfrm>
            <a:off x="685800" y="1362075"/>
            <a:ext cx="10820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>
              <a:defRPr sz="1725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Setelah git push, buka repo pribadi dan periksa commit pada branch main.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46C0AC1E-CE3B-48DA-BD1F-EB4120B24A2C}"/>
              </a:ext>
            </a:extLst>
          </p:cNvPr>
          <p:cNvSpPr>
            <a:spLocks noGrp="1"/>
          </p:cNvSpPr>
          <p:nvPr/>
        </p:nvSpPr>
        <p:spPr>
          <a:xfrm>
            <a:off x="11153775" y="6353175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  <p:sp>
        <p:nvSpPr>
          <p:cNvPr id="6" name="evidence-final-test-bottom-caption">
            <a:extLst>
              <a:ext uri="{FF2B5EF4-FFF2-40B4-BE49-F238E27FC236}">
                <a16:creationId xmlns:a16="http://schemas.microsoft.com/office/drawing/2014/main" id="{D4371BEE-53D1-466B-AF5C-123D697F8CAB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572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100000"/>
          </a:bodyPr>
          <a:lstStyle/>
          <a:p>
            <a:pPr>
              <a:defRPr sz="1500" b="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Buka halaman repo, lihat branch main dan commit terbaru. Template dosen hanya contoh lokasi pemeriksaan.</a:t>
            </a:r>
          </a:p>
        </p:txBody>
      </p:sp>
      <p:pic>
        <p:nvPicPr>
          <p:cNvPr id="8" name="Picture 7" descr="11_github_publish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7498079" cy="36249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2057400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2677"/>
                </a:solidFill>
                <a:latin typeface="Calibri"/>
              </a:defRPr>
            </a:pPr>
            <a:r>
              <a:t>Perintah: git push</a:t>
            </a:r>
          </a:p>
          <a:p>
            <a:pPr>
              <a:spcAft>
                <a:spcPts val="10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Fungsi: mengirim commit dan laporan ke origin.</a:t>
            </a:r>
          </a:p>
          <a:p>
            <a:pPr>
              <a:spcAft>
                <a:spcPts val="10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Cara kerja: Git memperbarui branch main di GitHub.</a:t>
            </a:r>
          </a:p>
          <a:p>
            <a:pPr>
              <a:spcAft>
                <a:spcPts val="10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Baca hasil: pesan commit, modul, dan file hasil muncul.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2026-10-07T11:39:30.8690000Z</dcterms:created>
  <dcterms:modified xsi:type="dcterms:W3CDTF">2026-10-07T11:39:30.8690000Z</dcterms:modified>
</coreProperties>
</file>